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1" r:id="rId3"/>
    <p:sldId id="568" r:id="rId4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572" r:id="rId25"/>
    <p:sldId id="381" r:id="rId26"/>
    <p:sldId id="382" r:id="rId27"/>
    <p:sldId id="383" r:id="rId28"/>
    <p:sldId id="384" r:id="rId29"/>
    <p:sldId id="385" r:id="rId30"/>
    <p:sldId id="570" r:id="rId31"/>
    <p:sldId id="571" r:id="rId32"/>
    <p:sldId id="38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同学们，先想一个问题：前面的车发现了危险，希望提醒后面的车。把一条“需要刹车”的消息发出去，是不是这件事情就完成了？</a:t>
            </a:r>
            <a:endParaRPr lang="zh-CN" altLang="en-US"/>
          </a:p>
          <a:p>
            <a:r>
              <a:rPr lang="zh-CN" altLang="en-US"/>
              <a:t>还没有。后面的节点有没有收到？收到的是不是正确的内容？它正在忙别的工作时，能不能及时处理？我们又拿什么证明这些事情确实发生了？这一章的“嵌入式网络基础”，就是从这几个问题出发。</a:t>
            </a:r>
            <a:endParaRPr lang="zh-CN" altLang="en-US"/>
          </a:p>
          <a:p>
            <a:r>
              <a:rPr lang="zh-CN" altLang="en-US"/>
              <a:t>后面我们会用程序模拟发送和接收刹车通知，再观察任务处理和网络报文。这里的“刹车”首先是教学模拟中的处理动作，不是在电脑上运行一下，就等于控制了真实汽车。</a:t>
            </a:r>
            <a:endParaRPr lang="zh-CN" altLang="en-US"/>
          </a:p>
          <a:p>
            <a:r>
              <a:rPr lang="zh-CN" altLang="en-US"/>
              <a:t>大家暂时记不住术语也没关系，先记住一句话：消息发出、消息收到、消息处理，是三个需要分别确认的环节。接下来看看，我们用哪几部分知识把它们连起来。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EF-84DF-4C88-BEA4-389B73CD31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EF-84DF-4C88-BEA4-389B73CD31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EF-84DF-4C88-BEA4-389B73CD31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12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image" Target="../media/image18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19.jpe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hyperlink" Target="http://www.bilibili.com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5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hyperlink" Target="http://www.bilibili.com/" TargetMode="Externa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8"/>
            <a:ext cx="12192000" cy="68541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-112482" y="203483"/>
            <a:ext cx="353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kern="100" dirty="0">
                <a:solidFill>
                  <a:srgbClr val="FFFFFF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  <a:cs typeface="Times New Roman" panose="02020503050405090304" pitchFamily="18" charset="0"/>
              </a:rPr>
              <a:t>《嵌入式网络与通信》</a:t>
            </a:r>
            <a:endParaRPr lang="zh-CN" altLang="en-US" sz="2800" dirty="0">
              <a:solidFill>
                <a:srgbClr val="FFFF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9" name="Picture 2" descr="高清同济大学logo-快图网-免费PNG图片免抠PNG高清背景素材库 ...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38" b="34591"/>
          <a:stretch>
            <a:fillRect/>
          </a:stretch>
        </p:blipFill>
        <p:spPr bwMode="auto">
          <a:xfrm>
            <a:off x="3530058" y="203483"/>
            <a:ext cx="1540198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3737520" y="2114889"/>
            <a:ext cx="8069942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0"/>
                <a:solidFill>
                  <a:srgbClr val="FFFFFF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《嵌入式网络与通信》初级项目一</a:t>
            </a:r>
            <a:endParaRPr lang="zh-CN" altLang="en-US" sz="6000" b="1" cap="none" spc="0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69574" y="3204229"/>
            <a:ext cx="309880" cy="52197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altLang="zh-CN" sz="2800" b="1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68084" y="3727449"/>
            <a:ext cx="362585" cy="52197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dirty="0">
                <a:ln w="0"/>
                <a:solidFill>
                  <a:srgbClr val="FFFFFF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 </a:t>
            </a:r>
            <a:endParaRPr lang="zh-CN" altLang="en-US" sz="2800" b="1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8"/>
            <a:ext cx="12192000" cy="68541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-112482" y="203483"/>
            <a:ext cx="353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kern="100" dirty="0">
                <a:solidFill>
                  <a:srgbClr val="FFFFFF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  <a:cs typeface="Times New Roman" panose="02020503050405090304" pitchFamily="18" charset="0"/>
              </a:rPr>
              <a:t>《嵌入式网络与通信》</a:t>
            </a:r>
            <a:endParaRPr lang="zh-CN" altLang="en-US" sz="2800" dirty="0">
              <a:solidFill>
                <a:srgbClr val="FFFF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9" name="Picture 2" descr="高清同济大学logo-快图网-免费PNG图片免抠PNG高清背景素材库 ...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38" b="34591"/>
          <a:stretch>
            <a:fillRect/>
          </a:stretch>
        </p:blipFill>
        <p:spPr bwMode="auto">
          <a:xfrm>
            <a:off x="3530058" y="203483"/>
            <a:ext cx="1540198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3976915" y="2114889"/>
            <a:ext cx="8069942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0"/>
                <a:solidFill>
                  <a:srgbClr val="FFFFFF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嵌入式网络基础</a:t>
            </a:r>
            <a:endParaRPr lang="zh-CN" altLang="en-US" sz="6000" b="1" cap="none" spc="0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69574" y="3204229"/>
            <a:ext cx="309880" cy="52197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altLang="zh-CN" sz="2800" b="1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68084" y="3727449"/>
            <a:ext cx="362585" cy="52197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dirty="0">
                <a:ln w="0"/>
                <a:solidFill>
                  <a:srgbClr val="FFFFFF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 </a:t>
            </a:r>
            <a:endParaRPr lang="zh-CN" altLang="en-US" sz="2800" b="1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00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01白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99浮图" descr="99浮图"/>
          <p:cNvPicPr>
            <a:picLocks noChangeAspect="1"/>
          </p:cNvPicPr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21大标题"/>
          <p:cNvPicPr>
            <a:picLocks noChangeAspect="1"/>
          </p:cNvPicPr>
          <p:nvPr/>
        </p:nvPicPr>
        <p:blipFill>
          <a:blip r:embed="rId4"/>
          <a:srcRect l="2953" t="13333" r="73995" b="70259"/>
          <a:stretch>
            <a:fillRect/>
          </a:stretch>
        </p:blipFill>
        <p:spPr>
          <a:xfrm>
            <a:off x="129350" y="739369"/>
            <a:ext cx="2810510" cy="1125220"/>
          </a:xfrm>
          <a:prstGeom prst="rect">
            <a:avLst/>
          </a:prstGeom>
        </p:spPr>
      </p:pic>
      <p:pic>
        <p:nvPicPr>
          <p:cNvPr id="13" name="图片 12" descr="22总结性文字"/>
          <p:cNvPicPr>
            <a:picLocks noChangeAspect="1"/>
          </p:cNvPicPr>
          <p:nvPr/>
        </p:nvPicPr>
        <p:blipFill>
          <a:blip r:embed="rId5"/>
          <a:srcRect l="22667" t="13333" r="2359" b="67333"/>
          <a:stretch>
            <a:fillRect/>
          </a:stretch>
        </p:blipFill>
        <p:spPr>
          <a:xfrm>
            <a:off x="184151" y="796235"/>
            <a:ext cx="11711084" cy="13258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34" y="146966"/>
            <a:ext cx="10489912" cy="804899"/>
          </a:xfrm>
          <a:prstGeom prst="rect">
            <a:avLst/>
          </a:prstGeom>
        </p:spPr>
      </p:pic>
      <p:pic>
        <p:nvPicPr>
          <p:cNvPr id="1026" name="Picture 2" descr="高清同济大学logo-快图网-免费PNG图片免抠PNG高清背景素材库 ...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38" b="34591"/>
          <a:stretch>
            <a:fillRect/>
          </a:stretch>
        </p:blipFill>
        <p:spPr bwMode="auto">
          <a:xfrm>
            <a:off x="10172278" y="301219"/>
            <a:ext cx="1457174" cy="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1534604" y="2660824"/>
            <a:ext cx="7272845" cy="311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30"/>
              </a:spcBef>
              <a:spcAft>
                <a:spcPts val="103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嵌入式网络在智能网联车辆中的重要性</a:t>
            </a:r>
            <a:endParaRPr lang="en-US" altLang="zh-CN" sz="2400" b="1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  <a:p>
            <a:pPr lvl="0">
              <a:lnSpc>
                <a:spcPct val="125000"/>
              </a:lnSpc>
              <a:spcBef>
                <a:spcPts val="1030"/>
              </a:spcBef>
              <a:spcAft>
                <a:spcPts val="1030"/>
              </a:spcAft>
              <a:buFont typeface="+mj-lt"/>
              <a:buAutoNum type="arabicPeriod"/>
              <a:defRPr/>
            </a:pP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OSI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模型与</a:t>
            </a: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TCP/IP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协议栈在嵌入式网络中的作用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300"/>
              </a:spcBef>
              <a:spcAft>
                <a:spcPts val="103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OSI</a:t>
            </a:r>
            <a:r>
              <a:rPr kumimoji="0" lang="zh-CN" altLang="en-US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模型与</a:t>
            </a: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TCP/IP</a:t>
            </a:r>
            <a:r>
              <a:rPr kumimoji="0" lang="zh-CN" altLang="en-US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协议栈深度解析</a:t>
            </a:r>
            <a:endParaRPr kumimoji="0" lang="en-US" altLang="zh-CN" sz="2400" b="1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300"/>
              </a:spcBef>
              <a:spcAft>
                <a:spcPts val="103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网络协议栈和嵌入式系统的结合</a:t>
            </a:r>
            <a:endParaRPr kumimoji="0" lang="zh-CN" altLang="en-US" sz="2400" b="1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1030"/>
              </a:spcAft>
              <a:buFont typeface="+mj-lt"/>
              <a:buAutoNum type="arabicPeriod"/>
              <a:defRPr/>
            </a:pP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RTOS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</a:rPr>
              <a:t>网络接口开发实战</a:t>
            </a:r>
            <a:endParaRPr lang="zh-CN" altLang="en-US" sz="2400" b="1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1809016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本章讲授内容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301120"/>
            <a:ext cx="62564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高清同济大学logo-快图网-免费PNG图片免抠PNG高清背景素材库 ..."/>
          <p:cNvPicPr>
            <a:picLocks noChangeAspect="1" noChangeArrowheads="1"/>
          </p:cNvPicPr>
          <p:nvPr/>
        </p:nvPicPr>
        <p:blipFill rotWithShape="1">
          <a:blip r:embed="rId1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38" b="34591"/>
          <a:stretch>
            <a:fillRect/>
          </a:stretch>
        </p:blipFill>
        <p:spPr bwMode="auto">
          <a:xfrm>
            <a:off x="10172278" y="301219"/>
            <a:ext cx="1457174" cy="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8399" y="985015"/>
            <a:ext cx="7536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、嵌入式网络在智能网联车辆中的重要性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902526" y="3248220"/>
            <a:ext cx="3421396" cy="4114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智能网联车辆的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通信需求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1717" t="4237" r="11257" b="4039"/>
          <a:stretch>
            <a:fillRect/>
          </a:stretch>
        </p:blipFill>
        <p:spPr>
          <a:xfrm>
            <a:off x="918877" y="1582154"/>
            <a:ext cx="3421396" cy="1616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图片 26"/>
          <p:cNvPicPr/>
          <p:nvPr/>
        </p:nvPicPr>
        <p:blipFill>
          <a:blip r:embed="rId3"/>
          <a:srcRect t="11145"/>
          <a:stretch>
            <a:fillRect/>
          </a:stretch>
        </p:blipFill>
        <p:spPr>
          <a:xfrm>
            <a:off x="910700" y="3748790"/>
            <a:ext cx="3437749" cy="15871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标题 1"/>
          <p:cNvSpPr txBox="1"/>
          <p:nvPr/>
        </p:nvSpPr>
        <p:spPr>
          <a:xfrm>
            <a:off x="902526" y="5400945"/>
            <a:ext cx="3445924" cy="4600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嵌入式系统的网络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通信角色</a:t>
            </a: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98836" y="1556804"/>
            <a:ext cx="6167883" cy="21028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0" name="箭头: 右 29"/>
          <p:cNvSpPr/>
          <p:nvPr/>
        </p:nvSpPr>
        <p:spPr>
          <a:xfrm>
            <a:off x="4903809" y="2276264"/>
            <a:ext cx="406090" cy="465289"/>
          </a:xfrm>
          <a:prstGeom prst="rightArrow">
            <a:avLst/>
          </a:prstGeom>
          <a:solidFill>
            <a:srgbClr val="E0F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1" name="箭头: 右 30"/>
          <p:cNvSpPr/>
          <p:nvPr/>
        </p:nvSpPr>
        <p:spPr>
          <a:xfrm>
            <a:off x="4853059" y="4485899"/>
            <a:ext cx="406090" cy="465289"/>
          </a:xfrm>
          <a:prstGeom prst="rightArrow">
            <a:avLst/>
          </a:prstGeom>
          <a:solidFill>
            <a:srgbClr val="E0F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225906" y="2379630"/>
            <a:ext cx="2558618" cy="400110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车与云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V2C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5836" y="2990273"/>
            <a:ext cx="60025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多层次通信需求促使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嵌入式网络成为核心技术之一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93000" y="1743945"/>
            <a:ext cx="2226689" cy="400110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车与车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V2V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25906" y="1732165"/>
            <a:ext cx="2558618" cy="400110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车与路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V2I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92999" y="2377217"/>
            <a:ext cx="2226689" cy="400110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车与人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V2P</a:t>
            </a:r>
            <a:r>
              <a:rPr kumimoji="0" lang="en-US" altLang="zh-CN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698836" y="3751470"/>
            <a:ext cx="6167883" cy="21247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19723" y="5197760"/>
            <a:ext cx="5478673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多功能角色是保障智能联网车辆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复杂通信需求高效运行的核心技术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942148" y="3964660"/>
            <a:ext cx="2666994" cy="369332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驱动程序开发与管理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42148" y="4485899"/>
            <a:ext cx="2666994" cy="369332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任务调度与中断处理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82603" y="4485899"/>
            <a:ext cx="2601921" cy="369332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系统资源管理与优化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82603" y="3964660"/>
            <a:ext cx="2601921" cy="369332"/>
          </a:xfrm>
          <a:prstGeom prst="rect">
            <a:avLst/>
          </a:prstGeom>
          <a:solidFill>
            <a:srgbClr val="E0F0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协议栈的实现与管理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图片 42" descr="29底部横文本框"/>
          <p:cNvPicPr>
            <a:picLocks noChangeAspect="1"/>
          </p:cNvPicPr>
          <p:nvPr/>
        </p:nvPicPr>
        <p:blipFill>
          <a:blip r:embed="rId4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09350" y="6313781"/>
            <a:ext cx="11667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嵌入式网络通信是理解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智能网联系统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架构的基础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，更是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自动驾驶系统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研发的前提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98836" y="1556804"/>
            <a:ext cx="6167883" cy="43161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是系统分层协同、准确传输和高效处理信息的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理论基础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b="6746"/>
          <a:stretch>
            <a:fillRect/>
          </a:stretch>
        </p:blipFill>
        <p:spPr>
          <a:xfrm>
            <a:off x="431501" y="1593672"/>
            <a:ext cx="4783966" cy="38258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文本框 17"/>
          <p:cNvSpPr txBox="1"/>
          <p:nvPr/>
        </p:nvSpPr>
        <p:spPr>
          <a:xfrm>
            <a:off x="6172200" y="1705472"/>
            <a:ext cx="5694518" cy="923330"/>
          </a:xfrm>
          <a:prstGeom prst="rect">
            <a:avLst/>
          </a:prstGeom>
          <a:solidFill>
            <a:srgbClr val="EDF6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图中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卫星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临近空间平台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地面基站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车载网络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多层通信架构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展示了智能网联车辆需要依赖复杂且多样化的通信手段，形成空天地一体化网络。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72200" y="2793136"/>
            <a:ext cx="56945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图中车辆与基础设施、无人机、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WiFi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热点的互联互通，实际上都依赖车载的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嵌入式网络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系统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来实现数据采集、处理、通信及控制。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72199" y="4968463"/>
            <a:ext cx="569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图中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车辆网架构下的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各种无线链路、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WiFi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热点和基站，都是基于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TCP/IP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协议族支持互联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2199" y="3880800"/>
            <a:ext cx="5694519" cy="923330"/>
          </a:xfrm>
          <a:prstGeom prst="rect">
            <a:avLst/>
          </a:prstGeom>
          <a:solidFill>
            <a:srgbClr val="EDF6FF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嵌入式网络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是车载各个电子控制单元（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ECU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）和车载通信模块之间的“神经中枢”，支持：实时数据传输、多源通信网络融合、外部环境通信交互。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31500" y="5436826"/>
            <a:ext cx="4783967" cy="44602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空天地一体化车联网架构</a:t>
            </a: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srgbClr val="4874CB">
                  <a:lumMod val="50000"/>
                </a:srgb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流程图: 接点 12"/>
          <p:cNvSpPr/>
          <p:nvPr/>
        </p:nvSpPr>
        <p:spPr>
          <a:xfrm>
            <a:off x="5828946" y="2006270"/>
            <a:ext cx="330200" cy="321733"/>
          </a:xfrm>
          <a:prstGeom prst="flowChartConnec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流程图: 接点 16"/>
          <p:cNvSpPr/>
          <p:nvPr/>
        </p:nvSpPr>
        <p:spPr>
          <a:xfrm>
            <a:off x="5828946" y="3050956"/>
            <a:ext cx="330200" cy="321733"/>
          </a:xfrm>
          <a:prstGeom prst="flowChartConnec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流程图: 接点 18"/>
          <p:cNvSpPr/>
          <p:nvPr/>
        </p:nvSpPr>
        <p:spPr>
          <a:xfrm>
            <a:off x="5828946" y="4095642"/>
            <a:ext cx="330200" cy="321733"/>
          </a:xfrm>
          <a:prstGeom prst="flowChartConnec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流程图: 接点 20"/>
          <p:cNvSpPr/>
          <p:nvPr/>
        </p:nvSpPr>
        <p:spPr>
          <a:xfrm>
            <a:off x="5828946" y="5140329"/>
            <a:ext cx="330200" cy="321733"/>
          </a:xfrm>
          <a:prstGeom prst="flowChartConnecto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" name="箭头: 右 21"/>
          <p:cNvSpPr/>
          <p:nvPr/>
        </p:nvSpPr>
        <p:spPr>
          <a:xfrm rot="5400000">
            <a:off x="5893262" y="2547322"/>
            <a:ext cx="203199" cy="30246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箭头: 右 22"/>
          <p:cNvSpPr/>
          <p:nvPr/>
        </p:nvSpPr>
        <p:spPr>
          <a:xfrm rot="5400000">
            <a:off x="5905499" y="3625957"/>
            <a:ext cx="203199" cy="30246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箭头: 右 23"/>
          <p:cNvSpPr/>
          <p:nvPr/>
        </p:nvSpPr>
        <p:spPr>
          <a:xfrm rot="5400000">
            <a:off x="5879394" y="4704592"/>
            <a:ext cx="203199" cy="30246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08399" y="985015"/>
            <a:ext cx="931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lang="zh-CN" altLang="en-US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lang="en-US" altLang="zh-CN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lang="zh-CN" altLang="en-US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协议栈在嵌入式网络中的作用</a:t>
            </a:r>
            <a:endParaRPr lang="zh-CN" altLang="en-US" sz="2800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799400" y="3689557"/>
            <a:ext cx="9385298" cy="207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806701" y="1612692"/>
            <a:ext cx="9385298" cy="1942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lang="en-US" altLang="zh-CN" sz="28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2731" y="2144988"/>
            <a:ext cx="1545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</a:t>
            </a:r>
            <a:endParaRPr lang="zh-CN" altLang="en-US" dirty="0"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645" y="4294443"/>
            <a:ext cx="2095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endParaRPr lang="zh-CN" altLang="en-US" dirty="0"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6701" y="1775628"/>
            <a:ext cx="9243697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模型：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开放系统互联模型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Open System Interconnect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）</a:t>
            </a:r>
            <a:endParaRPr lang="zh-CN" altLang="en-US" sz="24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06702" y="4722686"/>
            <a:ext cx="9385298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协议实际上是一个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协议族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。</a:t>
            </a: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协议主要由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网络层的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传输层的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组成 。</a:t>
            </a:r>
            <a:endParaRPr lang="zh-CN" altLang="en-US" sz="24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06701" y="2535158"/>
            <a:ext cx="938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这是一个理论上的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网络分层模型</a:t>
            </a:r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，把网络通信分成了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</a:t>
            </a:r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层，每层负责不同的功能。它帮助我们理解网络通信的过程。</a:t>
            </a:r>
            <a:endParaRPr lang="zh-CN" alt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806702" y="3796869"/>
            <a:ext cx="91845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传输控制协议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网际协议</a:t>
            </a:r>
            <a:endParaRPr lang="en-US" altLang="zh-CN" sz="2400" b="1" dirty="0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Transmission Control Protocol / Internet Protocol </a:t>
            </a:r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2537" y="6264370"/>
            <a:ext cx="11567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网络通信的基石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，深度解析有助于理解数据传输的全流程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945931" y="2501447"/>
            <a:ext cx="419556" cy="311975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的七层协议体系结构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4874CB">
                  <a:lumMod val="50000"/>
                </a:srgb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73210" y="1813061"/>
            <a:ext cx="1847211" cy="556069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应用层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Application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73212" y="2405801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表示层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Presentation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73212" y="3000472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会话层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Session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3211" y="3595143"/>
            <a:ext cx="1847211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Transport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73212" y="4189814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Network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273212" y="4784485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数据链路层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Data Link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273211" y="5379158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物理层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Physical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>
            <a:off x="1824772" y="4320150"/>
            <a:ext cx="1742372" cy="897736"/>
          </a:xfrm>
          <a:prstGeom prst="triangle">
            <a:avLst>
              <a:gd name="adj" fmla="val 35150"/>
            </a:avLst>
          </a:prstGeom>
          <a:gradFill flip="none" rotWithShape="1">
            <a:gsLst>
              <a:gs pos="16000">
                <a:schemeClr val="accent4">
                  <a:lumMod val="5000"/>
                  <a:lumOff val="95000"/>
                  <a:alpha val="50000"/>
                </a:schemeClr>
              </a:gs>
              <a:gs pos="100000">
                <a:srgbClr val="E3F2D9"/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5" name="等腰三角形 24"/>
          <p:cNvSpPr/>
          <p:nvPr/>
        </p:nvSpPr>
        <p:spPr>
          <a:xfrm rot="16200000">
            <a:off x="2092072" y="2261122"/>
            <a:ext cx="1245322" cy="897735"/>
          </a:xfrm>
          <a:prstGeom prst="triangle">
            <a:avLst>
              <a:gd name="adj" fmla="val 24960"/>
            </a:avLst>
          </a:prstGeom>
          <a:gradFill flip="none" rotWithShape="1">
            <a:gsLst>
              <a:gs pos="100000">
                <a:srgbClr val="E0F0FF">
                  <a:alpha val="90000"/>
                </a:srgbClr>
              </a:gs>
              <a:gs pos="21000">
                <a:srgbClr val="E0F0FF">
                  <a:alpha val="0"/>
                </a:srgbClr>
              </a:gs>
              <a:gs pos="73000">
                <a:srgbClr val="E0F0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63736" y="4606226"/>
            <a:ext cx="1024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底层：负责网络数据传输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974130" y="2418118"/>
            <a:ext cx="101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高层：负责主机间的数据传输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流程图: 接点 30"/>
          <p:cNvSpPr/>
          <p:nvPr/>
        </p:nvSpPr>
        <p:spPr>
          <a:xfrm>
            <a:off x="3175873" y="5580004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2" name="流程图: 接点 31"/>
          <p:cNvSpPr/>
          <p:nvPr/>
        </p:nvSpPr>
        <p:spPr>
          <a:xfrm>
            <a:off x="3171611" y="498022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3" name="流程图: 接点 32"/>
          <p:cNvSpPr/>
          <p:nvPr/>
        </p:nvSpPr>
        <p:spPr>
          <a:xfrm>
            <a:off x="3171615" y="438044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3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4" name="流程图: 接点 33"/>
          <p:cNvSpPr/>
          <p:nvPr/>
        </p:nvSpPr>
        <p:spPr>
          <a:xfrm>
            <a:off x="3171875" y="378066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5" name="流程图: 接点 34"/>
          <p:cNvSpPr/>
          <p:nvPr/>
        </p:nvSpPr>
        <p:spPr>
          <a:xfrm>
            <a:off x="3174116" y="318088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6" name="流程图: 接点 35"/>
          <p:cNvSpPr/>
          <p:nvPr/>
        </p:nvSpPr>
        <p:spPr>
          <a:xfrm>
            <a:off x="3175873" y="258110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6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7" name="流程图: 接点 36"/>
          <p:cNvSpPr/>
          <p:nvPr/>
        </p:nvSpPr>
        <p:spPr>
          <a:xfrm>
            <a:off x="3169370" y="1981326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7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69043" y="1873300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网络服务与最终用户的一个接口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9043" y="2502442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数据的表示、安全、压缩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69043" y="3109072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建立、管理、终止会话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469043" y="3738214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定义传输数据的协议端口号，以及流控和差错校验。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469043" y="4340071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进行逻辑地址寻址，实现不同网络之间的路径选择。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69043" y="4923589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建立逻辑连接、进行硬件地址寻址、差错校验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等功能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469043" y="5508929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建立、维护、断开物理连接。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1" name="图片 50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574395" y="6359001"/>
            <a:ext cx="9043210" cy="367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模型提供了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完整的分层方法论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，实现系统化理解网络功能划分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91638" y="1910052"/>
            <a:ext cx="1847211" cy="556069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应用层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Application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91640" y="2502792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表示层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Presentation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91640" y="3097463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会话层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Session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91639" y="3692134"/>
            <a:ext cx="1847211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Transport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91640" y="4286805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Network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91640" y="4881476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数据链路层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Data Link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91639" y="5476149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物理层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Physical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>
            <a:off x="743200" y="4417141"/>
            <a:ext cx="1742372" cy="897736"/>
          </a:xfrm>
          <a:prstGeom prst="triangle">
            <a:avLst>
              <a:gd name="adj" fmla="val 35150"/>
            </a:avLst>
          </a:prstGeom>
          <a:gradFill flip="none" rotWithShape="1">
            <a:gsLst>
              <a:gs pos="16000">
                <a:schemeClr val="accent4">
                  <a:lumMod val="5000"/>
                  <a:lumOff val="95000"/>
                  <a:alpha val="50000"/>
                </a:schemeClr>
              </a:gs>
              <a:gs pos="100000">
                <a:srgbClr val="E3F2D9"/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5" name="等腰三角形 24"/>
          <p:cNvSpPr/>
          <p:nvPr/>
        </p:nvSpPr>
        <p:spPr>
          <a:xfrm rot="16200000">
            <a:off x="1010500" y="2358113"/>
            <a:ext cx="1245322" cy="897735"/>
          </a:xfrm>
          <a:prstGeom prst="triangle">
            <a:avLst>
              <a:gd name="adj" fmla="val 24960"/>
            </a:avLst>
          </a:prstGeom>
          <a:gradFill flip="none" rotWithShape="1">
            <a:gsLst>
              <a:gs pos="100000">
                <a:srgbClr val="E0F0FF">
                  <a:alpha val="90000"/>
                </a:srgbClr>
              </a:gs>
              <a:gs pos="21000">
                <a:srgbClr val="E0F0FF">
                  <a:alpha val="0"/>
                </a:srgbClr>
              </a:gs>
              <a:gs pos="73000">
                <a:srgbClr val="E0F0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82164" y="4703217"/>
            <a:ext cx="1024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底层：负责网络数据传输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2558" y="2515109"/>
            <a:ext cx="101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高层：负责主机间的数据传输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4546276" y="2549899"/>
            <a:ext cx="419556" cy="311326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</a:t>
            </a:r>
            <a:endParaRPr kumimoji="0" lang="en-US" altLang="zh-CN" sz="1400" b="1" i="0" u="none" strike="noStrike" kern="1200" cap="none" spc="300" normalizeH="0" baseline="0" noProof="0" dirty="0">
              <a:ln>
                <a:noFill/>
              </a:ln>
              <a:solidFill>
                <a:srgbClr val="4874CB">
                  <a:lumMod val="50000"/>
                </a:srgb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IP</a:t>
            </a:r>
            <a:r>
              <a:rPr kumimoji="0" lang="zh-CN" altLang="en-US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的四层体系结构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4874CB">
                  <a:lumMod val="50000"/>
                </a:srgb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1" name="流程图: 接点 30"/>
          <p:cNvSpPr/>
          <p:nvPr/>
        </p:nvSpPr>
        <p:spPr>
          <a:xfrm>
            <a:off x="2094301" y="5676995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2" name="流程图: 接点 31"/>
          <p:cNvSpPr/>
          <p:nvPr/>
        </p:nvSpPr>
        <p:spPr>
          <a:xfrm>
            <a:off x="2090039" y="507721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3" name="流程图: 接点 32"/>
          <p:cNvSpPr/>
          <p:nvPr/>
        </p:nvSpPr>
        <p:spPr>
          <a:xfrm>
            <a:off x="2090043" y="447743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3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4" name="流程图: 接点 33"/>
          <p:cNvSpPr/>
          <p:nvPr/>
        </p:nvSpPr>
        <p:spPr>
          <a:xfrm>
            <a:off x="2090303" y="387765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5" name="流程图: 接点 34"/>
          <p:cNvSpPr/>
          <p:nvPr/>
        </p:nvSpPr>
        <p:spPr>
          <a:xfrm>
            <a:off x="2092544" y="327787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6" name="流程图: 接点 35"/>
          <p:cNvSpPr/>
          <p:nvPr/>
        </p:nvSpPr>
        <p:spPr>
          <a:xfrm>
            <a:off x="2094301" y="267809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6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7" name="流程图: 接点 36"/>
          <p:cNvSpPr/>
          <p:nvPr/>
        </p:nvSpPr>
        <p:spPr>
          <a:xfrm>
            <a:off x="2087798" y="2078317"/>
            <a:ext cx="203200" cy="212004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7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017610" y="1910052"/>
            <a:ext cx="1847211" cy="1700691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应用层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各种应用层协议如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TELNET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lang="zh-CN" altLang="en-US" sz="12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远程登录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）、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FTP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（文件传输）、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SMTP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（简单邮件传输）等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17609" y="3654082"/>
            <a:ext cx="1847211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(TCP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17609" y="4258902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(IP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017609" y="4889938"/>
            <a:ext cx="1847210" cy="11442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网络接口层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箭头: 右 46"/>
          <p:cNvSpPr/>
          <p:nvPr/>
        </p:nvSpPr>
        <p:spPr>
          <a:xfrm>
            <a:off x="4084483" y="3738489"/>
            <a:ext cx="406090" cy="465289"/>
          </a:xfrm>
          <a:prstGeom prst="rightArrow">
            <a:avLst/>
          </a:prstGeom>
          <a:solidFill>
            <a:srgbClr val="E0F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6607244" y="2479434"/>
            <a:ext cx="1245322" cy="655092"/>
          </a:xfrm>
          <a:prstGeom prst="triangle">
            <a:avLst>
              <a:gd name="adj" fmla="val 65073"/>
            </a:avLst>
          </a:prstGeom>
          <a:gradFill flip="none" rotWithShape="1">
            <a:gsLst>
              <a:gs pos="100000">
                <a:srgbClr val="E0F0FF">
                  <a:alpha val="90000"/>
                </a:srgbClr>
              </a:gs>
              <a:gs pos="21000">
                <a:srgbClr val="E0F0FF">
                  <a:alpha val="0"/>
                </a:srgbClr>
              </a:gs>
              <a:gs pos="73000">
                <a:srgbClr val="E0F0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57380" y="2322123"/>
            <a:ext cx="5078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应用层、表示层、会话层三个层次提供的服务相差不是很大，所以在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TCP/IP协议中，它们被合并为应用层一个层次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6598530" y="3962668"/>
            <a:ext cx="1217247" cy="648273"/>
          </a:xfrm>
          <a:prstGeom prst="triangle">
            <a:avLst>
              <a:gd name="adj" fmla="val 46279"/>
            </a:avLst>
          </a:prstGeom>
          <a:gradFill flip="none" rotWithShape="1">
            <a:gsLst>
              <a:gs pos="16000">
                <a:schemeClr val="accent4">
                  <a:lumMod val="5000"/>
                  <a:lumOff val="95000"/>
                  <a:alpha val="50000"/>
                </a:schemeClr>
              </a:gs>
              <a:gs pos="100000">
                <a:srgbClr val="E3F2D9"/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31446" y="3813646"/>
            <a:ext cx="4848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输层和网络层在网络协议中的地位十分重要，在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协议中它们被作为独立的两个层次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6635808" y="5151857"/>
            <a:ext cx="1144211" cy="648274"/>
          </a:xfrm>
          <a:prstGeom prst="triangle">
            <a:avLst>
              <a:gd name="adj" fmla="val 49949"/>
            </a:avLst>
          </a:prstGeom>
          <a:gradFill flip="none" rotWithShape="1">
            <a:gsLst>
              <a:gs pos="16000">
                <a:schemeClr val="accent4">
                  <a:lumMod val="5000"/>
                  <a:lumOff val="95000"/>
                  <a:alpha val="50000"/>
                </a:schemeClr>
              </a:gs>
              <a:gs pos="100000">
                <a:srgbClr val="E3F2D9"/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76052" y="5072900"/>
            <a:ext cx="4440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数据链路层和物理层的内容相差不多，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在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协议中它们被归并在网络接口层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438412" y="2576932"/>
            <a:ext cx="419556" cy="311975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优设标题黑" panose="00000500000000000000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1400" b="1" i="0" u="none" strike="noStrike" kern="1200" cap="none" spc="300" normalizeH="0" baseline="0" noProof="0" dirty="0">
                <a:ln>
                  <a:noFill/>
                </a:ln>
                <a:solidFill>
                  <a:srgbClr val="4874CB">
                    <a:lumMod val="50000"/>
                  </a:srgb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的七层协议体系结构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4874CB">
                  <a:lumMod val="50000"/>
                </a:srgb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24" name="图片 23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62603" y="6313781"/>
            <a:ext cx="1016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的完美分层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理解设计原则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，从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的简化分层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掌握工程取舍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026707" y="3654082"/>
            <a:ext cx="1847211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(TCP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2953" y="1664688"/>
            <a:ext cx="507936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协议（</a:t>
            </a:r>
            <a:r>
              <a:rPr lang="en-US" altLang="zh-CN" b="1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Transmission Control Protocol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8400" y="2101561"/>
            <a:ext cx="11399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为应用层提供一种可靠的、面向连接的通信服务，确保数据能够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完整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且按顺序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准确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</a:rPr>
              <a:t>地到达接收端。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3" name="图片 22" descr="图形用户界面, 应用程序, 表格, Excel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49" y="2792660"/>
            <a:ext cx="4023567" cy="269113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921703" y="5495540"/>
            <a:ext cx="1710497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TCP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协议封装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4029" y="2607989"/>
            <a:ext cx="6452671" cy="316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altLang="zh-CN" b="1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报文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段由首部和数据两部分组成，首部中包含了许多关键字段：</a:t>
            </a:r>
            <a:endParaRPr lang="zh-CN" altLang="en-US" b="1" i="0" dirty="0">
              <a:effectLst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源端口和目的端口，标识通信双方的应用进程。</a:t>
            </a:r>
            <a:endParaRPr lang="zh-CN" altLang="en-US" b="1" i="0" dirty="0">
              <a:effectLst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序列号和确认号，用于数据的可靠传输和顺序控制。</a:t>
            </a:r>
            <a:endParaRPr lang="zh-CN" altLang="en-US" b="1" i="0" dirty="0">
              <a:effectLst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标志位，如</a:t>
            </a:r>
            <a:r>
              <a:rPr lang="en-US" altLang="zh-CN" b="1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SYN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(Synchronize)</a:t>
            </a:r>
            <a:r>
              <a:rPr lang="zh-CN" altLang="en-US" b="1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b="1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ACK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(Acknowledgment)</a:t>
            </a:r>
            <a:r>
              <a:rPr lang="zh-CN" altLang="en-US" b="1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b="1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FIN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(Finish)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等，控制连接的建立、传输和关闭。</a:t>
            </a:r>
            <a:endParaRPr lang="zh-CN" altLang="en-US" b="1" i="0" dirty="0">
              <a:effectLst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窗口大小，表示接收方能够接受的数据量，用于流量控制。</a:t>
            </a:r>
            <a:endParaRPr lang="zh-CN" altLang="en-US" b="1" i="0" dirty="0">
              <a:effectLst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25" name="图片 24" descr="29底部横文本框"/>
          <p:cNvPicPr>
            <a:picLocks noChangeAspect="1"/>
          </p:cNvPicPr>
          <p:nvPr/>
        </p:nvPicPr>
        <p:blipFill>
          <a:blip r:embed="rId2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协议通过首部各字段的设计，支持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连接管理、数据传输控制和错误检测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2760" y="1664970"/>
            <a:ext cx="5579745" cy="3378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TCP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协议（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Transmission Control Protocol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7954" y="2434554"/>
            <a:ext cx="6256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特点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：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7558" y="3694574"/>
            <a:ext cx="374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1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可靠传输（确认应答、重传机制）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7558" y="4301462"/>
            <a:ext cx="4896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ctr">
              <a:spcAft>
                <a:spcPts val="500"/>
              </a:spcAft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流量控制（</a:t>
            </a:r>
            <a:r>
              <a:rPr lang="zh-CN" altLang="en-US" b="1" dirty="0">
                <a:latin typeface="Times New Roman" panose="02020503050405090304" pitchFamily="18" charset="0"/>
              </a:rPr>
              <a:t>通过窗口大小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控制数据发送速率）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7558" y="4908350"/>
            <a:ext cx="462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1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拥塞控制（调整发送速率，避免网络拥堵）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67558" y="3087686"/>
            <a:ext cx="374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1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面向连接（三次握手、四次挥手）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072088" y="2400232"/>
            <a:ext cx="2591982" cy="2021083"/>
            <a:chOff x="6424920" y="2557590"/>
            <a:chExt cx="2591982" cy="2021083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24920" y="2557590"/>
              <a:ext cx="2591982" cy="1974566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7218056" y="4240119"/>
              <a:ext cx="115303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优设标题黑"/>
                  <a:cs typeface="+mn-cs"/>
                </a:rPr>
                <a:t>三次握手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429038" y="2316956"/>
            <a:ext cx="2159216" cy="2157302"/>
            <a:chOff x="9914242" y="2564631"/>
            <a:chExt cx="2159216" cy="2157302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4242" y="2564631"/>
              <a:ext cx="2159216" cy="2110785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10566188" y="4383379"/>
              <a:ext cx="105476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优设标题黑"/>
                  <a:cs typeface="+mn-cs"/>
                </a:rPr>
                <a:t>四次挥手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endParaRPr>
            </a:p>
          </p:txBody>
        </p:sp>
      </p:grpSp>
      <p:pic>
        <p:nvPicPr>
          <p:cNvPr id="3" name="图片 2" descr="29底部横文本框"/>
          <p:cNvPicPr>
            <a:picLocks noChangeAspect="1"/>
          </p:cNvPicPr>
          <p:nvPr/>
        </p:nvPicPr>
        <p:blipFill>
          <a:blip r:embed="rId3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协议通过复杂严密的机制，实现了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可靠、顺序、无差错的数据传输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20354" y="4527200"/>
            <a:ext cx="5643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SYN :</a:t>
            </a:r>
            <a:r>
              <a: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表示请求建立连接，并同步初始序列号</a:t>
            </a:r>
            <a:endParaRPr lang="zh-CN" alt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20354" y="5179584"/>
            <a:ext cx="5643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ACK:</a:t>
            </a:r>
            <a:r>
              <a: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表示确认号有效，用于确认收到对方发送的数据。</a:t>
            </a:r>
            <a:endParaRPr lang="zh-CN" alt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32569" y="5504193"/>
            <a:ext cx="5355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FIN :</a:t>
            </a:r>
            <a:r>
              <a: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用来表示发送方的数据已经发送完毕，想要关闭连接。</a:t>
            </a:r>
            <a:endParaRPr lang="zh-CN" alt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20354" y="4853392"/>
            <a:ext cx="5643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altLang="zh-CN" sz="14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Seq: </a:t>
            </a:r>
            <a:r>
              <a:rPr lang="en-US" altLang="zh-CN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Sequence Number</a:t>
            </a:r>
            <a:r>
              <a: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（序列号）用来标识发送的数据字节流的位置。</a:t>
            </a:r>
            <a:endParaRPr lang="en-US" altLang="zh-CN" sz="14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63986" y="2235435"/>
            <a:ext cx="5799736" cy="35781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8400" y="2567067"/>
            <a:ext cx="11469300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500"/>
              </a:spcAft>
              <a:buClrTx/>
              <a:buSzTx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Times New Roman" panose="02020503050405090304" pitchFamily="18" charset="0"/>
                <a:ea typeface="优设标题黑"/>
              </a:rPr>
              <a:t>主要作用：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为那些对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速度有较高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要求但对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数据可靠性要求不严格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+mn-cs"/>
              </a:rPr>
              <a:t>的应用提供传输服务。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88" y="3318906"/>
            <a:ext cx="4639262" cy="252448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400" y="2071593"/>
            <a:ext cx="10925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，全称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User Datagram Protocol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，是传输层的另一种协议，与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TCP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不同，它是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无连接的协议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43050" y="3365612"/>
            <a:ext cx="5537200" cy="248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首部非常简单，只有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8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个字节，包括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个关键字段：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源端口和目的端口：标识发送方和接收方的应用程序端口。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长度：表示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报文段的整体长度，包括首部和数据部分。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检验和：虽然是可选字段，但用于检测数据在传输过程中的错误，保证数据完整性。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图片 15" descr="29底部横文本框"/>
          <p:cNvPicPr>
            <a:picLocks noChangeAspect="1"/>
          </p:cNvPicPr>
          <p:nvPr/>
        </p:nvPicPr>
        <p:blipFill>
          <a:blip r:embed="rId2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协议不保证数据包的顺序，也没有重传机制，不保证数据的可靠性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2953" y="1664688"/>
            <a:ext cx="6291657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spcBef>
                <a:spcPts val="1800"/>
              </a:spcBef>
              <a:spcAft>
                <a:spcPts val="50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UDP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协议：用户数据报协议（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User Datagram Protocol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b="1" dirty="0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5442" y="2884567"/>
            <a:ext cx="6995235" cy="198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特点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：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UDP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是无连接的协议，不建立和断开连接，减少了通信延迟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742950" lvl="1" indent="-285750">
              <a:lnSpc>
                <a:spcPct val="125000"/>
              </a:lnSpc>
              <a:spcAft>
                <a:spcPts val="5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b="1" kern="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头部结构非常简洁，传输效率高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不保证可靠性，没有确认和重传机制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头部开销小，效率高，是轻量级传输协议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17" name="箭头: 右 16"/>
          <p:cNvSpPr/>
          <p:nvPr/>
        </p:nvSpPr>
        <p:spPr>
          <a:xfrm>
            <a:off x="7739841" y="3876505"/>
            <a:ext cx="355600" cy="406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" name="图片 19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协议简洁高效，适合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实时性高的应用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，但需要应用层自行实现必要的可靠性保障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2953" y="1664688"/>
            <a:ext cx="6291657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spcBef>
                <a:spcPts val="1800"/>
              </a:spcBef>
              <a:spcAft>
                <a:spcPts val="50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UDP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协议：用户数据报协议（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User Datagram Protocol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b="1" dirty="0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74605" y="3176942"/>
            <a:ext cx="3544043" cy="170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适合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对时延要求严格，但可以容忍少量数据丢失的应用场景。如：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实时视频、语音通讯、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DNS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查询等场景。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4605" y="2884567"/>
            <a:ext cx="3657550" cy="2550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8399" y="2899456"/>
            <a:ext cx="6952277" cy="2550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2760" y="2827655"/>
            <a:ext cx="6291580" cy="31235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2953" y="2069775"/>
            <a:ext cx="11714936" cy="757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1500"/>
              </a:spcAft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作用：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 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IP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是网络层协议，负责数据包的寻址和路由，将数据从源地址传送到目标。但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本身是不保证传输可靠的，也就是说它是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无连接、无保证可靠性的协议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8310" y="2828290"/>
            <a:ext cx="6336665" cy="3188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特点：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无连接</a:t>
            </a:r>
            <a:r>
              <a:rPr lang="zh-CN" altLang="en-US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数据包独立传输，不建立端到端连接。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不保证数据包送达，数据包可能丢失或乱序。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关键信息字段：源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地址、目的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地址和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TTL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（生存时间），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TTL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用于限制数据包在网络中的寿命，避免无限循环。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协议类型：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协议还区分不同的上层协议，如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TCP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38035" y="3030855"/>
            <a:ext cx="4749165" cy="211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两种类型：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IPv4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地址，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32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位长度，格式如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192.168.1.1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，这是目前主流的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IPv4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地址体系。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IPv6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地址，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128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位长度，设计用来解决</a:t>
            </a:r>
            <a:r>
              <a:rPr lang="en-US" altLang="zh-CN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IPv4</a:t>
            </a:r>
            <a:r>
              <a:rPr lang="zh-CN" altLang="en-US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地址不足的问题，支持更多设备。</a:t>
            </a:r>
            <a:endParaRPr lang="zh-CN" altLang="en-US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图片 10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协议是网络通信的基础，其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寻址和路由功能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为数据传输提供了核心支持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2953" y="1664688"/>
            <a:ext cx="6291657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spcBef>
                <a:spcPts val="1800"/>
              </a:spcBef>
              <a:spcAft>
                <a:spcPts val="120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IP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协议：网际协议（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Internet Protocol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b="1" dirty="0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68490" y="2827655"/>
            <a:ext cx="4963795" cy="31235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369687" y="2118889"/>
            <a:ext cx="5739306" cy="2015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2216" y="2111098"/>
            <a:ext cx="5603784" cy="2015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372123" y="4465640"/>
            <a:ext cx="5642077" cy="1083165"/>
          </a:xfrm>
          <a:prstGeom prst="rect">
            <a:avLst/>
          </a:prstGeom>
          <a:solidFill>
            <a:srgbClr val="E8F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82738" y="4464915"/>
            <a:ext cx="5748784" cy="1083165"/>
          </a:xfrm>
          <a:prstGeom prst="rect">
            <a:avLst/>
          </a:prstGeom>
          <a:solidFill>
            <a:srgbClr val="E0F0FF">
              <a:alpha val="7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400" y="2347815"/>
            <a:ext cx="5423475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rPr>
              <a:t>：负责数据包寻址和路由，不保证传输可靠。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TCP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：基于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，提供可靠的、面向连接的传输。</a:t>
            </a:r>
            <a:endParaRPr lang="zh-CN" altLang="en-US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：基于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，提供无连接、不可靠但快速的传输。</a:t>
            </a:r>
            <a:endParaRPr lang="zh-CN" altLang="en-US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738" y="1785882"/>
            <a:ext cx="3439079" cy="369332"/>
          </a:xfrm>
          <a:prstGeom prst="rect">
            <a:avLst/>
          </a:prstGeo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TCP\UDP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IP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协议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之间的关系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71920" y="4503741"/>
            <a:ext cx="2749550" cy="34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网页浏览（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HTTP/HTTPS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07270" y="4503740"/>
            <a:ext cx="2624251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文件传输（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FTP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SFTP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71920" y="4856734"/>
            <a:ext cx="3506012" cy="34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电子邮件（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SMTP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IMAP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POP3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43870" y="4844770"/>
            <a:ext cx="15303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</a:rPr>
              <a:t>数据库访问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33820" y="5219342"/>
            <a:ext cx="2787650" cy="34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远程登录（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SSH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Telnet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607270" y="5183244"/>
            <a:ext cx="28892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企业级应用（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ERP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CRM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961306" y="4532891"/>
            <a:ext cx="19748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</a:rPr>
              <a:t>实时音视频通信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598256" y="4528618"/>
            <a:ext cx="28511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</a:rPr>
              <a:t>在线游戏（尤其是竞技类）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958242" y="4854487"/>
            <a:ext cx="2154007" cy="343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</a:rPr>
              <a:t>流媒体直播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596942" y="4880663"/>
            <a:ext cx="1699707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DNS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查询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961306" y="5181791"/>
            <a:ext cx="29019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物联网（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IoT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）传感器数据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590593" y="5223834"/>
            <a:ext cx="186055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广播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多播应用</a:t>
            </a:r>
            <a:endParaRPr lang="zh-CN" altLang="en-US" sz="14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92215" y="4590506"/>
            <a:ext cx="6734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TCP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应用场景</a:t>
            </a:r>
            <a:endParaRPr lang="zh-CN" altLang="en-US" sz="1600" b="1" dirty="0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69687" y="4590505"/>
            <a:ext cx="673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rPr>
              <a:t>应用场景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OSI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模型与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TCP/IP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协议栈深度解析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7833" y="2350773"/>
            <a:ext cx="495065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TCP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 可靠性、连接管理、效率</a:t>
            </a:r>
            <a:endParaRPr lang="en-US" altLang="zh-CN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：高效性、轻量化</a:t>
            </a:r>
            <a:endParaRPr lang="zh-CN" altLang="en-US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71691" y="1809363"/>
            <a:ext cx="3439079" cy="369332"/>
          </a:xfrm>
          <a:prstGeom prst="rect">
            <a:avLst/>
          </a:prstGeo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TCP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UDP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的核心区别：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pic>
        <p:nvPicPr>
          <p:cNvPr id="15" name="图片 14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41910" y="5951855"/>
            <a:ext cx="11938000" cy="10871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8900" y="6313805"/>
            <a:ext cx="1189101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IP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协议是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底层支撑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TCP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 通过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可靠性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机制弥补</a:t>
            </a: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IP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的不足，</a:t>
            </a: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 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则牺牲可靠性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换取效率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492954" y="1556804"/>
            <a:ext cx="11486885" cy="21028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40894" y="1667755"/>
            <a:ext cx="4040609" cy="1911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92954" y="3716300"/>
            <a:ext cx="11486885" cy="21028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zh-CN" altLang="en-US" sz="2800" b="1" baseline="0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网络协议栈和嵌入式系统的结合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15" name="图片 14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420" y="5692775"/>
            <a:ext cx="11667490" cy="13462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29454" y="5971754"/>
            <a:ext cx="114868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网络协议栈定义了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通信规则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保证多任务间的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高效调度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，二者协作共同实现嵌入式系统中的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稳定可靠网络通信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7588" y="1667755"/>
            <a:ext cx="3767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网络协议栈在嵌入式系统中的作用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0894" y="2133689"/>
            <a:ext cx="3531369" cy="144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实现网络通信的核心组件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支持设备间的互联和数据传输</a:t>
            </a:r>
            <a:endParaRPr lang="zh-CN" altLang="en-US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满足嵌入式设备通信对资源和响应速度的较高要求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99178" y="2367392"/>
            <a:ext cx="2766221" cy="109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多任务管理，实时调度</a:t>
            </a:r>
            <a:endParaRPr lang="zh-CN" altLang="en-US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支持网络协议栈任务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支持应用任务并发执行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44943" y="4209517"/>
            <a:ext cx="7234896" cy="144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负责任务调度、资源分配、实时响应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协议栈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负责数据封装、解包及协议处理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中断服务程序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(ISR):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处理中断，提高响应速度，触发网络任务执行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多任务切换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保证网络数据及时处理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15568" y="1618537"/>
            <a:ext cx="3767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嵌入式系统中的实现环境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863479" y="2035256"/>
            <a:ext cx="1537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裸机系统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63479" y="2367392"/>
            <a:ext cx="2844483" cy="109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简单实现，单任务执行</a:t>
            </a:r>
            <a:endParaRPr lang="zh-CN" altLang="en-US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缺乏高效的任务调度，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难以支持复杂网络通信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499178" y="2034074"/>
            <a:ext cx="1741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系统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20713" y="3801613"/>
            <a:ext cx="3150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与协议栈的协同工作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12" y="4226149"/>
            <a:ext cx="3827970" cy="141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矩形 57"/>
          <p:cNvSpPr/>
          <p:nvPr/>
        </p:nvSpPr>
        <p:spPr>
          <a:xfrm>
            <a:off x="4739967" y="1649214"/>
            <a:ext cx="7130300" cy="1911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9750" y="1592085"/>
            <a:ext cx="3771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实时操作系统（</a:t>
            </a:r>
            <a:r>
              <a:rPr lang="en-US" altLang="zh-CN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RTOS)</a:t>
            </a:r>
            <a:endParaRPr lang="en-US" altLang="zh-CN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12349" y="5951643"/>
            <a:ext cx="11667490" cy="1087120"/>
            <a:chOff x="312349" y="5951643"/>
            <a:chExt cx="11667490" cy="1087120"/>
          </a:xfrm>
        </p:grpSpPr>
        <p:pic>
          <p:nvPicPr>
            <p:cNvPr id="42" name="图片 41" descr="29底部横文本框"/>
            <p:cNvPicPr>
              <a:picLocks noChangeAspect="1"/>
            </p:cNvPicPr>
            <p:nvPr/>
          </p:nvPicPr>
          <p:blipFill>
            <a:blip r:embed="rId1"/>
            <a:srcRect l="3154" t="82908" r="3378" b="1610"/>
            <a:stretch>
              <a:fillRect/>
            </a:stretch>
          </p:blipFill>
          <p:spPr>
            <a:xfrm>
              <a:off x="312349" y="5951643"/>
              <a:ext cx="11667490" cy="1087120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689750" y="6264370"/>
              <a:ext cx="111997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掌握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RTOS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核心特性与调度机制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，实现网络任务与普通任务的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高效协同与稳定运行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。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31497" y="2228050"/>
            <a:ext cx="43810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实时性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：能够快速响应外部事件，确保任务按时完成。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多任务管理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：支持多任务并发执行，提高系统效率。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资源管理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：高效管理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CPU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、内存等资源，确保系统稳定运行。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2282270"/>
            <a:ext cx="5691241" cy="109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 err="1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：开源、轻量级，广泛应用于嵌入式系统。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uC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/OS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：功能强大，适合复杂的嵌入式应用。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Zephyr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：专为物联网设备设计，支持多种硬件平台。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1497" y="1941842"/>
            <a:ext cx="6257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的核心特性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0" y="1968952"/>
            <a:ext cx="6257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常见的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Picture 2" descr="实时操作系统RTOS选型指南及实例分析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918" y="3378158"/>
            <a:ext cx="5157403" cy="107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本框 21"/>
          <p:cNvSpPr txBox="1"/>
          <p:nvPr/>
        </p:nvSpPr>
        <p:spPr>
          <a:xfrm>
            <a:off x="548852" y="4047927"/>
            <a:ext cx="625475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altLang="zh-CN" b="1" dirty="0">
                <a:solidFill>
                  <a:schemeClr val="dk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zh-CN" b="1" dirty="0">
                <a:solidFill>
                  <a:schemeClr val="dk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中网络任务与普通任务的调度机制</a:t>
            </a:r>
            <a:endParaRPr lang="zh-CN" altLang="en-US" b="1" dirty="0">
              <a:solidFill>
                <a:schemeClr val="dk1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548852" y="4409564"/>
          <a:ext cx="11340630" cy="1641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119"/>
                <a:gridCol w="4793381"/>
                <a:gridCol w="45041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特性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普通任务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网络任务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/>
                </a:tc>
              </a:tr>
              <a:tr h="43725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优先级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固定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需动态调整（避免饿死低优先级任务）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堆栈需求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较小（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1-2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KB</a:t>
                      </a:r>
                      <a:r>
                        <a:rPr 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较大（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≥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4KB</a:t>
                      </a: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LWIP</a:t>
                      </a: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需缓冲池）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3500" marR="63500" marT="63500" marB="635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阻塞方式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简单信号量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复杂事件组</a:t>
                      </a:r>
                      <a:r>
                        <a:rPr lang="en-US" altLang="zh-CN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+</a:t>
                      </a: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超时机制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marL="63500" marR="63500" marT="63500" marB="63500" anchor="ctr"/>
                </a:tc>
              </a:tr>
            </a:tbl>
          </a:graphicData>
        </a:graphic>
      </p:graphicFrame>
      <p:grpSp>
        <p:nvGrpSpPr>
          <p:cNvPr id="24" name="组合 23"/>
          <p:cNvGrpSpPr/>
          <p:nvPr/>
        </p:nvGrpSpPr>
        <p:grpSpPr>
          <a:xfrm rot="5400000">
            <a:off x="5409200" y="2829409"/>
            <a:ext cx="540454" cy="760980"/>
            <a:chOff x="6499860" y="449580"/>
            <a:chExt cx="540454" cy="760980"/>
          </a:xfrm>
        </p:grpSpPr>
        <p:sp>
          <p:nvSpPr>
            <p:cNvPr id="26" name="直角三角形 25"/>
            <p:cNvSpPr/>
            <p:nvPr/>
          </p:nvSpPr>
          <p:spPr>
            <a:xfrm rot="8100000">
              <a:off x="6499860" y="449580"/>
              <a:ext cx="540453" cy="540000"/>
            </a:xfrm>
            <a:prstGeom prst="rtTriangle">
              <a:avLst/>
            </a:prstGeom>
            <a:gradFill flip="none" rotWithShape="1">
              <a:gsLst>
                <a:gs pos="41260">
                  <a:sysClr val="window" lastClr="FFFFFF">
                    <a:alpha val="73000"/>
                  </a:sysClr>
                </a:gs>
                <a:gs pos="4000">
                  <a:sysClr val="window" lastClr="FFFFFF">
                    <a:alpha val="15000"/>
                  </a:sysClr>
                </a:gs>
                <a:gs pos="70000">
                  <a:srgbClr val="93ABD8">
                    <a:alpha val="59000"/>
                  </a:srgbClr>
                </a:gs>
                <a:gs pos="100000">
                  <a:srgbClr val="93ABD8"/>
                </a:gs>
              </a:gsLst>
              <a:lin ang="81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9852C"/>
                    </a:gs>
                    <a:gs pos="50000">
                      <a:srgbClr val="F8E1B1"/>
                    </a:gs>
                    <a:gs pos="100000">
                      <a:srgbClr val="F8E1B1"/>
                    </a:gs>
                  </a:gsLst>
                  <a:lin ang="10800000" scaled="1"/>
                </a:gradFill>
                <a:effectLst/>
                <a:uLnTx/>
                <a:uFillTx/>
                <a:latin typeface="Times New Roman" panose="02020503050405090304" pitchFamily="18" charset="0"/>
                <a:ea typeface="等线" panose="02010600030101010101" charset="-122"/>
                <a:cs typeface="Times New Roman" panose="02020503050405090304" pitchFamily="18" charset="0"/>
              </a:endParaRPr>
            </a:p>
          </p:txBody>
        </p:sp>
        <p:sp>
          <p:nvSpPr>
            <p:cNvPr id="27" name="直角三角形 26"/>
            <p:cNvSpPr/>
            <p:nvPr/>
          </p:nvSpPr>
          <p:spPr>
            <a:xfrm rot="8100000">
              <a:off x="6499861" y="670560"/>
              <a:ext cx="540453" cy="540000"/>
            </a:xfrm>
            <a:prstGeom prst="rtTriangle">
              <a:avLst/>
            </a:prstGeom>
            <a:gradFill flip="none" rotWithShape="1">
              <a:gsLst>
                <a:gs pos="41260">
                  <a:sysClr val="window" lastClr="FFFFFF">
                    <a:alpha val="73000"/>
                  </a:sysClr>
                </a:gs>
                <a:gs pos="4000">
                  <a:sysClr val="window" lastClr="FFFFFF">
                    <a:alpha val="15000"/>
                  </a:sysClr>
                </a:gs>
                <a:gs pos="70000">
                  <a:srgbClr val="93ABD8">
                    <a:alpha val="59000"/>
                  </a:srgbClr>
                </a:gs>
                <a:gs pos="100000">
                  <a:srgbClr val="93ABD8"/>
                </a:gs>
              </a:gsLst>
              <a:lin ang="81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F9852C"/>
                    </a:gs>
                    <a:gs pos="50000">
                      <a:srgbClr val="F8E1B1"/>
                    </a:gs>
                    <a:gs pos="100000">
                      <a:srgbClr val="F8E1B1"/>
                    </a:gs>
                  </a:gsLst>
                  <a:lin ang="10800000" scaled="1"/>
                </a:gradFill>
                <a:effectLst/>
                <a:uLnTx/>
                <a:uFillTx/>
                <a:latin typeface="Times New Roman" panose="02020503050405090304" pitchFamily="18" charset="0"/>
                <a:ea typeface="等线" panose="02010600030101010101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3726" y="1508235"/>
            <a:ext cx="11959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开发</a:t>
            </a:r>
            <a:r>
              <a:rPr lang="en-US" altLang="zh-CN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网络接口，主要是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实现一组接口函数</a:t>
            </a:r>
            <a:r>
              <a:rPr lang="zh-CN" altLang="en-US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，把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底层硬件驱动</a:t>
            </a:r>
            <a:r>
              <a:rPr lang="zh-CN" altLang="en-US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和</a:t>
            </a:r>
            <a:r>
              <a:rPr lang="zh-CN" altLang="en-US" sz="24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上层协议栈</a:t>
            </a:r>
            <a:r>
              <a:rPr lang="zh-CN" altLang="en-US" sz="24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连接起来</a:t>
            </a:r>
            <a:endParaRPr lang="zh-CN" altLang="en-US" sz="240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94475" y="1976037"/>
          <a:ext cx="11455398" cy="423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7699"/>
                <a:gridCol w="5727699"/>
              </a:tblGrid>
              <a:tr h="67750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RTOS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网络接口开发流程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 hMerge="1">
                  <a:tcPr/>
                </a:tc>
              </a:tr>
              <a:tr h="677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硬件初始化</a:t>
                      </a:r>
                      <a:endParaRPr lang="en-US" altLang="zh-CN" b="1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Network Hardware Init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初始化网卡硬件（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MAC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控制器 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+ PHY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芯片），使网络设备能正常工作。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77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发送数据</a:t>
                      </a:r>
                      <a:endParaRPr lang="en-US" altLang="zh-CN" b="1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Transmit Data Flow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当协议栈（比如</a:t>
                      </a:r>
                      <a:r>
                        <a:rPr lang="en-US" altLang="zh-CN" dirty="0" err="1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lwIP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）需要发送数据包时，通过网络接口把数据传给网卡发出去。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846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接收数据</a:t>
                      </a:r>
                      <a:endParaRPr lang="en-US" altLang="zh-CN" b="1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Receive Data Flow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当网卡硬件收到数据包后，把数据交给协议栈处理。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77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中断处理</a:t>
                      </a:r>
                      <a:endParaRPr lang="en-US" altLang="zh-CN" b="1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Interrupt Handling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高效地响应硬件事件，比如收发完成、中断错误。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77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接口注册与协议栈绑定</a:t>
                      </a:r>
                      <a:endParaRPr lang="en-US" altLang="zh-CN" b="1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（</a:t>
                      </a:r>
                      <a:r>
                        <a:rPr lang="en-US" altLang="zh-CN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Interface Registration</a:t>
                      </a: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503050405090304" pitchFamily="18" charset="0"/>
                          <a:ea typeface="微软雅黑" panose="020B0503020204020204" pitchFamily="34" charset="-122"/>
                        </a:rPr>
                        <a:t>告诉协议栈，你的网络接口已经准备好，可以发送和接收数据了。</a:t>
                      </a:r>
                      <a:endParaRPr lang="zh-CN" altLang="en-US" dirty="0">
                        <a:latin typeface="Times New Roman" panose="0202050305040509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图片 3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网络接口开发流程，在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底层驱动与上层协议栈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之间建立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高效桥梁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096000" y="3960192"/>
            <a:ext cx="5046133" cy="1681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65318" y="3960192"/>
            <a:ext cx="5047200" cy="1681798"/>
          </a:xfrm>
          <a:prstGeom prst="rect">
            <a:avLst/>
          </a:prstGeom>
          <a:solidFill>
            <a:srgbClr val="EDF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096000" y="2163308"/>
            <a:ext cx="5047200" cy="1681798"/>
          </a:xfrm>
          <a:prstGeom prst="rect">
            <a:avLst/>
          </a:prstGeom>
          <a:solidFill>
            <a:srgbClr val="EDF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65318" y="2181570"/>
            <a:ext cx="5047200" cy="1681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4" name="图片 3" descr="29底部横文本框"/>
          <p:cNvPicPr>
            <a:picLocks noChangeAspect="1"/>
          </p:cNvPicPr>
          <p:nvPr/>
        </p:nvPicPr>
        <p:blipFill>
          <a:blip r:embed="rId1"/>
          <a:srcRect l="3154" t="82908" r="3378" b="1610"/>
          <a:stretch>
            <a:fillRect/>
          </a:stretch>
        </p:blipFill>
        <p:spPr>
          <a:xfrm>
            <a:off x="312349" y="5951643"/>
            <a:ext cx="11667490" cy="1087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2953" y="6313781"/>
            <a:ext cx="114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网络接口开发流程，在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底层驱动与上层协议栈</a:t>
            </a:r>
            <a:r>
              <a:rPr lang="zh-CN" altLang="en-US" sz="2400" b="1" dirty="0">
                <a:solidFill>
                  <a:prstClr val="white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之间建立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高效桥梁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3852" y="2741378"/>
            <a:ext cx="4590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硬件初始化、数据发送接收、中断处理、    协议栈绑定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关键在于驱动和协议层高效桥梁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55272" y="2784593"/>
            <a:ext cx="4353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理论明确开发重点与流程</a:t>
            </a:r>
            <a:endParaRPr lang="zh-CN" altLang="en-US" dirty="0">
              <a:latin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</a:rPr>
              <a:t>需要软硬件环境支持验证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3852" y="4686005"/>
            <a:ext cx="4353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物理开发板受限，环境搭建繁琐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虚拟机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+QEMU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提供灵活仿真平台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51085" y="4571562"/>
            <a:ext cx="48470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VirtualBox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虚拟机安装配置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Ubuntu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系统与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QEMU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安装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开展仿真平台上的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网络接口开发实践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5318" y="2331288"/>
            <a:ext cx="5047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理论回顾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46095" y="2331288"/>
            <a:ext cx="1703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理论指导实践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18" y="4121459"/>
            <a:ext cx="504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开发环境搭建的重要性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46095" y="4123579"/>
            <a:ext cx="1745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</a:rPr>
              <a:t>接下来内容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05045" y="2127297"/>
            <a:ext cx="7747851" cy="46277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5900" y="2127250"/>
            <a:ext cx="3960495" cy="4627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5601" y="2163796"/>
            <a:ext cx="349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1.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开发环境工具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475" y="4123690"/>
            <a:ext cx="393192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创建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VirtualBox Linux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开发机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下载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Ubuntu Server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镜像：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https://cn.ubuntu.com/download/desktop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VirtualBox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中新建虚拟机：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类型：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Linux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版本：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Ubuntu (64-bit)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内存：≥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4GB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硬盘：≥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40GB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73915" y="2127297"/>
            <a:ext cx="3632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虚拟机及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Ubuntu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安装教程可参考：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https://blog.csdn.net/qq_42417071/article/details/136327674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2405" y="2586788"/>
            <a:ext cx="36261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VirtualBox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虚拟机中安装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QEMU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来模拟嵌入式环境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在不依赖物理开发板的情况下进行任务开发和验证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25704" y="2071463"/>
            <a:ext cx="41185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虚拟机终端输入：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sudo apt-get  update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更新软件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sudo apt-get install qemu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下载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QEMU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293" y="3048453"/>
            <a:ext cx="3474143" cy="156494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13910" y="3771889"/>
            <a:ext cx="35697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列出系统中所有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qemu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相关的系统模拟器：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ls 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usr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/bin/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qemu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优设标题黑"/>
                <a:cs typeface="Times New Roman" panose="02020503050405090304" pitchFamily="18" charset="0"/>
              </a:rPr>
              <a:t>-system-*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40" y="4830703"/>
            <a:ext cx="7558022" cy="188107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413910" y="5260369"/>
            <a:ext cx="2058809" cy="156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355600" y="4929960"/>
            <a:ext cx="11018982" cy="188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55600" y="2127297"/>
            <a:ext cx="11018982" cy="2743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961194" y="2123325"/>
            <a:ext cx="4816607" cy="46887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5601" y="2163796"/>
            <a:ext cx="349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1.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开发环境工具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5199" y="3116797"/>
            <a:ext cx="6103177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、安装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Git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：sudo apt update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sudo apt install git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、验证安装：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git –version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、获取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代码：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sudo git clone https://github.com/FreeRTOS/FreeRTOS.git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cd 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/Demo/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选定特定示例（如右图）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2649" y="2641441"/>
            <a:ext cx="625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获取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模拟器代码：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4199" y="5159031"/>
            <a:ext cx="61527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安装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 GCC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工具链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sudo apt update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sudo apt install 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gcc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-arm-none-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eabi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验证安装：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arm-none-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eabi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gcc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--version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725" y="2235211"/>
            <a:ext cx="2703776" cy="2428442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079725" y="4717799"/>
            <a:ext cx="46890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CORTEX_*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 Cortex-M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系列，如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STM32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NXP LPC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Kinetis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ARM7_*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（较旧的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ARM7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架构，如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LPC2000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系列）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ARM9_*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ARM9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架构，如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Samsung S3C2440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AVR_*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Atmel AVR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单片机，如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ATmega323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RISC-V_*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RISC-V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架构，如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HiFive1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Xilinx_*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Xilinx FPGA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平台，如 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Zynq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ESP32_*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Espressif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ESP32 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系列）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09976" y="3307474"/>
            <a:ext cx="1867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不同硬件平台和编译环境的示例项目（</a:t>
            </a:r>
            <a:r>
              <a:rPr lang="en-US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Demo Projects</a:t>
            </a:r>
            <a:r>
              <a: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55600" y="2127296"/>
            <a:ext cx="11836400" cy="4462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5601" y="2163796"/>
            <a:ext cx="349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1.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开发环境工具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2009" y="2511908"/>
            <a:ext cx="6152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安装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 GCC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工具链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2853210"/>
            <a:ext cx="5767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# 1. 下载（替换版本号）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wget https://developer.arm.com/-/media/Files/downloads/gnu/13.2.rel1/binrel/arm-gnu-toolchain-13.2.rel1-x86_64-arm-none-eabi.tar.xz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# 2. 解压到 /opt（推荐）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sudo tar -xf arm-gnu-toolchain-*.tar.xz -C /opt/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# 3. 添加到 PATH（临时生效）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export PATH="/opt/arm-gnu-toolchain-*/bin:$PATH"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# 4. 永久生效（可选）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echo 'export PATH="/opt/arm-gnu-toolchain-*/bin:$PATH"' &gt;&gt; ~/.bashrc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source ~/.bashrc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383" y="2242128"/>
            <a:ext cx="5053608" cy="2956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1497" y="6209671"/>
            <a:ext cx="627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卸载：sudo rm -rf /opt/arm-gnu-toolchain-*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75400" y="5546915"/>
            <a:ext cx="533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ARM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官方提供了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GNU Arm Embedded Toolchain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（适用于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Cortex-M/R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），但是下载较慢。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5600" y="2127296"/>
            <a:ext cx="11836400" cy="4462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1" y="2163796"/>
            <a:ext cx="349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2.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开发环境选择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优设标题黑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400" y="2431497"/>
            <a:ext cx="11441226" cy="1104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开发的核心是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多任务并发、优先级调度、任务间通信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(IPC)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和同步</a:t>
            </a: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FreeRTOS</a:t>
            </a: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模拟器进行二次开发之外，还可使用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应用程序进程模拟硬件任务</a:t>
            </a: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，用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本地虚拟网络接口和回环地址 模拟真实网络</a:t>
            </a:r>
            <a:r>
              <a:rPr lang="zh-CN" altLang="en-US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400" y="3513978"/>
            <a:ext cx="5885714" cy="288571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94109" y="3640337"/>
            <a:ext cx="5234368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降低入门门槛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：在零硬件成本的情况下，专注于最核心的架构设计和逻辑开发，而不必纠缠于复杂的嵌入式环境搭建和硬件调试。</a:t>
            </a:r>
            <a:endParaRPr lang="zh-CN" alt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加速开发迭代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：在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PC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上编译运行的速度远超交叉编译和烧录到芯片的速度，极大地提升了调试效率。</a:t>
            </a:r>
            <a:endParaRPr lang="zh-CN" alt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分离关注点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：在仿真环境中解决所有的软件逻辑和网络协议问题。之后移植到真实硬件时，工作重心为移植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RTOS API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和驱动硬件。大大降低项目的复杂度。</a:t>
            </a:r>
            <a:endParaRPr lang="zh-CN" alt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（模拟环境）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30067" y="2163796"/>
            <a:ext cx="5609619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en-US" altLang="zh-CN" b="1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Wireshark (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免费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b="1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ts val="2145"/>
              </a:lnSpc>
              <a:spcBef>
                <a:spcPts val="1030"/>
              </a:spcBef>
              <a:buFont typeface="Arial" panose="020B0604020202090204" pitchFamily="34" charset="0"/>
              <a:buChar char="•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用途：抓取和分析网络数据包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ts val="2145"/>
              </a:lnSpc>
              <a:spcBef>
                <a:spcPts val="300"/>
              </a:spcBef>
              <a:buFont typeface="Arial" panose="020B0604020202090204" pitchFamily="34" charset="0"/>
              <a:buChar char="•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下载地址：</a:t>
            </a:r>
            <a:r>
              <a:rPr lang="en-US" altLang="zh-CN" b="0" i="0" u="none" strike="noStrike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https://www.wireshark.org/</a:t>
            </a:r>
            <a:endParaRPr lang="zh-CN" altLang="en-US" b="0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ts val="2145"/>
              </a:lnSpc>
              <a:spcBef>
                <a:spcPts val="300"/>
              </a:spcBef>
              <a:buFont typeface="Arial" panose="020B0604020202090204" pitchFamily="34" charset="0"/>
              <a:buChar char="•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安装时注意勾选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"Install 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WinPcap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"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或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"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Npcap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"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Windows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系统需要）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820" y="3815530"/>
            <a:ext cx="5111318" cy="289874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6181" y="2374356"/>
            <a:ext cx="5415815" cy="386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是非常流行的网络封包分析工具，可以截取各种网络数据包，并显示数据包详细信息。常用于开发测试过程中各种问题定位。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软件下载和安装以及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主界面介绍。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简单抓包示例。通过该例子学会怎么抓包以及如何简单查看分析数据包内容。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过滤器使用。通过过滤器可以筛选出想要分析的内容。包括按照协议过滤、端口和主机名过滤、数据包内容过滤。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-</a:t>
            </a:r>
            <a:r>
              <a:rPr lang="zh-CN" altLang="en-US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网络分析工具</a:t>
            </a:r>
            <a:r>
              <a:rPr lang="en-US" altLang="zh-CN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379" y="2440894"/>
            <a:ext cx="5609619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网页打开：</a:t>
            </a:r>
            <a:r>
              <a:rPr lang="en-US" altLang="zh-CN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  <a:hlinkClick r:id="rId1"/>
              </a:rPr>
              <a:t>www.bilibili.com</a:t>
            </a:r>
            <a:endParaRPr lang="en-US" altLang="zh-CN" dirty="0">
              <a:solidFill>
                <a:srgbClr val="40404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spcBef>
                <a:spcPts val="1370"/>
              </a:spcBef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在浏览器中，</a:t>
            </a:r>
            <a:r>
              <a:rPr lang="zh-CN" altLang="en-US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按下</a:t>
            </a:r>
            <a:r>
              <a:rPr lang="en-US" altLang="zh-CN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F12</a:t>
            </a:r>
            <a:r>
              <a:rPr lang="zh-CN" altLang="en-US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键</a:t>
            </a: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，即可打开开发者工具窗口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85" y="3385482"/>
            <a:ext cx="6096000" cy="321832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矩形 10"/>
          <p:cNvSpPr/>
          <p:nvPr/>
        </p:nvSpPr>
        <p:spPr>
          <a:xfrm>
            <a:off x="497885" y="5490236"/>
            <a:ext cx="3263273" cy="640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86" y="2525536"/>
            <a:ext cx="4217988" cy="1152375"/>
          </a:xfrm>
          <a:prstGeom prst="rect">
            <a:avLst/>
          </a:prstGeom>
          <a:ln w="19050">
            <a:solidFill>
              <a:srgbClr val="4874CB"/>
            </a:solidFill>
          </a:ln>
        </p:spPr>
      </p:pic>
      <p:cxnSp>
        <p:nvCxnSpPr>
          <p:cNvPr id="13" name="直接箭头连接符 12"/>
          <p:cNvCxnSpPr/>
          <p:nvPr/>
        </p:nvCxnSpPr>
        <p:spPr>
          <a:xfrm flipV="1">
            <a:off x="3811023" y="3611187"/>
            <a:ext cx="3606663" cy="216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86381" y="2096468"/>
            <a:ext cx="1273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抓包示例：</a:t>
            </a:r>
            <a:endParaRPr lang="zh-CN" altLang="en-US" b="1" i="0" dirty="0">
              <a:solidFill>
                <a:srgbClr val="FF0000"/>
              </a:solidFill>
              <a:effectLst/>
              <a:latin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-</a:t>
            </a:r>
            <a:r>
              <a:rPr lang="zh-CN" altLang="en-US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网络分析工具</a:t>
            </a:r>
            <a:r>
              <a:rPr lang="en-US" altLang="zh-CN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0535" y="6206545"/>
            <a:ext cx="6250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404040"/>
                </a:solidFill>
                <a:latin typeface="Times New Roman" panose="02020503050405090304" pitchFamily="18" charset="0"/>
              </a:rPr>
              <a:t>哔哩哔哩网页下的开发者工具窗口</a:t>
            </a:r>
            <a:endParaRPr lang="zh-CN" altLang="en-US" b="1" dirty="0">
              <a:solidFill>
                <a:srgbClr val="40404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2952" y="4063617"/>
            <a:ext cx="5151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Headers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选项卡中，我们可以获取查看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HTTP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请求和响应头信息。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12952" y="4843905"/>
            <a:ext cx="5227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请求的完整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URL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，目标网站为“哔哩哔哩” 的主页，使用的是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HTTPS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协议。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14681" y="5645033"/>
            <a:ext cx="51495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218.60.18.13:443</a:t>
            </a:r>
            <a:r>
              <a:rPr lang="zh-CN" altLang="en-US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服务器的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地址和端口号</a:t>
            </a:r>
            <a:r>
              <a:rPr lang="zh-CN" altLang="en-US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。这里端口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443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是标准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HTTPS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端口</a:t>
            </a:r>
            <a:r>
              <a:rPr lang="zh-CN" altLang="en-US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，说明连接是加密的。</a:t>
            </a:r>
            <a:endParaRPr lang="zh-CN" altLang="en-US" b="0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8692924" y="3404177"/>
            <a:ext cx="2293401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379" y="2440894"/>
            <a:ext cx="5609619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网页打开：</a:t>
            </a:r>
            <a:r>
              <a:rPr lang="en-US" altLang="zh-CN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  <a:hlinkClick r:id="rId1"/>
              </a:rPr>
              <a:t>www.bilibili.com</a:t>
            </a:r>
            <a:endParaRPr lang="en-US" altLang="zh-CN" dirty="0">
              <a:solidFill>
                <a:srgbClr val="40404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spcBef>
                <a:spcPts val="1370"/>
              </a:spcBef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在浏览器中，</a:t>
            </a:r>
            <a:r>
              <a:rPr lang="zh-CN" altLang="en-US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按下</a:t>
            </a:r>
            <a:r>
              <a:rPr lang="en-US" altLang="zh-CN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F12</a:t>
            </a:r>
            <a:r>
              <a:rPr lang="zh-CN" altLang="en-US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键</a:t>
            </a:r>
            <a:r>
              <a:rPr lang="zh-CN" altLang="en-US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，即可打开开发者工具窗口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86" y="3691530"/>
            <a:ext cx="4217988" cy="1152375"/>
          </a:xfrm>
          <a:prstGeom prst="rect">
            <a:avLst/>
          </a:prstGeom>
          <a:ln w="19050">
            <a:solidFill>
              <a:srgbClr val="4874CB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486381" y="2096468"/>
            <a:ext cx="1273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抓包示例：</a:t>
            </a:r>
            <a:endParaRPr lang="zh-CN" altLang="en-US" b="1" i="0" dirty="0">
              <a:solidFill>
                <a:srgbClr val="FF0000"/>
              </a:solidFill>
              <a:effectLst/>
              <a:latin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-</a:t>
            </a:r>
            <a:r>
              <a:rPr lang="zh-CN" altLang="en-US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网络分析工具</a:t>
            </a:r>
            <a:r>
              <a:rPr lang="en-US" altLang="zh-CN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05857" y="4582228"/>
            <a:ext cx="2293401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45" y="2078108"/>
            <a:ext cx="5150029" cy="352259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41" y="4209582"/>
            <a:ext cx="7658088" cy="65722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985000" y="2736850"/>
            <a:ext cx="5035550" cy="317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箭头: 下 15"/>
          <p:cNvSpPr/>
          <p:nvPr/>
        </p:nvSpPr>
        <p:spPr>
          <a:xfrm rot="1894046">
            <a:off x="8949533" y="3392481"/>
            <a:ext cx="229240" cy="702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6090" y="5957398"/>
            <a:ext cx="5609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过滤器输入框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ip.addr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==221.204.56.92</a:t>
            </a:r>
            <a:endParaRPr lang="zh-CN" altLang="en-US" b="0" i="0" dirty="0">
              <a:solidFill>
                <a:srgbClr val="40404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6090" y="5011262"/>
            <a:ext cx="5073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右边图片是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抓包工具的界面，展示了针对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IP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地址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221.204.56.92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的网络通信数据包捕获和分析内容。下面详细分析图片各部分信息：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179693" y="4885702"/>
            <a:ext cx="6012307" cy="1974566"/>
            <a:chOff x="6179693" y="4885702"/>
            <a:chExt cx="6012307" cy="1974566"/>
          </a:xfrm>
        </p:grpSpPr>
        <p:grpSp>
          <p:nvGrpSpPr>
            <p:cNvPr id="29" name="组合 28"/>
            <p:cNvGrpSpPr/>
            <p:nvPr/>
          </p:nvGrpSpPr>
          <p:grpSpPr>
            <a:xfrm>
              <a:off x="6179693" y="4885702"/>
              <a:ext cx="2591982" cy="1974566"/>
              <a:chOff x="6179693" y="4885702"/>
              <a:chExt cx="2591982" cy="1974566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9693" y="4885702"/>
                <a:ext cx="2591982" cy="1974566"/>
              </a:xfrm>
              <a:prstGeom prst="rect">
                <a:avLst/>
              </a:prstGeom>
            </p:spPr>
          </p:pic>
          <p:sp>
            <p:nvSpPr>
              <p:cNvPr id="21" name="文本框 20"/>
              <p:cNvSpPr txBox="1"/>
              <p:nvPr/>
            </p:nvSpPr>
            <p:spPr>
              <a:xfrm>
                <a:off x="6899165" y="6326730"/>
                <a:ext cx="11530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优设标题黑"/>
                    <a:cs typeface="+mn-cs"/>
                  </a:rPr>
                  <a:t>三次握手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优设标题黑"/>
                  <a:cs typeface="+mn-cs"/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8849985" y="5855150"/>
              <a:ext cx="334201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p"/>
              </a:pPr>
              <a:r>
                <a:rPr lang="en-US" altLang="zh-CN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TCP</a:t>
              </a:r>
              <a:r>
                <a:rPr lang="zh-CN" altLang="en-US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三次握手的建立过程</a:t>
              </a:r>
              <a:endParaRPr lang="en-US" altLang="zh-CN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marL="285750" indent="-285750" algn="l">
                <a:buFont typeface="Wingdings" panose="05000000000000000000" pitchFamily="2" charset="2"/>
                <a:buChar char="p"/>
              </a:pPr>
              <a:r>
                <a:rPr lang="zh-CN" altLang="en-US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（</a:t>
              </a:r>
              <a:r>
                <a:rPr lang="en-US" altLang="zh-CN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SYN</a:t>
              </a:r>
              <a:r>
                <a:rPr lang="zh-CN" altLang="en-US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、</a:t>
              </a:r>
              <a:r>
                <a:rPr lang="en-US" altLang="zh-CN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SYN+ACK</a:t>
              </a:r>
              <a:r>
                <a:rPr lang="zh-CN" altLang="en-US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、</a:t>
              </a:r>
              <a:r>
                <a:rPr lang="en-US" altLang="zh-CN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ACK</a:t>
              </a:r>
              <a:r>
                <a:rPr lang="zh-CN" altLang="en-US" b="0" i="0" dirty="0"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）</a:t>
              </a:r>
              <a:endParaRPr lang="zh-CN" altLang="en-US" b="0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2" name="箭头: 下 31"/>
          <p:cNvSpPr/>
          <p:nvPr/>
        </p:nvSpPr>
        <p:spPr>
          <a:xfrm rot="1894046">
            <a:off x="8841038" y="4851928"/>
            <a:ext cx="229240" cy="702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32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9245" y="2078108"/>
            <a:ext cx="5150029" cy="3522592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032396" y="4006392"/>
            <a:ext cx="2564091" cy="4901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6381" y="2096468"/>
            <a:ext cx="1273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</a:rPr>
              <a:t>抓包示例：</a:t>
            </a:r>
            <a:endParaRPr lang="zh-CN" altLang="en-US" b="1" i="0" dirty="0">
              <a:solidFill>
                <a:srgbClr val="FF0000"/>
              </a:solidFill>
              <a:effectLst/>
              <a:latin typeface="Times New Roman" panose="02020503050405090304" pitchFamily="18" charset="0"/>
            </a:endParaRPr>
          </a:p>
        </p:txBody>
      </p:sp>
      <p:sp>
        <p:nvSpPr>
          <p:cNvPr id="7" name="箭头: 下 6"/>
          <p:cNvSpPr/>
          <p:nvPr/>
        </p:nvSpPr>
        <p:spPr>
          <a:xfrm rot="1894046">
            <a:off x="6560403" y="4261673"/>
            <a:ext cx="289400" cy="423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11" y="4729598"/>
            <a:ext cx="6223000" cy="130880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913930" y="2540834"/>
            <a:ext cx="1847211" cy="556069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应用层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Application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3932" y="3133574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表示层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Presentation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13932" y="3728245"/>
            <a:ext cx="1847210" cy="558000"/>
          </a:xfrm>
          <a:prstGeom prst="rect">
            <a:avLst/>
          </a:prstGeom>
          <a:solidFill>
            <a:srgbClr val="E0F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会话层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Session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913931" y="4322916"/>
            <a:ext cx="1847211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传输层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Transport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13932" y="4917587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Network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913932" y="5512258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数据链路层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Data Link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13931" y="6106931"/>
            <a:ext cx="1847210" cy="5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物理层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Physical Layer)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3869267" y="5020733"/>
            <a:ext cx="1397000" cy="1306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3728732" y="5307903"/>
            <a:ext cx="1569691" cy="517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 flipV="1">
            <a:off x="3780502" y="5297501"/>
            <a:ext cx="1472254" cy="178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22" idx="3"/>
          </p:cNvCxnSpPr>
          <p:nvPr/>
        </p:nvCxnSpPr>
        <p:spPr>
          <a:xfrm flipH="1" flipV="1">
            <a:off x="3761142" y="4601916"/>
            <a:ext cx="1416361" cy="1072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6540936" y="5958322"/>
            <a:ext cx="2334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</a:rPr>
              <a:t>数据包详细信息面板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2349" y="1587055"/>
            <a:ext cx="1187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从理论到实践：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网络接口开发的准备工作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-</a:t>
            </a:r>
            <a:r>
              <a:rPr lang="zh-CN" altLang="en-US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网络分析工具</a:t>
            </a:r>
            <a:r>
              <a:rPr lang="en-US" altLang="zh-CN" sz="2400" b="1" dirty="0">
                <a:solidFill>
                  <a:srgbClr val="40404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endParaRPr lang="zh-CN" altLang="en-US" sz="24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63901" y="6399869"/>
            <a:ext cx="7225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编号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5532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的数据包详细信息面板中，每一栏与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OSI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模型进行对应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 bldLvl="0" animBg="1"/>
      <p:bldP spid="12" grpId="0" bldLvl="0" animBg="1"/>
      <p:bldP spid="14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3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8217104" y="2127297"/>
            <a:ext cx="3820658" cy="4627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51076" y="2127297"/>
            <a:ext cx="3820658" cy="4627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55601" y="2127297"/>
            <a:ext cx="3820658" cy="4627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5601" y="1543628"/>
            <a:ext cx="2565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开发实战</a:t>
            </a:r>
            <a:endParaRPr lang="zh-CN" altLang="en-US" sz="32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31953" y="2921168"/>
            <a:ext cx="3790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目标：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使用 </a:t>
            </a:r>
            <a:r>
              <a:rPr lang="en-US" altLang="zh-CN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Wireshark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抓包软件，实时监控</a:t>
            </a:r>
            <a:r>
              <a:rPr lang="en-US" altLang="zh-CN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组播通信，验证数据的正确性与稳定性。</a:t>
            </a:r>
            <a:endParaRPr lang="zh-CN" altLang="en-US" sz="200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1" y="2921168"/>
            <a:ext cx="37745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目标：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在</a:t>
            </a:r>
            <a:r>
              <a:rPr lang="en-US" altLang="zh-CN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系统中，保证刹车指令任务的最高优先级调度，让刹车信号处理不被其他普通任务打断。</a:t>
            </a:r>
            <a:endParaRPr lang="zh-CN" altLang="en-US" sz="200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9506" y="4356078"/>
            <a:ext cx="373063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核心设计</a:t>
            </a:r>
            <a:endParaRPr lang="zh-CN" altLang="en-US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创建一个 </a:t>
            </a: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高优先级</a:t>
            </a:r>
            <a:r>
              <a:rPr lang="en-US" altLang="zh-CN" b="1" dirty="0" err="1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FreeRTOS</a:t>
            </a: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任务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专门处理刹车指令。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设定优先级大于其他发送、接收、心跳检测等任务。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刹车指令可以来自 </a:t>
            </a:r>
            <a:r>
              <a:rPr lang="en-US" altLang="zh-CN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组播接收回调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，接收到后立即切换到刹车处理任务。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44830" y="2945238"/>
            <a:ext cx="35185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目标：</a:t>
            </a:r>
            <a:r>
              <a:rPr lang="zh-CN" altLang="en-US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设计一套 组播通信，实现一发多收的刹车广播，保证多个设备同步接收紧急刹车指令。</a:t>
            </a:r>
            <a:endParaRPr lang="zh-CN" altLang="en-US" sz="200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4180" y="4446697"/>
            <a:ext cx="34892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核心设计</a:t>
            </a:r>
            <a:endParaRPr lang="zh-CN" altLang="en-US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使用 </a:t>
            </a:r>
            <a:r>
              <a:rPr lang="en-US" altLang="zh-CN" b="1" dirty="0" err="1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lwIP</a:t>
            </a:r>
            <a:r>
              <a:rPr lang="en-US" altLang="zh-CN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的 </a:t>
            </a:r>
            <a:r>
              <a:rPr lang="en-US" altLang="zh-CN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协议，启用</a:t>
            </a:r>
            <a:r>
              <a:rPr lang="en-US" altLang="zh-CN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IGMP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功能支持组播。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两个任务：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81635" lvl="1" indent="-285750"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组播发送任务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（定时广播刹车命令）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81635" lvl="1" indent="-285750"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组播接收任务</a:t>
            </a:r>
            <a:r>
              <a:rPr lang="zh-CN" altLang="en-US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（监听刹车广播）</a:t>
            </a:r>
            <a:endParaRPr lang="zh-CN" altLang="en-US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79243" y="4494992"/>
            <a:ext cx="34963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核心设计</a:t>
            </a:r>
            <a:endParaRPr lang="en-US" altLang="zh-CN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PC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上打开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Wireshark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，设置过滤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规则</a:t>
            </a:r>
            <a:endParaRPr lang="en-US" altLang="zh-C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检查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包头部信息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（组播地址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239.255.0.1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、端口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5000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分析是否存在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丢包、延迟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等问题。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601" y="2132589"/>
            <a:ext cx="3820658" cy="677108"/>
          </a:xfrm>
          <a:prstGeom prst="rect">
            <a:avLst/>
          </a:prstGeom>
          <a:solidFill>
            <a:srgbClr val="287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自动驾驶刹车指令</a:t>
            </a:r>
            <a:endParaRPr lang="en-US" altLang="zh-CN" sz="180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优先处理（</a:t>
            </a:r>
            <a:r>
              <a:rPr lang="en-US" altLang="zh-CN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RTOS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任务设计）</a:t>
            </a:r>
            <a:endParaRPr lang="zh-CN" altLang="en-US" sz="1800" b="1" dirty="0">
              <a:solidFill>
                <a:schemeClr val="bg1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51076" y="2127297"/>
            <a:ext cx="3820658" cy="67710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</a:t>
            </a:r>
            <a:r>
              <a:rPr lang="en-US" altLang="zh-CN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UDP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组播通信模块</a:t>
            </a:r>
            <a:endParaRPr lang="en-US" altLang="zh-CN" sz="180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（多播发送与接收）</a:t>
            </a:r>
            <a:endParaRPr lang="en-US" altLang="zh-CN" sz="180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31953" y="2137551"/>
            <a:ext cx="3731447" cy="677108"/>
          </a:xfrm>
          <a:prstGeom prst="rect">
            <a:avLst/>
          </a:prstGeom>
          <a:solidFill>
            <a:srgbClr val="2873FF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3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</a:t>
            </a:r>
            <a:r>
              <a:rPr lang="en-US" altLang="zh-CN" sz="18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Wireshark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通信抓包</a:t>
            </a:r>
            <a:endParaRPr lang="en-US" altLang="zh-CN" sz="1800" b="1" dirty="0">
              <a:solidFill>
                <a:schemeClr val="bg1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buNone/>
            </a:pPr>
            <a:endParaRPr lang="zh-CN" altLang="en-US" sz="1800" b="1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RTOS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网络接口开发实战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17104" y="2127297"/>
            <a:ext cx="3820658" cy="4627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51076" y="2127297"/>
            <a:ext cx="3820658" cy="4627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5601" y="2127297"/>
            <a:ext cx="3820658" cy="4627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5601" y="1543628"/>
            <a:ext cx="2565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开发实战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31953" y="2921168"/>
            <a:ext cx="3790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目标：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抓包软件，实时监控</a:t>
            </a:r>
            <a:r>
              <a:rPr lang="en-US" altLang="zh-CN" sz="200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UDP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组播通信，验证数据的正确性与稳定性。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5601" y="2921168"/>
            <a:ext cx="37745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目标：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使用多线程模拟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任务优先级调度，确保刹车指令处理线程具有最高优先级，能够在毫秒级时间内响应紧急刹车信号。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9506" y="4449870"/>
            <a:ext cx="3730636" cy="2350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微软雅黑" panose="020B0503020204020204" pitchFamily="34" charset="-122"/>
              </a:rPr>
              <a:t>技术指标：</a:t>
            </a:r>
            <a:endParaRPr lang="zh-CN" altLang="en-US" b="1" dirty="0">
              <a:ea typeface="微软雅黑" panose="020B0503020204020204" pitchFamily="34" charset="-122"/>
            </a:endParaRPr>
          </a:p>
          <a:p>
            <a:endParaRPr lang="zh-CN" altLang="en-US" b="1" dirty="0"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✅ </a:t>
            </a:r>
            <a:r>
              <a:rPr lang="zh-CN" altLang="en-US" dirty="0">
                <a:ea typeface="微软雅黑" panose="020B0503020204020204" pitchFamily="34" charset="-122"/>
              </a:rPr>
              <a:t>刹车指令响应时间：≤ </a:t>
            </a:r>
            <a:r>
              <a:rPr lang="en-US" altLang="zh-CN" dirty="0">
                <a:ea typeface="微软雅黑" panose="020B0503020204020204" pitchFamily="34" charset="-122"/>
              </a:rPr>
              <a:t>5ms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✅ </a:t>
            </a:r>
            <a:r>
              <a:rPr lang="zh-CN" altLang="en-US" dirty="0">
                <a:ea typeface="微软雅黑" panose="020B0503020204020204" pitchFamily="34" charset="-122"/>
              </a:rPr>
              <a:t>线程唤醒延迟：≤ </a:t>
            </a:r>
            <a:r>
              <a:rPr lang="en-US" altLang="zh-CN" dirty="0">
                <a:ea typeface="微软雅黑" panose="020B0503020204020204" pitchFamily="34" charset="-122"/>
              </a:rPr>
              <a:t>1ms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✅ </a:t>
            </a:r>
            <a:r>
              <a:rPr lang="zh-CN" altLang="en-US" dirty="0">
                <a:ea typeface="微软雅黑" panose="020B0503020204020204" pitchFamily="34" charset="-122"/>
              </a:rPr>
              <a:t>队列处理容量：支持</a:t>
            </a:r>
            <a:r>
              <a:rPr lang="en-US" altLang="zh-CN" dirty="0">
                <a:ea typeface="微软雅黑" panose="020B0503020204020204" pitchFamily="34" charset="-122"/>
              </a:rPr>
              <a:t>1000+</a:t>
            </a:r>
            <a:r>
              <a:rPr lang="zh-CN" altLang="en-US" dirty="0">
                <a:ea typeface="微软雅黑" panose="020B0503020204020204" pitchFamily="34" charset="-122"/>
              </a:rPr>
              <a:t>指令排队</a:t>
            </a:r>
            <a:endParaRPr lang="zh-CN" altLang="en-US" dirty="0"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✅ 零优先级反转风险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75512" y="2849239"/>
            <a:ext cx="38206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ea typeface="微软雅黑" panose="020B0503020204020204" pitchFamily="34" charset="-122"/>
              </a:rPr>
              <a:t>目标：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组播的一发多收通信系统，构建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239.255.0.1:5000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组播通道，确保多个控制节点同步接收紧急刹车指令。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63294" y="4441159"/>
            <a:ext cx="3820657" cy="2073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性能要求：</a:t>
            </a:r>
            <a:endParaRPr lang="en-US" altLang="zh-CN" b="1" dirty="0"/>
          </a:p>
          <a:p>
            <a:pPr>
              <a:lnSpc>
                <a:spcPct val="125000"/>
              </a:lnSpc>
            </a:pP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/>
              <a:t>✅ 组播传输延迟：</a:t>
            </a:r>
            <a:r>
              <a:rPr lang="en-US" altLang="zh-CN" dirty="0"/>
              <a:t>&lt; 10ms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/>
              <a:t>✅ </a:t>
            </a:r>
            <a:r>
              <a:rPr lang="zh-CN" altLang="en-US" dirty="0"/>
              <a:t>数据包丢失率：</a:t>
            </a:r>
            <a:r>
              <a:rPr lang="en-US" altLang="zh-CN" dirty="0"/>
              <a:t>&lt; 0.5%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/>
              <a:t>✅ </a:t>
            </a:r>
            <a:r>
              <a:rPr lang="zh-CN" altLang="en-US" dirty="0"/>
              <a:t>最大支持节点数：</a:t>
            </a:r>
            <a:r>
              <a:rPr lang="en-US" altLang="zh-CN" dirty="0"/>
              <a:t>32</a:t>
            </a:r>
            <a:r>
              <a:rPr lang="zh-CN" altLang="en-US" dirty="0"/>
              <a:t>个</a:t>
            </a: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/>
              <a:t>✅ 带宽占用：</a:t>
            </a:r>
            <a:r>
              <a:rPr lang="en-US" altLang="zh-CN" dirty="0"/>
              <a:t>&lt; 100Kbps</a:t>
            </a:r>
            <a:endParaRPr lang="en-US" altLang="zh-CN" dirty="0"/>
          </a:p>
        </p:txBody>
      </p:sp>
      <p:sp>
        <p:nvSpPr>
          <p:cNvPr id="26" name="文本框 25"/>
          <p:cNvSpPr txBox="1"/>
          <p:nvPr/>
        </p:nvSpPr>
        <p:spPr>
          <a:xfrm>
            <a:off x="8241540" y="4441159"/>
            <a:ext cx="35948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交付成果：</a:t>
            </a:r>
            <a:endParaRPr lang="zh-CN" altLang="en-US" dirty="0"/>
          </a:p>
          <a:p>
            <a:r>
              <a:rPr lang="zh-CN" altLang="en-US" dirty="0"/>
              <a:t>📊 </a:t>
            </a:r>
            <a:r>
              <a:rPr lang="en-US" altLang="zh-CN" dirty="0"/>
              <a:t>Wireshark</a:t>
            </a:r>
            <a:r>
              <a:rPr lang="zh-CN" altLang="en-US" dirty="0"/>
              <a:t>抓包截图（显示组播流量）</a:t>
            </a:r>
            <a:endParaRPr lang="zh-CN" altLang="en-US" dirty="0"/>
          </a:p>
          <a:p>
            <a:r>
              <a:rPr lang="zh-CN" altLang="en-US" dirty="0"/>
              <a:t>📈 性能统计报告（延迟、丢包率等）</a:t>
            </a:r>
            <a:endParaRPr lang="zh-CN" altLang="en-US" dirty="0"/>
          </a:p>
          <a:p>
            <a:r>
              <a:rPr lang="zh-CN" altLang="en-US" dirty="0"/>
              <a:t>🐛 问题诊断记录（如发现任何问题）</a:t>
            </a:r>
            <a:endParaRPr lang="zh-CN" altLang="en-US" dirty="0"/>
          </a:p>
          <a:p>
            <a:r>
              <a:rPr lang="zh-CN" altLang="en-US" dirty="0"/>
              <a:t>✅ 功能验证结论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55601" y="2132589"/>
            <a:ext cx="3820658" cy="677108"/>
          </a:xfrm>
          <a:prstGeom prst="rect">
            <a:avLst/>
          </a:prstGeom>
          <a:solidFill>
            <a:srgbClr val="287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b="1" dirty="0">
                <a:solidFill>
                  <a:schemeClr val="bg1"/>
                </a:solidFill>
              </a:rPr>
              <a:t>多线程优先级模拟设计</a:t>
            </a:r>
            <a:endParaRPr lang="en-US" altLang="zh-CN" sz="1800" b="1" dirty="0">
              <a:solidFill>
                <a:schemeClr val="bg1"/>
              </a:solidFill>
            </a:endParaRPr>
          </a:p>
          <a:p>
            <a:pPr>
              <a:buNone/>
            </a:pP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51076" y="2127297"/>
            <a:ext cx="3820658" cy="67710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b="1" dirty="0">
                <a:solidFill>
                  <a:schemeClr val="bg1"/>
                </a:solidFill>
              </a:rPr>
              <a:t>UDP</a:t>
            </a:r>
            <a:r>
              <a:rPr lang="zh-CN" altLang="en-US" sz="1800" b="1" dirty="0">
                <a:solidFill>
                  <a:schemeClr val="bg1"/>
                </a:solidFill>
              </a:rPr>
              <a:t>组播通信模块</a:t>
            </a:r>
            <a:endParaRPr lang="en-US" altLang="zh-CN" sz="18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                 </a:t>
            </a:r>
            <a:r>
              <a:rPr lang="zh-CN" altLang="en-US" sz="1800" b="1" dirty="0">
                <a:solidFill>
                  <a:schemeClr val="bg1"/>
                </a:solidFill>
              </a:rPr>
              <a:t>（多播发送与接收）</a:t>
            </a:r>
            <a:endParaRPr lang="en-US" altLang="zh-CN" sz="1800" b="1" dirty="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31953" y="2137551"/>
            <a:ext cx="3790960" cy="677108"/>
          </a:xfrm>
          <a:prstGeom prst="rect">
            <a:avLst/>
          </a:prstGeom>
          <a:solidFill>
            <a:srgbClr val="2873FF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通信抓包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自动驾驶刹车指令优先处理系统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011" y="268387"/>
            <a:ext cx="40142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嵌入式网络基础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1" y="1543628"/>
            <a:ext cx="3571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开发实战量化标准</a:t>
            </a:r>
            <a:endParaRPr lang="zh-CN" altLang="en-US" sz="3200" b="1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400" y="985015"/>
            <a:ext cx="625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5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自动驾驶刹车指令优先处理系统</a:t>
            </a:r>
            <a:endParaRPr lang="zh-CN" altLang="en-US" sz="2800" b="1" dirty="0">
              <a:solidFill>
                <a:prstClr val="black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97383" y="2420151"/>
          <a:ext cx="11116838" cy="3582061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594164"/>
                <a:gridCol w="2332654"/>
                <a:gridCol w="5190020"/>
              </a:tblGrid>
              <a:tr h="45949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</a:rPr>
                        <a:t>评分项目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</a:rPr>
                        <a:t>分值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</a:rPr>
                        <a:t>评分标准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2451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</a:rPr>
                        <a:t>功能完整性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30</a:t>
                      </a: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分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</a:rPr>
                        <a:t>所有功能正常实现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2451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</a:rPr>
                        <a:t>性能指标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25</a:t>
                      </a: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分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</a:rPr>
                        <a:t>达到延迟和可靠性要求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/>
                </a:tc>
              </a:tr>
              <a:tr h="62451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</a:rPr>
                        <a:t>代码质量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</a:t>
                      </a: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分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</a:rPr>
                        <a:t>结构清晰，注释完整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2451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</a:rPr>
                        <a:t>测试验证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15</a:t>
                      </a: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分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Times New Roman" panose="02020503050405090304" pitchFamily="18" charset="0"/>
                        </a:rPr>
                        <a:t>完整的测试报告</a:t>
                      </a:r>
                      <a:endParaRPr lang="zh-CN" altLang="en-US" b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/>
                </a:tc>
              </a:tr>
              <a:tr h="62451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Times New Roman" panose="02020503050405090304" pitchFamily="18" charset="0"/>
                        </a:rPr>
                        <a:t>文档质量</a:t>
                      </a:r>
                      <a:endParaRPr lang="zh-CN" altLang="en-US" b="1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</a:t>
                      </a: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分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Times New Roman" panose="02020503050405090304" pitchFamily="18" charset="0"/>
                        </a:rPr>
                        <a:t>描述准确详细</a:t>
                      </a:r>
                      <a:endParaRPr lang="zh-CN" altLang="en-US" b="0" dirty="0">
                        <a:effectLst/>
                        <a:latin typeface="Times New Roman" panose="02020503050405090304" pitchFamily="18" charset="0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812554" y="2535474"/>
            <a:ext cx="1729962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0"/>
                <a:solidFill>
                  <a:srgbClr val="FFFFFF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结束</a:t>
            </a:r>
            <a:endParaRPr lang="zh-CN" altLang="en-US" sz="6000" b="1" dirty="0">
              <a:ln w="0"/>
              <a:solidFill>
                <a:srgbClr val="FFFFFF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>
    <p:random/>
  </p:transition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9094</Words>
  <Application>WPS 表格</Application>
  <PresentationFormat>宽屏</PresentationFormat>
  <Paragraphs>825</Paragraphs>
  <Slides>30</Slides>
  <Notes>43</Notes>
  <HiddenSlides>0</HiddenSlides>
  <MMClips>4</MMClips>
  <ScaleCrop>false</ScaleCrop>
  <HeadingPairs>
    <vt:vector size="6" baseType="variant">
      <vt:variant>
        <vt:lpstr>已用的字体</vt:lpstr>
      </vt:variant>
      <vt:variant>
        <vt:i4>64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95" baseType="lpstr">
      <vt:lpstr>Arial</vt:lpstr>
      <vt:lpstr>宋体</vt:lpstr>
      <vt:lpstr>Wingdings</vt:lpstr>
      <vt:lpstr>优设标题黑</vt:lpstr>
      <vt:lpstr>汉仪中黑KW</vt:lpstr>
      <vt:lpstr>Wingdings</vt:lpstr>
      <vt:lpstr>隶书</vt:lpstr>
      <vt:lpstr>报隶-简</vt:lpstr>
      <vt:lpstr>Times New Roman</vt:lpstr>
      <vt:lpstr>方正粗黑宋简体</vt:lpstr>
      <vt:lpstr>微软雅黑</vt:lpstr>
      <vt:lpstr>汉仪旗黑</vt:lpstr>
      <vt:lpstr>优设标题黑</vt:lpstr>
      <vt:lpstr>汉仪书宋二KW</vt:lpstr>
      <vt:lpstr>宋体</vt:lpstr>
      <vt:lpstr>Arial Unicode MS</vt:lpstr>
      <vt:lpstr>Calibri</vt:lpstr>
      <vt:lpstr>Helvetica Neue</vt:lpstr>
      <vt:lpstr>等线</vt:lpstr>
      <vt:lpstr>腾讯体 W7</vt:lpstr>
      <vt:lpstr>苹方-简</vt:lpstr>
      <vt:lpstr>Calibri</vt:lpstr>
      <vt:lpstr>Arial</vt:lpstr>
      <vt:lpstr>阿里巴巴普惠体 2.0 95 ExtraBold</vt:lpstr>
      <vt:lpstr>D-DINExp</vt:lpstr>
      <vt:lpstr>ui-monospace</vt:lpstr>
      <vt:lpstr>汉仪雅酷黑 75W</vt:lpstr>
      <vt:lpstr>黑体</vt:lpstr>
      <vt:lpstr>-apple-system</vt:lpstr>
      <vt:lpstr>Open Sans Light</vt:lpstr>
      <vt:lpstr>Inter</vt:lpstr>
      <vt:lpstr>Thonburi</vt:lpstr>
      <vt:lpstr>苹方-繁 中黑体</vt:lpstr>
      <vt:lpstr>Chinese Quote</vt:lpstr>
      <vt:lpstr>汉仪文黑-55简</vt:lpstr>
      <vt:lpstr>Source Han Sans</vt:lpstr>
      <vt:lpstr>PingFang SC</vt:lpstr>
      <vt:lpstr>Courier New</vt:lpstr>
      <vt:lpstr>Cambria Math</vt:lpstr>
      <vt:lpstr>MS Mincho</vt:lpstr>
      <vt:lpstr>思源黑体 CN Regular</vt:lpstr>
      <vt:lpstr>Cascadia Code</vt:lpstr>
      <vt:lpstr>汉仪中等线KW</vt:lpstr>
      <vt:lpstr>Kingsoft Math</vt:lpstr>
      <vt:lpstr>Hiragino Sans</vt:lpstr>
      <vt:lpstr>-apple-system</vt:lpstr>
      <vt:lpstr>Chinese Quote</vt:lpstr>
      <vt:lpstr>D-DINExp</vt:lpstr>
      <vt:lpstr>Inter</vt:lpstr>
      <vt:lpstr>ui-monospace</vt:lpstr>
      <vt:lpstr>优设标题黑</vt:lpstr>
      <vt:lpstr>微软雅黑</vt:lpstr>
      <vt:lpstr>思源黑体 CN Regular</vt:lpstr>
      <vt:lpstr>方正粗黑宋简体</vt:lpstr>
      <vt:lpstr>汉仪文黑-55简</vt:lpstr>
      <vt:lpstr>等线</vt:lpstr>
      <vt:lpstr>腾讯体 W7</vt:lpstr>
      <vt:lpstr>苹方-繁 中黑体</vt:lpstr>
      <vt:lpstr>阿里巴巴普惠体 2.0 95 ExtraBold</vt:lpstr>
      <vt:lpstr>隶书</vt:lpstr>
      <vt:lpstr>黑体</vt:lpstr>
      <vt:lpstr>Apple Color Emoji</vt:lpstr>
      <vt:lpstr>宋体-简</vt:lpstr>
      <vt:lpstr>DejaVu Math TeX Gyre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</dc:creator>
  <cp:lastModifiedBy>张浩东</cp:lastModifiedBy>
  <cp:revision>54</cp:revision>
  <dcterms:created xsi:type="dcterms:W3CDTF">2026-09-17T05:22:47Z</dcterms:created>
  <dcterms:modified xsi:type="dcterms:W3CDTF">2026-09-17T05:22:47Z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3ED1A490CE3EBBB12679AB6A49FF5959_43</vt:lpwstr>
  </property>
</Properties>
</file>