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94" r:id="rId5"/>
    <p:sldId id="295" r:id="rId6"/>
    <p:sldId id="305" r:id="rId7"/>
    <p:sldId id="296" r:id="rId8"/>
    <p:sldId id="297" r:id="rId9"/>
    <p:sldId id="298" r:id="rId10"/>
    <p:sldId id="299" r:id="rId11"/>
    <p:sldId id="300" r:id="rId12"/>
    <p:sldId id="308" r:id="rId13"/>
    <p:sldId id="309" r:id="rId14"/>
    <p:sldId id="301" r:id="rId15"/>
    <p:sldId id="302" r:id="rId16"/>
    <p:sldId id="303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9" r:id="rId28"/>
    <p:sldId id="270" r:id="rId29"/>
    <p:sldId id="271" r:id="rId30"/>
    <p:sldId id="272" r:id="rId31"/>
    <p:sldId id="273" r:id="rId32"/>
    <p:sldId id="274" r:id="rId33"/>
    <p:sldId id="275" r:id="rId34"/>
    <p:sldId id="310" r:id="rId35"/>
    <p:sldId id="317" r:id="rId36"/>
    <p:sldId id="318" r:id="rId37"/>
    <p:sldId id="319" r:id="rId38"/>
    <p:sldId id="320" r:id="rId39"/>
    <p:sldId id="321" r:id="rId4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1" userDrawn="1">
          <p15:clr>
            <a:srgbClr val="A4A3A4"/>
          </p15:clr>
        </p15:guide>
        <p15:guide id="2" pos="29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261"/>
        <p:guide pos="290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500"/>
              </a:spcAft>
            </a:pPr>
            <a:endParaRPr sz="1200">
              <a:latin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500"/>
              </a:spcAft>
            </a:pPr>
            <a:endParaRPr sz="1200">
              <a:latin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500"/>
              </a:spcAft>
            </a:pPr>
            <a:endParaRPr sz="1200">
              <a:latin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500"/>
              </a:spcAft>
            </a:pPr>
            <a:endParaRPr sz="1200">
              <a:latin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500"/>
              </a:spcAft>
            </a:pPr>
            <a:endParaRPr sz="1200">
              <a:latin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500"/>
              </a:spcAft>
            </a:pPr>
            <a:endParaRPr sz="1200">
              <a:latin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500"/>
              </a:spcAft>
            </a:pPr>
            <a:endParaRPr sz="1200">
              <a:latin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500"/>
              </a:spcAft>
            </a:pPr>
            <a:endParaRPr sz="1200">
              <a:latin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500"/>
              </a:spcAft>
            </a:pPr>
            <a:endParaRPr sz="1200">
              <a:latin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500"/>
              </a:spcAft>
            </a:pPr>
            <a:endParaRPr sz="1200">
              <a:latin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500"/>
              </a:spcAft>
            </a:pPr>
            <a:endParaRPr sz="1200">
              <a:latin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500"/>
              </a:spcAft>
            </a:pPr>
            <a:endParaRPr sz="1200">
              <a:latin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500"/>
              </a:spcAft>
            </a:pPr>
            <a:endParaRPr sz="1200">
              <a:latin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500"/>
              </a:spcAft>
            </a:pPr>
            <a:endParaRPr sz="1200">
              <a:latin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500"/>
              </a:spcAft>
            </a:pPr>
            <a:endParaRPr sz="1200">
              <a:latin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500"/>
              </a:spcAft>
            </a:pPr>
            <a:endParaRPr sz="1200">
              <a:latin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500"/>
              </a:spcAft>
            </a:pPr>
            <a:endParaRPr sz="1200">
              <a:latin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500"/>
              </a:spcAft>
            </a:pPr>
            <a:endParaRPr sz="1200">
              <a:latin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500"/>
              </a:spcAft>
            </a:pPr>
            <a:endParaRPr sz="1200">
              <a:latin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500"/>
              </a:spcAft>
            </a:pPr>
            <a:endParaRPr sz="1200">
              <a:latin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500"/>
              </a:spcAft>
            </a:pPr>
            <a:endParaRPr sz="1200">
              <a:latin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500"/>
              </a:spcAft>
            </a:pPr>
            <a:endParaRPr sz="1200">
              <a:latin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500"/>
              </a:spcAft>
            </a:pPr>
            <a:endParaRPr sz="1200">
              <a:latin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500"/>
              </a:spcAft>
            </a:pPr>
            <a:endParaRPr sz="1200">
              <a:latin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500"/>
              </a:spcAft>
            </a:pPr>
            <a:endParaRPr sz="1200">
              <a:latin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500"/>
              </a:spcAft>
            </a:pPr>
            <a:endParaRPr sz="1200">
              <a:latin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500"/>
              </a:spcAft>
            </a:pPr>
            <a:endParaRPr sz="1200">
              <a:latin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500"/>
              </a:spcAft>
            </a:pPr>
            <a:endParaRPr sz="1200">
              <a:latin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500"/>
              </a:spcAft>
            </a:pPr>
            <a:endParaRPr sz="1200">
              <a:latin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500"/>
              </a:spcAft>
            </a:pPr>
            <a:endParaRPr sz="1200">
              <a:latin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500"/>
              </a:spcAft>
            </a:pPr>
            <a:endParaRPr sz="1200">
              <a:latin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500"/>
              </a:spcAft>
            </a:pPr>
            <a:endParaRPr sz="1200">
              <a:latin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500"/>
              </a:spcAft>
            </a:pPr>
            <a:endParaRPr sz="1200">
              <a:latin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spcAft>
                <a:spcPts val="500"/>
              </a:spcAft>
            </a:pPr>
            <a:endParaRPr sz="1200">
              <a:latin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8" Type="http://schemas.openxmlformats.org/officeDocument/2006/relationships/notesSlide" Target="../notesSlides/notesSlide34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5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image" Target="../media/image3.png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6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21.xml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7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白色背景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右下角淡蓝装饰"/>
          <p:cNvSpPr/>
          <p:nvPr/>
        </p:nvSpPr>
        <p:spPr>
          <a:xfrm>
            <a:off x="10774679" y="5440680"/>
            <a:ext cx="1417320" cy="1417320"/>
          </a:xfrm>
          <a:custGeom>
            <a:avLst/>
            <a:gdLst/>
            <a:ahLst/>
            <a:cxnLst/>
            <a:rect l="l" t="t" r="r" b="b"/>
            <a:pathLst>
              <a:path w="1417320" h="1417320">
                <a:moveTo>
                  <a:pt x="1417320" y="1417320"/>
                </a:moveTo>
                <a:lnTo>
                  <a:pt x="0" y="1417320"/>
                </a:lnTo>
                <a:lnTo>
                  <a:pt x="700" y="1372800"/>
                </a:lnTo>
                <a:lnTo>
                  <a:pt x="2797" y="1328325"/>
                </a:lnTo>
                <a:lnTo>
                  <a:pt x="6290" y="1283938"/>
                </a:lnTo>
                <a:lnTo>
                  <a:pt x="11176" y="1239682"/>
                </a:lnTo>
                <a:lnTo>
                  <a:pt x="17450" y="1195602"/>
                </a:lnTo>
                <a:lnTo>
                  <a:pt x="25105" y="1151740"/>
                </a:lnTo>
                <a:lnTo>
                  <a:pt x="34134" y="1108141"/>
                </a:lnTo>
                <a:lnTo>
                  <a:pt x="44528" y="1064846"/>
                </a:lnTo>
                <a:lnTo>
                  <a:pt x="56277" y="1021900"/>
                </a:lnTo>
                <a:lnTo>
                  <a:pt x="69369" y="979344"/>
                </a:lnTo>
                <a:lnTo>
                  <a:pt x="83791" y="937219"/>
                </a:lnTo>
                <a:lnTo>
                  <a:pt x="99529" y="895569"/>
                </a:lnTo>
                <a:lnTo>
                  <a:pt x="116568" y="854434"/>
                </a:lnTo>
                <a:lnTo>
                  <a:pt x="134891" y="813854"/>
                </a:lnTo>
                <a:lnTo>
                  <a:pt x="154479" y="773870"/>
                </a:lnTo>
                <a:lnTo>
                  <a:pt x="175313" y="734520"/>
                </a:lnTo>
                <a:lnTo>
                  <a:pt x="197373" y="695845"/>
                </a:lnTo>
                <a:lnTo>
                  <a:pt x="220637" y="657881"/>
                </a:lnTo>
                <a:lnTo>
                  <a:pt x="245082" y="620667"/>
                </a:lnTo>
                <a:lnTo>
                  <a:pt x="270684" y="584240"/>
                </a:lnTo>
                <a:lnTo>
                  <a:pt x="297418" y="548634"/>
                </a:lnTo>
                <a:lnTo>
                  <a:pt x="325256" y="513886"/>
                </a:lnTo>
                <a:lnTo>
                  <a:pt x="354173" y="480029"/>
                </a:lnTo>
                <a:lnTo>
                  <a:pt x="384138" y="447097"/>
                </a:lnTo>
                <a:lnTo>
                  <a:pt x="415124" y="415123"/>
                </a:lnTo>
                <a:lnTo>
                  <a:pt x="447098" y="384138"/>
                </a:lnTo>
                <a:lnTo>
                  <a:pt x="480030" y="354172"/>
                </a:lnTo>
                <a:lnTo>
                  <a:pt x="513886" y="325256"/>
                </a:lnTo>
                <a:lnTo>
                  <a:pt x="548635" y="297417"/>
                </a:lnTo>
                <a:lnTo>
                  <a:pt x="584240" y="270684"/>
                </a:lnTo>
                <a:lnTo>
                  <a:pt x="620668" y="245082"/>
                </a:lnTo>
                <a:lnTo>
                  <a:pt x="657882" y="220637"/>
                </a:lnTo>
                <a:lnTo>
                  <a:pt x="695846" y="197373"/>
                </a:lnTo>
                <a:lnTo>
                  <a:pt x="734521" y="175313"/>
                </a:lnTo>
                <a:lnTo>
                  <a:pt x="773870" y="154478"/>
                </a:lnTo>
                <a:lnTo>
                  <a:pt x="813855" y="134890"/>
                </a:lnTo>
                <a:lnTo>
                  <a:pt x="854435" y="116568"/>
                </a:lnTo>
                <a:lnTo>
                  <a:pt x="895570" y="99529"/>
                </a:lnTo>
                <a:lnTo>
                  <a:pt x="937220" y="83790"/>
                </a:lnTo>
                <a:lnTo>
                  <a:pt x="979344" y="69368"/>
                </a:lnTo>
                <a:lnTo>
                  <a:pt x="1021901" y="56276"/>
                </a:lnTo>
                <a:lnTo>
                  <a:pt x="1064847" y="44527"/>
                </a:lnTo>
                <a:lnTo>
                  <a:pt x="1108141" y="34133"/>
                </a:lnTo>
                <a:lnTo>
                  <a:pt x="1151741" y="25104"/>
                </a:lnTo>
                <a:lnTo>
                  <a:pt x="1195602" y="17449"/>
                </a:lnTo>
                <a:lnTo>
                  <a:pt x="1239683" y="11175"/>
                </a:lnTo>
                <a:lnTo>
                  <a:pt x="1283939" y="6290"/>
                </a:lnTo>
                <a:lnTo>
                  <a:pt x="1328326" y="2796"/>
                </a:lnTo>
                <a:lnTo>
                  <a:pt x="1372801" y="699"/>
                </a:lnTo>
                <a:lnTo>
                  <a:pt x="1417320" y="0"/>
                </a:lnTo>
                <a:lnTo>
                  <a:pt x="1417320" y="1417320"/>
                </a:lnTo>
                <a:close/>
              </a:path>
            </a:pathLst>
          </a:custGeom>
          <a:solidFill>
            <a:srgbClr val="F4F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右下角淡蓝装饰"/>
          <p:cNvSpPr/>
          <p:nvPr/>
        </p:nvSpPr>
        <p:spPr>
          <a:xfrm>
            <a:off x="11076431" y="5742432"/>
            <a:ext cx="1115568" cy="1115568"/>
          </a:xfrm>
          <a:custGeom>
            <a:avLst/>
            <a:gdLst/>
            <a:ahLst/>
            <a:cxnLst/>
            <a:rect l="l" t="t" r="r" b="b"/>
            <a:pathLst>
              <a:path w="1115568" h="1115568">
                <a:moveTo>
                  <a:pt x="1115568" y="1115568"/>
                </a:moveTo>
                <a:lnTo>
                  <a:pt x="0" y="1115568"/>
                </a:lnTo>
                <a:lnTo>
                  <a:pt x="551" y="1080527"/>
                </a:lnTo>
                <a:lnTo>
                  <a:pt x="2202" y="1045520"/>
                </a:lnTo>
                <a:lnTo>
                  <a:pt x="4951" y="1010583"/>
                </a:lnTo>
                <a:lnTo>
                  <a:pt x="8797" y="975750"/>
                </a:lnTo>
                <a:lnTo>
                  <a:pt x="13735" y="941054"/>
                </a:lnTo>
                <a:lnTo>
                  <a:pt x="19760" y="906531"/>
                </a:lnTo>
                <a:lnTo>
                  <a:pt x="26867" y="872214"/>
                </a:lnTo>
                <a:lnTo>
                  <a:pt x="35048" y="838137"/>
                </a:lnTo>
                <a:lnTo>
                  <a:pt x="44295" y="804334"/>
                </a:lnTo>
                <a:lnTo>
                  <a:pt x="54600" y="770838"/>
                </a:lnTo>
                <a:lnTo>
                  <a:pt x="65952" y="737682"/>
                </a:lnTo>
                <a:lnTo>
                  <a:pt x="78339" y="704900"/>
                </a:lnTo>
                <a:lnTo>
                  <a:pt x="91751" y="672522"/>
                </a:lnTo>
                <a:lnTo>
                  <a:pt x="106172" y="640582"/>
                </a:lnTo>
                <a:lnTo>
                  <a:pt x="121590" y="609110"/>
                </a:lnTo>
                <a:lnTo>
                  <a:pt x="137989" y="578139"/>
                </a:lnTo>
                <a:lnTo>
                  <a:pt x="155352" y="547697"/>
                </a:lnTo>
                <a:lnTo>
                  <a:pt x="173663" y="517816"/>
                </a:lnTo>
                <a:lnTo>
                  <a:pt x="192904" y="488525"/>
                </a:lnTo>
                <a:lnTo>
                  <a:pt x="213055" y="459853"/>
                </a:lnTo>
                <a:lnTo>
                  <a:pt x="234097" y="431828"/>
                </a:lnTo>
                <a:lnTo>
                  <a:pt x="256008" y="404478"/>
                </a:lnTo>
                <a:lnTo>
                  <a:pt x="278768" y="377829"/>
                </a:lnTo>
                <a:lnTo>
                  <a:pt x="302354" y="351909"/>
                </a:lnTo>
                <a:lnTo>
                  <a:pt x="326742" y="326742"/>
                </a:lnTo>
                <a:lnTo>
                  <a:pt x="351909" y="302353"/>
                </a:lnTo>
                <a:lnTo>
                  <a:pt x="377830" y="278768"/>
                </a:lnTo>
                <a:lnTo>
                  <a:pt x="404478" y="256008"/>
                </a:lnTo>
                <a:lnTo>
                  <a:pt x="431829" y="234096"/>
                </a:lnTo>
                <a:lnTo>
                  <a:pt x="459854" y="213054"/>
                </a:lnTo>
                <a:lnTo>
                  <a:pt x="488526" y="192903"/>
                </a:lnTo>
                <a:lnTo>
                  <a:pt x="517817" y="173662"/>
                </a:lnTo>
                <a:lnTo>
                  <a:pt x="547698" y="155351"/>
                </a:lnTo>
                <a:lnTo>
                  <a:pt x="578139" y="137988"/>
                </a:lnTo>
                <a:lnTo>
                  <a:pt x="609111" y="121589"/>
                </a:lnTo>
                <a:lnTo>
                  <a:pt x="640582" y="106171"/>
                </a:lnTo>
                <a:lnTo>
                  <a:pt x="672523" y="91750"/>
                </a:lnTo>
                <a:lnTo>
                  <a:pt x="704900" y="78339"/>
                </a:lnTo>
                <a:lnTo>
                  <a:pt x="737683" y="65951"/>
                </a:lnTo>
                <a:lnTo>
                  <a:pt x="770839" y="54599"/>
                </a:lnTo>
                <a:lnTo>
                  <a:pt x="804335" y="44295"/>
                </a:lnTo>
                <a:lnTo>
                  <a:pt x="838138" y="35047"/>
                </a:lnTo>
                <a:lnTo>
                  <a:pt x="872215" y="26866"/>
                </a:lnTo>
                <a:lnTo>
                  <a:pt x="906532" y="19759"/>
                </a:lnTo>
                <a:lnTo>
                  <a:pt x="941055" y="13734"/>
                </a:lnTo>
                <a:lnTo>
                  <a:pt x="975750" y="8796"/>
                </a:lnTo>
                <a:lnTo>
                  <a:pt x="1010584" y="4950"/>
                </a:lnTo>
                <a:lnTo>
                  <a:pt x="1045521" y="2201"/>
                </a:lnTo>
                <a:lnTo>
                  <a:pt x="1080527" y="550"/>
                </a:lnTo>
                <a:lnTo>
                  <a:pt x="1115568" y="0"/>
                </a:lnTo>
                <a:lnTo>
                  <a:pt x="1115568" y="1115568"/>
                </a:lnTo>
                <a:close/>
              </a:path>
            </a:pathLst>
          </a:custGeom>
          <a:solidFill>
            <a:srgbClr val="F8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圆形"/>
          <p:cNvSpPr/>
          <p:nvPr/>
        </p:nvSpPr>
        <p:spPr>
          <a:xfrm>
            <a:off x="1038758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圆形"/>
          <p:cNvSpPr/>
          <p:nvPr/>
        </p:nvSpPr>
        <p:spPr>
          <a:xfrm>
            <a:off x="1038758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圆形"/>
          <p:cNvSpPr/>
          <p:nvPr/>
        </p:nvSpPr>
        <p:spPr>
          <a:xfrm>
            <a:off x="1038758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圆形"/>
          <p:cNvSpPr/>
          <p:nvPr/>
        </p:nvSpPr>
        <p:spPr>
          <a:xfrm>
            <a:off x="1055217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圆形"/>
          <p:cNvSpPr/>
          <p:nvPr/>
        </p:nvSpPr>
        <p:spPr>
          <a:xfrm>
            <a:off x="1055217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圆形"/>
          <p:cNvSpPr/>
          <p:nvPr/>
        </p:nvSpPr>
        <p:spPr>
          <a:xfrm>
            <a:off x="1055217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圆形"/>
          <p:cNvSpPr/>
          <p:nvPr/>
        </p:nvSpPr>
        <p:spPr>
          <a:xfrm>
            <a:off x="10716767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圆形"/>
          <p:cNvSpPr/>
          <p:nvPr/>
        </p:nvSpPr>
        <p:spPr>
          <a:xfrm>
            <a:off x="10716767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圆形"/>
          <p:cNvSpPr/>
          <p:nvPr/>
        </p:nvSpPr>
        <p:spPr>
          <a:xfrm>
            <a:off x="10716767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圆形"/>
          <p:cNvSpPr/>
          <p:nvPr/>
        </p:nvSpPr>
        <p:spPr>
          <a:xfrm>
            <a:off x="10881359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圆形"/>
          <p:cNvSpPr/>
          <p:nvPr/>
        </p:nvSpPr>
        <p:spPr>
          <a:xfrm>
            <a:off x="10881359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圆形"/>
          <p:cNvSpPr/>
          <p:nvPr/>
        </p:nvSpPr>
        <p:spPr>
          <a:xfrm>
            <a:off x="10881359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圆形"/>
          <p:cNvSpPr/>
          <p:nvPr/>
        </p:nvSpPr>
        <p:spPr>
          <a:xfrm>
            <a:off x="11045952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圆形"/>
          <p:cNvSpPr/>
          <p:nvPr/>
        </p:nvSpPr>
        <p:spPr>
          <a:xfrm>
            <a:off x="11045952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圆形"/>
          <p:cNvSpPr/>
          <p:nvPr/>
        </p:nvSpPr>
        <p:spPr>
          <a:xfrm>
            <a:off x="11045952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圆形"/>
          <p:cNvSpPr/>
          <p:nvPr/>
        </p:nvSpPr>
        <p:spPr>
          <a:xfrm>
            <a:off x="1121054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圆形"/>
          <p:cNvSpPr/>
          <p:nvPr/>
        </p:nvSpPr>
        <p:spPr>
          <a:xfrm>
            <a:off x="1121054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圆形"/>
          <p:cNvSpPr/>
          <p:nvPr/>
        </p:nvSpPr>
        <p:spPr>
          <a:xfrm>
            <a:off x="1121054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圆形"/>
          <p:cNvSpPr/>
          <p:nvPr/>
        </p:nvSpPr>
        <p:spPr>
          <a:xfrm>
            <a:off x="1137513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圆形"/>
          <p:cNvSpPr/>
          <p:nvPr/>
        </p:nvSpPr>
        <p:spPr>
          <a:xfrm>
            <a:off x="1137513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圆形"/>
          <p:cNvSpPr/>
          <p:nvPr/>
        </p:nvSpPr>
        <p:spPr>
          <a:xfrm>
            <a:off x="1137513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圆形"/>
          <p:cNvSpPr/>
          <p:nvPr/>
        </p:nvSpPr>
        <p:spPr>
          <a:xfrm>
            <a:off x="11539728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圆形"/>
          <p:cNvSpPr/>
          <p:nvPr/>
        </p:nvSpPr>
        <p:spPr>
          <a:xfrm>
            <a:off x="11539728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圆形"/>
          <p:cNvSpPr/>
          <p:nvPr/>
        </p:nvSpPr>
        <p:spPr>
          <a:xfrm>
            <a:off x="11539728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标题蓝色竖线"/>
          <p:cNvSpPr/>
          <p:nvPr/>
        </p:nvSpPr>
        <p:spPr>
          <a:xfrm>
            <a:off x="274320" y="356616"/>
            <a:ext cx="109728" cy="585216"/>
          </a:xfrm>
          <a:prstGeom prst="roundRect">
            <a:avLst>
              <a:gd name="adj" fmla="val 41666"/>
            </a:avLst>
          </a:prstGeom>
          <a:gradFill>
            <a:gsLst>
              <a:gs pos="0">
                <a:srgbClr val="3A92D5"/>
              </a:gs>
              <a:gs pos="100000">
                <a:srgbClr val="146FB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标题"/>
          <p:cNvSpPr txBox="1"/>
          <p:nvPr/>
        </p:nvSpPr>
        <p:spPr>
          <a:xfrm>
            <a:off x="621792" y="301752"/>
            <a:ext cx="9390888" cy="64922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3900">
                <a:latin typeface="微软雅黑" panose="020B0503020204020204" charset="-122"/>
              </a:defRPr>
            </a:pPr>
            <a:r>
              <a:rPr sz="35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嵌入式网络与通信</a:t>
            </a:r>
            <a:endParaRPr sz="35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标题分隔线"/>
          <p:cNvSpPr/>
          <p:nvPr/>
        </p:nvSpPr>
        <p:spPr>
          <a:xfrm>
            <a:off x="621792" y="1051560"/>
            <a:ext cx="11109960" cy="18288"/>
          </a:xfrm>
          <a:prstGeom prst="rect">
            <a:avLst/>
          </a:prstGeom>
          <a:gradFill>
            <a:gsLst>
              <a:gs pos="0">
                <a:srgbClr val="3A92D5"/>
              </a:gs>
              <a:gs pos="100000">
                <a:srgbClr val="E3EFF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tongji_wordm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4" y="256032"/>
            <a:ext cx="1554480" cy="385298"/>
          </a:xfrm>
          <a:prstGeom prst="rect">
            <a:avLst/>
          </a:prstGeom>
          <a:effectLst/>
        </p:spPr>
      </p:pic>
      <p:sp>
        <p:nvSpPr>
          <p:cNvPr id="35" name="矩形"/>
          <p:cNvSpPr/>
          <p:nvPr/>
        </p:nvSpPr>
        <p:spPr>
          <a:xfrm>
            <a:off x="658368" y="1399032"/>
            <a:ext cx="2532888" cy="365760"/>
          </a:xfrm>
          <a:prstGeom prst="roundRect">
            <a:avLst>
              <a:gd name="adj" fmla="val 40000"/>
            </a:avLst>
          </a:prstGeom>
          <a:solidFill>
            <a:srgbClr val="EDF5FD"/>
          </a:solidFill>
          <a:ln w="7620">
            <a:solidFill>
              <a:srgbClr val="B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文字"/>
          <p:cNvSpPr txBox="1"/>
          <p:nvPr/>
        </p:nvSpPr>
        <p:spPr>
          <a:xfrm>
            <a:off x="713232" y="1417320"/>
            <a:ext cx="2423160" cy="32918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500">
                <a:latin typeface="微软雅黑" panose="020B0503020204020204" charset="-122"/>
              </a:defRPr>
            </a:pPr>
            <a:r>
              <a:rPr sz="17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初级项目一 · 第二部分</a:t>
            </a:r>
            <a:endParaRPr sz="17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字"/>
          <p:cNvSpPr txBox="1"/>
          <p:nvPr/>
        </p:nvSpPr>
        <p:spPr>
          <a:xfrm>
            <a:off x="694944" y="2020824"/>
            <a:ext cx="8110727" cy="72237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4800">
                <a:latin typeface="微软雅黑" panose="020B0503020204020204" charset="-122"/>
              </a:defRPr>
            </a:pPr>
            <a:r>
              <a:rPr sz="48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车载网络与协议</a:t>
            </a:r>
            <a:endParaRPr sz="48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字"/>
          <p:cNvSpPr txBox="1"/>
          <p:nvPr/>
        </p:nvSpPr>
        <p:spPr>
          <a:xfrm>
            <a:off x="731520" y="2999232"/>
            <a:ext cx="6958584" cy="78638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600">
                <a:latin typeface="微软雅黑" panose="020B0503020204020204" charset="-122"/>
              </a:defRPr>
            </a:pPr>
            <a:r>
              <a:rPr sz="26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让车内模块交换信息，</a:t>
            </a:r>
            <a:endParaRPr sz="26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600">
                <a:latin typeface="微软雅黑" panose="020B0503020204020204" charset="-122"/>
              </a:defRPr>
            </a:pPr>
            <a:r>
              <a:rPr sz="26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让通信结果驱动实际功能。</a:t>
            </a:r>
            <a:endParaRPr sz="26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矩形"/>
          <p:cNvSpPr/>
          <p:nvPr/>
        </p:nvSpPr>
        <p:spPr>
          <a:xfrm>
            <a:off x="731520" y="4297680"/>
            <a:ext cx="1993392" cy="420624"/>
          </a:xfrm>
          <a:prstGeom prst="roundRect">
            <a:avLst>
              <a:gd name="adj" fmla="val 34782"/>
            </a:avLst>
          </a:prstGeom>
          <a:solidFill>
            <a:srgbClr val="EDF5FD"/>
          </a:solidFill>
          <a:ln w="7620">
            <a:solidFill>
              <a:srgbClr val="B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文字"/>
          <p:cNvSpPr txBox="1"/>
          <p:nvPr/>
        </p:nvSpPr>
        <p:spPr>
          <a:xfrm>
            <a:off x="786384" y="4315968"/>
            <a:ext cx="1883664" cy="38404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800">
                <a:latin typeface="微软雅黑" panose="020B0503020204020204" charset="-122"/>
              </a:defRPr>
            </a:pPr>
            <a:r>
              <a:rPr sz="19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CAN / LIN</a:t>
            </a:r>
            <a:endParaRPr sz="19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矩形"/>
          <p:cNvSpPr/>
          <p:nvPr/>
        </p:nvSpPr>
        <p:spPr>
          <a:xfrm>
            <a:off x="2880360" y="4297680"/>
            <a:ext cx="1993392" cy="420624"/>
          </a:xfrm>
          <a:prstGeom prst="roundRect">
            <a:avLst>
              <a:gd name="adj" fmla="val 34782"/>
            </a:avLst>
          </a:prstGeom>
          <a:solidFill>
            <a:srgbClr val="EDF5FD"/>
          </a:solidFill>
          <a:ln w="7620">
            <a:solidFill>
              <a:srgbClr val="B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文字"/>
          <p:cNvSpPr txBox="1"/>
          <p:nvPr/>
        </p:nvSpPr>
        <p:spPr>
          <a:xfrm>
            <a:off x="2935224" y="4315968"/>
            <a:ext cx="1883664" cy="38404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800">
                <a:latin typeface="微软雅黑" panose="020B0503020204020204" charset="-122"/>
              </a:defRPr>
            </a:pPr>
            <a:r>
              <a:rPr sz="19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Ethernet / TSN</a:t>
            </a:r>
            <a:endParaRPr sz="19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矩形"/>
          <p:cNvSpPr/>
          <p:nvPr/>
        </p:nvSpPr>
        <p:spPr>
          <a:xfrm>
            <a:off x="5029200" y="4297680"/>
            <a:ext cx="1993392" cy="420624"/>
          </a:xfrm>
          <a:prstGeom prst="roundRect">
            <a:avLst>
              <a:gd name="adj" fmla="val 34782"/>
            </a:avLst>
          </a:prstGeom>
          <a:solidFill>
            <a:srgbClr val="EDF5FD"/>
          </a:solidFill>
          <a:ln w="7620">
            <a:solidFill>
              <a:srgbClr val="B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文字"/>
          <p:cNvSpPr txBox="1"/>
          <p:nvPr/>
        </p:nvSpPr>
        <p:spPr>
          <a:xfrm>
            <a:off x="5084064" y="4315968"/>
            <a:ext cx="1883664" cy="38404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800">
                <a:latin typeface="微软雅黑" panose="020B0503020204020204" charset="-122"/>
              </a:defRPr>
            </a:pPr>
            <a:r>
              <a:rPr sz="19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AUTOSAR</a:t>
            </a:r>
            <a:endParaRPr sz="19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汽车外轮廓"/>
          <p:cNvSpPr/>
          <p:nvPr/>
        </p:nvSpPr>
        <p:spPr>
          <a:xfrm>
            <a:off x="7407737" y="2561965"/>
            <a:ext cx="4023726" cy="1599286"/>
          </a:xfrm>
          <a:custGeom>
            <a:avLst/>
            <a:gdLst/>
            <a:ahLst/>
            <a:cxnLst/>
            <a:rect l="l" t="t" r="r" b="b"/>
            <a:pathLst>
              <a:path w="4023726" h="1599286">
                <a:moveTo>
                  <a:pt x="0" y="1502360"/>
                </a:moveTo>
                <a:lnTo>
                  <a:pt x="0" y="1230966"/>
                </a:lnTo>
                <a:lnTo>
                  <a:pt x="145938" y="978957"/>
                </a:lnTo>
                <a:lnTo>
                  <a:pt x="458663" y="765719"/>
                </a:lnTo>
                <a:lnTo>
                  <a:pt x="1042416" y="552481"/>
                </a:lnTo>
                <a:lnTo>
                  <a:pt x="1417686" y="474940"/>
                </a:lnTo>
                <a:lnTo>
                  <a:pt x="2084832" y="29078"/>
                </a:lnTo>
                <a:lnTo>
                  <a:pt x="2293315" y="0"/>
                </a:lnTo>
                <a:lnTo>
                  <a:pt x="1501079" y="533096"/>
                </a:lnTo>
                <a:lnTo>
                  <a:pt x="1647017" y="513710"/>
                </a:lnTo>
                <a:lnTo>
                  <a:pt x="1688714" y="610637"/>
                </a:lnTo>
                <a:lnTo>
                  <a:pt x="2209922" y="630022"/>
                </a:lnTo>
                <a:lnTo>
                  <a:pt x="2585191" y="494325"/>
                </a:lnTo>
                <a:lnTo>
                  <a:pt x="3002158" y="436169"/>
                </a:lnTo>
                <a:lnTo>
                  <a:pt x="3252338" y="552481"/>
                </a:lnTo>
                <a:lnTo>
                  <a:pt x="3752697" y="804490"/>
                </a:lnTo>
                <a:lnTo>
                  <a:pt x="3961181" y="920801"/>
                </a:lnTo>
                <a:lnTo>
                  <a:pt x="4002877" y="1289122"/>
                </a:lnTo>
                <a:lnTo>
                  <a:pt x="4023726" y="1424819"/>
                </a:lnTo>
                <a:lnTo>
                  <a:pt x="3961181" y="1521745"/>
                </a:lnTo>
                <a:lnTo>
                  <a:pt x="3669304" y="1599286"/>
                </a:lnTo>
              </a:path>
            </a:pathLst>
          </a:custGeom>
          <a:noFill/>
          <a:ln w="63500">
            <a:solidFill>
              <a:srgbClr val="97B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连线"/>
          <p:cNvCxnSpPr/>
          <p:nvPr/>
        </p:nvCxnSpPr>
        <p:spPr>
          <a:xfrm>
            <a:off x="8366760" y="4161251"/>
            <a:ext cx="2001438" cy="0"/>
          </a:xfrm>
          <a:prstGeom prst="line">
            <a:avLst/>
          </a:prstGeom>
          <a:ln w="63500" cap="rnd">
            <a:solidFill>
              <a:srgbClr val="97B5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连线"/>
          <p:cNvCxnSpPr/>
          <p:nvPr/>
        </p:nvCxnSpPr>
        <p:spPr>
          <a:xfrm>
            <a:off x="7407737" y="4161251"/>
            <a:ext cx="291876" cy="0"/>
          </a:xfrm>
          <a:prstGeom prst="line">
            <a:avLst/>
          </a:prstGeom>
          <a:ln w="63500" cap="rnd">
            <a:solidFill>
              <a:srgbClr val="97B5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圆形"/>
          <p:cNvSpPr/>
          <p:nvPr/>
        </p:nvSpPr>
        <p:spPr>
          <a:xfrm>
            <a:off x="7595555" y="3744468"/>
            <a:ext cx="833567" cy="833567"/>
          </a:xfrm>
          <a:prstGeom prst="ellipse">
            <a:avLst/>
          </a:prstGeom>
          <a:solidFill>
            <a:srgbClr val="FFFFFF"/>
          </a:solidFill>
          <a:ln w="63500">
            <a:solidFill>
              <a:srgbClr val="97B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圆形"/>
          <p:cNvSpPr/>
          <p:nvPr/>
        </p:nvSpPr>
        <p:spPr>
          <a:xfrm>
            <a:off x="7828953" y="3977866"/>
            <a:ext cx="366769" cy="366769"/>
          </a:xfrm>
          <a:prstGeom prst="ellipse">
            <a:avLst/>
          </a:prstGeom>
          <a:solidFill>
            <a:srgbClr val="FFFFFF"/>
          </a:solidFill>
          <a:ln w="22860">
            <a:solidFill>
              <a:srgbClr val="97B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圆形"/>
          <p:cNvSpPr/>
          <p:nvPr/>
        </p:nvSpPr>
        <p:spPr>
          <a:xfrm>
            <a:off x="10305836" y="3744468"/>
            <a:ext cx="833567" cy="833567"/>
          </a:xfrm>
          <a:prstGeom prst="ellipse">
            <a:avLst/>
          </a:prstGeom>
          <a:solidFill>
            <a:srgbClr val="FFFFFF"/>
          </a:solidFill>
          <a:ln w="63500">
            <a:solidFill>
              <a:srgbClr val="97B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圆形"/>
          <p:cNvSpPr/>
          <p:nvPr/>
        </p:nvSpPr>
        <p:spPr>
          <a:xfrm>
            <a:off x="10539235" y="3977866"/>
            <a:ext cx="366769" cy="366769"/>
          </a:xfrm>
          <a:prstGeom prst="ellipse">
            <a:avLst/>
          </a:prstGeom>
          <a:solidFill>
            <a:srgbClr val="FFFFFF"/>
          </a:solidFill>
          <a:ln w="22860">
            <a:solidFill>
              <a:srgbClr val="97B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连线"/>
          <p:cNvCxnSpPr/>
          <p:nvPr/>
        </p:nvCxnSpPr>
        <p:spPr>
          <a:xfrm flipV="1">
            <a:off x="9846990" y="2881823"/>
            <a:ext cx="0" cy="271393"/>
          </a:xfrm>
          <a:prstGeom prst="line">
            <a:avLst/>
          </a:prstGeom>
          <a:ln w="43180" cap="rnd">
            <a:solidFill>
              <a:srgbClr val="97B5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ECU"/>
          <p:cNvSpPr/>
          <p:nvPr/>
        </p:nvSpPr>
        <p:spPr>
          <a:xfrm>
            <a:off x="8156448" y="3456432"/>
            <a:ext cx="704088" cy="438912"/>
          </a:xfrm>
          <a:prstGeom prst="roundRect">
            <a:avLst>
              <a:gd name="adj" fmla="val 14583"/>
            </a:avLst>
          </a:prstGeom>
          <a:gradFill>
            <a:gsLst>
              <a:gs pos="0">
                <a:srgbClr val="EBF5FF"/>
              </a:gs>
              <a:gs pos="100000">
                <a:srgbClr val="CFE5F9"/>
              </a:gs>
            </a:gsLst>
            <a:lin ang="5400000" scaled="1"/>
          </a:gradFill>
          <a:ln w="1397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CU标签"/>
          <p:cNvSpPr txBox="1"/>
          <p:nvPr/>
        </p:nvSpPr>
        <p:spPr>
          <a:xfrm>
            <a:off x="8202168" y="3502151"/>
            <a:ext cx="612648" cy="34747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700">
                <a:latin typeface="微软雅黑" panose="020B0503020204020204" charset="-122"/>
              </a:defRPr>
            </a:pPr>
            <a:r>
              <a:rPr sz="19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ECU</a:t>
            </a:r>
            <a:endParaRPr sz="19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ECU"/>
          <p:cNvSpPr/>
          <p:nvPr/>
        </p:nvSpPr>
        <p:spPr>
          <a:xfrm>
            <a:off x="9189720" y="3273552"/>
            <a:ext cx="704088" cy="438912"/>
          </a:xfrm>
          <a:prstGeom prst="roundRect">
            <a:avLst>
              <a:gd name="adj" fmla="val 14583"/>
            </a:avLst>
          </a:prstGeom>
          <a:gradFill>
            <a:gsLst>
              <a:gs pos="0">
                <a:srgbClr val="EBF5FF"/>
              </a:gs>
              <a:gs pos="100000">
                <a:srgbClr val="CFE5F9"/>
              </a:gs>
            </a:gsLst>
            <a:lin ang="5400000" scaled="1"/>
          </a:gradFill>
          <a:ln w="1397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CU标签"/>
          <p:cNvSpPr txBox="1"/>
          <p:nvPr/>
        </p:nvSpPr>
        <p:spPr>
          <a:xfrm>
            <a:off x="9235440" y="3319272"/>
            <a:ext cx="612648" cy="34747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700">
                <a:latin typeface="微软雅黑" panose="020B0503020204020204" charset="-122"/>
              </a:defRPr>
            </a:pPr>
            <a:r>
              <a:rPr sz="19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ECU</a:t>
            </a:r>
            <a:endParaRPr sz="19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ECU"/>
          <p:cNvSpPr/>
          <p:nvPr/>
        </p:nvSpPr>
        <p:spPr>
          <a:xfrm>
            <a:off x="10195560" y="3465576"/>
            <a:ext cx="704088" cy="438912"/>
          </a:xfrm>
          <a:prstGeom prst="roundRect">
            <a:avLst>
              <a:gd name="adj" fmla="val 14583"/>
            </a:avLst>
          </a:prstGeom>
          <a:gradFill>
            <a:gsLst>
              <a:gs pos="0">
                <a:srgbClr val="EBF5FF"/>
              </a:gs>
              <a:gs pos="100000">
                <a:srgbClr val="CFE5F9"/>
              </a:gs>
            </a:gsLst>
            <a:lin ang="5400000" scaled="1"/>
          </a:gradFill>
          <a:ln w="1397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CU标签"/>
          <p:cNvSpPr txBox="1"/>
          <p:nvPr/>
        </p:nvSpPr>
        <p:spPr>
          <a:xfrm>
            <a:off x="10241280" y="3511296"/>
            <a:ext cx="612648" cy="34747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700">
                <a:latin typeface="微软雅黑" panose="020B0503020204020204" charset="-122"/>
              </a:defRPr>
            </a:pPr>
            <a:r>
              <a:rPr sz="19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ECU</a:t>
            </a:r>
            <a:endParaRPr sz="19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9" name="连线"/>
          <p:cNvCxnSpPr/>
          <p:nvPr/>
        </p:nvCxnSpPr>
        <p:spPr>
          <a:xfrm>
            <a:off x="7909560" y="4828032"/>
            <a:ext cx="3264408" cy="0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连线"/>
          <p:cNvCxnSpPr/>
          <p:nvPr/>
        </p:nvCxnSpPr>
        <p:spPr>
          <a:xfrm>
            <a:off x="8321040" y="4206240"/>
            <a:ext cx="0" cy="621792"/>
          </a:xfrm>
          <a:prstGeom prst="line">
            <a:avLst/>
          </a:prstGeom>
          <a:ln w="19050" cap="rnd">
            <a:solidFill>
              <a:srgbClr val="259D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圆形"/>
          <p:cNvSpPr/>
          <p:nvPr/>
        </p:nvSpPr>
        <p:spPr>
          <a:xfrm>
            <a:off x="8279892" y="4786884"/>
            <a:ext cx="82296" cy="82296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连线"/>
          <p:cNvCxnSpPr/>
          <p:nvPr/>
        </p:nvCxnSpPr>
        <p:spPr>
          <a:xfrm>
            <a:off x="9482328" y="4206240"/>
            <a:ext cx="0" cy="621792"/>
          </a:xfrm>
          <a:prstGeom prst="line">
            <a:avLst/>
          </a:prstGeom>
          <a:ln w="19050" cap="rnd">
            <a:solidFill>
              <a:srgbClr val="259D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圆形"/>
          <p:cNvSpPr/>
          <p:nvPr/>
        </p:nvSpPr>
        <p:spPr>
          <a:xfrm>
            <a:off x="9441180" y="4786884"/>
            <a:ext cx="82296" cy="82296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连线"/>
          <p:cNvCxnSpPr/>
          <p:nvPr/>
        </p:nvCxnSpPr>
        <p:spPr>
          <a:xfrm>
            <a:off x="10625328" y="4206240"/>
            <a:ext cx="0" cy="621792"/>
          </a:xfrm>
          <a:prstGeom prst="line">
            <a:avLst/>
          </a:prstGeom>
          <a:ln w="19050" cap="rnd">
            <a:solidFill>
              <a:srgbClr val="259D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圆形"/>
          <p:cNvSpPr/>
          <p:nvPr/>
        </p:nvSpPr>
        <p:spPr>
          <a:xfrm>
            <a:off x="10584180" y="4786884"/>
            <a:ext cx="82296" cy="82296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本页总结背景"/>
          <p:cNvSpPr/>
          <p:nvPr/>
        </p:nvSpPr>
        <p:spPr>
          <a:xfrm>
            <a:off x="585216" y="5861304"/>
            <a:ext cx="11064240" cy="603504"/>
          </a:xfrm>
          <a:prstGeom prst="roundRect">
            <a:avLst>
              <a:gd name="adj" fmla="val 22727"/>
            </a:avLst>
          </a:prstGeom>
          <a:gradFill>
            <a:gsLst>
              <a:gs pos="0">
                <a:srgbClr val="F0F7FE"/>
              </a:gs>
              <a:gs pos="100000">
                <a:srgbClr val="E9F3F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可编辑曲线"/>
          <p:cNvSpPr/>
          <p:nvPr/>
        </p:nvSpPr>
        <p:spPr>
          <a:xfrm>
            <a:off x="907999" y="5999927"/>
            <a:ext cx="310621" cy="133685"/>
          </a:xfrm>
          <a:custGeom>
            <a:avLst/>
            <a:gdLst/>
            <a:ahLst/>
            <a:cxnLst/>
            <a:rect l="l" t="t" r="r" b="b"/>
            <a:pathLst>
              <a:path w="310621" h="133685">
                <a:moveTo>
                  <a:pt x="0" y="133685"/>
                </a:moveTo>
                <a:lnTo>
                  <a:pt x="51115" y="0"/>
                </a:lnTo>
                <a:lnTo>
                  <a:pt x="251643" y="0"/>
                </a:lnTo>
                <a:lnTo>
                  <a:pt x="310621" y="133685"/>
                </a:lnTo>
              </a:path>
            </a:pathLst>
          </a:custGeom>
          <a:noFill/>
          <a:ln w="254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矩形"/>
          <p:cNvSpPr/>
          <p:nvPr/>
        </p:nvSpPr>
        <p:spPr>
          <a:xfrm>
            <a:off x="896203" y="6121816"/>
            <a:ext cx="338145" cy="165140"/>
          </a:xfrm>
          <a:prstGeom prst="roundRect">
            <a:avLst>
              <a:gd name="adj" fmla="val 19047"/>
            </a:avLst>
          </a:prstGeom>
          <a:noFill/>
          <a:ln w="254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连线"/>
          <p:cNvCxnSpPr/>
          <p:nvPr/>
        </p:nvCxnSpPr>
        <p:spPr>
          <a:xfrm>
            <a:off x="915863" y="6129680"/>
            <a:ext cx="302757" cy="0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圆形"/>
          <p:cNvSpPr/>
          <p:nvPr/>
        </p:nvSpPr>
        <p:spPr>
          <a:xfrm>
            <a:off x="935522" y="6180795"/>
            <a:ext cx="51114" cy="5111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圆形"/>
          <p:cNvSpPr/>
          <p:nvPr/>
        </p:nvSpPr>
        <p:spPr>
          <a:xfrm>
            <a:off x="1136050" y="6180795"/>
            <a:ext cx="51114" cy="5111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" name="连线"/>
          <p:cNvCxnSpPr/>
          <p:nvPr/>
        </p:nvCxnSpPr>
        <p:spPr>
          <a:xfrm>
            <a:off x="943386" y="6283025"/>
            <a:ext cx="0" cy="51115"/>
          </a:xfrm>
          <a:prstGeom prst="line">
            <a:avLst/>
          </a:prstGeom>
          <a:ln w="381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连线"/>
          <p:cNvCxnSpPr/>
          <p:nvPr/>
        </p:nvCxnSpPr>
        <p:spPr>
          <a:xfrm>
            <a:off x="1183233" y="6283025"/>
            <a:ext cx="0" cy="51115"/>
          </a:xfrm>
          <a:prstGeom prst="line">
            <a:avLst/>
          </a:prstGeom>
          <a:ln w="381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连线"/>
          <p:cNvCxnSpPr/>
          <p:nvPr/>
        </p:nvCxnSpPr>
        <p:spPr>
          <a:xfrm>
            <a:off x="1435608" y="5952744"/>
            <a:ext cx="0" cy="420624"/>
          </a:xfrm>
          <a:prstGeom prst="line">
            <a:avLst/>
          </a:prstGeom>
          <a:ln w="15875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本页总结"/>
          <p:cNvSpPr txBox="1"/>
          <p:nvPr/>
        </p:nvSpPr>
        <p:spPr>
          <a:xfrm>
            <a:off x="1655064" y="5952744"/>
            <a:ext cx="9692640" cy="45720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400">
                <a:latin typeface="微软雅黑" panose="020B0503020204020204" charset="-122"/>
              </a:defRPr>
            </a:pPr>
            <a:r>
              <a:rPr sz="21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看懂连接 → 读懂报文 → 跑通控制 → 验证结果</a:t>
            </a:r>
            <a:endParaRPr sz="21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" name="白色背景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右下角淡蓝装饰"/>
          <p:cNvSpPr/>
          <p:nvPr/>
        </p:nvSpPr>
        <p:spPr>
          <a:xfrm>
            <a:off x="10774679" y="5440680"/>
            <a:ext cx="1417320" cy="1417320"/>
          </a:xfrm>
          <a:custGeom>
            <a:avLst/>
            <a:gdLst/>
            <a:ahLst/>
            <a:cxnLst/>
            <a:rect l="l" t="t" r="r" b="b"/>
            <a:pathLst>
              <a:path w="1417320" h="1417320">
                <a:moveTo>
                  <a:pt x="1417320" y="1417320"/>
                </a:moveTo>
                <a:lnTo>
                  <a:pt x="0" y="1417320"/>
                </a:lnTo>
                <a:lnTo>
                  <a:pt x="700" y="1372800"/>
                </a:lnTo>
                <a:lnTo>
                  <a:pt x="2797" y="1328325"/>
                </a:lnTo>
                <a:lnTo>
                  <a:pt x="6290" y="1283938"/>
                </a:lnTo>
                <a:lnTo>
                  <a:pt x="11176" y="1239682"/>
                </a:lnTo>
                <a:lnTo>
                  <a:pt x="17450" y="1195602"/>
                </a:lnTo>
                <a:lnTo>
                  <a:pt x="25105" y="1151740"/>
                </a:lnTo>
                <a:lnTo>
                  <a:pt x="34134" y="1108141"/>
                </a:lnTo>
                <a:lnTo>
                  <a:pt x="44528" y="1064846"/>
                </a:lnTo>
                <a:lnTo>
                  <a:pt x="56277" y="1021900"/>
                </a:lnTo>
                <a:lnTo>
                  <a:pt x="69369" y="979344"/>
                </a:lnTo>
                <a:lnTo>
                  <a:pt x="83791" y="937219"/>
                </a:lnTo>
                <a:lnTo>
                  <a:pt x="99529" y="895569"/>
                </a:lnTo>
                <a:lnTo>
                  <a:pt x="116568" y="854434"/>
                </a:lnTo>
                <a:lnTo>
                  <a:pt x="134891" y="813854"/>
                </a:lnTo>
                <a:lnTo>
                  <a:pt x="154479" y="773870"/>
                </a:lnTo>
                <a:lnTo>
                  <a:pt x="175313" y="734520"/>
                </a:lnTo>
                <a:lnTo>
                  <a:pt x="197373" y="695845"/>
                </a:lnTo>
                <a:lnTo>
                  <a:pt x="220637" y="657881"/>
                </a:lnTo>
                <a:lnTo>
                  <a:pt x="245082" y="620667"/>
                </a:lnTo>
                <a:lnTo>
                  <a:pt x="270684" y="584240"/>
                </a:lnTo>
                <a:lnTo>
                  <a:pt x="297418" y="548634"/>
                </a:lnTo>
                <a:lnTo>
                  <a:pt x="325256" y="513886"/>
                </a:lnTo>
                <a:lnTo>
                  <a:pt x="354173" y="480029"/>
                </a:lnTo>
                <a:lnTo>
                  <a:pt x="384138" y="447097"/>
                </a:lnTo>
                <a:lnTo>
                  <a:pt x="415124" y="415123"/>
                </a:lnTo>
                <a:lnTo>
                  <a:pt x="447098" y="384138"/>
                </a:lnTo>
                <a:lnTo>
                  <a:pt x="480030" y="354172"/>
                </a:lnTo>
                <a:lnTo>
                  <a:pt x="513886" y="325256"/>
                </a:lnTo>
                <a:lnTo>
                  <a:pt x="548635" y="297417"/>
                </a:lnTo>
                <a:lnTo>
                  <a:pt x="584240" y="270684"/>
                </a:lnTo>
                <a:lnTo>
                  <a:pt x="620668" y="245082"/>
                </a:lnTo>
                <a:lnTo>
                  <a:pt x="657882" y="220637"/>
                </a:lnTo>
                <a:lnTo>
                  <a:pt x="695846" y="197373"/>
                </a:lnTo>
                <a:lnTo>
                  <a:pt x="734521" y="175313"/>
                </a:lnTo>
                <a:lnTo>
                  <a:pt x="773870" y="154478"/>
                </a:lnTo>
                <a:lnTo>
                  <a:pt x="813855" y="134890"/>
                </a:lnTo>
                <a:lnTo>
                  <a:pt x="854435" y="116568"/>
                </a:lnTo>
                <a:lnTo>
                  <a:pt x="895570" y="99529"/>
                </a:lnTo>
                <a:lnTo>
                  <a:pt x="937220" y="83790"/>
                </a:lnTo>
                <a:lnTo>
                  <a:pt x="979344" y="69368"/>
                </a:lnTo>
                <a:lnTo>
                  <a:pt x="1021901" y="56276"/>
                </a:lnTo>
                <a:lnTo>
                  <a:pt x="1064847" y="44527"/>
                </a:lnTo>
                <a:lnTo>
                  <a:pt x="1108141" y="34133"/>
                </a:lnTo>
                <a:lnTo>
                  <a:pt x="1151741" y="25104"/>
                </a:lnTo>
                <a:lnTo>
                  <a:pt x="1195602" y="17449"/>
                </a:lnTo>
                <a:lnTo>
                  <a:pt x="1239683" y="11175"/>
                </a:lnTo>
                <a:lnTo>
                  <a:pt x="1283939" y="6290"/>
                </a:lnTo>
                <a:lnTo>
                  <a:pt x="1328326" y="2796"/>
                </a:lnTo>
                <a:lnTo>
                  <a:pt x="1372801" y="699"/>
                </a:lnTo>
                <a:lnTo>
                  <a:pt x="1417320" y="0"/>
                </a:lnTo>
                <a:lnTo>
                  <a:pt x="1417320" y="1417320"/>
                </a:lnTo>
                <a:close/>
              </a:path>
            </a:pathLst>
          </a:custGeom>
          <a:solidFill>
            <a:srgbClr val="F4F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右下角淡蓝装饰"/>
          <p:cNvSpPr/>
          <p:nvPr/>
        </p:nvSpPr>
        <p:spPr>
          <a:xfrm>
            <a:off x="11076431" y="5742432"/>
            <a:ext cx="1115568" cy="1115568"/>
          </a:xfrm>
          <a:custGeom>
            <a:avLst/>
            <a:gdLst/>
            <a:ahLst/>
            <a:cxnLst/>
            <a:rect l="l" t="t" r="r" b="b"/>
            <a:pathLst>
              <a:path w="1115568" h="1115568">
                <a:moveTo>
                  <a:pt x="1115568" y="1115568"/>
                </a:moveTo>
                <a:lnTo>
                  <a:pt x="0" y="1115568"/>
                </a:lnTo>
                <a:lnTo>
                  <a:pt x="551" y="1080527"/>
                </a:lnTo>
                <a:lnTo>
                  <a:pt x="2202" y="1045520"/>
                </a:lnTo>
                <a:lnTo>
                  <a:pt x="4951" y="1010583"/>
                </a:lnTo>
                <a:lnTo>
                  <a:pt x="8797" y="975750"/>
                </a:lnTo>
                <a:lnTo>
                  <a:pt x="13735" y="941054"/>
                </a:lnTo>
                <a:lnTo>
                  <a:pt x="19760" y="906531"/>
                </a:lnTo>
                <a:lnTo>
                  <a:pt x="26867" y="872214"/>
                </a:lnTo>
                <a:lnTo>
                  <a:pt x="35048" y="838137"/>
                </a:lnTo>
                <a:lnTo>
                  <a:pt x="44295" y="804334"/>
                </a:lnTo>
                <a:lnTo>
                  <a:pt x="54600" y="770838"/>
                </a:lnTo>
                <a:lnTo>
                  <a:pt x="65952" y="737682"/>
                </a:lnTo>
                <a:lnTo>
                  <a:pt x="78339" y="704900"/>
                </a:lnTo>
                <a:lnTo>
                  <a:pt x="91751" y="672522"/>
                </a:lnTo>
                <a:lnTo>
                  <a:pt x="106172" y="640582"/>
                </a:lnTo>
                <a:lnTo>
                  <a:pt x="121590" y="609110"/>
                </a:lnTo>
                <a:lnTo>
                  <a:pt x="137989" y="578139"/>
                </a:lnTo>
                <a:lnTo>
                  <a:pt x="155352" y="547697"/>
                </a:lnTo>
                <a:lnTo>
                  <a:pt x="173663" y="517816"/>
                </a:lnTo>
                <a:lnTo>
                  <a:pt x="192904" y="488525"/>
                </a:lnTo>
                <a:lnTo>
                  <a:pt x="213055" y="459853"/>
                </a:lnTo>
                <a:lnTo>
                  <a:pt x="234097" y="431828"/>
                </a:lnTo>
                <a:lnTo>
                  <a:pt x="256008" y="404478"/>
                </a:lnTo>
                <a:lnTo>
                  <a:pt x="278768" y="377829"/>
                </a:lnTo>
                <a:lnTo>
                  <a:pt x="302354" y="351909"/>
                </a:lnTo>
                <a:lnTo>
                  <a:pt x="326742" y="326742"/>
                </a:lnTo>
                <a:lnTo>
                  <a:pt x="351909" y="302353"/>
                </a:lnTo>
                <a:lnTo>
                  <a:pt x="377830" y="278768"/>
                </a:lnTo>
                <a:lnTo>
                  <a:pt x="404478" y="256008"/>
                </a:lnTo>
                <a:lnTo>
                  <a:pt x="431829" y="234096"/>
                </a:lnTo>
                <a:lnTo>
                  <a:pt x="459854" y="213054"/>
                </a:lnTo>
                <a:lnTo>
                  <a:pt x="488526" y="192903"/>
                </a:lnTo>
                <a:lnTo>
                  <a:pt x="517817" y="173662"/>
                </a:lnTo>
                <a:lnTo>
                  <a:pt x="547698" y="155351"/>
                </a:lnTo>
                <a:lnTo>
                  <a:pt x="578139" y="137988"/>
                </a:lnTo>
                <a:lnTo>
                  <a:pt x="609111" y="121589"/>
                </a:lnTo>
                <a:lnTo>
                  <a:pt x="640582" y="106171"/>
                </a:lnTo>
                <a:lnTo>
                  <a:pt x="672523" y="91750"/>
                </a:lnTo>
                <a:lnTo>
                  <a:pt x="704900" y="78339"/>
                </a:lnTo>
                <a:lnTo>
                  <a:pt x="737683" y="65951"/>
                </a:lnTo>
                <a:lnTo>
                  <a:pt x="770839" y="54599"/>
                </a:lnTo>
                <a:lnTo>
                  <a:pt x="804335" y="44295"/>
                </a:lnTo>
                <a:lnTo>
                  <a:pt x="838138" y="35047"/>
                </a:lnTo>
                <a:lnTo>
                  <a:pt x="872215" y="26866"/>
                </a:lnTo>
                <a:lnTo>
                  <a:pt x="906532" y="19759"/>
                </a:lnTo>
                <a:lnTo>
                  <a:pt x="941055" y="13734"/>
                </a:lnTo>
                <a:lnTo>
                  <a:pt x="975750" y="8796"/>
                </a:lnTo>
                <a:lnTo>
                  <a:pt x="1010584" y="4950"/>
                </a:lnTo>
                <a:lnTo>
                  <a:pt x="1045521" y="2201"/>
                </a:lnTo>
                <a:lnTo>
                  <a:pt x="1080527" y="550"/>
                </a:lnTo>
                <a:lnTo>
                  <a:pt x="1115568" y="0"/>
                </a:lnTo>
                <a:lnTo>
                  <a:pt x="1115568" y="1115568"/>
                </a:lnTo>
                <a:close/>
              </a:path>
            </a:pathLst>
          </a:custGeom>
          <a:solidFill>
            <a:srgbClr val="F8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圆形"/>
          <p:cNvSpPr/>
          <p:nvPr/>
        </p:nvSpPr>
        <p:spPr>
          <a:xfrm>
            <a:off x="1038758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圆形"/>
          <p:cNvSpPr/>
          <p:nvPr/>
        </p:nvSpPr>
        <p:spPr>
          <a:xfrm>
            <a:off x="1038758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圆形"/>
          <p:cNvSpPr/>
          <p:nvPr/>
        </p:nvSpPr>
        <p:spPr>
          <a:xfrm>
            <a:off x="1038758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圆形"/>
          <p:cNvSpPr/>
          <p:nvPr/>
        </p:nvSpPr>
        <p:spPr>
          <a:xfrm>
            <a:off x="1055217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圆形"/>
          <p:cNvSpPr/>
          <p:nvPr/>
        </p:nvSpPr>
        <p:spPr>
          <a:xfrm>
            <a:off x="1055217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圆形"/>
          <p:cNvSpPr/>
          <p:nvPr/>
        </p:nvSpPr>
        <p:spPr>
          <a:xfrm>
            <a:off x="1055217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圆形"/>
          <p:cNvSpPr/>
          <p:nvPr/>
        </p:nvSpPr>
        <p:spPr>
          <a:xfrm>
            <a:off x="10716767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圆形"/>
          <p:cNvSpPr/>
          <p:nvPr/>
        </p:nvSpPr>
        <p:spPr>
          <a:xfrm>
            <a:off x="10716767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圆形"/>
          <p:cNvSpPr/>
          <p:nvPr/>
        </p:nvSpPr>
        <p:spPr>
          <a:xfrm>
            <a:off x="10716767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圆形"/>
          <p:cNvSpPr/>
          <p:nvPr/>
        </p:nvSpPr>
        <p:spPr>
          <a:xfrm>
            <a:off x="10881359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圆形"/>
          <p:cNvSpPr/>
          <p:nvPr/>
        </p:nvSpPr>
        <p:spPr>
          <a:xfrm>
            <a:off x="10881359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圆形"/>
          <p:cNvSpPr/>
          <p:nvPr/>
        </p:nvSpPr>
        <p:spPr>
          <a:xfrm>
            <a:off x="10881359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圆形"/>
          <p:cNvSpPr/>
          <p:nvPr/>
        </p:nvSpPr>
        <p:spPr>
          <a:xfrm>
            <a:off x="11045952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圆形"/>
          <p:cNvSpPr/>
          <p:nvPr/>
        </p:nvSpPr>
        <p:spPr>
          <a:xfrm>
            <a:off x="11045952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圆形"/>
          <p:cNvSpPr/>
          <p:nvPr/>
        </p:nvSpPr>
        <p:spPr>
          <a:xfrm>
            <a:off x="11045952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圆形"/>
          <p:cNvSpPr/>
          <p:nvPr/>
        </p:nvSpPr>
        <p:spPr>
          <a:xfrm>
            <a:off x="1121054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圆形"/>
          <p:cNvSpPr/>
          <p:nvPr/>
        </p:nvSpPr>
        <p:spPr>
          <a:xfrm>
            <a:off x="1121054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圆形"/>
          <p:cNvSpPr/>
          <p:nvPr/>
        </p:nvSpPr>
        <p:spPr>
          <a:xfrm>
            <a:off x="1121054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圆形"/>
          <p:cNvSpPr/>
          <p:nvPr/>
        </p:nvSpPr>
        <p:spPr>
          <a:xfrm>
            <a:off x="1137513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圆形"/>
          <p:cNvSpPr/>
          <p:nvPr/>
        </p:nvSpPr>
        <p:spPr>
          <a:xfrm>
            <a:off x="1137513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圆形"/>
          <p:cNvSpPr/>
          <p:nvPr/>
        </p:nvSpPr>
        <p:spPr>
          <a:xfrm>
            <a:off x="1137513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圆形"/>
          <p:cNvSpPr/>
          <p:nvPr/>
        </p:nvSpPr>
        <p:spPr>
          <a:xfrm>
            <a:off x="11539728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圆形"/>
          <p:cNvSpPr/>
          <p:nvPr/>
        </p:nvSpPr>
        <p:spPr>
          <a:xfrm>
            <a:off x="11539728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圆形"/>
          <p:cNvSpPr/>
          <p:nvPr/>
        </p:nvSpPr>
        <p:spPr>
          <a:xfrm>
            <a:off x="11539728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标题蓝色竖线"/>
          <p:cNvSpPr/>
          <p:nvPr/>
        </p:nvSpPr>
        <p:spPr>
          <a:xfrm>
            <a:off x="274320" y="356616"/>
            <a:ext cx="109728" cy="585216"/>
          </a:xfrm>
          <a:prstGeom prst="roundRect">
            <a:avLst>
              <a:gd name="adj" fmla="val 41666"/>
            </a:avLst>
          </a:prstGeom>
          <a:gradFill>
            <a:gsLst>
              <a:gs pos="0">
                <a:srgbClr val="3A92D5"/>
              </a:gs>
              <a:gs pos="100000">
                <a:srgbClr val="146FB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标题"/>
          <p:cNvSpPr txBox="1"/>
          <p:nvPr/>
        </p:nvSpPr>
        <p:spPr>
          <a:xfrm>
            <a:off x="621792" y="301752"/>
            <a:ext cx="9390888" cy="64922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汽车功能在变，系统也要变</a:t>
            </a:r>
            <a:endParaRPr sz="35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标题分隔线"/>
          <p:cNvSpPr/>
          <p:nvPr/>
        </p:nvSpPr>
        <p:spPr>
          <a:xfrm>
            <a:off x="621792" y="1051560"/>
            <a:ext cx="11109960" cy="18288"/>
          </a:xfrm>
          <a:prstGeom prst="rect">
            <a:avLst/>
          </a:prstGeom>
          <a:gradFill>
            <a:gsLst>
              <a:gs pos="0">
                <a:srgbClr val="3A92D5"/>
              </a:gs>
              <a:gs pos="100000">
                <a:srgbClr val="E3EFF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tongji_wordm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4" y="256032"/>
            <a:ext cx="1554480" cy="385298"/>
          </a:xfrm>
          <a:prstGeom prst="rect">
            <a:avLst/>
          </a:prstGeom>
          <a:effectLst/>
        </p:spPr>
      </p:pic>
      <p:sp>
        <p:nvSpPr>
          <p:cNvPr id="33" name="导入句"/>
          <p:cNvSpPr txBox="1"/>
          <p:nvPr/>
        </p:nvSpPr>
        <p:spPr>
          <a:xfrm>
            <a:off x="621792" y="1271016"/>
            <a:ext cx="10972800" cy="57607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先看需求：从单个功能工作，到多个系统协同，再到交付后持续更新。</a:t>
            </a:r>
            <a:endParaRPr sz="20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本页总结背景"/>
          <p:cNvSpPr/>
          <p:nvPr/>
        </p:nvSpPr>
        <p:spPr>
          <a:xfrm>
            <a:off x="585216" y="5852160"/>
            <a:ext cx="11064240" cy="594360"/>
          </a:xfrm>
          <a:prstGeom prst="roundRect">
            <a:avLst>
              <a:gd name="adj" fmla="val 23076"/>
            </a:avLst>
          </a:prstGeom>
          <a:gradFill>
            <a:gsLst>
              <a:gs pos="0">
                <a:srgbClr val="F0F7FE"/>
              </a:gs>
              <a:gs pos="100000">
                <a:srgbClr val="E9F3F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可编辑曲线"/>
          <p:cNvSpPr/>
          <p:nvPr/>
        </p:nvSpPr>
        <p:spPr>
          <a:xfrm>
            <a:off x="907999" y="5990783"/>
            <a:ext cx="310621" cy="133685"/>
          </a:xfrm>
          <a:custGeom>
            <a:avLst/>
            <a:gdLst/>
            <a:ahLst/>
            <a:cxnLst/>
            <a:rect l="l" t="t" r="r" b="b"/>
            <a:pathLst>
              <a:path w="310621" h="133685">
                <a:moveTo>
                  <a:pt x="0" y="133685"/>
                </a:moveTo>
                <a:lnTo>
                  <a:pt x="51115" y="0"/>
                </a:lnTo>
                <a:lnTo>
                  <a:pt x="251643" y="0"/>
                </a:lnTo>
                <a:lnTo>
                  <a:pt x="310621" y="133685"/>
                </a:lnTo>
              </a:path>
            </a:pathLst>
          </a:custGeom>
          <a:noFill/>
          <a:ln w="254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矩形"/>
          <p:cNvSpPr/>
          <p:nvPr/>
        </p:nvSpPr>
        <p:spPr>
          <a:xfrm>
            <a:off x="896203" y="6112672"/>
            <a:ext cx="338145" cy="165140"/>
          </a:xfrm>
          <a:prstGeom prst="roundRect">
            <a:avLst>
              <a:gd name="adj" fmla="val 19047"/>
            </a:avLst>
          </a:prstGeom>
          <a:noFill/>
          <a:ln w="254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连线"/>
          <p:cNvCxnSpPr/>
          <p:nvPr/>
        </p:nvCxnSpPr>
        <p:spPr>
          <a:xfrm>
            <a:off x="915863" y="6120536"/>
            <a:ext cx="302757" cy="0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圆形"/>
          <p:cNvSpPr/>
          <p:nvPr/>
        </p:nvSpPr>
        <p:spPr>
          <a:xfrm>
            <a:off x="935522" y="6171651"/>
            <a:ext cx="51114" cy="5111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圆形"/>
          <p:cNvSpPr/>
          <p:nvPr/>
        </p:nvSpPr>
        <p:spPr>
          <a:xfrm>
            <a:off x="1136050" y="6171651"/>
            <a:ext cx="51114" cy="5111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连线"/>
          <p:cNvCxnSpPr/>
          <p:nvPr/>
        </p:nvCxnSpPr>
        <p:spPr>
          <a:xfrm>
            <a:off x="943386" y="6273881"/>
            <a:ext cx="0" cy="51115"/>
          </a:xfrm>
          <a:prstGeom prst="line">
            <a:avLst/>
          </a:prstGeom>
          <a:ln w="381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连线"/>
          <p:cNvCxnSpPr/>
          <p:nvPr/>
        </p:nvCxnSpPr>
        <p:spPr>
          <a:xfrm>
            <a:off x="1183233" y="6273881"/>
            <a:ext cx="0" cy="51115"/>
          </a:xfrm>
          <a:prstGeom prst="line">
            <a:avLst/>
          </a:prstGeom>
          <a:ln w="381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连线"/>
          <p:cNvCxnSpPr/>
          <p:nvPr/>
        </p:nvCxnSpPr>
        <p:spPr>
          <a:xfrm>
            <a:off x="1435608" y="5943600"/>
            <a:ext cx="0" cy="411480"/>
          </a:xfrm>
          <a:prstGeom prst="line">
            <a:avLst/>
          </a:prstGeom>
          <a:ln w="15875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akeaway"/>
          <p:cNvSpPr txBox="1"/>
          <p:nvPr/>
        </p:nvSpPr>
        <p:spPr>
          <a:xfrm>
            <a:off x="1655064" y="5943600"/>
            <a:ext cx="9692640" cy="44805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需求推动架构变化，而不是为了用一种新协议而增加功能。</a:t>
            </a:r>
            <a:endParaRPr sz="21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694944" y="1965960"/>
            <a:ext cx="3337560" cy="324612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694944" y="1965960"/>
            <a:ext cx="3337560" cy="576072"/>
          </a:xfrm>
          <a:prstGeom prst="roundRect">
            <a:avLst>
              <a:gd name="adj" fmla="val 11000"/>
            </a:avLst>
          </a:prstGeom>
          <a:solidFill>
            <a:srgbClr val="E6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59536" y="2057400"/>
            <a:ext cx="411480" cy="32004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9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1335024" y="2039112"/>
            <a:ext cx="2560320" cy="38404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功能越来越多</a:t>
            </a:r>
            <a:endParaRPr sz="22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2069287" y="2804922"/>
            <a:ext cx="505206" cy="505206"/>
          </a:xfrm>
          <a:prstGeom prst="rect">
            <a:avLst/>
          </a:prstGeom>
          <a:noFill/>
          <a:ln w="2286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2178100" y="2913735"/>
            <a:ext cx="287578" cy="287578"/>
          </a:xfrm>
          <a:prstGeom prst="rect">
            <a:avLst/>
          </a:prstGeom>
          <a:solidFill>
            <a:srgbClr val="E6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" name="Connector 94"/>
          <p:cNvCxnSpPr/>
          <p:nvPr/>
        </p:nvCxnSpPr>
        <p:spPr>
          <a:xfrm>
            <a:off x="2131466" y="2703880"/>
            <a:ext cx="0" cy="85497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2131466" y="3325672"/>
            <a:ext cx="0" cy="85497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968246" y="2890418"/>
            <a:ext cx="85496" cy="0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2590038" y="2890418"/>
            <a:ext cx="85496" cy="0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2240280" y="2703880"/>
            <a:ext cx="0" cy="85497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2240280" y="3325672"/>
            <a:ext cx="0" cy="85497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1968246" y="2999232"/>
            <a:ext cx="85496" cy="0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2590038" y="2999232"/>
            <a:ext cx="85496" cy="0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2349093" y="2703880"/>
            <a:ext cx="0" cy="85497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2349093" y="3325672"/>
            <a:ext cx="0" cy="85497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1968246" y="3108045"/>
            <a:ext cx="85496" cy="0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2590038" y="3108045"/>
            <a:ext cx="85496" cy="0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2457907" y="2703880"/>
            <a:ext cx="0" cy="85497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2457907" y="3325672"/>
            <a:ext cx="0" cy="85497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968246" y="3216859"/>
            <a:ext cx="85496" cy="0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2590038" y="3216859"/>
            <a:ext cx="85496" cy="0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832104" y="3639312"/>
            <a:ext cx="3063240" cy="36576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从“能工作”到“更好用”</a:t>
            </a:r>
            <a:endParaRPr sz="175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905256" y="4014215"/>
            <a:ext cx="2926080" cy="59436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喷射、灯光、舒适控制</a:t>
            </a:r>
            <a:endParaRPr sz="18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各自需要感知与判断</a:t>
            </a:r>
            <a:endParaRPr sz="18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Rounded Rectangle 112"/>
          <p:cNvSpPr/>
          <p:nvPr/>
        </p:nvSpPr>
        <p:spPr>
          <a:xfrm>
            <a:off x="877824" y="4727448"/>
            <a:ext cx="2971800" cy="338328"/>
          </a:xfrm>
          <a:prstGeom prst="roundRect">
            <a:avLst>
              <a:gd name="adj" fmla="val 11000"/>
            </a:avLst>
          </a:prstGeom>
          <a:solidFill>
            <a:srgbClr val="E6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23544" y="4745736"/>
            <a:ext cx="2880360" cy="31089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需要更多电子控制</a:t>
            </a:r>
            <a:endParaRPr sz="165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Rounded Rectangle 114"/>
          <p:cNvSpPr/>
          <p:nvPr/>
        </p:nvSpPr>
        <p:spPr>
          <a:xfrm>
            <a:off x="4443984" y="1965960"/>
            <a:ext cx="3337560" cy="324612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4443984" y="1965960"/>
            <a:ext cx="3337560" cy="576072"/>
          </a:xfrm>
          <a:prstGeom prst="roundRect">
            <a:avLst>
              <a:gd name="adj" fmla="val 11000"/>
            </a:avLst>
          </a:prstGeom>
          <a:solidFill>
            <a:srgbClr val="E6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608576" y="2057400"/>
            <a:ext cx="411480" cy="32004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9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5084064" y="2039112"/>
            <a:ext cx="2560320" cy="38404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功能越来越相关</a:t>
            </a:r>
            <a:endParaRPr sz="22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" name="Rounded Rectangle 118"/>
          <p:cNvSpPr/>
          <p:nvPr/>
        </p:nvSpPr>
        <p:spPr>
          <a:xfrm>
            <a:off x="5950458" y="2727198"/>
            <a:ext cx="194310" cy="186537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2032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5701741" y="3232404"/>
            <a:ext cx="194310" cy="186537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2032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5958230" y="3232404"/>
            <a:ext cx="194310" cy="186537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2032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6214719" y="3232404"/>
            <a:ext cx="194310" cy="186537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2032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" name="Connector 122"/>
          <p:cNvCxnSpPr/>
          <p:nvPr/>
        </p:nvCxnSpPr>
        <p:spPr>
          <a:xfrm>
            <a:off x="6051499" y="2913735"/>
            <a:ext cx="0" cy="194310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5795010" y="3108045"/>
            <a:ext cx="520750" cy="0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5795010" y="3108045"/>
            <a:ext cx="0" cy="116586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6051499" y="3108045"/>
            <a:ext cx="0" cy="116586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6315760" y="3108045"/>
            <a:ext cx="0" cy="116586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4581144" y="3639312"/>
            <a:ext cx="3063240" cy="36576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从“各管各的”到“要配合”</a:t>
            </a:r>
            <a:endParaRPr sz="175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4654296" y="4014215"/>
            <a:ext cx="2926080" cy="59436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多个功能共享车辆状态</a:t>
            </a:r>
            <a:endParaRPr sz="18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共同完成预警或控制</a:t>
            </a:r>
            <a:endParaRPr sz="18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" name="Rounded Rectangle 129"/>
          <p:cNvSpPr/>
          <p:nvPr/>
        </p:nvSpPr>
        <p:spPr>
          <a:xfrm>
            <a:off x="4626864" y="4727448"/>
            <a:ext cx="2971800" cy="338328"/>
          </a:xfrm>
          <a:prstGeom prst="roundRect">
            <a:avLst>
              <a:gd name="adj" fmla="val 11000"/>
            </a:avLst>
          </a:prstGeom>
          <a:solidFill>
            <a:srgbClr val="E6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672584" y="4745736"/>
            <a:ext cx="2880360" cy="31089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需要交换信息与协调</a:t>
            </a:r>
            <a:endParaRPr sz="165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" name="Rounded Rectangle 131"/>
          <p:cNvSpPr/>
          <p:nvPr/>
        </p:nvSpPr>
        <p:spPr>
          <a:xfrm>
            <a:off x="8193024" y="1965960"/>
            <a:ext cx="3337560" cy="324612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8193024" y="1965960"/>
            <a:ext cx="3337560" cy="576072"/>
          </a:xfrm>
          <a:prstGeom prst="roundRect">
            <a:avLst>
              <a:gd name="adj" fmla="val 11000"/>
            </a:avLst>
          </a:prstGeom>
          <a:solidFill>
            <a:srgbClr val="E6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357616" y="2057400"/>
            <a:ext cx="411480" cy="32004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9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8833104" y="2039112"/>
            <a:ext cx="2560320" cy="38404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功能持续更新</a:t>
            </a:r>
            <a:endParaRPr sz="22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" name="Rounded Rectangle 135"/>
          <p:cNvSpPr/>
          <p:nvPr/>
        </p:nvSpPr>
        <p:spPr>
          <a:xfrm>
            <a:off x="9505188" y="2944825"/>
            <a:ext cx="621792" cy="435254"/>
          </a:xfrm>
          <a:prstGeom prst="roundRect">
            <a:avLst>
              <a:gd name="adj" fmla="val 11000"/>
            </a:avLst>
          </a:prstGeom>
          <a:noFill/>
          <a:ln w="2286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7" name="Connector 136"/>
          <p:cNvCxnSpPr/>
          <p:nvPr/>
        </p:nvCxnSpPr>
        <p:spPr>
          <a:xfrm>
            <a:off x="9816084" y="2773832"/>
            <a:ext cx="0" cy="427482"/>
          </a:xfrm>
          <a:prstGeom prst="line">
            <a:avLst/>
          </a:prstGeom>
          <a:ln w="31750" cap="rnd">
            <a:solidFill>
              <a:srgbClr val="146FB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9645091" y="2766060"/>
            <a:ext cx="341985" cy="0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Oval 138"/>
          <p:cNvSpPr/>
          <p:nvPr/>
        </p:nvSpPr>
        <p:spPr>
          <a:xfrm>
            <a:off x="9598456" y="3255721"/>
            <a:ext cx="54406" cy="54406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9715042" y="3255721"/>
            <a:ext cx="54406" cy="54406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8330184" y="3639312"/>
            <a:ext cx="3063240" cy="36576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从交付定型到持续维护</a:t>
            </a:r>
            <a:endParaRPr sz="175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8403336" y="4014215"/>
            <a:ext cx="2926080" cy="59436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软件更新、远程诊断</a:t>
            </a:r>
            <a:endParaRPr sz="18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希望不总靠增加控制盒</a:t>
            </a:r>
            <a:endParaRPr sz="18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" name="Rounded Rectangle 142"/>
          <p:cNvSpPr/>
          <p:nvPr/>
        </p:nvSpPr>
        <p:spPr>
          <a:xfrm>
            <a:off x="8375904" y="4727448"/>
            <a:ext cx="2971800" cy="338328"/>
          </a:xfrm>
          <a:prstGeom prst="roundRect">
            <a:avLst>
              <a:gd name="adj" fmla="val 11000"/>
            </a:avLst>
          </a:prstGeom>
          <a:solidFill>
            <a:srgbClr val="E6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421624" y="4745736"/>
            <a:ext cx="2880360" cy="31089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需要可复用、可升级</a:t>
            </a:r>
            <a:endParaRPr sz="165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822960" y="5367528"/>
            <a:ext cx="10561320" cy="2743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功能增长  →  信息增多  →  协同更复杂  →  需要重新组织计算、网络与软件</a:t>
            </a:r>
            <a:endParaRPr sz="19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" name="白色背景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右下角淡蓝装饰"/>
          <p:cNvSpPr/>
          <p:nvPr/>
        </p:nvSpPr>
        <p:spPr>
          <a:xfrm>
            <a:off x="10774679" y="5440680"/>
            <a:ext cx="1417320" cy="1417320"/>
          </a:xfrm>
          <a:custGeom>
            <a:avLst/>
            <a:gdLst/>
            <a:ahLst/>
            <a:cxnLst/>
            <a:rect l="l" t="t" r="r" b="b"/>
            <a:pathLst>
              <a:path w="1417320" h="1417320">
                <a:moveTo>
                  <a:pt x="1417320" y="1417320"/>
                </a:moveTo>
                <a:lnTo>
                  <a:pt x="0" y="1417320"/>
                </a:lnTo>
                <a:lnTo>
                  <a:pt x="700" y="1372800"/>
                </a:lnTo>
                <a:lnTo>
                  <a:pt x="2797" y="1328325"/>
                </a:lnTo>
                <a:lnTo>
                  <a:pt x="6290" y="1283938"/>
                </a:lnTo>
                <a:lnTo>
                  <a:pt x="11176" y="1239682"/>
                </a:lnTo>
                <a:lnTo>
                  <a:pt x="17450" y="1195602"/>
                </a:lnTo>
                <a:lnTo>
                  <a:pt x="25105" y="1151740"/>
                </a:lnTo>
                <a:lnTo>
                  <a:pt x="34134" y="1108141"/>
                </a:lnTo>
                <a:lnTo>
                  <a:pt x="44528" y="1064846"/>
                </a:lnTo>
                <a:lnTo>
                  <a:pt x="56277" y="1021900"/>
                </a:lnTo>
                <a:lnTo>
                  <a:pt x="69369" y="979344"/>
                </a:lnTo>
                <a:lnTo>
                  <a:pt x="83791" y="937219"/>
                </a:lnTo>
                <a:lnTo>
                  <a:pt x="99529" y="895569"/>
                </a:lnTo>
                <a:lnTo>
                  <a:pt x="116568" y="854434"/>
                </a:lnTo>
                <a:lnTo>
                  <a:pt x="134891" y="813854"/>
                </a:lnTo>
                <a:lnTo>
                  <a:pt x="154479" y="773870"/>
                </a:lnTo>
                <a:lnTo>
                  <a:pt x="175313" y="734520"/>
                </a:lnTo>
                <a:lnTo>
                  <a:pt x="197373" y="695845"/>
                </a:lnTo>
                <a:lnTo>
                  <a:pt x="220637" y="657881"/>
                </a:lnTo>
                <a:lnTo>
                  <a:pt x="245082" y="620667"/>
                </a:lnTo>
                <a:lnTo>
                  <a:pt x="270684" y="584240"/>
                </a:lnTo>
                <a:lnTo>
                  <a:pt x="297418" y="548634"/>
                </a:lnTo>
                <a:lnTo>
                  <a:pt x="325256" y="513886"/>
                </a:lnTo>
                <a:lnTo>
                  <a:pt x="354173" y="480029"/>
                </a:lnTo>
                <a:lnTo>
                  <a:pt x="384138" y="447097"/>
                </a:lnTo>
                <a:lnTo>
                  <a:pt x="415124" y="415123"/>
                </a:lnTo>
                <a:lnTo>
                  <a:pt x="447098" y="384138"/>
                </a:lnTo>
                <a:lnTo>
                  <a:pt x="480030" y="354172"/>
                </a:lnTo>
                <a:lnTo>
                  <a:pt x="513886" y="325256"/>
                </a:lnTo>
                <a:lnTo>
                  <a:pt x="548635" y="297417"/>
                </a:lnTo>
                <a:lnTo>
                  <a:pt x="584240" y="270684"/>
                </a:lnTo>
                <a:lnTo>
                  <a:pt x="620668" y="245082"/>
                </a:lnTo>
                <a:lnTo>
                  <a:pt x="657882" y="220637"/>
                </a:lnTo>
                <a:lnTo>
                  <a:pt x="695846" y="197373"/>
                </a:lnTo>
                <a:lnTo>
                  <a:pt x="734521" y="175313"/>
                </a:lnTo>
                <a:lnTo>
                  <a:pt x="773870" y="154478"/>
                </a:lnTo>
                <a:lnTo>
                  <a:pt x="813855" y="134890"/>
                </a:lnTo>
                <a:lnTo>
                  <a:pt x="854435" y="116568"/>
                </a:lnTo>
                <a:lnTo>
                  <a:pt x="895570" y="99529"/>
                </a:lnTo>
                <a:lnTo>
                  <a:pt x="937220" y="83790"/>
                </a:lnTo>
                <a:lnTo>
                  <a:pt x="979344" y="69368"/>
                </a:lnTo>
                <a:lnTo>
                  <a:pt x="1021901" y="56276"/>
                </a:lnTo>
                <a:lnTo>
                  <a:pt x="1064847" y="44527"/>
                </a:lnTo>
                <a:lnTo>
                  <a:pt x="1108141" y="34133"/>
                </a:lnTo>
                <a:lnTo>
                  <a:pt x="1151741" y="25104"/>
                </a:lnTo>
                <a:lnTo>
                  <a:pt x="1195602" y="17449"/>
                </a:lnTo>
                <a:lnTo>
                  <a:pt x="1239683" y="11175"/>
                </a:lnTo>
                <a:lnTo>
                  <a:pt x="1283939" y="6290"/>
                </a:lnTo>
                <a:lnTo>
                  <a:pt x="1328326" y="2796"/>
                </a:lnTo>
                <a:lnTo>
                  <a:pt x="1372801" y="699"/>
                </a:lnTo>
                <a:lnTo>
                  <a:pt x="1417320" y="0"/>
                </a:lnTo>
                <a:lnTo>
                  <a:pt x="1417320" y="1417320"/>
                </a:lnTo>
                <a:close/>
              </a:path>
            </a:pathLst>
          </a:custGeom>
          <a:solidFill>
            <a:srgbClr val="F4F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右下角淡蓝装饰"/>
          <p:cNvSpPr/>
          <p:nvPr/>
        </p:nvSpPr>
        <p:spPr>
          <a:xfrm>
            <a:off x="11076431" y="5742432"/>
            <a:ext cx="1115568" cy="1115568"/>
          </a:xfrm>
          <a:custGeom>
            <a:avLst/>
            <a:gdLst/>
            <a:ahLst/>
            <a:cxnLst/>
            <a:rect l="l" t="t" r="r" b="b"/>
            <a:pathLst>
              <a:path w="1115568" h="1115568">
                <a:moveTo>
                  <a:pt x="1115568" y="1115568"/>
                </a:moveTo>
                <a:lnTo>
                  <a:pt x="0" y="1115568"/>
                </a:lnTo>
                <a:lnTo>
                  <a:pt x="551" y="1080527"/>
                </a:lnTo>
                <a:lnTo>
                  <a:pt x="2202" y="1045520"/>
                </a:lnTo>
                <a:lnTo>
                  <a:pt x="4951" y="1010583"/>
                </a:lnTo>
                <a:lnTo>
                  <a:pt x="8797" y="975750"/>
                </a:lnTo>
                <a:lnTo>
                  <a:pt x="13735" y="941054"/>
                </a:lnTo>
                <a:lnTo>
                  <a:pt x="19760" y="906531"/>
                </a:lnTo>
                <a:lnTo>
                  <a:pt x="26867" y="872214"/>
                </a:lnTo>
                <a:lnTo>
                  <a:pt x="35048" y="838137"/>
                </a:lnTo>
                <a:lnTo>
                  <a:pt x="44295" y="804334"/>
                </a:lnTo>
                <a:lnTo>
                  <a:pt x="54600" y="770838"/>
                </a:lnTo>
                <a:lnTo>
                  <a:pt x="65952" y="737682"/>
                </a:lnTo>
                <a:lnTo>
                  <a:pt x="78339" y="704900"/>
                </a:lnTo>
                <a:lnTo>
                  <a:pt x="91751" y="672522"/>
                </a:lnTo>
                <a:lnTo>
                  <a:pt x="106172" y="640582"/>
                </a:lnTo>
                <a:lnTo>
                  <a:pt x="121590" y="609110"/>
                </a:lnTo>
                <a:lnTo>
                  <a:pt x="137989" y="578139"/>
                </a:lnTo>
                <a:lnTo>
                  <a:pt x="155352" y="547697"/>
                </a:lnTo>
                <a:lnTo>
                  <a:pt x="173663" y="517816"/>
                </a:lnTo>
                <a:lnTo>
                  <a:pt x="192904" y="488525"/>
                </a:lnTo>
                <a:lnTo>
                  <a:pt x="213055" y="459853"/>
                </a:lnTo>
                <a:lnTo>
                  <a:pt x="234097" y="431828"/>
                </a:lnTo>
                <a:lnTo>
                  <a:pt x="256008" y="404478"/>
                </a:lnTo>
                <a:lnTo>
                  <a:pt x="278768" y="377829"/>
                </a:lnTo>
                <a:lnTo>
                  <a:pt x="302354" y="351909"/>
                </a:lnTo>
                <a:lnTo>
                  <a:pt x="326742" y="326742"/>
                </a:lnTo>
                <a:lnTo>
                  <a:pt x="351909" y="302353"/>
                </a:lnTo>
                <a:lnTo>
                  <a:pt x="377830" y="278768"/>
                </a:lnTo>
                <a:lnTo>
                  <a:pt x="404478" y="256008"/>
                </a:lnTo>
                <a:lnTo>
                  <a:pt x="431829" y="234096"/>
                </a:lnTo>
                <a:lnTo>
                  <a:pt x="459854" y="213054"/>
                </a:lnTo>
                <a:lnTo>
                  <a:pt x="488526" y="192903"/>
                </a:lnTo>
                <a:lnTo>
                  <a:pt x="517817" y="173662"/>
                </a:lnTo>
                <a:lnTo>
                  <a:pt x="547698" y="155351"/>
                </a:lnTo>
                <a:lnTo>
                  <a:pt x="578139" y="137988"/>
                </a:lnTo>
                <a:lnTo>
                  <a:pt x="609111" y="121589"/>
                </a:lnTo>
                <a:lnTo>
                  <a:pt x="640582" y="106171"/>
                </a:lnTo>
                <a:lnTo>
                  <a:pt x="672523" y="91750"/>
                </a:lnTo>
                <a:lnTo>
                  <a:pt x="704900" y="78339"/>
                </a:lnTo>
                <a:lnTo>
                  <a:pt x="737683" y="65951"/>
                </a:lnTo>
                <a:lnTo>
                  <a:pt x="770839" y="54599"/>
                </a:lnTo>
                <a:lnTo>
                  <a:pt x="804335" y="44295"/>
                </a:lnTo>
                <a:lnTo>
                  <a:pt x="838138" y="35047"/>
                </a:lnTo>
                <a:lnTo>
                  <a:pt x="872215" y="26866"/>
                </a:lnTo>
                <a:lnTo>
                  <a:pt x="906532" y="19759"/>
                </a:lnTo>
                <a:lnTo>
                  <a:pt x="941055" y="13734"/>
                </a:lnTo>
                <a:lnTo>
                  <a:pt x="975750" y="8796"/>
                </a:lnTo>
                <a:lnTo>
                  <a:pt x="1010584" y="4950"/>
                </a:lnTo>
                <a:lnTo>
                  <a:pt x="1045521" y="2201"/>
                </a:lnTo>
                <a:lnTo>
                  <a:pt x="1080527" y="550"/>
                </a:lnTo>
                <a:lnTo>
                  <a:pt x="1115568" y="0"/>
                </a:lnTo>
                <a:lnTo>
                  <a:pt x="1115568" y="1115568"/>
                </a:lnTo>
                <a:close/>
              </a:path>
            </a:pathLst>
          </a:custGeom>
          <a:solidFill>
            <a:srgbClr val="F8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圆形"/>
          <p:cNvSpPr/>
          <p:nvPr/>
        </p:nvSpPr>
        <p:spPr>
          <a:xfrm>
            <a:off x="1038758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圆形"/>
          <p:cNvSpPr/>
          <p:nvPr/>
        </p:nvSpPr>
        <p:spPr>
          <a:xfrm>
            <a:off x="1038758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圆形"/>
          <p:cNvSpPr/>
          <p:nvPr/>
        </p:nvSpPr>
        <p:spPr>
          <a:xfrm>
            <a:off x="1038758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圆形"/>
          <p:cNvSpPr/>
          <p:nvPr/>
        </p:nvSpPr>
        <p:spPr>
          <a:xfrm>
            <a:off x="1055217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圆形"/>
          <p:cNvSpPr/>
          <p:nvPr/>
        </p:nvSpPr>
        <p:spPr>
          <a:xfrm>
            <a:off x="1055217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圆形"/>
          <p:cNvSpPr/>
          <p:nvPr/>
        </p:nvSpPr>
        <p:spPr>
          <a:xfrm>
            <a:off x="1055217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圆形"/>
          <p:cNvSpPr/>
          <p:nvPr/>
        </p:nvSpPr>
        <p:spPr>
          <a:xfrm>
            <a:off x="10716767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圆形"/>
          <p:cNvSpPr/>
          <p:nvPr/>
        </p:nvSpPr>
        <p:spPr>
          <a:xfrm>
            <a:off x="10716767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圆形"/>
          <p:cNvSpPr/>
          <p:nvPr/>
        </p:nvSpPr>
        <p:spPr>
          <a:xfrm>
            <a:off x="10716767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圆形"/>
          <p:cNvSpPr/>
          <p:nvPr/>
        </p:nvSpPr>
        <p:spPr>
          <a:xfrm>
            <a:off x="10881359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圆形"/>
          <p:cNvSpPr/>
          <p:nvPr/>
        </p:nvSpPr>
        <p:spPr>
          <a:xfrm>
            <a:off x="10881359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圆形"/>
          <p:cNvSpPr/>
          <p:nvPr/>
        </p:nvSpPr>
        <p:spPr>
          <a:xfrm>
            <a:off x="10881359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圆形"/>
          <p:cNvSpPr/>
          <p:nvPr/>
        </p:nvSpPr>
        <p:spPr>
          <a:xfrm>
            <a:off x="11045952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圆形"/>
          <p:cNvSpPr/>
          <p:nvPr/>
        </p:nvSpPr>
        <p:spPr>
          <a:xfrm>
            <a:off x="11045952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圆形"/>
          <p:cNvSpPr/>
          <p:nvPr/>
        </p:nvSpPr>
        <p:spPr>
          <a:xfrm>
            <a:off x="11045952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圆形"/>
          <p:cNvSpPr/>
          <p:nvPr/>
        </p:nvSpPr>
        <p:spPr>
          <a:xfrm>
            <a:off x="1121054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圆形"/>
          <p:cNvSpPr/>
          <p:nvPr/>
        </p:nvSpPr>
        <p:spPr>
          <a:xfrm>
            <a:off x="1121054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圆形"/>
          <p:cNvSpPr/>
          <p:nvPr/>
        </p:nvSpPr>
        <p:spPr>
          <a:xfrm>
            <a:off x="1121054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圆形"/>
          <p:cNvSpPr/>
          <p:nvPr/>
        </p:nvSpPr>
        <p:spPr>
          <a:xfrm>
            <a:off x="1137513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圆形"/>
          <p:cNvSpPr/>
          <p:nvPr/>
        </p:nvSpPr>
        <p:spPr>
          <a:xfrm>
            <a:off x="1137513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圆形"/>
          <p:cNvSpPr/>
          <p:nvPr/>
        </p:nvSpPr>
        <p:spPr>
          <a:xfrm>
            <a:off x="1137513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圆形"/>
          <p:cNvSpPr/>
          <p:nvPr/>
        </p:nvSpPr>
        <p:spPr>
          <a:xfrm>
            <a:off x="11539728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圆形"/>
          <p:cNvSpPr/>
          <p:nvPr/>
        </p:nvSpPr>
        <p:spPr>
          <a:xfrm>
            <a:off x="11539728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圆形"/>
          <p:cNvSpPr/>
          <p:nvPr/>
        </p:nvSpPr>
        <p:spPr>
          <a:xfrm>
            <a:off x="11539728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标题蓝色竖线"/>
          <p:cNvSpPr/>
          <p:nvPr/>
        </p:nvSpPr>
        <p:spPr>
          <a:xfrm>
            <a:off x="274320" y="356616"/>
            <a:ext cx="109728" cy="585216"/>
          </a:xfrm>
          <a:prstGeom prst="roundRect">
            <a:avLst>
              <a:gd name="adj" fmla="val 41666"/>
            </a:avLst>
          </a:prstGeom>
          <a:gradFill>
            <a:gsLst>
              <a:gs pos="0">
                <a:srgbClr val="3A92D5"/>
              </a:gs>
              <a:gs pos="100000">
                <a:srgbClr val="146FB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标题"/>
          <p:cNvSpPr txBox="1"/>
          <p:nvPr/>
        </p:nvSpPr>
        <p:spPr>
          <a:xfrm>
            <a:off x="621792" y="301752"/>
            <a:ext cx="9390888" cy="64922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电子电气架构：整车的组织方案</a:t>
            </a:r>
            <a:endParaRPr sz="35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标题分隔线"/>
          <p:cNvSpPr/>
          <p:nvPr/>
        </p:nvSpPr>
        <p:spPr>
          <a:xfrm>
            <a:off x="621792" y="1051560"/>
            <a:ext cx="11109960" cy="18288"/>
          </a:xfrm>
          <a:prstGeom prst="rect">
            <a:avLst/>
          </a:prstGeom>
          <a:gradFill>
            <a:gsLst>
              <a:gs pos="0">
                <a:srgbClr val="3A92D5"/>
              </a:gs>
              <a:gs pos="100000">
                <a:srgbClr val="E3EFF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tongji_wordm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4" y="256032"/>
            <a:ext cx="1554480" cy="385298"/>
          </a:xfrm>
          <a:prstGeom prst="rect">
            <a:avLst/>
          </a:prstGeom>
          <a:effectLst/>
        </p:spPr>
      </p:pic>
      <p:sp>
        <p:nvSpPr>
          <p:cNvPr id="33" name="导入句"/>
          <p:cNvSpPr txBox="1"/>
          <p:nvPr/>
        </p:nvSpPr>
        <p:spPr>
          <a:xfrm>
            <a:off x="621792" y="1271016"/>
            <a:ext cx="10972800" cy="57607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E/E架构不仅安排网络，也安排功能、计算位置、输入输出和供电。</a:t>
            </a:r>
            <a:endParaRPr sz="20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本页总结背景"/>
          <p:cNvSpPr/>
          <p:nvPr/>
        </p:nvSpPr>
        <p:spPr>
          <a:xfrm>
            <a:off x="585216" y="5852160"/>
            <a:ext cx="11064240" cy="594360"/>
          </a:xfrm>
          <a:prstGeom prst="roundRect">
            <a:avLst>
              <a:gd name="adj" fmla="val 23076"/>
            </a:avLst>
          </a:prstGeom>
          <a:gradFill>
            <a:gsLst>
              <a:gs pos="0">
                <a:srgbClr val="F0F7FE"/>
              </a:gs>
              <a:gs pos="100000">
                <a:srgbClr val="E9F3F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可编辑曲线"/>
          <p:cNvSpPr/>
          <p:nvPr/>
        </p:nvSpPr>
        <p:spPr>
          <a:xfrm>
            <a:off x="907999" y="5990783"/>
            <a:ext cx="310621" cy="133685"/>
          </a:xfrm>
          <a:custGeom>
            <a:avLst/>
            <a:gdLst/>
            <a:ahLst/>
            <a:cxnLst/>
            <a:rect l="l" t="t" r="r" b="b"/>
            <a:pathLst>
              <a:path w="310621" h="133685">
                <a:moveTo>
                  <a:pt x="0" y="133685"/>
                </a:moveTo>
                <a:lnTo>
                  <a:pt x="51115" y="0"/>
                </a:lnTo>
                <a:lnTo>
                  <a:pt x="251643" y="0"/>
                </a:lnTo>
                <a:lnTo>
                  <a:pt x="310621" y="133685"/>
                </a:lnTo>
              </a:path>
            </a:pathLst>
          </a:custGeom>
          <a:noFill/>
          <a:ln w="254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矩形"/>
          <p:cNvSpPr/>
          <p:nvPr/>
        </p:nvSpPr>
        <p:spPr>
          <a:xfrm>
            <a:off x="896203" y="6112672"/>
            <a:ext cx="338145" cy="165140"/>
          </a:xfrm>
          <a:prstGeom prst="roundRect">
            <a:avLst>
              <a:gd name="adj" fmla="val 19047"/>
            </a:avLst>
          </a:prstGeom>
          <a:noFill/>
          <a:ln w="254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连线"/>
          <p:cNvCxnSpPr/>
          <p:nvPr/>
        </p:nvCxnSpPr>
        <p:spPr>
          <a:xfrm>
            <a:off x="915863" y="6120536"/>
            <a:ext cx="302757" cy="0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圆形"/>
          <p:cNvSpPr/>
          <p:nvPr/>
        </p:nvSpPr>
        <p:spPr>
          <a:xfrm>
            <a:off x="935522" y="6171651"/>
            <a:ext cx="51114" cy="5111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圆形"/>
          <p:cNvSpPr/>
          <p:nvPr/>
        </p:nvSpPr>
        <p:spPr>
          <a:xfrm>
            <a:off x="1136050" y="6171651"/>
            <a:ext cx="51114" cy="5111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连线"/>
          <p:cNvCxnSpPr/>
          <p:nvPr/>
        </p:nvCxnSpPr>
        <p:spPr>
          <a:xfrm>
            <a:off x="943386" y="6273881"/>
            <a:ext cx="0" cy="51115"/>
          </a:xfrm>
          <a:prstGeom prst="line">
            <a:avLst/>
          </a:prstGeom>
          <a:ln w="381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连线"/>
          <p:cNvCxnSpPr/>
          <p:nvPr/>
        </p:nvCxnSpPr>
        <p:spPr>
          <a:xfrm>
            <a:off x="1183233" y="6273881"/>
            <a:ext cx="0" cy="51115"/>
          </a:xfrm>
          <a:prstGeom prst="line">
            <a:avLst/>
          </a:prstGeom>
          <a:ln w="381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连线"/>
          <p:cNvCxnSpPr/>
          <p:nvPr/>
        </p:nvCxnSpPr>
        <p:spPr>
          <a:xfrm>
            <a:off x="1435608" y="5943600"/>
            <a:ext cx="0" cy="411480"/>
          </a:xfrm>
          <a:prstGeom prst="line">
            <a:avLst/>
          </a:prstGeom>
          <a:ln w="15875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akeaway"/>
          <p:cNvSpPr txBox="1"/>
          <p:nvPr/>
        </p:nvSpPr>
        <p:spPr>
          <a:xfrm>
            <a:off x="1655064" y="5943600"/>
            <a:ext cx="9692640" cy="44805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架构回答“谁负责、放哪里、怎样联系”，协议再规定“怎样交流”。</a:t>
            </a:r>
            <a:endParaRPr sz="21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694944" y="1938528"/>
            <a:ext cx="7040880" cy="3602736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41832" y="2066543"/>
            <a:ext cx="6309360" cy="33832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一辆示意车：功能分工＋通信连接＋供电</a:t>
            </a:r>
            <a:endParaRPr sz="19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Rounded Rectangle 90"/>
          <p:cNvSpPr/>
          <p:nvPr/>
        </p:nvSpPr>
        <p:spPr>
          <a:xfrm>
            <a:off x="960120" y="2633472"/>
            <a:ext cx="6400800" cy="2322576"/>
          </a:xfrm>
          <a:prstGeom prst="roundRect">
            <a:avLst>
              <a:gd name="adj" fmla="val 11000"/>
            </a:avLst>
          </a:prstGeom>
          <a:solidFill>
            <a:srgbClr val="F1F7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1463040" y="2505456"/>
            <a:ext cx="676656" cy="201168"/>
          </a:xfrm>
          <a:prstGeom prst="roundRect">
            <a:avLst>
              <a:gd name="adj" fmla="val 11000"/>
            </a:avLst>
          </a:prstGeom>
          <a:solidFill>
            <a:srgbClr val="103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1463040" y="4864608"/>
            <a:ext cx="676656" cy="201168"/>
          </a:xfrm>
          <a:prstGeom prst="roundRect">
            <a:avLst>
              <a:gd name="adj" fmla="val 11000"/>
            </a:avLst>
          </a:prstGeom>
          <a:solidFill>
            <a:srgbClr val="103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5989320" y="2505456"/>
            <a:ext cx="676656" cy="201168"/>
          </a:xfrm>
          <a:prstGeom prst="roundRect">
            <a:avLst>
              <a:gd name="adj" fmla="val 11000"/>
            </a:avLst>
          </a:prstGeom>
          <a:solidFill>
            <a:srgbClr val="103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5989320" y="4864608"/>
            <a:ext cx="676656" cy="201168"/>
          </a:xfrm>
          <a:prstGeom prst="roundRect">
            <a:avLst>
              <a:gd name="adj" fmla="val 11000"/>
            </a:avLst>
          </a:prstGeom>
          <a:solidFill>
            <a:srgbClr val="103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1261872" y="3191256"/>
            <a:ext cx="1417320" cy="713232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307592" y="3223260"/>
            <a:ext cx="1325880" cy="64922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输入 / 感知</a:t>
            </a:r>
            <a:endParaRPr sz="19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Rounded Rectangle 97"/>
          <p:cNvSpPr/>
          <p:nvPr/>
        </p:nvSpPr>
        <p:spPr>
          <a:xfrm>
            <a:off x="3502152" y="3191256"/>
            <a:ext cx="1417320" cy="713232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547872" y="3223260"/>
            <a:ext cx="1325880" cy="64922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控制与计算</a:t>
            </a:r>
            <a:endParaRPr sz="19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Rounded Rectangle 99"/>
          <p:cNvSpPr/>
          <p:nvPr/>
        </p:nvSpPr>
        <p:spPr>
          <a:xfrm>
            <a:off x="5650992" y="3191256"/>
            <a:ext cx="1417320" cy="713232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696712" y="3223260"/>
            <a:ext cx="1325880" cy="64922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执行装置</a:t>
            </a:r>
            <a:endParaRPr sz="19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2" name="Connector 101"/>
          <p:cNvCxnSpPr/>
          <p:nvPr/>
        </p:nvCxnSpPr>
        <p:spPr>
          <a:xfrm>
            <a:off x="2688336" y="3547872"/>
            <a:ext cx="749808" cy="0"/>
          </a:xfrm>
          <a:prstGeom prst="line">
            <a:avLst/>
          </a:prstGeom>
          <a:ln w="21590" cap="rnd">
            <a:solidFill>
              <a:srgbClr val="146FB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4956048" y="3547872"/>
            <a:ext cx="640080" cy="0"/>
          </a:xfrm>
          <a:prstGeom prst="line">
            <a:avLst/>
          </a:prstGeom>
          <a:ln w="21590" cap="rnd">
            <a:solidFill>
              <a:srgbClr val="146FB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2706624" y="2999232"/>
            <a:ext cx="722376" cy="25603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信息</a:t>
            </a:r>
            <a:endParaRPr sz="155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4956048" y="2999232"/>
            <a:ext cx="722376" cy="25603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控制</a:t>
            </a:r>
            <a:endParaRPr sz="155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Rounded Rectangle 105"/>
          <p:cNvSpPr/>
          <p:nvPr/>
        </p:nvSpPr>
        <p:spPr>
          <a:xfrm>
            <a:off x="3529584" y="4434840"/>
            <a:ext cx="1463040" cy="374904"/>
          </a:xfrm>
          <a:prstGeom prst="roundRect">
            <a:avLst>
              <a:gd name="adj" fmla="val 11000"/>
            </a:avLst>
          </a:prstGeom>
          <a:solidFill>
            <a:srgbClr val="EA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575303" y="4466844"/>
            <a:ext cx="1371600" cy="31089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低压供电</a:t>
            </a:r>
            <a:endParaRPr sz="1700" b="1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8" name="Connector 107"/>
          <p:cNvCxnSpPr/>
          <p:nvPr/>
        </p:nvCxnSpPr>
        <p:spPr>
          <a:xfrm flipV="1">
            <a:off x="4261104" y="4233672"/>
            <a:ext cx="0" cy="201168"/>
          </a:xfrm>
          <a:prstGeom prst="line">
            <a:avLst/>
          </a:prstGeom>
          <a:ln w="21590" cap="rnd">
            <a:solidFill>
              <a:srgbClr val="8195A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H="1">
            <a:off x="1965960" y="4233672"/>
            <a:ext cx="2295144" cy="0"/>
          </a:xfrm>
          <a:prstGeom prst="line">
            <a:avLst/>
          </a:prstGeom>
          <a:ln w="21590" cap="rnd">
            <a:solidFill>
              <a:srgbClr val="8195A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1965960" y="3913632"/>
            <a:ext cx="0" cy="320040"/>
          </a:xfrm>
          <a:prstGeom prst="line">
            <a:avLst/>
          </a:prstGeom>
          <a:ln w="21590" cap="rnd">
            <a:solidFill>
              <a:srgbClr val="8195A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4261104" y="4233672"/>
            <a:ext cx="0" cy="201168"/>
          </a:xfrm>
          <a:prstGeom prst="line">
            <a:avLst/>
          </a:prstGeom>
          <a:ln w="21590" cap="rnd">
            <a:solidFill>
              <a:srgbClr val="8195A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>
            <a:off x="4206240" y="4233672"/>
            <a:ext cx="54864" cy="0"/>
          </a:xfrm>
          <a:prstGeom prst="line">
            <a:avLst/>
          </a:prstGeom>
          <a:ln w="21590" cap="rnd">
            <a:solidFill>
              <a:srgbClr val="8195A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4206240" y="3913632"/>
            <a:ext cx="0" cy="320040"/>
          </a:xfrm>
          <a:prstGeom prst="line">
            <a:avLst/>
          </a:prstGeom>
          <a:ln w="21590" cap="rnd">
            <a:solidFill>
              <a:srgbClr val="8195A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4261104" y="4233672"/>
            <a:ext cx="0" cy="201168"/>
          </a:xfrm>
          <a:prstGeom prst="line">
            <a:avLst/>
          </a:prstGeom>
          <a:ln w="21590" cap="rnd">
            <a:solidFill>
              <a:srgbClr val="8195A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4261104" y="4233672"/>
            <a:ext cx="2103120" cy="0"/>
          </a:xfrm>
          <a:prstGeom prst="line">
            <a:avLst/>
          </a:prstGeom>
          <a:ln w="21590" cap="rnd">
            <a:solidFill>
              <a:srgbClr val="8195A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6364224" y="3913632"/>
            <a:ext cx="0" cy="320040"/>
          </a:xfrm>
          <a:prstGeom prst="line">
            <a:avLst/>
          </a:prstGeom>
          <a:ln w="21590" cap="rnd">
            <a:solidFill>
              <a:srgbClr val="8195A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Rounded Rectangle 117"/>
          <p:cNvSpPr/>
          <p:nvPr/>
        </p:nvSpPr>
        <p:spPr>
          <a:xfrm>
            <a:off x="7991856" y="1993392"/>
            <a:ext cx="3547872" cy="1042415"/>
          </a:xfrm>
          <a:prstGeom prst="roundRect">
            <a:avLst>
              <a:gd name="adj" fmla="val 11000"/>
            </a:avLst>
          </a:prstGeom>
          <a:solidFill>
            <a:srgbClr val="F1F7FE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174736" y="2103120"/>
            <a:ext cx="3182112" cy="32715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谁负责？</a:t>
            </a:r>
            <a:endParaRPr sz="22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8183879" y="2459736"/>
            <a:ext cx="3081528" cy="546607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哪些功能与软件</a:t>
            </a:r>
            <a:endParaRPr sz="19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由哪些控制器承担</a:t>
            </a:r>
            <a:endParaRPr sz="19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" name="Rounded Rectangle 120"/>
          <p:cNvSpPr/>
          <p:nvPr/>
        </p:nvSpPr>
        <p:spPr>
          <a:xfrm>
            <a:off x="7991856" y="3182112"/>
            <a:ext cx="3547872" cy="1042415"/>
          </a:xfrm>
          <a:prstGeom prst="roundRect">
            <a:avLst>
              <a:gd name="adj" fmla="val 11000"/>
            </a:avLst>
          </a:prstGeom>
          <a:solidFill>
            <a:srgbClr val="F1F7FE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174736" y="3291840"/>
            <a:ext cx="3182112" cy="32715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放哪里？</a:t>
            </a:r>
            <a:endParaRPr sz="22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8183879" y="3648456"/>
            <a:ext cx="3081528" cy="546607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计算集中在哪里</a:t>
            </a:r>
            <a:endParaRPr sz="19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设备如何就近连接</a:t>
            </a:r>
            <a:endParaRPr sz="19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" name="Rounded Rectangle 123"/>
          <p:cNvSpPr/>
          <p:nvPr/>
        </p:nvSpPr>
        <p:spPr>
          <a:xfrm>
            <a:off x="7991856" y="4370832"/>
            <a:ext cx="3547872" cy="1042415"/>
          </a:xfrm>
          <a:prstGeom prst="roundRect">
            <a:avLst>
              <a:gd name="adj" fmla="val 11000"/>
            </a:avLst>
          </a:prstGeom>
          <a:solidFill>
            <a:srgbClr val="F1F7FE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174736" y="4480560"/>
            <a:ext cx="3182112" cy="32715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怎样联系？</a:t>
            </a:r>
            <a:endParaRPr sz="22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8183879" y="4837176"/>
            <a:ext cx="3081528" cy="546607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数据通过什么网络</a:t>
            </a:r>
            <a:endParaRPr sz="19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电力怎样到达部件</a:t>
            </a:r>
            <a:endParaRPr sz="19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面标题_整车电子电气架构演进：为什么越来越复_0001"/>
          <p:cNvSpPr txBox="1"/>
          <p:nvPr/>
        </p:nvSpPr>
        <p:spPr>
          <a:xfrm>
            <a:off x="274306" y="106853"/>
            <a:ext cx="9646418" cy="457176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65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整车电子电气架构演进</a:t>
            </a:r>
            <a:endParaRPr sz="2665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" name="标题分隔线_0003"/>
          <p:cNvCxnSpPr/>
          <p:nvPr/>
        </p:nvCxnSpPr>
        <p:spPr>
          <a:xfrm>
            <a:off x="259067" y="655464"/>
            <a:ext cx="11680852" cy="0"/>
          </a:xfrm>
          <a:prstGeom prst="line">
            <a:avLst/>
          </a:prstGeom>
          <a:ln w="15875" cap="rnd">
            <a:solidFill>
              <a:srgbClr val="69AE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阶段面板_0004"/>
          <p:cNvSpPr/>
          <p:nvPr/>
        </p:nvSpPr>
        <p:spPr>
          <a:xfrm>
            <a:off x="205729" y="823096"/>
            <a:ext cx="3718366" cy="4167923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1430" cap="rnd">
            <a:solidFill>
              <a:srgbClr val="C6E1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6" name="0.04_0005"/>
          <p:cNvSpPr/>
          <p:nvPr/>
        </p:nvSpPr>
        <p:spPr>
          <a:xfrm>
            <a:off x="205729" y="823096"/>
            <a:ext cx="3718366" cy="518133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0A64B8"/>
              </a:gs>
              <a:gs pos="100000">
                <a:srgbClr val="70B5F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7" name="阶段编号圆_0006"/>
          <p:cNvSpPr/>
          <p:nvPr/>
        </p:nvSpPr>
        <p:spPr>
          <a:xfrm>
            <a:off x="289545" y="899292"/>
            <a:ext cx="373361" cy="373361"/>
          </a:xfrm>
          <a:prstGeom prst="ellipse">
            <a:avLst/>
          </a:prstGeom>
          <a:solidFill>
            <a:srgbClr val="0B68B8"/>
          </a:solidFill>
          <a:ln w="20320" cap="rnd">
            <a:solidFill>
              <a:srgbClr val="B5D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8" name="阶段编号_1_0007"/>
          <p:cNvSpPr txBox="1"/>
          <p:nvPr/>
        </p:nvSpPr>
        <p:spPr>
          <a:xfrm>
            <a:off x="289545" y="906911"/>
            <a:ext cx="373361" cy="335263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8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08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阶段名称_分布式架构（早期）_0008"/>
          <p:cNvSpPr txBox="1"/>
          <p:nvPr/>
        </p:nvSpPr>
        <p:spPr>
          <a:xfrm>
            <a:off x="754341" y="884053"/>
            <a:ext cx="3078320" cy="251447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6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分布式架构（早期）</a:t>
            </a:r>
            <a:endParaRPr sz="166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阶段时间_～2000年代_0009"/>
          <p:cNvSpPr txBox="1"/>
          <p:nvPr/>
        </p:nvSpPr>
        <p:spPr>
          <a:xfrm>
            <a:off x="784819" y="1143119"/>
            <a:ext cx="3002124" cy="137153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D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～2000年代</a:t>
            </a:r>
            <a:endParaRPr sz="900" b="0">
              <a:solidFill>
                <a:srgbClr val="ED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阶段说明_以功能为中心，多个独立ECU分散布置_0010"/>
          <p:cNvSpPr txBox="1"/>
          <p:nvPr/>
        </p:nvSpPr>
        <p:spPr>
          <a:xfrm>
            <a:off x="304784" y="1409805"/>
            <a:ext cx="3520257" cy="281925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以功能为中心，多个独立ECU分散布置</a:t>
            </a:r>
            <a:endParaRPr sz="1200" b="0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框_0011"/>
          <p:cNvSpPr/>
          <p:nvPr/>
        </p:nvSpPr>
        <p:spPr>
          <a:xfrm>
            <a:off x="320023" y="4587180"/>
            <a:ext cx="3489778" cy="297165"/>
          </a:xfrm>
          <a:prstGeom prst="roundRect">
            <a:avLst>
              <a:gd name="adj" fmla="val 10000"/>
            </a:avLst>
          </a:prstGeom>
          <a:solidFill>
            <a:srgbClr val="E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3" name="阶段核心结论_功能独立、控制器分散、线束逐渐增多_0012"/>
          <p:cNvSpPr txBox="1"/>
          <p:nvPr/>
        </p:nvSpPr>
        <p:spPr>
          <a:xfrm>
            <a:off x="403839" y="4617658"/>
            <a:ext cx="3322146" cy="220968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功能独立、控制器分散、线束逐渐增多</a:t>
            </a:r>
            <a:endParaRPr sz="1185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阶段面板_0013"/>
          <p:cNvSpPr/>
          <p:nvPr/>
        </p:nvSpPr>
        <p:spPr>
          <a:xfrm>
            <a:off x="4244119" y="823096"/>
            <a:ext cx="3718366" cy="4167923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1430" cap="rnd">
            <a:solidFill>
              <a:srgbClr val="C6E1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5" name="0.04_0014"/>
          <p:cNvSpPr/>
          <p:nvPr/>
        </p:nvSpPr>
        <p:spPr>
          <a:xfrm>
            <a:off x="4244119" y="823096"/>
            <a:ext cx="3718366" cy="518133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0A64B8"/>
              </a:gs>
              <a:gs pos="100000">
                <a:srgbClr val="70B5F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6" name="阶段编号圆_0015"/>
          <p:cNvSpPr/>
          <p:nvPr/>
        </p:nvSpPr>
        <p:spPr>
          <a:xfrm>
            <a:off x="4327935" y="899292"/>
            <a:ext cx="373361" cy="373361"/>
          </a:xfrm>
          <a:prstGeom prst="ellipse">
            <a:avLst/>
          </a:prstGeom>
          <a:solidFill>
            <a:srgbClr val="0B68B8"/>
          </a:solidFill>
          <a:ln w="20320" cap="rnd">
            <a:solidFill>
              <a:srgbClr val="B5D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7" name="阶段编号_2_0016"/>
          <p:cNvSpPr txBox="1"/>
          <p:nvPr/>
        </p:nvSpPr>
        <p:spPr>
          <a:xfrm>
            <a:off x="4327935" y="906911"/>
            <a:ext cx="373361" cy="335263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8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08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阶段名称_域控制架构（过渡）_0017"/>
          <p:cNvSpPr txBox="1"/>
          <p:nvPr/>
        </p:nvSpPr>
        <p:spPr>
          <a:xfrm>
            <a:off x="4792730" y="884053"/>
            <a:ext cx="3078320" cy="251447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6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域控制架构（过渡）</a:t>
            </a:r>
            <a:endParaRPr sz="166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阶段时间_～2010—2020年代_0018"/>
          <p:cNvSpPr txBox="1"/>
          <p:nvPr/>
        </p:nvSpPr>
        <p:spPr>
          <a:xfrm>
            <a:off x="4823209" y="1143119"/>
            <a:ext cx="3002124" cy="137153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D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～2010—2020年代</a:t>
            </a:r>
            <a:endParaRPr sz="900" b="0">
              <a:solidFill>
                <a:srgbClr val="ED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阶段说明_以域为中心，按功能组合进行集中控制_0019"/>
          <p:cNvSpPr txBox="1"/>
          <p:nvPr/>
        </p:nvSpPr>
        <p:spPr>
          <a:xfrm>
            <a:off x="4343174" y="1409805"/>
            <a:ext cx="3520257" cy="281925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以域为中心，按功能组合进行集中控制</a:t>
            </a:r>
            <a:endParaRPr sz="1200" b="0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框_0020"/>
          <p:cNvSpPr/>
          <p:nvPr/>
        </p:nvSpPr>
        <p:spPr>
          <a:xfrm>
            <a:off x="4358413" y="4587180"/>
            <a:ext cx="3489778" cy="297165"/>
          </a:xfrm>
          <a:prstGeom prst="roundRect">
            <a:avLst>
              <a:gd name="adj" fmla="val 10000"/>
            </a:avLst>
          </a:prstGeom>
          <a:solidFill>
            <a:srgbClr val="E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2" name="阶段核心结论_跨功能协同增强、数据共享增加、域内集_0021"/>
          <p:cNvSpPr txBox="1"/>
          <p:nvPr/>
        </p:nvSpPr>
        <p:spPr>
          <a:xfrm>
            <a:off x="4442229" y="4617658"/>
            <a:ext cx="3322146" cy="220968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跨功能协同增强、数据共享增加、域内集中控制</a:t>
            </a:r>
            <a:endParaRPr sz="1185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阶段面板_0022"/>
          <p:cNvSpPr/>
          <p:nvPr/>
        </p:nvSpPr>
        <p:spPr>
          <a:xfrm>
            <a:off x="8282509" y="823096"/>
            <a:ext cx="3718366" cy="4167923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1430" cap="rnd">
            <a:solidFill>
              <a:srgbClr val="C6E1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4" name="0.04_0023"/>
          <p:cNvSpPr/>
          <p:nvPr/>
        </p:nvSpPr>
        <p:spPr>
          <a:xfrm>
            <a:off x="8282509" y="823096"/>
            <a:ext cx="3718366" cy="518133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0A64B8"/>
              </a:gs>
              <a:gs pos="100000">
                <a:srgbClr val="70B5F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5" name="阶段编号圆_0024"/>
          <p:cNvSpPr/>
          <p:nvPr/>
        </p:nvSpPr>
        <p:spPr>
          <a:xfrm>
            <a:off x="8366323" y="899292"/>
            <a:ext cx="373361" cy="373361"/>
          </a:xfrm>
          <a:prstGeom prst="ellipse">
            <a:avLst/>
          </a:prstGeom>
          <a:solidFill>
            <a:srgbClr val="0B68B8"/>
          </a:solidFill>
          <a:ln w="20320" cap="rnd">
            <a:solidFill>
              <a:srgbClr val="B5D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6" name="阶段编号_3_0025"/>
          <p:cNvSpPr txBox="1"/>
          <p:nvPr/>
        </p:nvSpPr>
        <p:spPr>
          <a:xfrm>
            <a:off x="8366323" y="906911"/>
            <a:ext cx="373361" cy="335263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8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08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阶段名称_中央计算＋区域控制（趋势）_0026"/>
          <p:cNvSpPr txBox="1"/>
          <p:nvPr/>
        </p:nvSpPr>
        <p:spPr>
          <a:xfrm>
            <a:off x="8831120" y="884053"/>
            <a:ext cx="3078320" cy="251447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中央计算＋区域控制（趋势）</a:t>
            </a:r>
            <a:endParaRPr sz="15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阶段时间_2020年代～_0027"/>
          <p:cNvSpPr txBox="1"/>
          <p:nvPr/>
        </p:nvSpPr>
        <p:spPr>
          <a:xfrm>
            <a:off x="8861598" y="1143119"/>
            <a:ext cx="3002124" cy="137153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DF8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2020年代～</a:t>
            </a:r>
            <a:endParaRPr sz="900" b="0">
              <a:solidFill>
                <a:srgbClr val="EDF8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阶段说明_以中央计算平台为核心，区域控制器就近_0028"/>
          <p:cNvSpPr txBox="1"/>
          <p:nvPr/>
        </p:nvSpPr>
        <p:spPr>
          <a:xfrm>
            <a:off x="8381563" y="1409805"/>
            <a:ext cx="3520257" cy="281925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以中央计算平台为核心，区域控制器就近接入</a:t>
            </a:r>
            <a:endParaRPr sz="1200" b="0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框_0029"/>
          <p:cNvSpPr/>
          <p:nvPr/>
        </p:nvSpPr>
        <p:spPr>
          <a:xfrm>
            <a:off x="8396803" y="4587180"/>
            <a:ext cx="3489778" cy="297165"/>
          </a:xfrm>
          <a:prstGeom prst="roundRect">
            <a:avLst>
              <a:gd name="adj" fmla="val 10000"/>
            </a:avLst>
          </a:prstGeom>
          <a:solidFill>
            <a:srgbClr val="E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1" name="阶段核心结论_计算更集中、接入更就近、软件可持续升_0030"/>
          <p:cNvSpPr txBox="1"/>
          <p:nvPr/>
        </p:nvSpPr>
        <p:spPr>
          <a:xfrm>
            <a:off x="8480618" y="4617658"/>
            <a:ext cx="3322146" cy="220968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计算更集中、接入更就近、软件可持续升级</a:t>
            </a:r>
            <a:endParaRPr sz="1185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演进箭头_0032"/>
          <p:cNvSpPr/>
          <p:nvPr/>
        </p:nvSpPr>
        <p:spPr>
          <a:xfrm>
            <a:off x="3946954" y="2392734"/>
            <a:ext cx="342882" cy="556231"/>
          </a:xfrm>
          <a:prstGeom prst="rightArrow">
            <a:avLst/>
          </a:prstGeom>
          <a:gradFill rotWithShape="1">
            <a:gsLst>
              <a:gs pos="0">
                <a:srgbClr val="D5EBFB"/>
              </a:gs>
              <a:gs pos="100000">
                <a:srgbClr val="1587D5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3" name="演进箭头_0034"/>
          <p:cNvSpPr/>
          <p:nvPr/>
        </p:nvSpPr>
        <p:spPr>
          <a:xfrm>
            <a:off x="7985344" y="2392734"/>
            <a:ext cx="342882" cy="556231"/>
          </a:xfrm>
          <a:prstGeom prst="rightArrow">
            <a:avLst/>
          </a:prstGeom>
          <a:gradFill rotWithShape="1">
            <a:gsLst>
              <a:gs pos="0">
                <a:srgbClr val="D5EBFB"/>
              </a:gs>
              <a:gs pos="100000">
                <a:srgbClr val="1587D5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grpSp>
        <p:nvGrpSpPr>
          <p:cNvPr id="34" name="汽车侧视轮廓_0035"/>
          <p:cNvGrpSpPr/>
          <p:nvPr/>
        </p:nvGrpSpPr>
        <p:grpSpPr>
          <a:xfrm>
            <a:off x="419078" y="2453691"/>
            <a:ext cx="3291669" cy="1177456"/>
            <a:chOff x="502920" y="2944368"/>
            <a:chExt cx="3950208" cy="1413021"/>
          </a:xfrm>
        </p:grpSpPr>
        <p:sp>
          <p:nvSpPr>
            <p:cNvPr id="35" name="车身轮廓_0036"/>
            <p:cNvSpPr/>
            <p:nvPr/>
          </p:nvSpPr>
          <p:spPr>
            <a:xfrm>
              <a:off x="502920" y="2944368"/>
              <a:ext cx="3950208" cy="1399032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20" y="630"/>
                  </a:moveTo>
                  <a:lnTo>
                    <a:pt x="60" y="490"/>
                  </a:lnTo>
                  <a:cubicBezTo>
                    <a:pt x="80" y="435"/>
                    <a:pt x="170" y="400"/>
                    <a:pt x="270" y="385"/>
                  </a:cubicBezTo>
                  <a:cubicBezTo>
                    <a:pt x="340" y="215"/>
                    <a:pt x="460" y="140"/>
                    <a:pt x="610" y="195"/>
                  </a:cubicBezTo>
                  <a:cubicBezTo>
                    <a:pt x="720" y="190"/>
                    <a:pt x="800" y="300"/>
                    <a:pt x="855" y="390"/>
                  </a:cubicBezTo>
                  <a:lnTo>
                    <a:pt x="950" y="440"/>
                  </a:lnTo>
                  <a:cubicBezTo>
                    <a:pt x="990" y="470"/>
                    <a:pt x="994" y="650"/>
                    <a:pt x="977" y="710"/>
                  </a:cubicBezTo>
                  <a:lnTo>
                    <a:pt x="927" y="735"/>
                  </a:lnTo>
                  <a:lnTo>
                    <a:pt x="73" y="735"/>
                  </a:lnTo>
                  <a:cubicBezTo>
                    <a:pt x="10" y="735"/>
                    <a:pt x="8" y="683"/>
                    <a:pt x="20" y="630"/>
                  </a:cubicBezTo>
                  <a:close/>
                </a:path>
              </a:pathLst>
            </a:custGeom>
            <a:solidFill>
              <a:srgbClr val="F1F8FD"/>
            </a:solidFill>
            <a:ln w="15240" cap="rnd">
              <a:solidFill>
                <a:srgbClr val="BDD8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36" name="前风窗_0037"/>
            <p:cNvSpPr/>
            <p:nvPr/>
          </p:nvSpPr>
          <p:spPr>
            <a:xfrm>
              <a:off x="502920" y="2944368"/>
              <a:ext cx="3950208" cy="1399032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299" y="376"/>
                  </a:moveTo>
                  <a:cubicBezTo>
                    <a:pt x="365" y="230"/>
                    <a:pt x="451" y="195"/>
                    <a:pt x="543" y="213"/>
                  </a:cubicBezTo>
                  <a:lnTo>
                    <a:pt x="546" y="373"/>
                  </a:lnTo>
                  <a:lnTo>
                    <a:pt x="299" y="376"/>
                  </a:lnTo>
                  <a:close/>
                </a:path>
              </a:pathLst>
            </a:custGeom>
            <a:solidFill>
              <a:srgbClr val="E5F1FB"/>
            </a:solidFill>
            <a:ln w="10160" cap="rnd">
              <a:solidFill>
                <a:srgbClr val="C4DDE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37" name="后风窗_0038"/>
            <p:cNvSpPr/>
            <p:nvPr/>
          </p:nvSpPr>
          <p:spPr>
            <a:xfrm>
              <a:off x="502920" y="2944368"/>
              <a:ext cx="3950208" cy="1399032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566" y="214"/>
                  </a:moveTo>
                  <a:cubicBezTo>
                    <a:pt x="679" y="205"/>
                    <a:pt x="761" y="284"/>
                    <a:pt x="810" y="382"/>
                  </a:cubicBezTo>
                  <a:lnTo>
                    <a:pt x="565" y="375"/>
                  </a:lnTo>
                  <a:close/>
                </a:path>
              </a:pathLst>
            </a:custGeom>
            <a:solidFill>
              <a:srgbClr val="E5F1FB"/>
            </a:solidFill>
            <a:ln w="10160" cap="rnd">
              <a:solidFill>
                <a:srgbClr val="C4DDE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38" name="连接线_0039"/>
            <p:cNvCxnSpPr/>
            <p:nvPr/>
          </p:nvCxnSpPr>
          <p:spPr>
            <a:xfrm>
              <a:off x="976944" y="3643884"/>
              <a:ext cx="3002159" cy="0"/>
            </a:xfrm>
            <a:prstGeom prst="line">
              <a:avLst/>
            </a:prstGeom>
            <a:ln w="10160" cap="rnd">
              <a:solidFill>
                <a:srgbClr val="D1E5F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连接线_0040"/>
            <p:cNvCxnSpPr/>
            <p:nvPr/>
          </p:nvCxnSpPr>
          <p:spPr>
            <a:xfrm>
              <a:off x="2715036" y="3503980"/>
              <a:ext cx="0" cy="433700"/>
            </a:xfrm>
            <a:prstGeom prst="line">
              <a:avLst/>
            </a:prstGeom>
            <a:ln w="8890" cap="rnd">
              <a:solidFill>
                <a:srgbClr val="BED9E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连接线_0041"/>
            <p:cNvCxnSpPr/>
            <p:nvPr/>
          </p:nvCxnSpPr>
          <p:spPr>
            <a:xfrm flipH="1">
              <a:off x="1687982" y="3517971"/>
              <a:ext cx="118506" cy="405719"/>
            </a:xfrm>
            <a:prstGeom prst="line">
              <a:avLst/>
            </a:prstGeom>
            <a:ln w="8890" cap="rnd">
              <a:solidFill>
                <a:srgbClr val="BED9E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车轮_0042"/>
            <p:cNvSpPr/>
            <p:nvPr/>
          </p:nvSpPr>
          <p:spPr>
            <a:xfrm>
              <a:off x="1089690" y="3713835"/>
              <a:ext cx="643554" cy="643554"/>
            </a:xfrm>
            <a:prstGeom prst="ellipse">
              <a:avLst/>
            </a:prstGeom>
            <a:solidFill>
              <a:srgbClr val="E8F2FA"/>
            </a:solidFill>
            <a:ln w="13970" cap="rnd">
              <a:solidFill>
                <a:srgbClr val="BDD8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42" name="轮毂_0043"/>
            <p:cNvSpPr/>
            <p:nvPr/>
          </p:nvSpPr>
          <p:spPr>
            <a:xfrm>
              <a:off x="1237708" y="3861853"/>
              <a:ext cx="347519" cy="347519"/>
            </a:xfrm>
            <a:prstGeom prst="ellipse">
              <a:avLst/>
            </a:prstGeom>
            <a:solidFill>
              <a:srgbClr val="F9FCFF"/>
            </a:solidFill>
            <a:ln w="10160" cap="rnd">
              <a:solidFill>
                <a:srgbClr val="C7DEE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43" name="连接线_0044"/>
            <p:cNvCxnSpPr/>
            <p:nvPr/>
          </p:nvCxnSpPr>
          <p:spPr>
            <a:xfrm>
              <a:off x="1411467" y="4035612"/>
              <a:ext cx="251826" cy="0"/>
            </a:xfrm>
            <a:prstGeom prst="line">
              <a:avLst/>
            </a:prstGeom>
            <a:ln w="7620" cap="rnd">
              <a:solidFill>
                <a:srgbClr val="C6DCE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连接线_0045"/>
            <p:cNvCxnSpPr/>
            <p:nvPr/>
          </p:nvCxnSpPr>
          <p:spPr>
            <a:xfrm>
              <a:off x="1411467" y="4035612"/>
              <a:ext cx="77819" cy="239501"/>
            </a:xfrm>
            <a:prstGeom prst="line">
              <a:avLst/>
            </a:prstGeom>
            <a:ln w="7620" cap="rnd">
              <a:solidFill>
                <a:srgbClr val="C6DCE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连接线_0046"/>
            <p:cNvCxnSpPr/>
            <p:nvPr/>
          </p:nvCxnSpPr>
          <p:spPr>
            <a:xfrm flipH="1">
              <a:off x="1207736" y="4035612"/>
              <a:ext cx="203731" cy="148020"/>
            </a:xfrm>
            <a:prstGeom prst="line">
              <a:avLst/>
            </a:prstGeom>
            <a:ln w="7620" cap="rnd">
              <a:solidFill>
                <a:srgbClr val="C6DCE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连接线_0047"/>
            <p:cNvCxnSpPr/>
            <p:nvPr/>
          </p:nvCxnSpPr>
          <p:spPr>
            <a:xfrm flipH="1" flipV="1">
              <a:off x="1207736" y="3887593"/>
              <a:ext cx="203731" cy="148019"/>
            </a:xfrm>
            <a:prstGeom prst="line">
              <a:avLst/>
            </a:prstGeom>
            <a:ln w="7620" cap="rnd">
              <a:solidFill>
                <a:srgbClr val="C6DCE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连接线_0048"/>
            <p:cNvCxnSpPr/>
            <p:nvPr/>
          </p:nvCxnSpPr>
          <p:spPr>
            <a:xfrm flipV="1">
              <a:off x="1411467" y="3796112"/>
              <a:ext cx="77819" cy="239500"/>
            </a:xfrm>
            <a:prstGeom prst="line">
              <a:avLst/>
            </a:prstGeom>
            <a:ln w="7620" cap="rnd">
              <a:solidFill>
                <a:srgbClr val="C6DCE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车轮_0049"/>
            <p:cNvSpPr/>
            <p:nvPr/>
          </p:nvSpPr>
          <p:spPr>
            <a:xfrm>
              <a:off x="3341309" y="3713835"/>
              <a:ext cx="643554" cy="643554"/>
            </a:xfrm>
            <a:prstGeom prst="ellipse">
              <a:avLst/>
            </a:prstGeom>
            <a:solidFill>
              <a:srgbClr val="E8F2FA"/>
            </a:solidFill>
            <a:ln w="13970" cap="rnd">
              <a:solidFill>
                <a:srgbClr val="BDD8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49" name="轮毂_0050"/>
            <p:cNvSpPr/>
            <p:nvPr/>
          </p:nvSpPr>
          <p:spPr>
            <a:xfrm>
              <a:off x="3489326" y="3861853"/>
              <a:ext cx="347519" cy="347519"/>
            </a:xfrm>
            <a:prstGeom prst="ellipse">
              <a:avLst/>
            </a:prstGeom>
            <a:solidFill>
              <a:srgbClr val="F9FCFF"/>
            </a:solidFill>
            <a:ln w="10160" cap="rnd">
              <a:solidFill>
                <a:srgbClr val="C7DEE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50" name="连接线_0051"/>
            <p:cNvCxnSpPr/>
            <p:nvPr/>
          </p:nvCxnSpPr>
          <p:spPr>
            <a:xfrm>
              <a:off x="3663086" y="4035612"/>
              <a:ext cx="251826" cy="0"/>
            </a:xfrm>
            <a:prstGeom prst="line">
              <a:avLst/>
            </a:prstGeom>
            <a:ln w="7620" cap="rnd">
              <a:solidFill>
                <a:srgbClr val="C6DCE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连接线_0052"/>
            <p:cNvCxnSpPr/>
            <p:nvPr/>
          </p:nvCxnSpPr>
          <p:spPr>
            <a:xfrm>
              <a:off x="3663086" y="4035612"/>
              <a:ext cx="77818" cy="239501"/>
            </a:xfrm>
            <a:prstGeom prst="line">
              <a:avLst/>
            </a:prstGeom>
            <a:ln w="7620" cap="rnd">
              <a:solidFill>
                <a:srgbClr val="C6DCE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连接线_0053"/>
            <p:cNvCxnSpPr/>
            <p:nvPr/>
          </p:nvCxnSpPr>
          <p:spPr>
            <a:xfrm flipH="1">
              <a:off x="3459355" y="4035612"/>
              <a:ext cx="203731" cy="148020"/>
            </a:xfrm>
            <a:prstGeom prst="line">
              <a:avLst/>
            </a:prstGeom>
            <a:ln w="7620" cap="rnd">
              <a:solidFill>
                <a:srgbClr val="C6DCE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连接线_0054"/>
            <p:cNvCxnSpPr/>
            <p:nvPr/>
          </p:nvCxnSpPr>
          <p:spPr>
            <a:xfrm flipH="1" flipV="1">
              <a:off x="3459355" y="3887593"/>
              <a:ext cx="203731" cy="148019"/>
            </a:xfrm>
            <a:prstGeom prst="line">
              <a:avLst/>
            </a:prstGeom>
            <a:ln w="7620" cap="rnd">
              <a:solidFill>
                <a:srgbClr val="C6DCE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连接线_0055"/>
            <p:cNvCxnSpPr/>
            <p:nvPr/>
          </p:nvCxnSpPr>
          <p:spPr>
            <a:xfrm flipV="1">
              <a:off x="3663086" y="3796112"/>
              <a:ext cx="77818" cy="239500"/>
            </a:xfrm>
            <a:prstGeom prst="line">
              <a:avLst/>
            </a:prstGeom>
            <a:ln w="7620" cap="rnd">
              <a:solidFill>
                <a:srgbClr val="C6DCE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分布式_CAN主线_0056"/>
          <p:cNvSpPr/>
          <p:nvPr/>
        </p:nvSpPr>
        <p:spPr>
          <a:xfrm>
            <a:off x="556231" y="2865149"/>
            <a:ext cx="2971645" cy="304784"/>
          </a:xfrm>
          <a:custGeom>
            <a:avLst/>
            <a:gdLst/>
            <a:ahLst/>
            <a:cxnLst/>
            <a:rect l="l" t="t" r="r" b="b"/>
            <a:pathLst>
              <a:path w="3566160" h="365760">
                <a:moveTo>
                  <a:pt x="0" y="0"/>
                </a:moveTo>
                <a:lnTo>
                  <a:pt x="3566160" y="0"/>
                </a:lnTo>
                <a:lnTo>
                  <a:pt x="3566160" y="365760"/>
                </a:lnTo>
                <a:lnTo>
                  <a:pt x="786384" y="365760"/>
                </a:lnTo>
              </a:path>
            </a:pathLst>
          </a:custGeom>
          <a:noFill/>
          <a:ln w="20320" cap="rnd">
            <a:solidFill>
              <a:srgbClr val="087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56" name="分布式_LIN主线_0057"/>
          <p:cNvSpPr/>
          <p:nvPr/>
        </p:nvSpPr>
        <p:spPr>
          <a:xfrm>
            <a:off x="678145" y="3002302"/>
            <a:ext cx="2537328" cy="304784"/>
          </a:xfrm>
          <a:custGeom>
            <a:avLst/>
            <a:gdLst/>
            <a:ahLst/>
            <a:cxnLst/>
            <a:rect l="l" t="t" r="r" b="b"/>
            <a:pathLst>
              <a:path w="3044952" h="365760">
                <a:moveTo>
                  <a:pt x="0" y="0"/>
                </a:moveTo>
                <a:lnTo>
                  <a:pt x="3044952" y="0"/>
                </a:lnTo>
                <a:lnTo>
                  <a:pt x="3044952" y="365760"/>
                </a:lnTo>
                <a:lnTo>
                  <a:pt x="228600" y="365760"/>
                </a:lnTo>
              </a:path>
            </a:pathLst>
          </a:custGeom>
          <a:noFill/>
          <a:ln w="17780" cap="rnd">
            <a:solidFill>
              <a:srgbClr val="2A9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57" name="分布式节点连接_0058"/>
          <p:cNvSpPr/>
          <p:nvPr/>
        </p:nvSpPr>
        <p:spPr>
          <a:xfrm>
            <a:off x="937211" y="2308918"/>
            <a:ext cx="76196" cy="556231"/>
          </a:xfrm>
          <a:custGeom>
            <a:avLst/>
            <a:gdLst/>
            <a:ahLst/>
            <a:cxnLst/>
            <a:rect l="l" t="t" r="r" b="b"/>
            <a:pathLst>
              <a:path w="91440" h="667512">
                <a:moveTo>
                  <a:pt x="91440" y="0"/>
                </a:moveTo>
                <a:lnTo>
                  <a:pt x="91440" y="365760"/>
                </a:lnTo>
                <a:lnTo>
                  <a:pt x="0" y="365760"/>
                </a:lnTo>
                <a:lnTo>
                  <a:pt x="0" y="667512"/>
                </a:lnTo>
              </a:path>
            </a:pathLst>
          </a:custGeom>
          <a:noFill/>
          <a:ln w="15875" cap="rnd">
            <a:solidFill>
              <a:srgbClr val="277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58" name="控制器_0059"/>
          <p:cNvSpPr/>
          <p:nvPr/>
        </p:nvSpPr>
        <p:spPr>
          <a:xfrm>
            <a:off x="708623" y="1859362"/>
            <a:ext cx="609568" cy="449557"/>
          </a:xfrm>
          <a:prstGeom prst="roundRect">
            <a:avLst>
              <a:gd name="adj" fmla="val 10000"/>
            </a:avLst>
          </a:prstGeom>
          <a:solidFill>
            <a:srgbClr val="277F9A"/>
          </a:solidFill>
          <a:ln w="11430" cap="rnd">
            <a:solidFill>
              <a:srgbClr val="66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59" name="控制器文字_发动机_ECU_0060"/>
          <p:cNvSpPr txBox="1"/>
          <p:nvPr/>
        </p:nvSpPr>
        <p:spPr>
          <a:xfrm>
            <a:off x="731482" y="1874601"/>
            <a:ext cx="563851" cy="419077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发动机</a:t>
            </a:r>
            <a:endParaRPr sz="116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ECU</a:t>
            </a:r>
            <a:endParaRPr sz="116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网络连接点_0061"/>
          <p:cNvSpPr/>
          <p:nvPr/>
        </p:nvSpPr>
        <p:spPr>
          <a:xfrm>
            <a:off x="906733" y="2834671"/>
            <a:ext cx="60957" cy="60957"/>
          </a:xfrm>
          <a:prstGeom prst="ellipse">
            <a:avLst/>
          </a:prstGeom>
          <a:solidFill>
            <a:srgbClr val="277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61" name="分布式节点连接_0062"/>
          <p:cNvSpPr/>
          <p:nvPr/>
        </p:nvSpPr>
        <p:spPr>
          <a:xfrm>
            <a:off x="1592496" y="2308918"/>
            <a:ext cx="198111" cy="556231"/>
          </a:xfrm>
          <a:custGeom>
            <a:avLst/>
            <a:gdLst/>
            <a:ahLst/>
            <a:cxnLst/>
            <a:rect l="l" t="t" r="r" b="b"/>
            <a:pathLst>
              <a:path w="237745" h="667512">
                <a:moveTo>
                  <a:pt x="237745" y="0"/>
                </a:moveTo>
                <a:lnTo>
                  <a:pt x="237745" y="434340"/>
                </a:lnTo>
                <a:lnTo>
                  <a:pt x="0" y="434340"/>
                </a:lnTo>
                <a:lnTo>
                  <a:pt x="0" y="667512"/>
                </a:lnTo>
              </a:path>
            </a:pathLst>
          </a:custGeom>
          <a:noFill/>
          <a:ln w="15875" cap="rnd">
            <a:solidFill>
              <a:srgbClr val="277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62" name="控制器_0063"/>
          <p:cNvSpPr/>
          <p:nvPr/>
        </p:nvSpPr>
        <p:spPr>
          <a:xfrm>
            <a:off x="1485823" y="1859362"/>
            <a:ext cx="609568" cy="449557"/>
          </a:xfrm>
          <a:prstGeom prst="roundRect">
            <a:avLst>
              <a:gd name="adj" fmla="val 10000"/>
            </a:avLst>
          </a:prstGeom>
          <a:solidFill>
            <a:srgbClr val="277F9A"/>
          </a:solidFill>
          <a:ln w="11430" cap="rnd">
            <a:solidFill>
              <a:srgbClr val="66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63" name="控制器文字_变速箱_ECU_0064"/>
          <p:cNvSpPr txBox="1"/>
          <p:nvPr/>
        </p:nvSpPr>
        <p:spPr>
          <a:xfrm>
            <a:off x="1508681" y="1874601"/>
            <a:ext cx="563851" cy="419077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变速箱</a:t>
            </a:r>
            <a:endParaRPr sz="116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ECU</a:t>
            </a:r>
            <a:endParaRPr sz="116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网络连接点_0065"/>
          <p:cNvSpPr/>
          <p:nvPr/>
        </p:nvSpPr>
        <p:spPr>
          <a:xfrm>
            <a:off x="1562018" y="2834671"/>
            <a:ext cx="60957" cy="60957"/>
          </a:xfrm>
          <a:prstGeom prst="ellipse">
            <a:avLst/>
          </a:prstGeom>
          <a:solidFill>
            <a:srgbClr val="277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65" name="分布式节点连接_0066"/>
          <p:cNvSpPr/>
          <p:nvPr/>
        </p:nvSpPr>
        <p:spPr>
          <a:xfrm>
            <a:off x="2247783" y="2308918"/>
            <a:ext cx="320023" cy="556231"/>
          </a:xfrm>
          <a:custGeom>
            <a:avLst/>
            <a:gdLst/>
            <a:ahLst/>
            <a:cxnLst/>
            <a:rect l="l" t="t" r="r" b="b"/>
            <a:pathLst>
              <a:path w="384048" h="667512">
                <a:moveTo>
                  <a:pt x="384048" y="0"/>
                </a:moveTo>
                <a:lnTo>
                  <a:pt x="384048" y="502920"/>
                </a:lnTo>
                <a:lnTo>
                  <a:pt x="0" y="502920"/>
                </a:lnTo>
                <a:lnTo>
                  <a:pt x="0" y="667512"/>
                </a:lnTo>
              </a:path>
            </a:pathLst>
          </a:custGeom>
          <a:noFill/>
          <a:ln w="15875" cap="rnd">
            <a:solidFill>
              <a:srgbClr val="277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66" name="控制器_0067"/>
          <p:cNvSpPr/>
          <p:nvPr/>
        </p:nvSpPr>
        <p:spPr>
          <a:xfrm>
            <a:off x="2263022" y="1859362"/>
            <a:ext cx="609568" cy="449557"/>
          </a:xfrm>
          <a:prstGeom prst="roundRect">
            <a:avLst>
              <a:gd name="adj" fmla="val 10000"/>
            </a:avLst>
          </a:prstGeom>
          <a:solidFill>
            <a:srgbClr val="277F9A"/>
          </a:solidFill>
          <a:ln w="11430" cap="rnd">
            <a:solidFill>
              <a:srgbClr val="66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67" name="控制器文字_仪表_ECU_0068"/>
          <p:cNvSpPr txBox="1"/>
          <p:nvPr/>
        </p:nvSpPr>
        <p:spPr>
          <a:xfrm>
            <a:off x="2285881" y="1874601"/>
            <a:ext cx="563851" cy="419077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仪表</a:t>
            </a:r>
            <a:endParaRPr sz="116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ECU</a:t>
            </a:r>
            <a:endParaRPr sz="116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网络连接点_0069"/>
          <p:cNvSpPr/>
          <p:nvPr/>
        </p:nvSpPr>
        <p:spPr>
          <a:xfrm>
            <a:off x="2217305" y="2834671"/>
            <a:ext cx="60957" cy="60957"/>
          </a:xfrm>
          <a:prstGeom prst="ellipse">
            <a:avLst/>
          </a:prstGeom>
          <a:solidFill>
            <a:srgbClr val="277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69" name="分布式节点连接_0070"/>
          <p:cNvSpPr/>
          <p:nvPr/>
        </p:nvSpPr>
        <p:spPr>
          <a:xfrm>
            <a:off x="2903069" y="2308918"/>
            <a:ext cx="441937" cy="556231"/>
          </a:xfrm>
          <a:custGeom>
            <a:avLst/>
            <a:gdLst/>
            <a:ahLst/>
            <a:cxnLst/>
            <a:rect l="l" t="t" r="r" b="b"/>
            <a:pathLst>
              <a:path w="530352" h="667512">
                <a:moveTo>
                  <a:pt x="530352" y="0"/>
                </a:moveTo>
                <a:lnTo>
                  <a:pt x="530352" y="571500"/>
                </a:lnTo>
                <a:lnTo>
                  <a:pt x="0" y="571500"/>
                </a:lnTo>
                <a:lnTo>
                  <a:pt x="0" y="667512"/>
                </a:lnTo>
              </a:path>
            </a:pathLst>
          </a:custGeom>
          <a:noFill/>
          <a:ln w="15875" cap="rnd">
            <a:solidFill>
              <a:srgbClr val="277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70" name="控制器_0071"/>
          <p:cNvSpPr/>
          <p:nvPr/>
        </p:nvSpPr>
        <p:spPr>
          <a:xfrm>
            <a:off x="3040222" y="1859362"/>
            <a:ext cx="609568" cy="449557"/>
          </a:xfrm>
          <a:prstGeom prst="roundRect">
            <a:avLst>
              <a:gd name="adj" fmla="val 10000"/>
            </a:avLst>
          </a:prstGeom>
          <a:solidFill>
            <a:srgbClr val="277F9A"/>
          </a:solidFill>
          <a:ln w="11430" cap="rnd">
            <a:solidFill>
              <a:srgbClr val="66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71" name="控制器文字_空调_ECU_0072"/>
          <p:cNvSpPr txBox="1"/>
          <p:nvPr/>
        </p:nvSpPr>
        <p:spPr>
          <a:xfrm>
            <a:off x="3063080" y="1874601"/>
            <a:ext cx="563851" cy="419077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空调</a:t>
            </a:r>
            <a:endParaRPr sz="116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ECU</a:t>
            </a:r>
            <a:endParaRPr sz="116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网络连接点_0073"/>
          <p:cNvSpPr/>
          <p:nvPr/>
        </p:nvSpPr>
        <p:spPr>
          <a:xfrm>
            <a:off x="2872590" y="2834671"/>
            <a:ext cx="60957" cy="60957"/>
          </a:xfrm>
          <a:prstGeom prst="ellipse">
            <a:avLst/>
          </a:prstGeom>
          <a:solidFill>
            <a:srgbClr val="277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73" name="控制器_0074"/>
          <p:cNvSpPr/>
          <p:nvPr/>
        </p:nvSpPr>
        <p:spPr>
          <a:xfrm>
            <a:off x="373361" y="2407973"/>
            <a:ext cx="533372" cy="449557"/>
          </a:xfrm>
          <a:prstGeom prst="roundRect">
            <a:avLst>
              <a:gd name="adj" fmla="val 10000"/>
            </a:avLst>
          </a:prstGeom>
          <a:solidFill>
            <a:srgbClr val="277F9A"/>
          </a:solidFill>
          <a:ln w="11430" cap="rnd">
            <a:solidFill>
              <a:srgbClr val="66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74" name="控制器文字_ABS_ECU_0075"/>
          <p:cNvSpPr txBox="1"/>
          <p:nvPr/>
        </p:nvSpPr>
        <p:spPr>
          <a:xfrm>
            <a:off x="396219" y="2423212"/>
            <a:ext cx="487654" cy="419077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ABS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ECU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路径_0076"/>
          <p:cNvSpPr/>
          <p:nvPr/>
        </p:nvSpPr>
        <p:spPr>
          <a:xfrm>
            <a:off x="640047" y="2857530"/>
            <a:ext cx="175251" cy="7620"/>
          </a:xfrm>
          <a:custGeom>
            <a:avLst/>
            <a:gdLst/>
            <a:ahLst/>
            <a:cxnLst/>
            <a:rect l="l" t="t" r="r" b="b"/>
            <a:pathLst>
              <a:path w="210312" h="9144">
                <a:moveTo>
                  <a:pt x="0" y="0"/>
                </a:moveTo>
                <a:lnTo>
                  <a:pt x="0" y="9144"/>
                </a:lnTo>
                <a:lnTo>
                  <a:pt x="210312" y="9144"/>
                </a:lnTo>
              </a:path>
            </a:pathLst>
          </a:custGeom>
          <a:noFill/>
          <a:ln w="15875" cap="rnd">
            <a:solidFill>
              <a:srgbClr val="277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76" name="分布式下排连接_0077"/>
          <p:cNvSpPr/>
          <p:nvPr/>
        </p:nvSpPr>
        <p:spPr>
          <a:xfrm>
            <a:off x="632427" y="3169933"/>
            <a:ext cx="182870" cy="609568"/>
          </a:xfrm>
          <a:custGeom>
            <a:avLst/>
            <a:gdLst/>
            <a:ahLst/>
            <a:cxnLst/>
            <a:rect l="l" t="t" r="r" b="b"/>
            <a:pathLst>
              <a:path w="219456" h="731520">
                <a:moveTo>
                  <a:pt x="0" y="731520"/>
                </a:moveTo>
                <a:lnTo>
                  <a:pt x="0" y="237744"/>
                </a:lnTo>
                <a:lnTo>
                  <a:pt x="219456" y="237744"/>
                </a:lnTo>
                <a:lnTo>
                  <a:pt x="219456" y="0"/>
                </a:lnTo>
              </a:path>
            </a:pathLst>
          </a:custGeom>
          <a:noFill/>
          <a:ln w="16510" cap="rnd">
            <a:solidFill>
              <a:srgbClr val="277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77" name="控制器_0078"/>
          <p:cNvSpPr/>
          <p:nvPr/>
        </p:nvSpPr>
        <p:spPr>
          <a:xfrm>
            <a:off x="350502" y="3764263"/>
            <a:ext cx="632427" cy="480035"/>
          </a:xfrm>
          <a:prstGeom prst="roundRect">
            <a:avLst>
              <a:gd name="adj" fmla="val 10000"/>
            </a:avLst>
          </a:prstGeom>
          <a:solidFill>
            <a:srgbClr val="277F9A"/>
          </a:solidFill>
          <a:ln w="11430" cap="rnd">
            <a:solidFill>
              <a:srgbClr val="66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78" name="控制器文字_车灯_ECU_0079"/>
          <p:cNvSpPr txBox="1"/>
          <p:nvPr/>
        </p:nvSpPr>
        <p:spPr>
          <a:xfrm>
            <a:off x="373361" y="3779502"/>
            <a:ext cx="586709" cy="449557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车灯</a:t>
            </a:r>
            <a:endParaRPr sz="101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ECU</a:t>
            </a:r>
            <a:endParaRPr sz="101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分布式下排连接_0080"/>
          <p:cNvSpPr/>
          <p:nvPr/>
        </p:nvSpPr>
        <p:spPr>
          <a:xfrm>
            <a:off x="1341050" y="3002302"/>
            <a:ext cx="30478" cy="777200"/>
          </a:xfrm>
          <a:custGeom>
            <a:avLst/>
            <a:gdLst/>
            <a:ahLst/>
            <a:cxnLst/>
            <a:rect l="l" t="t" r="r" b="b"/>
            <a:pathLst>
              <a:path w="36576" h="932688">
                <a:moveTo>
                  <a:pt x="0" y="932688"/>
                </a:moveTo>
                <a:lnTo>
                  <a:pt x="0" y="457199"/>
                </a:lnTo>
                <a:lnTo>
                  <a:pt x="36576" y="457199"/>
                </a:lnTo>
                <a:lnTo>
                  <a:pt x="36576" y="0"/>
                </a:lnTo>
              </a:path>
            </a:pathLst>
          </a:custGeom>
          <a:noFill/>
          <a:ln w="16510" cap="rnd">
            <a:solidFill>
              <a:srgbClr val="2A9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80" name="控制器_0081"/>
          <p:cNvSpPr/>
          <p:nvPr/>
        </p:nvSpPr>
        <p:spPr>
          <a:xfrm>
            <a:off x="1059125" y="3764263"/>
            <a:ext cx="632427" cy="480035"/>
          </a:xfrm>
          <a:prstGeom prst="roundRect">
            <a:avLst>
              <a:gd name="adj" fmla="val 10000"/>
            </a:avLst>
          </a:prstGeom>
          <a:solidFill>
            <a:srgbClr val="277F9A"/>
          </a:solidFill>
          <a:ln w="11430" cap="rnd">
            <a:solidFill>
              <a:srgbClr val="66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81" name="控制器文字_车窗_ECU_0082"/>
          <p:cNvSpPr txBox="1"/>
          <p:nvPr/>
        </p:nvSpPr>
        <p:spPr>
          <a:xfrm>
            <a:off x="1081984" y="3779502"/>
            <a:ext cx="586709" cy="449557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车窗</a:t>
            </a:r>
            <a:endParaRPr sz="101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ECU</a:t>
            </a:r>
            <a:endParaRPr sz="101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分布式下排连接_0083"/>
          <p:cNvSpPr/>
          <p:nvPr/>
        </p:nvSpPr>
        <p:spPr>
          <a:xfrm>
            <a:off x="1927760" y="3169933"/>
            <a:ext cx="121914" cy="609568"/>
          </a:xfrm>
          <a:custGeom>
            <a:avLst/>
            <a:gdLst/>
            <a:ahLst/>
            <a:cxnLst/>
            <a:rect l="l" t="t" r="r" b="b"/>
            <a:pathLst>
              <a:path w="146304" h="731520">
                <a:moveTo>
                  <a:pt x="146304" y="731520"/>
                </a:moveTo>
                <a:lnTo>
                  <a:pt x="146304" y="274320"/>
                </a:lnTo>
                <a:lnTo>
                  <a:pt x="0" y="274320"/>
                </a:lnTo>
                <a:lnTo>
                  <a:pt x="0" y="0"/>
                </a:lnTo>
              </a:path>
            </a:pathLst>
          </a:custGeom>
          <a:noFill/>
          <a:ln w="16510" cap="rnd">
            <a:solidFill>
              <a:srgbClr val="277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83" name="控制器_0084"/>
          <p:cNvSpPr/>
          <p:nvPr/>
        </p:nvSpPr>
        <p:spPr>
          <a:xfrm>
            <a:off x="1767748" y="3764263"/>
            <a:ext cx="632427" cy="480035"/>
          </a:xfrm>
          <a:prstGeom prst="roundRect">
            <a:avLst>
              <a:gd name="adj" fmla="val 10000"/>
            </a:avLst>
          </a:prstGeom>
          <a:solidFill>
            <a:srgbClr val="277F9A"/>
          </a:solidFill>
          <a:ln w="11430" cap="rnd">
            <a:solidFill>
              <a:srgbClr val="66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84" name="控制器文字_安全气囊_ECU_0085"/>
          <p:cNvSpPr txBox="1"/>
          <p:nvPr/>
        </p:nvSpPr>
        <p:spPr>
          <a:xfrm>
            <a:off x="1790607" y="3779502"/>
            <a:ext cx="586709" cy="449557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安全气囊</a:t>
            </a:r>
            <a:endParaRPr sz="101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ECU</a:t>
            </a:r>
            <a:endParaRPr sz="101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分布式下排连接_0086"/>
          <p:cNvSpPr/>
          <p:nvPr/>
        </p:nvSpPr>
        <p:spPr>
          <a:xfrm>
            <a:off x="2483991" y="3002302"/>
            <a:ext cx="274306" cy="777200"/>
          </a:xfrm>
          <a:custGeom>
            <a:avLst/>
            <a:gdLst/>
            <a:ahLst/>
            <a:cxnLst/>
            <a:rect l="l" t="t" r="r" b="b"/>
            <a:pathLst>
              <a:path w="329184" h="932688">
                <a:moveTo>
                  <a:pt x="329184" y="932688"/>
                </a:moveTo>
                <a:lnTo>
                  <a:pt x="329184" y="493775"/>
                </a:lnTo>
                <a:lnTo>
                  <a:pt x="0" y="493775"/>
                </a:lnTo>
                <a:lnTo>
                  <a:pt x="0" y="0"/>
                </a:lnTo>
              </a:path>
            </a:pathLst>
          </a:custGeom>
          <a:noFill/>
          <a:ln w="16510" cap="rnd">
            <a:solidFill>
              <a:srgbClr val="2A9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86" name="控制器_0087"/>
          <p:cNvSpPr/>
          <p:nvPr/>
        </p:nvSpPr>
        <p:spPr>
          <a:xfrm>
            <a:off x="2476371" y="3764263"/>
            <a:ext cx="632427" cy="480035"/>
          </a:xfrm>
          <a:prstGeom prst="roundRect">
            <a:avLst>
              <a:gd name="adj" fmla="val 10000"/>
            </a:avLst>
          </a:prstGeom>
          <a:solidFill>
            <a:srgbClr val="277F9A"/>
          </a:solidFill>
          <a:ln w="11430" cap="rnd">
            <a:solidFill>
              <a:srgbClr val="66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87" name="控制器文字_车身控制_ECU_0088"/>
          <p:cNvSpPr txBox="1"/>
          <p:nvPr/>
        </p:nvSpPr>
        <p:spPr>
          <a:xfrm>
            <a:off x="2499230" y="3779502"/>
            <a:ext cx="586709" cy="449557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车身控制</a:t>
            </a:r>
            <a:endParaRPr sz="101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ECU</a:t>
            </a:r>
            <a:endParaRPr sz="101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分布式下排连接_0089"/>
          <p:cNvSpPr/>
          <p:nvPr/>
        </p:nvSpPr>
        <p:spPr>
          <a:xfrm>
            <a:off x="3040222" y="3169933"/>
            <a:ext cx="426698" cy="609568"/>
          </a:xfrm>
          <a:custGeom>
            <a:avLst/>
            <a:gdLst/>
            <a:ahLst/>
            <a:cxnLst/>
            <a:rect l="l" t="t" r="r" b="b"/>
            <a:pathLst>
              <a:path w="512064" h="731520">
                <a:moveTo>
                  <a:pt x="512064" y="731520"/>
                </a:moveTo>
                <a:lnTo>
                  <a:pt x="512064" y="310896"/>
                </a:lnTo>
                <a:lnTo>
                  <a:pt x="0" y="310896"/>
                </a:lnTo>
                <a:lnTo>
                  <a:pt x="0" y="0"/>
                </a:lnTo>
              </a:path>
            </a:pathLst>
          </a:custGeom>
          <a:noFill/>
          <a:ln w="16510" cap="rnd">
            <a:solidFill>
              <a:srgbClr val="277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89" name="控制器_0090"/>
          <p:cNvSpPr/>
          <p:nvPr/>
        </p:nvSpPr>
        <p:spPr>
          <a:xfrm>
            <a:off x="3184994" y="3764263"/>
            <a:ext cx="632427" cy="480035"/>
          </a:xfrm>
          <a:prstGeom prst="roundRect">
            <a:avLst>
              <a:gd name="adj" fmla="val 10000"/>
            </a:avLst>
          </a:prstGeom>
          <a:solidFill>
            <a:srgbClr val="277F9A"/>
          </a:solidFill>
          <a:ln w="11430" cap="rnd">
            <a:solidFill>
              <a:srgbClr val="66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90" name="控制器文字_…_0091"/>
          <p:cNvSpPr txBox="1"/>
          <p:nvPr/>
        </p:nvSpPr>
        <p:spPr>
          <a:xfrm>
            <a:off x="3207853" y="3779502"/>
            <a:ext cx="586709" cy="449557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</a:t>
            </a:r>
            <a:endParaRPr sz="101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1" name="连接线_0092"/>
          <p:cNvCxnSpPr/>
          <p:nvPr/>
        </p:nvCxnSpPr>
        <p:spPr>
          <a:xfrm>
            <a:off x="510513" y="4419548"/>
            <a:ext cx="358121" cy="0"/>
          </a:xfrm>
          <a:prstGeom prst="line">
            <a:avLst/>
          </a:prstGeom>
          <a:ln w="25400" cap="rnd">
            <a:solidFill>
              <a:srgbClr val="087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文字_CAN总线_0093"/>
          <p:cNvSpPr txBox="1"/>
          <p:nvPr/>
        </p:nvSpPr>
        <p:spPr>
          <a:xfrm>
            <a:off x="944831" y="4312874"/>
            <a:ext cx="1005788" cy="213349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15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CAN总线</a:t>
            </a:r>
            <a:endParaRPr sz="1115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3" name="连接线_0094"/>
          <p:cNvCxnSpPr/>
          <p:nvPr/>
        </p:nvCxnSpPr>
        <p:spPr>
          <a:xfrm>
            <a:off x="2141108" y="4419548"/>
            <a:ext cx="358121" cy="0"/>
          </a:xfrm>
          <a:prstGeom prst="line">
            <a:avLst/>
          </a:prstGeom>
          <a:ln w="25400" cap="rnd">
            <a:solidFill>
              <a:srgbClr val="2A9B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文字_LIN总线_0095"/>
          <p:cNvSpPr txBox="1"/>
          <p:nvPr/>
        </p:nvSpPr>
        <p:spPr>
          <a:xfrm>
            <a:off x="2575426" y="4312874"/>
            <a:ext cx="1005788" cy="213349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15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LIN总线</a:t>
            </a:r>
            <a:endParaRPr sz="1115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5" name="连接线_0096"/>
          <p:cNvCxnSpPr/>
          <p:nvPr/>
        </p:nvCxnSpPr>
        <p:spPr>
          <a:xfrm>
            <a:off x="4678436" y="1828883"/>
            <a:ext cx="0" cy="160012"/>
          </a:xfrm>
          <a:prstGeom prst="line">
            <a:avLst/>
          </a:prstGeom>
          <a:ln w="17780" cap="rnd">
            <a:solidFill>
              <a:srgbClr val="087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连接线_0097"/>
          <p:cNvCxnSpPr/>
          <p:nvPr/>
        </p:nvCxnSpPr>
        <p:spPr>
          <a:xfrm>
            <a:off x="4678436" y="1828883"/>
            <a:ext cx="708623" cy="0"/>
          </a:xfrm>
          <a:prstGeom prst="line">
            <a:avLst/>
          </a:prstGeom>
          <a:ln w="17780" cap="rnd">
            <a:solidFill>
              <a:srgbClr val="2A9B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域控制器面板_0098"/>
          <p:cNvSpPr/>
          <p:nvPr/>
        </p:nvSpPr>
        <p:spPr>
          <a:xfrm>
            <a:off x="4381272" y="1988895"/>
            <a:ext cx="601949" cy="761960"/>
          </a:xfrm>
          <a:prstGeom prst="roundRect">
            <a:avLst>
              <a:gd name="adj" fmla="val 10000"/>
            </a:avLst>
          </a:prstGeom>
          <a:solidFill>
            <a:srgbClr val="E9F4FF"/>
          </a:solidFill>
          <a:ln w="12700" cap="rnd">
            <a:solidFill>
              <a:srgbClr val="087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98" name="域控制器名称_动力域_控制器_0099"/>
          <p:cNvSpPr txBox="1"/>
          <p:nvPr/>
        </p:nvSpPr>
        <p:spPr>
          <a:xfrm>
            <a:off x="4396511" y="2042232"/>
            <a:ext cx="571470" cy="320023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85" b="1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动力域</a:t>
            </a:r>
            <a:endParaRPr sz="1085" b="1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85" b="1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控制器</a:t>
            </a:r>
            <a:endParaRPr sz="1085" b="1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99" name="图标_engine_0100"/>
          <p:cNvGrpSpPr/>
          <p:nvPr/>
        </p:nvGrpSpPr>
        <p:grpSpPr>
          <a:xfrm>
            <a:off x="4561017" y="2437842"/>
            <a:ext cx="250914" cy="208625"/>
            <a:chOff x="5473506" y="2925348"/>
            <a:chExt cx="301112" cy="250363"/>
          </a:xfrm>
        </p:grpSpPr>
        <p:sp>
          <p:nvSpPr>
            <p:cNvPr id="100" name="图标部件_0101"/>
            <p:cNvSpPr/>
            <p:nvPr/>
          </p:nvSpPr>
          <p:spPr>
            <a:xfrm>
              <a:off x="5517489" y="2959181"/>
              <a:ext cx="196230" cy="165780"/>
            </a:xfrm>
            <a:prstGeom prst="roundRect">
              <a:avLst>
                <a:gd name="adj" fmla="val 10000"/>
              </a:avLst>
            </a:prstGeom>
            <a:solidFill>
              <a:srgbClr val="0879D9"/>
            </a:solidFill>
            <a:ln w="16510" cap="rnd">
              <a:solidFill>
                <a:srgbClr val="087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101" name="图标部件_0102"/>
            <p:cNvSpPr/>
            <p:nvPr/>
          </p:nvSpPr>
          <p:spPr>
            <a:xfrm>
              <a:off x="5473506" y="3009930"/>
              <a:ext cx="40599" cy="77815"/>
            </a:xfrm>
            <a:prstGeom prst="rect">
              <a:avLst/>
            </a:prstGeom>
            <a:solidFill>
              <a:srgbClr val="0879D9"/>
            </a:solidFill>
            <a:ln w="16510" cap="rnd">
              <a:solidFill>
                <a:srgbClr val="087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102" name="图标部件_0103"/>
            <p:cNvSpPr/>
            <p:nvPr/>
          </p:nvSpPr>
          <p:spPr>
            <a:xfrm>
              <a:off x="5713719" y="3006547"/>
              <a:ext cx="60899" cy="67665"/>
            </a:xfrm>
            <a:prstGeom prst="rect">
              <a:avLst/>
            </a:prstGeom>
            <a:solidFill>
              <a:srgbClr val="0879D9"/>
            </a:solidFill>
            <a:ln w="16510" cap="rnd">
              <a:solidFill>
                <a:srgbClr val="087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103" name="图标线_0104"/>
            <p:cNvCxnSpPr/>
            <p:nvPr/>
          </p:nvCxnSpPr>
          <p:spPr>
            <a:xfrm>
              <a:off x="5551322" y="2925348"/>
              <a:ext cx="131948" cy="0"/>
            </a:xfrm>
            <a:prstGeom prst="line">
              <a:avLst/>
            </a:prstGeom>
            <a:ln w="20320" cap="rnd">
              <a:solidFill>
                <a:srgbClr val="0879D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图标线_0105"/>
            <p:cNvCxnSpPr/>
            <p:nvPr/>
          </p:nvCxnSpPr>
          <p:spPr>
            <a:xfrm>
              <a:off x="5578388" y="3135111"/>
              <a:ext cx="0" cy="30450"/>
            </a:xfrm>
            <a:prstGeom prst="line">
              <a:avLst/>
            </a:prstGeom>
            <a:ln w="20320" cap="rnd">
              <a:solidFill>
                <a:srgbClr val="0879D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图标线_0106"/>
            <p:cNvCxnSpPr/>
            <p:nvPr/>
          </p:nvCxnSpPr>
          <p:spPr>
            <a:xfrm>
              <a:off x="5669737" y="3135111"/>
              <a:ext cx="0" cy="30450"/>
            </a:xfrm>
            <a:prstGeom prst="line">
              <a:avLst/>
            </a:prstGeom>
            <a:ln w="20320" cap="rnd">
              <a:solidFill>
                <a:srgbClr val="0879D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图标线_0107"/>
            <p:cNvCxnSpPr/>
            <p:nvPr/>
          </p:nvCxnSpPr>
          <p:spPr>
            <a:xfrm>
              <a:off x="5524256" y="3175711"/>
              <a:ext cx="192847" cy="0"/>
            </a:xfrm>
            <a:prstGeom prst="line">
              <a:avLst/>
            </a:prstGeom>
            <a:ln w="20320" cap="rnd">
              <a:solidFill>
                <a:srgbClr val="0879D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连接线_0108"/>
            <p:cNvCxnSpPr/>
            <p:nvPr/>
          </p:nvCxnSpPr>
          <p:spPr>
            <a:xfrm>
              <a:off x="5561472" y="2999780"/>
              <a:ext cx="108265" cy="0"/>
            </a:xfrm>
            <a:prstGeom prst="line">
              <a:avLst/>
            </a:prstGeom>
            <a:ln w="15240" cap="rnd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连接线_0109"/>
            <p:cNvCxnSpPr/>
            <p:nvPr/>
          </p:nvCxnSpPr>
          <p:spPr>
            <a:xfrm>
              <a:off x="5561472" y="3036996"/>
              <a:ext cx="108265" cy="0"/>
            </a:xfrm>
            <a:prstGeom prst="line">
              <a:avLst/>
            </a:prstGeom>
            <a:ln w="15240" cap="rnd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连接线_0110"/>
            <p:cNvCxnSpPr/>
            <p:nvPr/>
          </p:nvCxnSpPr>
          <p:spPr>
            <a:xfrm>
              <a:off x="5561472" y="3074212"/>
              <a:ext cx="108265" cy="0"/>
            </a:xfrm>
            <a:prstGeom prst="line">
              <a:avLst/>
            </a:prstGeom>
            <a:ln w="15240" cap="rnd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0" name="连接线_0111"/>
          <p:cNvCxnSpPr/>
          <p:nvPr/>
        </p:nvCxnSpPr>
        <p:spPr>
          <a:xfrm>
            <a:off x="4678436" y="2750855"/>
            <a:ext cx="0" cy="121914"/>
          </a:xfrm>
          <a:prstGeom prst="line">
            <a:avLst/>
          </a:prstGeom>
          <a:ln w="14604" cap="rnd">
            <a:solidFill>
              <a:srgbClr val="087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域内功能_0112"/>
          <p:cNvSpPr/>
          <p:nvPr/>
        </p:nvSpPr>
        <p:spPr>
          <a:xfrm>
            <a:off x="4381272" y="2865149"/>
            <a:ext cx="601949" cy="297165"/>
          </a:xfrm>
          <a:prstGeom prst="roundRect">
            <a:avLst>
              <a:gd name="adj" fmla="val 10000"/>
            </a:avLst>
          </a:prstGeom>
          <a:solidFill>
            <a:srgbClr val="E9F4FF"/>
          </a:solidFill>
          <a:ln w="5080" cap="rnd">
            <a:solidFill>
              <a:srgbClr val="087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12" name="域内功能文字_发动机_0113"/>
          <p:cNvSpPr txBox="1"/>
          <p:nvPr/>
        </p:nvSpPr>
        <p:spPr>
          <a:xfrm>
            <a:off x="4388891" y="2872768"/>
            <a:ext cx="586709" cy="281925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发动机</a:t>
            </a:r>
            <a:endParaRPr sz="1010" b="0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3" name="连接线_0114"/>
          <p:cNvCxnSpPr/>
          <p:nvPr/>
        </p:nvCxnSpPr>
        <p:spPr>
          <a:xfrm>
            <a:off x="4678436" y="2750855"/>
            <a:ext cx="0" cy="121914"/>
          </a:xfrm>
          <a:prstGeom prst="line">
            <a:avLst/>
          </a:prstGeom>
          <a:ln w="14604" cap="rnd">
            <a:solidFill>
              <a:srgbClr val="087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域内功能_0115"/>
          <p:cNvSpPr/>
          <p:nvPr/>
        </p:nvSpPr>
        <p:spPr>
          <a:xfrm>
            <a:off x="4381272" y="3215651"/>
            <a:ext cx="601949" cy="297165"/>
          </a:xfrm>
          <a:prstGeom prst="roundRect">
            <a:avLst>
              <a:gd name="adj" fmla="val 10000"/>
            </a:avLst>
          </a:prstGeom>
          <a:solidFill>
            <a:srgbClr val="E9F4FF"/>
          </a:solidFill>
          <a:ln w="5080" cap="rnd">
            <a:solidFill>
              <a:srgbClr val="087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15" name="域内功能文字_变速箱_0116"/>
          <p:cNvSpPr txBox="1"/>
          <p:nvPr/>
        </p:nvSpPr>
        <p:spPr>
          <a:xfrm>
            <a:off x="4388891" y="3223270"/>
            <a:ext cx="586709" cy="281925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变速箱</a:t>
            </a:r>
            <a:endParaRPr sz="1010" b="0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6" name="连接线_0117"/>
          <p:cNvCxnSpPr/>
          <p:nvPr/>
        </p:nvCxnSpPr>
        <p:spPr>
          <a:xfrm>
            <a:off x="4678436" y="2750855"/>
            <a:ext cx="0" cy="121914"/>
          </a:xfrm>
          <a:prstGeom prst="line">
            <a:avLst/>
          </a:prstGeom>
          <a:ln w="14604" cap="rnd">
            <a:solidFill>
              <a:srgbClr val="087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域内功能_0118"/>
          <p:cNvSpPr/>
          <p:nvPr/>
        </p:nvSpPr>
        <p:spPr>
          <a:xfrm>
            <a:off x="4381272" y="3566153"/>
            <a:ext cx="601949" cy="297165"/>
          </a:xfrm>
          <a:prstGeom prst="roundRect">
            <a:avLst>
              <a:gd name="adj" fmla="val 10000"/>
            </a:avLst>
          </a:prstGeom>
          <a:solidFill>
            <a:srgbClr val="E9F4FF"/>
          </a:solidFill>
          <a:ln w="5080" cap="rnd">
            <a:solidFill>
              <a:srgbClr val="087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18" name="域内功能文字_电机控制_0119"/>
          <p:cNvSpPr txBox="1"/>
          <p:nvPr/>
        </p:nvSpPr>
        <p:spPr>
          <a:xfrm>
            <a:off x="4388891" y="3573772"/>
            <a:ext cx="586709" cy="281925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电机控制</a:t>
            </a:r>
            <a:endParaRPr sz="1010" b="0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9" name="连接线_0120"/>
          <p:cNvCxnSpPr/>
          <p:nvPr/>
        </p:nvCxnSpPr>
        <p:spPr>
          <a:xfrm>
            <a:off x="4678436" y="2750855"/>
            <a:ext cx="0" cy="121914"/>
          </a:xfrm>
          <a:prstGeom prst="line">
            <a:avLst/>
          </a:prstGeom>
          <a:ln w="14604" cap="rnd">
            <a:solidFill>
              <a:srgbClr val="087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域内功能_0121"/>
          <p:cNvSpPr/>
          <p:nvPr/>
        </p:nvSpPr>
        <p:spPr>
          <a:xfrm>
            <a:off x="4381272" y="3916655"/>
            <a:ext cx="601949" cy="297165"/>
          </a:xfrm>
          <a:prstGeom prst="roundRect">
            <a:avLst>
              <a:gd name="adj" fmla="val 10000"/>
            </a:avLst>
          </a:prstGeom>
          <a:solidFill>
            <a:srgbClr val="E9F4FF"/>
          </a:solidFill>
          <a:ln w="5080" cap="rnd">
            <a:solidFill>
              <a:srgbClr val="087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21" name="域内功能文字_…_0122"/>
          <p:cNvSpPr txBox="1"/>
          <p:nvPr/>
        </p:nvSpPr>
        <p:spPr>
          <a:xfrm>
            <a:off x="4388891" y="3924273"/>
            <a:ext cx="586709" cy="281925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</a:t>
            </a:r>
            <a:endParaRPr sz="1010" b="0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22" name="连接线_0123"/>
          <p:cNvCxnSpPr/>
          <p:nvPr/>
        </p:nvCxnSpPr>
        <p:spPr>
          <a:xfrm>
            <a:off x="5387059" y="1828883"/>
            <a:ext cx="0" cy="160012"/>
          </a:xfrm>
          <a:prstGeom prst="line">
            <a:avLst/>
          </a:prstGeom>
          <a:ln w="17780" cap="rnd">
            <a:solidFill>
              <a:srgbClr val="2A9B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连接线_0124"/>
          <p:cNvCxnSpPr/>
          <p:nvPr/>
        </p:nvCxnSpPr>
        <p:spPr>
          <a:xfrm>
            <a:off x="5387059" y="1828883"/>
            <a:ext cx="708624" cy="0"/>
          </a:xfrm>
          <a:prstGeom prst="line">
            <a:avLst/>
          </a:prstGeom>
          <a:ln w="17780" cap="rnd">
            <a:solidFill>
              <a:srgbClr val="E98B2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域控制器面板_0125"/>
          <p:cNvSpPr/>
          <p:nvPr/>
        </p:nvSpPr>
        <p:spPr>
          <a:xfrm>
            <a:off x="5089895" y="1988895"/>
            <a:ext cx="601949" cy="761960"/>
          </a:xfrm>
          <a:prstGeom prst="roundRect">
            <a:avLst>
              <a:gd name="adj" fmla="val 10000"/>
            </a:avLst>
          </a:prstGeom>
          <a:solidFill>
            <a:srgbClr val="EAF6EE"/>
          </a:solidFill>
          <a:ln w="12700" cap="rnd">
            <a:solidFill>
              <a:srgbClr val="2A9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25" name="域控制器名称_底盘域_控制器_0126"/>
          <p:cNvSpPr txBox="1"/>
          <p:nvPr/>
        </p:nvSpPr>
        <p:spPr>
          <a:xfrm>
            <a:off x="5105133" y="2042232"/>
            <a:ext cx="571470" cy="320023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85" b="1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底盘域</a:t>
            </a:r>
            <a:endParaRPr sz="1085" b="1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85" b="1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控制器</a:t>
            </a:r>
            <a:endParaRPr sz="1085" b="1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26" name="图标_brake_0127"/>
          <p:cNvGrpSpPr/>
          <p:nvPr/>
        </p:nvGrpSpPr>
        <p:grpSpPr>
          <a:xfrm>
            <a:off x="5283737" y="2426565"/>
            <a:ext cx="222721" cy="214263"/>
            <a:chOff x="6340815" y="2911815"/>
            <a:chExt cx="267279" cy="257129"/>
          </a:xfrm>
        </p:grpSpPr>
        <p:sp>
          <p:nvSpPr>
            <p:cNvPr id="127" name="图标部件_0128"/>
            <p:cNvSpPr/>
            <p:nvPr/>
          </p:nvSpPr>
          <p:spPr>
            <a:xfrm>
              <a:off x="6340815" y="2911815"/>
              <a:ext cx="257129" cy="257129"/>
            </a:xfrm>
            <a:prstGeom prst="ellipse">
              <a:avLst/>
            </a:prstGeom>
            <a:noFill/>
            <a:ln w="16510" cap="rnd">
              <a:solidFill>
                <a:srgbClr val="2A9B6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128" name="图标部件_0129"/>
            <p:cNvSpPr/>
            <p:nvPr/>
          </p:nvSpPr>
          <p:spPr>
            <a:xfrm>
              <a:off x="6401714" y="2972714"/>
              <a:ext cx="135331" cy="135331"/>
            </a:xfrm>
            <a:prstGeom prst="ellipse">
              <a:avLst/>
            </a:prstGeom>
            <a:noFill/>
            <a:ln w="16510" cap="rnd">
              <a:solidFill>
                <a:srgbClr val="2A9B6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129" name="图标部件_0130"/>
            <p:cNvSpPr/>
            <p:nvPr/>
          </p:nvSpPr>
          <p:spPr>
            <a:xfrm>
              <a:off x="6452463" y="3023463"/>
              <a:ext cx="33832" cy="33832"/>
            </a:xfrm>
            <a:prstGeom prst="ellipse">
              <a:avLst/>
            </a:prstGeom>
            <a:solidFill>
              <a:srgbClr val="2A9B62"/>
            </a:solidFill>
            <a:ln w="16510" cap="rnd">
              <a:solidFill>
                <a:srgbClr val="2A9B6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130" name="图标部件_0131"/>
            <p:cNvSpPr/>
            <p:nvPr/>
          </p:nvSpPr>
          <p:spPr>
            <a:xfrm>
              <a:off x="6547195" y="3030230"/>
              <a:ext cx="23682" cy="23682"/>
            </a:xfrm>
            <a:prstGeom prst="ellipse">
              <a:avLst/>
            </a:prstGeom>
            <a:solidFill>
              <a:srgbClr val="2A9B62"/>
            </a:solidFill>
            <a:ln w="16510" cap="rnd">
              <a:solidFill>
                <a:srgbClr val="2A9B6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131" name="图标部件_0132"/>
            <p:cNvSpPr/>
            <p:nvPr/>
          </p:nvSpPr>
          <p:spPr>
            <a:xfrm>
              <a:off x="6459230" y="3118195"/>
              <a:ext cx="23682" cy="23682"/>
            </a:xfrm>
            <a:prstGeom prst="ellipse">
              <a:avLst/>
            </a:prstGeom>
            <a:solidFill>
              <a:srgbClr val="2A9B62"/>
            </a:solidFill>
            <a:ln w="16510" cap="rnd">
              <a:solidFill>
                <a:srgbClr val="2A9B6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132" name="图标部件_0133"/>
            <p:cNvSpPr/>
            <p:nvPr/>
          </p:nvSpPr>
          <p:spPr>
            <a:xfrm>
              <a:off x="6371264" y="3030230"/>
              <a:ext cx="23682" cy="23682"/>
            </a:xfrm>
            <a:prstGeom prst="ellipse">
              <a:avLst/>
            </a:prstGeom>
            <a:solidFill>
              <a:srgbClr val="2A9B62"/>
            </a:solidFill>
            <a:ln w="16510" cap="rnd">
              <a:solidFill>
                <a:srgbClr val="2A9B6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133" name="图标部件_0134"/>
            <p:cNvSpPr/>
            <p:nvPr/>
          </p:nvSpPr>
          <p:spPr>
            <a:xfrm>
              <a:off x="6459230" y="2942264"/>
              <a:ext cx="23682" cy="23682"/>
            </a:xfrm>
            <a:prstGeom prst="ellipse">
              <a:avLst/>
            </a:prstGeom>
            <a:solidFill>
              <a:srgbClr val="2A9B62"/>
            </a:solidFill>
            <a:ln w="16510" cap="rnd">
              <a:solidFill>
                <a:srgbClr val="2A9B6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134" name="图标部件_0135"/>
            <p:cNvSpPr/>
            <p:nvPr/>
          </p:nvSpPr>
          <p:spPr>
            <a:xfrm>
              <a:off x="6557345" y="2955798"/>
              <a:ext cx="50749" cy="165780"/>
            </a:xfrm>
            <a:prstGeom prst="roundRect">
              <a:avLst>
                <a:gd name="adj" fmla="val 10000"/>
              </a:avLst>
            </a:prstGeom>
            <a:solidFill>
              <a:srgbClr val="2A9B62"/>
            </a:solidFill>
            <a:ln w="16510" cap="rnd">
              <a:solidFill>
                <a:srgbClr val="2A9B6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</p:grpSp>
      <p:cxnSp>
        <p:nvCxnSpPr>
          <p:cNvPr id="135" name="连接线_0136"/>
          <p:cNvCxnSpPr/>
          <p:nvPr/>
        </p:nvCxnSpPr>
        <p:spPr>
          <a:xfrm>
            <a:off x="5387059" y="2750855"/>
            <a:ext cx="0" cy="121914"/>
          </a:xfrm>
          <a:prstGeom prst="line">
            <a:avLst/>
          </a:prstGeom>
          <a:ln w="14604" cap="rnd">
            <a:solidFill>
              <a:srgbClr val="2A9B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域内功能_0137"/>
          <p:cNvSpPr/>
          <p:nvPr/>
        </p:nvSpPr>
        <p:spPr>
          <a:xfrm>
            <a:off x="5089895" y="2865149"/>
            <a:ext cx="601949" cy="297165"/>
          </a:xfrm>
          <a:prstGeom prst="roundRect">
            <a:avLst>
              <a:gd name="adj" fmla="val 10000"/>
            </a:avLst>
          </a:prstGeom>
          <a:solidFill>
            <a:srgbClr val="EAF6EE"/>
          </a:solidFill>
          <a:ln w="5080" cap="rnd">
            <a:solidFill>
              <a:srgbClr val="2A9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37" name="域内功能文字_ABS/ESC_0138"/>
          <p:cNvSpPr txBox="1"/>
          <p:nvPr/>
        </p:nvSpPr>
        <p:spPr>
          <a:xfrm>
            <a:off x="5097514" y="2872768"/>
            <a:ext cx="586709" cy="281925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ABS/ESC</a:t>
            </a:r>
            <a:endParaRPr sz="1010" b="0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38" name="连接线_0139"/>
          <p:cNvCxnSpPr/>
          <p:nvPr/>
        </p:nvCxnSpPr>
        <p:spPr>
          <a:xfrm>
            <a:off x="5387059" y="2750855"/>
            <a:ext cx="0" cy="121914"/>
          </a:xfrm>
          <a:prstGeom prst="line">
            <a:avLst/>
          </a:prstGeom>
          <a:ln w="14604" cap="rnd">
            <a:solidFill>
              <a:srgbClr val="2A9B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域内功能_0140"/>
          <p:cNvSpPr/>
          <p:nvPr/>
        </p:nvSpPr>
        <p:spPr>
          <a:xfrm>
            <a:off x="5089895" y="3215651"/>
            <a:ext cx="601949" cy="297165"/>
          </a:xfrm>
          <a:prstGeom prst="roundRect">
            <a:avLst>
              <a:gd name="adj" fmla="val 10000"/>
            </a:avLst>
          </a:prstGeom>
          <a:solidFill>
            <a:srgbClr val="EAF6EE"/>
          </a:solidFill>
          <a:ln w="5080" cap="rnd">
            <a:solidFill>
              <a:srgbClr val="2A9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40" name="域内功能文字_转向控制_0141"/>
          <p:cNvSpPr txBox="1"/>
          <p:nvPr/>
        </p:nvSpPr>
        <p:spPr>
          <a:xfrm>
            <a:off x="5097514" y="3223270"/>
            <a:ext cx="586709" cy="281925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转向控制</a:t>
            </a:r>
            <a:endParaRPr sz="1010" b="0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41" name="连接线_0142"/>
          <p:cNvCxnSpPr/>
          <p:nvPr/>
        </p:nvCxnSpPr>
        <p:spPr>
          <a:xfrm>
            <a:off x="5387059" y="2750855"/>
            <a:ext cx="0" cy="121914"/>
          </a:xfrm>
          <a:prstGeom prst="line">
            <a:avLst/>
          </a:prstGeom>
          <a:ln w="14604" cap="rnd">
            <a:solidFill>
              <a:srgbClr val="2A9B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域内功能_0143"/>
          <p:cNvSpPr/>
          <p:nvPr/>
        </p:nvSpPr>
        <p:spPr>
          <a:xfrm>
            <a:off x="5089895" y="3566153"/>
            <a:ext cx="601949" cy="297165"/>
          </a:xfrm>
          <a:prstGeom prst="roundRect">
            <a:avLst>
              <a:gd name="adj" fmla="val 10000"/>
            </a:avLst>
          </a:prstGeom>
          <a:solidFill>
            <a:srgbClr val="EAF6EE"/>
          </a:solidFill>
          <a:ln w="5080" cap="rnd">
            <a:solidFill>
              <a:srgbClr val="2A9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43" name="域内功能文字_悬架控制_0144"/>
          <p:cNvSpPr txBox="1"/>
          <p:nvPr/>
        </p:nvSpPr>
        <p:spPr>
          <a:xfrm>
            <a:off x="5097514" y="3573772"/>
            <a:ext cx="586709" cy="281925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悬架控制</a:t>
            </a:r>
            <a:endParaRPr sz="1010" b="0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44" name="连接线_0145"/>
          <p:cNvCxnSpPr/>
          <p:nvPr/>
        </p:nvCxnSpPr>
        <p:spPr>
          <a:xfrm>
            <a:off x="5387059" y="2750855"/>
            <a:ext cx="0" cy="121914"/>
          </a:xfrm>
          <a:prstGeom prst="line">
            <a:avLst/>
          </a:prstGeom>
          <a:ln w="14604" cap="rnd">
            <a:solidFill>
              <a:srgbClr val="2A9B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域内功能_0146"/>
          <p:cNvSpPr/>
          <p:nvPr/>
        </p:nvSpPr>
        <p:spPr>
          <a:xfrm>
            <a:off x="5089895" y="3916655"/>
            <a:ext cx="601949" cy="297165"/>
          </a:xfrm>
          <a:prstGeom prst="roundRect">
            <a:avLst>
              <a:gd name="adj" fmla="val 10000"/>
            </a:avLst>
          </a:prstGeom>
          <a:solidFill>
            <a:srgbClr val="EAF6EE"/>
          </a:solidFill>
          <a:ln w="5080" cap="rnd">
            <a:solidFill>
              <a:srgbClr val="2A9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46" name="域内功能文字_…_0147"/>
          <p:cNvSpPr txBox="1"/>
          <p:nvPr/>
        </p:nvSpPr>
        <p:spPr>
          <a:xfrm>
            <a:off x="5097514" y="3924273"/>
            <a:ext cx="586709" cy="281925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</a:t>
            </a:r>
            <a:endParaRPr sz="1010" b="0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47" name="连接线_0148"/>
          <p:cNvCxnSpPr/>
          <p:nvPr/>
        </p:nvCxnSpPr>
        <p:spPr>
          <a:xfrm>
            <a:off x="6095683" y="1828883"/>
            <a:ext cx="0" cy="160012"/>
          </a:xfrm>
          <a:prstGeom prst="line">
            <a:avLst/>
          </a:prstGeom>
          <a:ln w="17780" cap="rnd">
            <a:solidFill>
              <a:srgbClr val="E98B2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连接线_0149"/>
          <p:cNvCxnSpPr/>
          <p:nvPr/>
        </p:nvCxnSpPr>
        <p:spPr>
          <a:xfrm>
            <a:off x="6095683" y="1828883"/>
            <a:ext cx="708623" cy="0"/>
          </a:xfrm>
          <a:prstGeom prst="line">
            <a:avLst/>
          </a:prstGeom>
          <a:ln w="17780" cap="rnd">
            <a:solidFill>
              <a:srgbClr val="7545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域控制器面板_0150"/>
          <p:cNvSpPr/>
          <p:nvPr/>
        </p:nvSpPr>
        <p:spPr>
          <a:xfrm>
            <a:off x="5798518" y="1988895"/>
            <a:ext cx="601949" cy="761960"/>
          </a:xfrm>
          <a:prstGeom prst="roundRect">
            <a:avLst>
              <a:gd name="adj" fmla="val 10000"/>
            </a:avLst>
          </a:prstGeom>
          <a:solidFill>
            <a:srgbClr val="FFF4E4"/>
          </a:solidFill>
          <a:ln w="12700" cap="rnd">
            <a:solidFill>
              <a:srgbClr val="E98B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50" name="域控制器名称_车身域_控制器_0151"/>
          <p:cNvSpPr txBox="1"/>
          <p:nvPr/>
        </p:nvSpPr>
        <p:spPr>
          <a:xfrm>
            <a:off x="5813757" y="2042232"/>
            <a:ext cx="571470" cy="320023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85" b="1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车身域</a:t>
            </a:r>
            <a:endParaRPr sz="1085" b="1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85" b="1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控制器</a:t>
            </a:r>
            <a:endParaRPr sz="1085" b="1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51" name="图标_car_0152"/>
          <p:cNvGrpSpPr/>
          <p:nvPr/>
        </p:nvGrpSpPr>
        <p:grpSpPr>
          <a:xfrm>
            <a:off x="5997998" y="2440661"/>
            <a:ext cx="202987" cy="211444"/>
            <a:chOff x="7197973" y="2928731"/>
            <a:chExt cx="243597" cy="253746"/>
          </a:xfrm>
        </p:grpSpPr>
        <p:sp>
          <p:nvSpPr>
            <p:cNvPr id="152" name="图标线_0153"/>
            <p:cNvSpPr/>
            <p:nvPr/>
          </p:nvSpPr>
          <p:spPr>
            <a:xfrm>
              <a:off x="7197973" y="2928731"/>
              <a:ext cx="243597" cy="192847"/>
            </a:xfrm>
            <a:custGeom>
              <a:avLst/>
              <a:gdLst/>
              <a:ahLst/>
              <a:cxnLst/>
              <a:rect l="l" t="t" r="r" b="b"/>
              <a:pathLst>
                <a:path w="243597" h="192847">
                  <a:moveTo>
                    <a:pt x="0" y="192847"/>
                  </a:moveTo>
                  <a:lnTo>
                    <a:pt x="0" y="94732"/>
                  </a:lnTo>
                  <a:lnTo>
                    <a:pt x="47366" y="0"/>
                  </a:lnTo>
                  <a:lnTo>
                    <a:pt x="202997" y="0"/>
                  </a:lnTo>
                  <a:lnTo>
                    <a:pt x="243597" y="94732"/>
                  </a:lnTo>
                  <a:lnTo>
                    <a:pt x="243597" y="192847"/>
                  </a:lnTo>
                  <a:lnTo>
                    <a:pt x="0" y="192847"/>
                  </a:lnTo>
                  <a:close/>
                </a:path>
              </a:pathLst>
            </a:custGeom>
            <a:noFill/>
            <a:ln w="20320" cap="rnd">
              <a:solidFill>
                <a:srgbClr val="E98B2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153" name="图标线_0154"/>
            <p:cNvCxnSpPr/>
            <p:nvPr/>
          </p:nvCxnSpPr>
          <p:spPr>
            <a:xfrm>
              <a:off x="7218273" y="3026846"/>
              <a:ext cx="202997" cy="0"/>
            </a:xfrm>
            <a:prstGeom prst="line">
              <a:avLst/>
            </a:prstGeom>
            <a:ln w="20320" cap="rnd">
              <a:solidFill>
                <a:srgbClr val="E98B2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图标部件_0155"/>
            <p:cNvSpPr/>
            <p:nvPr/>
          </p:nvSpPr>
          <p:spPr>
            <a:xfrm>
              <a:off x="7228423" y="3064062"/>
              <a:ext cx="43982" cy="33832"/>
            </a:xfrm>
            <a:prstGeom prst="ellipse">
              <a:avLst/>
            </a:prstGeom>
            <a:solidFill>
              <a:srgbClr val="E98B21"/>
            </a:solidFill>
            <a:ln w="16510" cap="rnd">
              <a:solidFill>
                <a:srgbClr val="E98B2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155" name="图标部件_0156"/>
            <p:cNvSpPr/>
            <p:nvPr/>
          </p:nvSpPr>
          <p:spPr>
            <a:xfrm>
              <a:off x="7370521" y="3064062"/>
              <a:ext cx="43982" cy="33832"/>
            </a:xfrm>
            <a:prstGeom prst="ellipse">
              <a:avLst/>
            </a:prstGeom>
            <a:solidFill>
              <a:srgbClr val="E98B21"/>
            </a:solidFill>
            <a:ln w="16510" cap="rnd">
              <a:solidFill>
                <a:srgbClr val="E98B2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156" name="图标部件_0157"/>
            <p:cNvSpPr/>
            <p:nvPr/>
          </p:nvSpPr>
          <p:spPr>
            <a:xfrm>
              <a:off x="7197973" y="3128345"/>
              <a:ext cx="47365" cy="54132"/>
            </a:xfrm>
            <a:prstGeom prst="roundRect">
              <a:avLst>
                <a:gd name="adj" fmla="val 10000"/>
              </a:avLst>
            </a:prstGeom>
            <a:solidFill>
              <a:srgbClr val="E98B21"/>
            </a:solidFill>
            <a:ln w="16510" cap="rnd">
              <a:solidFill>
                <a:srgbClr val="E98B2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157" name="图标部件_0158"/>
            <p:cNvSpPr/>
            <p:nvPr/>
          </p:nvSpPr>
          <p:spPr>
            <a:xfrm>
              <a:off x="7394204" y="3128345"/>
              <a:ext cx="47365" cy="54132"/>
            </a:xfrm>
            <a:prstGeom prst="roundRect">
              <a:avLst>
                <a:gd name="adj" fmla="val 10000"/>
              </a:avLst>
            </a:prstGeom>
            <a:solidFill>
              <a:srgbClr val="E98B21"/>
            </a:solidFill>
            <a:ln w="16510" cap="rnd">
              <a:solidFill>
                <a:srgbClr val="E98B2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</p:grpSp>
      <p:cxnSp>
        <p:nvCxnSpPr>
          <p:cNvPr id="158" name="连接线_0159"/>
          <p:cNvCxnSpPr/>
          <p:nvPr/>
        </p:nvCxnSpPr>
        <p:spPr>
          <a:xfrm>
            <a:off x="6095683" y="2750855"/>
            <a:ext cx="0" cy="121914"/>
          </a:xfrm>
          <a:prstGeom prst="line">
            <a:avLst/>
          </a:prstGeom>
          <a:ln w="14604" cap="rnd">
            <a:solidFill>
              <a:srgbClr val="E98B2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域内功能_0160"/>
          <p:cNvSpPr/>
          <p:nvPr/>
        </p:nvSpPr>
        <p:spPr>
          <a:xfrm>
            <a:off x="5798518" y="2865149"/>
            <a:ext cx="601949" cy="297165"/>
          </a:xfrm>
          <a:prstGeom prst="roundRect">
            <a:avLst>
              <a:gd name="adj" fmla="val 10000"/>
            </a:avLst>
          </a:prstGeom>
          <a:solidFill>
            <a:srgbClr val="FFF4E4"/>
          </a:solidFill>
          <a:ln w="5080" cap="rnd">
            <a:solidFill>
              <a:srgbClr val="E98B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60" name="域内功能文字_车灯_0161"/>
          <p:cNvSpPr txBox="1"/>
          <p:nvPr/>
        </p:nvSpPr>
        <p:spPr>
          <a:xfrm>
            <a:off x="5806138" y="2872768"/>
            <a:ext cx="586709" cy="281925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车灯</a:t>
            </a:r>
            <a:endParaRPr sz="1010" b="0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1" name="连接线_0162"/>
          <p:cNvCxnSpPr/>
          <p:nvPr/>
        </p:nvCxnSpPr>
        <p:spPr>
          <a:xfrm>
            <a:off x="6095683" y="2750855"/>
            <a:ext cx="0" cy="121914"/>
          </a:xfrm>
          <a:prstGeom prst="line">
            <a:avLst/>
          </a:prstGeom>
          <a:ln w="14604" cap="rnd">
            <a:solidFill>
              <a:srgbClr val="E98B2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域内功能_0163"/>
          <p:cNvSpPr/>
          <p:nvPr/>
        </p:nvSpPr>
        <p:spPr>
          <a:xfrm>
            <a:off x="5798518" y="3215651"/>
            <a:ext cx="601949" cy="297165"/>
          </a:xfrm>
          <a:prstGeom prst="roundRect">
            <a:avLst>
              <a:gd name="adj" fmla="val 10000"/>
            </a:avLst>
          </a:prstGeom>
          <a:solidFill>
            <a:srgbClr val="FFF4E4"/>
          </a:solidFill>
          <a:ln w="5080" cap="rnd">
            <a:solidFill>
              <a:srgbClr val="E98B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63" name="域内功能文字_车窗_0164"/>
          <p:cNvSpPr txBox="1"/>
          <p:nvPr/>
        </p:nvSpPr>
        <p:spPr>
          <a:xfrm>
            <a:off x="5806138" y="3223270"/>
            <a:ext cx="586709" cy="281925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车窗</a:t>
            </a:r>
            <a:endParaRPr sz="1010" b="0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4" name="连接线_0165"/>
          <p:cNvCxnSpPr/>
          <p:nvPr/>
        </p:nvCxnSpPr>
        <p:spPr>
          <a:xfrm>
            <a:off x="6095683" y="2750855"/>
            <a:ext cx="0" cy="121914"/>
          </a:xfrm>
          <a:prstGeom prst="line">
            <a:avLst/>
          </a:prstGeom>
          <a:ln w="14604" cap="rnd">
            <a:solidFill>
              <a:srgbClr val="E98B2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域内功能_0166"/>
          <p:cNvSpPr/>
          <p:nvPr/>
        </p:nvSpPr>
        <p:spPr>
          <a:xfrm>
            <a:off x="5798518" y="3566153"/>
            <a:ext cx="601949" cy="297165"/>
          </a:xfrm>
          <a:prstGeom prst="roundRect">
            <a:avLst>
              <a:gd name="adj" fmla="val 10000"/>
            </a:avLst>
          </a:prstGeom>
          <a:solidFill>
            <a:srgbClr val="FFF4E4"/>
          </a:solidFill>
          <a:ln w="5080" cap="rnd">
            <a:solidFill>
              <a:srgbClr val="E98B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66" name="域内功能文字_门锁_0167"/>
          <p:cNvSpPr txBox="1"/>
          <p:nvPr/>
        </p:nvSpPr>
        <p:spPr>
          <a:xfrm>
            <a:off x="5806138" y="3573772"/>
            <a:ext cx="586709" cy="281925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门锁</a:t>
            </a:r>
            <a:endParaRPr sz="1010" b="0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7" name="连接线_0168"/>
          <p:cNvCxnSpPr/>
          <p:nvPr/>
        </p:nvCxnSpPr>
        <p:spPr>
          <a:xfrm>
            <a:off x="6095683" y="2750855"/>
            <a:ext cx="0" cy="121914"/>
          </a:xfrm>
          <a:prstGeom prst="line">
            <a:avLst/>
          </a:prstGeom>
          <a:ln w="14604" cap="rnd">
            <a:solidFill>
              <a:srgbClr val="E98B2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域内功能_0169"/>
          <p:cNvSpPr/>
          <p:nvPr/>
        </p:nvSpPr>
        <p:spPr>
          <a:xfrm>
            <a:off x="5798518" y="3916655"/>
            <a:ext cx="601949" cy="297165"/>
          </a:xfrm>
          <a:prstGeom prst="roundRect">
            <a:avLst>
              <a:gd name="adj" fmla="val 10000"/>
            </a:avLst>
          </a:prstGeom>
          <a:solidFill>
            <a:srgbClr val="FFF4E4"/>
          </a:solidFill>
          <a:ln w="5080" cap="rnd">
            <a:solidFill>
              <a:srgbClr val="E98B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69" name="域内功能文字_…_0170"/>
          <p:cNvSpPr txBox="1"/>
          <p:nvPr/>
        </p:nvSpPr>
        <p:spPr>
          <a:xfrm>
            <a:off x="5806138" y="3924273"/>
            <a:ext cx="586709" cy="281925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</a:t>
            </a:r>
            <a:endParaRPr sz="1010" b="0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0" name="连接线_0171"/>
          <p:cNvCxnSpPr/>
          <p:nvPr/>
        </p:nvCxnSpPr>
        <p:spPr>
          <a:xfrm>
            <a:off x="6804306" y="1828883"/>
            <a:ext cx="0" cy="160012"/>
          </a:xfrm>
          <a:prstGeom prst="line">
            <a:avLst/>
          </a:prstGeom>
          <a:ln w="17780" cap="rnd">
            <a:solidFill>
              <a:srgbClr val="7545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连接线_0172"/>
          <p:cNvCxnSpPr/>
          <p:nvPr/>
        </p:nvCxnSpPr>
        <p:spPr>
          <a:xfrm>
            <a:off x="6804306" y="1828883"/>
            <a:ext cx="708623" cy="0"/>
          </a:xfrm>
          <a:prstGeom prst="line">
            <a:avLst/>
          </a:prstGeom>
          <a:ln w="17780" cap="rnd">
            <a:solidFill>
              <a:srgbClr val="166A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域控制器面板_0173"/>
          <p:cNvSpPr/>
          <p:nvPr/>
        </p:nvSpPr>
        <p:spPr>
          <a:xfrm>
            <a:off x="6507140" y="1988895"/>
            <a:ext cx="601949" cy="761960"/>
          </a:xfrm>
          <a:prstGeom prst="roundRect">
            <a:avLst>
              <a:gd name="adj" fmla="val 10000"/>
            </a:avLst>
          </a:prstGeom>
          <a:solidFill>
            <a:srgbClr val="F1EDFF"/>
          </a:solidFill>
          <a:ln w="12700" cap="rnd">
            <a:solidFill>
              <a:srgbClr val="754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73" name="域控制器名称_座舱域_控制器_0174"/>
          <p:cNvSpPr txBox="1"/>
          <p:nvPr/>
        </p:nvSpPr>
        <p:spPr>
          <a:xfrm>
            <a:off x="6522379" y="2042232"/>
            <a:ext cx="571470" cy="320023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85" b="1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座舱域</a:t>
            </a:r>
            <a:endParaRPr sz="1085" b="1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85" b="1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控制器</a:t>
            </a:r>
            <a:endParaRPr sz="1085" b="1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74" name="图标_seat_0175"/>
          <p:cNvGrpSpPr/>
          <p:nvPr/>
        </p:nvGrpSpPr>
        <p:grpSpPr>
          <a:xfrm>
            <a:off x="6799657" y="2409649"/>
            <a:ext cx="67661" cy="62023"/>
            <a:chOff x="8160014" y="2891515"/>
            <a:chExt cx="81198" cy="74432"/>
          </a:xfrm>
        </p:grpSpPr>
        <p:sp>
          <p:nvSpPr>
            <p:cNvPr id="175" name="图标部件_0176"/>
            <p:cNvSpPr/>
            <p:nvPr/>
          </p:nvSpPr>
          <p:spPr>
            <a:xfrm>
              <a:off x="8160014" y="2891515"/>
              <a:ext cx="81198" cy="74432"/>
            </a:xfrm>
            <a:prstGeom prst="ellipse">
              <a:avLst/>
            </a:prstGeom>
            <a:solidFill>
              <a:srgbClr val="7545D9"/>
            </a:solidFill>
            <a:ln w="16510" cap="rnd">
              <a:solidFill>
                <a:srgbClr val="7545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176" name="图标线_0177"/>
            <p:cNvSpPr/>
            <p:nvPr/>
          </p:nvSpPr>
          <p:spPr>
            <a:xfrm>
              <a:off x="8041599" y="2982864"/>
              <a:ext cx="179314" cy="172547"/>
            </a:xfrm>
            <a:custGeom>
              <a:avLst/>
              <a:gdLst/>
              <a:ahLst/>
              <a:cxnLst/>
              <a:rect l="l" t="t" r="r" b="b"/>
              <a:pathLst>
                <a:path w="179314" h="172547">
                  <a:moveTo>
                    <a:pt x="104882" y="0"/>
                  </a:moveTo>
                  <a:lnTo>
                    <a:pt x="179314" y="6766"/>
                  </a:lnTo>
                  <a:lnTo>
                    <a:pt x="152247" y="98115"/>
                  </a:lnTo>
                  <a:lnTo>
                    <a:pt x="77815" y="108265"/>
                  </a:lnTo>
                  <a:lnTo>
                    <a:pt x="64282" y="172547"/>
                  </a:lnTo>
                  <a:lnTo>
                    <a:pt x="0" y="172547"/>
                  </a:lnTo>
                  <a:lnTo>
                    <a:pt x="20300" y="67665"/>
                  </a:lnTo>
                  <a:lnTo>
                    <a:pt x="94732" y="54132"/>
                  </a:lnTo>
                  <a:lnTo>
                    <a:pt x="104882" y="0"/>
                  </a:lnTo>
                  <a:close/>
                </a:path>
              </a:pathLst>
            </a:custGeom>
            <a:solidFill>
              <a:srgbClr val="7545D9"/>
            </a:solidFill>
            <a:ln w="20320" cap="rnd">
              <a:solidFill>
                <a:srgbClr val="7545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177" name="图标线_0178"/>
            <p:cNvSpPr/>
            <p:nvPr/>
          </p:nvSpPr>
          <p:spPr>
            <a:xfrm>
              <a:off x="8132947" y="3104662"/>
              <a:ext cx="148865" cy="74432"/>
            </a:xfrm>
            <a:custGeom>
              <a:avLst/>
              <a:gdLst/>
              <a:ahLst/>
              <a:cxnLst/>
              <a:rect l="l" t="t" r="r" b="b"/>
              <a:pathLst>
                <a:path w="148865" h="74432">
                  <a:moveTo>
                    <a:pt x="71049" y="0"/>
                  </a:moveTo>
                  <a:lnTo>
                    <a:pt x="131948" y="10150"/>
                  </a:lnTo>
                  <a:lnTo>
                    <a:pt x="148865" y="74432"/>
                  </a:lnTo>
                  <a:lnTo>
                    <a:pt x="0" y="74432"/>
                  </a:lnTo>
                </a:path>
              </a:pathLst>
            </a:custGeom>
            <a:noFill/>
            <a:ln w="20320" cap="rnd">
              <a:solidFill>
                <a:srgbClr val="7545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</p:grpSp>
      <p:cxnSp>
        <p:nvCxnSpPr>
          <p:cNvPr id="178" name="连接线_0179"/>
          <p:cNvCxnSpPr/>
          <p:nvPr/>
        </p:nvCxnSpPr>
        <p:spPr>
          <a:xfrm>
            <a:off x="6804306" y="2750855"/>
            <a:ext cx="0" cy="121914"/>
          </a:xfrm>
          <a:prstGeom prst="line">
            <a:avLst/>
          </a:prstGeom>
          <a:ln w="14604" cap="rnd">
            <a:solidFill>
              <a:srgbClr val="7545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域内功能_0180"/>
          <p:cNvSpPr/>
          <p:nvPr/>
        </p:nvSpPr>
        <p:spPr>
          <a:xfrm>
            <a:off x="6507140" y="2865149"/>
            <a:ext cx="601949" cy="297165"/>
          </a:xfrm>
          <a:prstGeom prst="roundRect">
            <a:avLst>
              <a:gd name="adj" fmla="val 10000"/>
            </a:avLst>
          </a:prstGeom>
          <a:solidFill>
            <a:srgbClr val="F1EDFF"/>
          </a:solidFill>
          <a:ln w="5080" cap="rnd">
            <a:solidFill>
              <a:srgbClr val="754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80" name="域内功能文字_仪表_0181"/>
          <p:cNvSpPr txBox="1"/>
          <p:nvPr/>
        </p:nvSpPr>
        <p:spPr>
          <a:xfrm>
            <a:off x="6514760" y="2872768"/>
            <a:ext cx="586709" cy="281925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仪表</a:t>
            </a:r>
            <a:endParaRPr sz="1010" b="0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81" name="连接线_0182"/>
          <p:cNvCxnSpPr/>
          <p:nvPr/>
        </p:nvCxnSpPr>
        <p:spPr>
          <a:xfrm>
            <a:off x="6804306" y="2750855"/>
            <a:ext cx="0" cy="121914"/>
          </a:xfrm>
          <a:prstGeom prst="line">
            <a:avLst/>
          </a:prstGeom>
          <a:ln w="14604" cap="rnd">
            <a:solidFill>
              <a:srgbClr val="7545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域内功能_0183"/>
          <p:cNvSpPr/>
          <p:nvPr/>
        </p:nvSpPr>
        <p:spPr>
          <a:xfrm>
            <a:off x="6507140" y="3215651"/>
            <a:ext cx="601949" cy="297165"/>
          </a:xfrm>
          <a:prstGeom prst="roundRect">
            <a:avLst>
              <a:gd name="adj" fmla="val 10000"/>
            </a:avLst>
          </a:prstGeom>
          <a:solidFill>
            <a:srgbClr val="F1EDFF"/>
          </a:solidFill>
          <a:ln w="5080" cap="rnd">
            <a:solidFill>
              <a:srgbClr val="754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83" name="域内功能文字_中控系统_0184"/>
          <p:cNvSpPr txBox="1"/>
          <p:nvPr/>
        </p:nvSpPr>
        <p:spPr>
          <a:xfrm>
            <a:off x="6514760" y="3223270"/>
            <a:ext cx="586709" cy="281925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中控系统</a:t>
            </a:r>
            <a:endParaRPr sz="1010" b="0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84" name="连接线_0185"/>
          <p:cNvCxnSpPr/>
          <p:nvPr/>
        </p:nvCxnSpPr>
        <p:spPr>
          <a:xfrm>
            <a:off x="6804306" y="2750855"/>
            <a:ext cx="0" cy="121914"/>
          </a:xfrm>
          <a:prstGeom prst="line">
            <a:avLst/>
          </a:prstGeom>
          <a:ln w="14604" cap="rnd">
            <a:solidFill>
              <a:srgbClr val="7545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域内功能_0186"/>
          <p:cNvSpPr/>
          <p:nvPr/>
        </p:nvSpPr>
        <p:spPr>
          <a:xfrm>
            <a:off x="6507140" y="3566153"/>
            <a:ext cx="601949" cy="297165"/>
          </a:xfrm>
          <a:prstGeom prst="roundRect">
            <a:avLst>
              <a:gd name="adj" fmla="val 10000"/>
            </a:avLst>
          </a:prstGeom>
          <a:solidFill>
            <a:srgbClr val="F1EDFF"/>
          </a:solidFill>
          <a:ln w="5080" cap="rnd">
            <a:solidFill>
              <a:srgbClr val="754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86" name="域内功能文字_空调_0187"/>
          <p:cNvSpPr txBox="1"/>
          <p:nvPr/>
        </p:nvSpPr>
        <p:spPr>
          <a:xfrm>
            <a:off x="6514760" y="3573772"/>
            <a:ext cx="586709" cy="281925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空调</a:t>
            </a:r>
            <a:endParaRPr sz="1010" b="0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87" name="连接线_0188"/>
          <p:cNvCxnSpPr/>
          <p:nvPr/>
        </p:nvCxnSpPr>
        <p:spPr>
          <a:xfrm>
            <a:off x="6804306" y="2750855"/>
            <a:ext cx="0" cy="121914"/>
          </a:xfrm>
          <a:prstGeom prst="line">
            <a:avLst/>
          </a:prstGeom>
          <a:ln w="14604" cap="rnd">
            <a:solidFill>
              <a:srgbClr val="7545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域内功能_0189"/>
          <p:cNvSpPr/>
          <p:nvPr/>
        </p:nvSpPr>
        <p:spPr>
          <a:xfrm>
            <a:off x="6507140" y="3916655"/>
            <a:ext cx="601949" cy="297165"/>
          </a:xfrm>
          <a:prstGeom prst="roundRect">
            <a:avLst>
              <a:gd name="adj" fmla="val 10000"/>
            </a:avLst>
          </a:prstGeom>
          <a:solidFill>
            <a:srgbClr val="F1EDFF"/>
          </a:solidFill>
          <a:ln w="5080" cap="rnd">
            <a:solidFill>
              <a:srgbClr val="754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89" name="域内功能文字_…_0190"/>
          <p:cNvSpPr txBox="1"/>
          <p:nvPr/>
        </p:nvSpPr>
        <p:spPr>
          <a:xfrm>
            <a:off x="6514760" y="3924273"/>
            <a:ext cx="586709" cy="281925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</a:t>
            </a:r>
            <a:endParaRPr sz="1010" b="0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0" name="连接线_0191"/>
          <p:cNvCxnSpPr/>
          <p:nvPr/>
        </p:nvCxnSpPr>
        <p:spPr>
          <a:xfrm>
            <a:off x="7512929" y="1828883"/>
            <a:ext cx="0" cy="160012"/>
          </a:xfrm>
          <a:prstGeom prst="line">
            <a:avLst/>
          </a:prstGeom>
          <a:ln w="17780" cap="rnd">
            <a:solidFill>
              <a:srgbClr val="166A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域控制器面板_0192"/>
          <p:cNvSpPr/>
          <p:nvPr/>
        </p:nvSpPr>
        <p:spPr>
          <a:xfrm>
            <a:off x="7215764" y="1988895"/>
            <a:ext cx="601949" cy="761960"/>
          </a:xfrm>
          <a:prstGeom prst="roundRect">
            <a:avLst>
              <a:gd name="adj" fmla="val 10000"/>
            </a:avLst>
          </a:prstGeom>
          <a:solidFill>
            <a:srgbClr val="E9F4FF"/>
          </a:solidFill>
          <a:ln w="12700" cap="rnd">
            <a:solidFill>
              <a:srgbClr val="166A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92" name="域控制器名称_ADAS_域控制器_0193"/>
          <p:cNvSpPr txBox="1"/>
          <p:nvPr/>
        </p:nvSpPr>
        <p:spPr>
          <a:xfrm>
            <a:off x="7231003" y="2042232"/>
            <a:ext cx="571470" cy="320023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5" b="1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ADAS</a:t>
            </a:r>
            <a:endParaRPr sz="1005" b="1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5" b="1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域控制器</a:t>
            </a:r>
            <a:endParaRPr sz="1005" b="1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93" name="图标_lane_0194"/>
          <p:cNvGrpSpPr/>
          <p:nvPr/>
        </p:nvGrpSpPr>
        <p:grpSpPr>
          <a:xfrm>
            <a:off x="7415245" y="2426565"/>
            <a:ext cx="202987" cy="219902"/>
            <a:chOff x="8898757" y="2911815"/>
            <a:chExt cx="243597" cy="263896"/>
          </a:xfrm>
        </p:grpSpPr>
        <p:sp>
          <p:nvSpPr>
            <p:cNvPr id="194" name="图标线_0195"/>
            <p:cNvSpPr/>
            <p:nvPr/>
          </p:nvSpPr>
          <p:spPr>
            <a:xfrm>
              <a:off x="8898757" y="2911815"/>
              <a:ext cx="67666" cy="263896"/>
            </a:xfrm>
            <a:custGeom>
              <a:avLst/>
              <a:gdLst/>
              <a:ahLst/>
              <a:cxnLst/>
              <a:rect l="l" t="t" r="r" b="b"/>
              <a:pathLst>
                <a:path w="67666" h="263896">
                  <a:moveTo>
                    <a:pt x="0" y="263896"/>
                  </a:moveTo>
                  <a:lnTo>
                    <a:pt x="67666" y="0"/>
                  </a:lnTo>
                </a:path>
              </a:pathLst>
            </a:custGeom>
            <a:noFill/>
            <a:ln w="2032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195" name="图标线_0196"/>
            <p:cNvSpPr/>
            <p:nvPr/>
          </p:nvSpPr>
          <p:spPr>
            <a:xfrm>
              <a:off x="9074688" y="2911815"/>
              <a:ext cx="67666" cy="263896"/>
            </a:xfrm>
            <a:custGeom>
              <a:avLst/>
              <a:gdLst/>
              <a:ahLst/>
              <a:cxnLst/>
              <a:rect l="l" t="t" r="r" b="b"/>
              <a:pathLst>
                <a:path w="67666" h="263896">
                  <a:moveTo>
                    <a:pt x="67666" y="263896"/>
                  </a:moveTo>
                  <a:lnTo>
                    <a:pt x="0" y="0"/>
                  </a:lnTo>
                </a:path>
              </a:pathLst>
            </a:custGeom>
            <a:noFill/>
            <a:ln w="2032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196" name="图标线_0197"/>
            <p:cNvCxnSpPr/>
            <p:nvPr/>
          </p:nvCxnSpPr>
          <p:spPr>
            <a:xfrm flipV="1">
              <a:off x="9020556" y="3084362"/>
              <a:ext cx="0" cy="57516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图标线_0198"/>
            <p:cNvCxnSpPr/>
            <p:nvPr/>
          </p:nvCxnSpPr>
          <p:spPr>
            <a:xfrm flipV="1">
              <a:off x="9020556" y="2965947"/>
              <a:ext cx="0" cy="64283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8" name="连接线_0199"/>
          <p:cNvCxnSpPr/>
          <p:nvPr/>
        </p:nvCxnSpPr>
        <p:spPr>
          <a:xfrm>
            <a:off x="7512929" y="2750855"/>
            <a:ext cx="0" cy="121914"/>
          </a:xfrm>
          <a:prstGeom prst="line">
            <a:avLst/>
          </a:prstGeom>
          <a:ln w="14604" cap="rnd">
            <a:solidFill>
              <a:srgbClr val="166A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域内功能_0200"/>
          <p:cNvSpPr/>
          <p:nvPr/>
        </p:nvSpPr>
        <p:spPr>
          <a:xfrm>
            <a:off x="7215764" y="2865149"/>
            <a:ext cx="601949" cy="297165"/>
          </a:xfrm>
          <a:prstGeom prst="roundRect">
            <a:avLst>
              <a:gd name="adj" fmla="val 10000"/>
            </a:avLst>
          </a:prstGeom>
          <a:solidFill>
            <a:srgbClr val="E9F4FF"/>
          </a:solidFill>
          <a:ln w="5080" cap="rnd">
            <a:solidFill>
              <a:srgbClr val="166A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00" name="域内功能文字_摄像头_0201"/>
          <p:cNvSpPr txBox="1"/>
          <p:nvPr/>
        </p:nvSpPr>
        <p:spPr>
          <a:xfrm>
            <a:off x="7223384" y="2872768"/>
            <a:ext cx="586709" cy="281925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摄像头</a:t>
            </a:r>
            <a:endParaRPr sz="1010" b="0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01" name="连接线_0202"/>
          <p:cNvCxnSpPr/>
          <p:nvPr/>
        </p:nvCxnSpPr>
        <p:spPr>
          <a:xfrm>
            <a:off x="7512929" y="2750855"/>
            <a:ext cx="0" cy="121914"/>
          </a:xfrm>
          <a:prstGeom prst="line">
            <a:avLst/>
          </a:prstGeom>
          <a:ln w="14604" cap="rnd">
            <a:solidFill>
              <a:srgbClr val="166A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域内功能_0203"/>
          <p:cNvSpPr/>
          <p:nvPr/>
        </p:nvSpPr>
        <p:spPr>
          <a:xfrm>
            <a:off x="7215764" y="3215651"/>
            <a:ext cx="601949" cy="297165"/>
          </a:xfrm>
          <a:prstGeom prst="roundRect">
            <a:avLst>
              <a:gd name="adj" fmla="val 10000"/>
            </a:avLst>
          </a:prstGeom>
          <a:solidFill>
            <a:srgbClr val="E9F4FF"/>
          </a:solidFill>
          <a:ln w="5080" cap="rnd">
            <a:solidFill>
              <a:srgbClr val="166A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03" name="域内功能文字_毫米波_雷达_0204"/>
          <p:cNvSpPr txBox="1"/>
          <p:nvPr/>
        </p:nvSpPr>
        <p:spPr>
          <a:xfrm>
            <a:off x="7223384" y="3223270"/>
            <a:ext cx="586709" cy="281925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毫米波</a:t>
            </a:r>
            <a:endParaRPr sz="960" b="0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雷达</a:t>
            </a:r>
            <a:endParaRPr sz="960" b="0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04" name="连接线_0205"/>
          <p:cNvCxnSpPr/>
          <p:nvPr/>
        </p:nvCxnSpPr>
        <p:spPr>
          <a:xfrm>
            <a:off x="7512929" y="2750855"/>
            <a:ext cx="0" cy="121914"/>
          </a:xfrm>
          <a:prstGeom prst="line">
            <a:avLst/>
          </a:prstGeom>
          <a:ln w="14604" cap="rnd">
            <a:solidFill>
              <a:srgbClr val="166A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域内功能_0206"/>
          <p:cNvSpPr/>
          <p:nvPr/>
        </p:nvSpPr>
        <p:spPr>
          <a:xfrm>
            <a:off x="7215764" y="3566153"/>
            <a:ext cx="601949" cy="297165"/>
          </a:xfrm>
          <a:prstGeom prst="roundRect">
            <a:avLst>
              <a:gd name="adj" fmla="val 10000"/>
            </a:avLst>
          </a:prstGeom>
          <a:solidFill>
            <a:srgbClr val="E9F4FF"/>
          </a:solidFill>
          <a:ln w="5080" cap="rnd">
            <a:solidFill>
              <a:srgbClr val="166A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06" name="域内功能文字_超声波_雷达_0207"/>
          <p:cNvSpPr txBox="1"/>
          <p:nvPr/>
        </p:nvSpPr>
        <p:spPr>
          <a:xfrm>
            <a:off x="7223384" y="3573772"/>
            <a:ext cx="586709" cy="281925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超声波</a:t>
            </a:r>
            <a:endParaRPr sz="960" b="0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雷达</a:t>
            </a:r>
            <a:endParaRPr sz="960" b="0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07" name="连接线_0208"/>
          <p:cNvCxnSpPr/>
          <p:nvPr/>
        </p:nvCxnSpPr>
        <p:spPr>
          <a:xfrm>
            <a:off x="7512929" y="2750855"/>
            <a:ext cx="0" cy="121914"/>
          </a:xfrm>
          <a:prstGeom prst="line">
            <a:avLst/>
          </a:prstGeom>
          <a:ln w="14604" cap="rnd">
            <a:solidFill>
              <a:srgbClr val="166A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域内功能_0209"/>
          <p:cNvSpPr/>
          <p:nvPr/>
        </p:nvSpPr>
        <p:spPr>
          <a:xfrm>
            <a:off x="7215764" y="3916655"/>
            <a:ext cx="601949" cy="297165"/>
          </a:xfrm>
          <a:prstGeom prst="roundRect">
            <a:avLst>
              <a:gd name="adj" fmla="val 10000"/>
            </a:avLst>
          </a:prstGeom>
          <a:solidFill>
            <a:srgbClr val="E9F4FF"/>
          </a:solidFill>
          <a:ln w="5080" cap="rnd">
            <a:solidFill>
              <a:srgbClr val="166A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09" name="域内功能文字_…_0210"/>
          <p:cNvSpPr txBox="1"/>
          <p:nvPr/>
        </p:nvSpPr>
        <p:spPr>
          <a:xfrm>
            <a:off x="7223384" y="3924273"/>
            <a:ext cx="586709" cy="281925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</a:t>
            </a:r>
            <a:endParaRPr sz="1010" b="0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10" name="连接线_0211"/>
          <p:cNvCxnSpPr/>
          <p:nvPr/>
        </p:nvCxnSpPr>
        <p:spPr>
          <a:xfrm>
            <a:off x="4434609" y="4419548"/>
            <a:ext cx="228588" cy="0"/>
          </a:xfrm>
          <a:prstGeom prst="line">
            <a:avLst/>
          </a:prstGeom>
          <a:ln w="25400" cap="rnd">
            <a:solidFill>
              <a:srgbClr val="087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文字_CAN总线_0212"/>
          <p:cNvSpPr txBox="1"/>
          <p:nvPr/>
        </p:nvSpPr>
        <p:spPr>
          <a:xfrm>
            <a:off x="4708915" y="4320494"/>
            <a:ext cx="777200" cy="213349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CAN总线</a:t>
            </a:r>
            <a:endParaRPr sz="1060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12" name="连接线_0213"/>
          <p:cNvCxnSpPr/>
          <p:nvPr/>
        </p:nvCxnSpPr>
        <p:spPr>
          <a:xfrm>
            <a:off x="5615648" y="4419548"/>
            <a:ext cx="228588" cy="0"/>
          </a:xfrm>
          <a:prstGeom prst="line">
            <a:avLst/>
          </a:prstGeom>
          <a:ln w="25400" cap="rnd">
            <a:solidFill>
              <a:srgbClr val="2A9B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文字_LIN总线_0214"/>
          <p:cNvSpPr txBox="1"/>
          <p:nvPr/>
        </p:nvSpPr>
        <p:spPr>
          <a:xfrm>
            <a:off x="5889953" y="4320494"/>
            <a:ext cx="761960" cy="213349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LIN总线</a:t>
            </a:r>
            <a:endParaRPr sz="1060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14" name="连接线_0215"/>
          <p:cNvCxnSpPr/>
          <p:nvPr/>
        </p:nvCxnSpPr>
        <p:spPr>
          <a:xfrm>
            <a:off x="6690012" y="4419548"/>
            <a:ext cx="228588" cy="0"/>
          </a:xfrm>
          <a:prstGeom prst="line">
            <a:avLst/>
          </a:prstGeom>
          <a:ln w="25400" cap="rnd">
            <a:solidFill>
              <a:srgbClr val="7545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文字_以太网（部分）_0216"/>
          <p:cNvSpPr txBox="1"/>
          <p:nvPr/>
        </p:nvSpPr>
        <p:spPr>
          <a:xfrm>
            <a:off x="6964317" y="4320494"/>
            <a:ext cx="1104842" cy="213349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以太网（部分）</a:t>
            </a:r>
            <a:endParaRPr sz="1060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6" name="中央计算平台_0217"/>
          <p:cNvSpPr/>
          <p:nvPr/>
        </p:nvSpPr>
        <p:spPr>
          <a:xfrm>
            <a:off x="8648250" y="1813644"/>
            <a:ext cx="2384936" cy="601949"/>
          </a:xfrm>
          <a:prstGeom prst="roundRect">
            <a:avLst>
              <a:gd name="adj" fmla="val 10000"/>
            </a:avLst>
          </a:prstGeom>
          <a:solidFill>
            <a:srgbClr val="CBE7FC"/>
          </a:solidFill>
          <a:ln w="11430" cap="rnd">
            <a:solidFill>
              <a:srgbClr val="2B9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grpSp>
        <p:nvGrpSpPr>
          <p:cNvPr id="217" name="图标_chip_0218"/>
          <p:cNvGrpSpPr/>
          <p:nvPr/>
        </p:nvGrpSpPr>
        <p:grpSpPr>
          <a:xfrm>
            <a:off x="8803231" y="1976246"/>
            <a:ext cx="261506" cy="261506"/>
            <a:chOff x="10564428" y="2371404"/>
            <a:chExt cx="313823" cy="313823"/>
          </a:xfrm>
        </p:grpSpPr>
        <p:sp>
          <p:nvSpPr>
            <p:cNvPr id="218" name="图标部件_0219"/>
            <p:cNvSpPr/>
            <p:nvPr/>
          </p:nvSpPr>
          <p:spPr>
            <a:xfrm>
              <a:off x="10621487" y="2428463"/>
              <a:ext cx="199704" cy="199704"/>
            </a:xfrm>
            <a:prstGeom prst="roundRect">
              <a:avLst>
                <a:gd name="adj" fmla="val 10000"/>
              </a:avLst>
            </a:prstGeom>
            <a:solidFill>
              <a:srgbClr val="0C4F89"/>
            </a:solidFill>
            <a:ln w="16510" cap="rnd">
              <a:solidFill>
                <a:srgbClr val="0C4F8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219" name="图标部件_0220"/>
            <p:cNvSpPr/>
            <p:nvPr/>
          </p:nvSpPr>
          <p:spPr>
            <a:xfrm>
              <a:off x="10674979" y="2481955"/>
              <a:ext cx="92720" cy="92720"/>
            </a:xfrm>
            <a:prstGeom prst="rect">
              <a:avLst/>
            </a:prstGeom>
            <a:solidFill>
              <a:srgbClr val="FFFFFF"/>
            </a:solidFill>
            <a:ln w="16510" cap="rnd">
              <a:solidFill>
                <a:srgbClr val="0C4F8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220" name="图标线_0221"/>
            <p:cNvCxnSpPr/>
            <p:nvPr/>
          </p:nvCxnSpPr>
          <p:spPr>
            <a:xfrm>
              <a:off x="10650016" y="2371404"/>
              <a:ext cx="0" cy="46361"/>
            </a:xfrm>
            <a:prstGeom prst="line">
              <a:avLst/>
            </a:prstGeom>
            <a:ln w="20320" cap="rnd">
              <a:solidFill>
                <a:srgbClr val="0C4F8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图标线_0222"/>
            <p:cNvCxnSpPr/>
            <p:nvPr/>
          </p:nvCxnSpPr>
          <p:spPr>
            <a:xfrm>
              <a:off x="10650016" y="2638866"/>
              <a:ext cx="0" cy="46361"/>
            </a:xfrm>
            <a:prstGeom prst="line">
              <a:avLst/>
            </a:prstGeom>
            <a:ln w="20320" cap="rnd">
              <a:solidFill>
                <a:srgbClr val="0C4F8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图标线_0223"/>
            <p:cNvCxnSpPr/>
            <p:nvPr/>
          </p:nvCxnSpPr>
          <p:spPr>
            <a:xfrm>
              <a:off x="10564428" y="2456992"/>
              <a:ext cx="46361" cy="0"/>
            </a:xfrm>
            <a:prstGeom prst="line">
              <a:avLst/>
            </a:prstGeom>
            <a:ln w="20320" cap="rnd">
              <a:solidFill>
                <a:srgbClr val="0C4F8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图标线_0224"/>
            <p:cNvCxnSpPr/>
            <p:nvPr/>
          </p:nvCxnSpPr>
          <p:spPr>
            <a:xfrm>
              <a:off x="10831890" y="2456992"/>
              <a:ext cx="46361" cy="0"/>
            </a:xfrm>
            <a:prstGeom prst="line">
              <a:avLst/>
            </a:prstGeom>
            <a:ln w="20320" cap="rnd">
              <a:solidFill>
                <a:srgbClr val="0C4F8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图标线_0225"/>
            <p:cNvCxnSpPr/>
            <p:nvPr/>
          </p:nvCxnSpPr>
          <p:spPr>
            <a:xfrm>
              <a:off x="10696376" y="2371404"/>
              <a:ext cx="0" cy="46361"/>
            </a:xfrm>
            <a:prstGeom prst="line">
              <a:avLst/>
            </a:prstGeom>
            <a:ln w="20320" cap="rnd">
              <a:solidFill>
                <a:srgbClr val="0C4F8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图标线_0226"/>
            <p:cNvCxnSpPr/>
            <p:nvPr/>
          </p:nvCxnSpPr>
          <p:spPr>
            <a:xfrm>
              <a:off x="10696376" y="2638866"/>
              <a:ext cx="0" cy="46361"/>
            </a:xfrm>
            <a:prstGeom prst="line">
              <a:avLst/>
            </a:prstGeom>
            <a:ln w="20320" cap="rnd">
              <a:solidFill>
                <a:srgbClr val="0C4F8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图标线_0227"/>
            <p:cNvCxnSpPr/>
            <p:nvPr/>
          </p:nvCxnSpPr>
          <p:spPr>
            <a:xfrm>
              <a:off x="10564428" y="2503352"/>
              <a:ext cx="46361" cy="0"/>
            </a:xfrm>
            <a:prstGeom prst="line">
              <a:avLst/>
            </a:prstGeom>
            <a:ln w="20320" cap="rnd">
              <a:solidFill>
                <a:srgbClr val="0C4F8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图标线_0228"/>
            <p:cNvCxnSpPr/>
            <p:nvPr/>
          </p:nvCxnSpPr>
          <p:spPr>
            <a:xfrm>
              <a:off x="10831890" y="2503352"/>
              <a:ext cx="46361" cy="0"/>
            </a:xfrm>
            <a:prstGeom prst="line">
              <a:avLst/>
            </a:prstGeom>
            <a:ln w="20320" cap="rnd">
              <a:solidFill>
                <a:srgbClr val="0C4F8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图标线_0229"/>
            <p:cNvCxnSpPr/>
            <p:nvPr/>
          </p:nvCxnSpPr>
          <p:spPr>
            <a:xfrm>
              <a:off x="10746303" y="2371404"/>
              <a:ext cx="0" cy="46361"/>
            </a:xfrm>
            <a:prstGeom prst="line">
              <a:avLst/>
            </a:prstGeom>
            <a:ln w="20320" cap="rnd">
              <a:solidFill>
                <a:srgbClr val="0C4F8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图标线_0230"/>
            <p:cNvCxnSpPr/>
            <p:nvPr/>
          </p:nvCxnSpPr>
          <p:spPr>
            <a:xfrm>
              <a:off x="10746303" y="2638866"/>
              <a:ext cx="0" cy="46361"/>
            </a:xfrm>
            <a:prstGeom prst="line">
              <a:avLst/>
            </a:prstGeom>
            <a:ln w="20320" cap="rnd">
              <a:solidFill>
                <a:srgbClr val="0C4F8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图标线_0231"/>
            <p:cNvCxnSpPr/>
            <p:nvPr/>
          </p:nvCxnSpPr>
          <p:spPr>
            <a:xfrm>
              <a:off x="10564428" y="2553279"/>
              <a:ext cx="46361" cy="0"/>
            </a:xfrm>
            <a:prstGeom prst="line">
              <a:avLst/>
            </a:prstGeom>
            <a:ln w="20320" cap="rnd">
              <a:solidFill>
                <a:srgbClr val="0C4F8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图标线_0232"/>
            <p:cNvCxnSpPr/>
            <p:nvPr/>
          </p:nvCxnSpPr>
          <p:spPr>
            <a:xfrm>
              <a:off x="10831890" y="2553279"/>
              <a:ext cx="46361" cy="0"/>
            </a:xfrm>
            <a:prstGeom prst="line">
              <a:avLst/>
            </a:prstGeom>
            <a:ln w="20320" cap="rnd">
              <a:solidFill>
                <a:srgbClr val="0C4F8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图标线_0233"/>
            <p:cNvCxnSpPr/>
            <p:nvPr/>
          </p:nvCxnSpPr>
          <p:spPr>
            <a:xfrm>
              <a:off x="10792663" y="2371404"/>
              <a:ext cx="0" cy="46361"/>
            </a:xfrm>
            <a:prstGeom prst="line">
              <a:avLst/>
            </a:prstGeom>
            <a:ln w="20320" cap="rnd">
              <a:solidFill>
                <a:srgbClr val="0C4F8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图标线_0234"/>
            <p:cNvCxnSpPr/>
            <p:nvPr/>
          </p:nvCxnSpPr>
          <p:spPr>
            <a:xfrm>
              <a:off x="10792663" y="2638866"/>
              <a:ext cx="0" cy="46361"/>
            </a:xfrm>
            <a:prstGeom prst="line">
              <a:avLst/>
            </a:prstGeom>
            <a:ln w="20320" cap="rnd">
              <a:solidFill>
                <a:srgbClr val="0C4F8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图标线_0235"/>
            <p:cNvCxnSpPr/>
            <p:nvPr/>
          </p:nvCxnSpPr>
          <p:spPr>
            <a:xfrm>
              <a:off x="10564428" y="2599639"/>
              <a:ext cx="46361" cy="0"/>
            </a:xfrm>
            <a:prstGeom prst="line">
              <a:avLst/>
            </a:prstGeom>
            <a:ln w="20320" cap="rnd">
              <a:solidFill>
                <a:srgbClr val="0C4F8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图标线_0236"/>
            <p:cNvCxnSpPr/>
            <p:nvPr/>
          </p:nvCxnSpPr>
          <p:spPr>
            <a:xfrm>
              <a:off x="10831890" y="2599639"/>
              <a:ext cx="46361" cy="0"/>
            </a:xfrm>
            <a:prstGeom prst="line">
              <a:avLst/>
            </a:prstGeom>
            <a:ln w="20320" cap="rnd">
              <a:solidFill>
                <a:srgbClr val="0C4F8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6" name="文字_中央计算平台_0237"/>
          <p:cNvSpPr txBox="1"/>
          <p:nvPr/>
        </p:nvSpPr>
        <p:spPr>
          <a:xfrm>
            <a:off x="9151143" y="1874601"/>
            <a:ext cx="1706791" cy="236208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90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中央计算平台</a:t>
            </a:r>
            <a:endParaRPr sz="1590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7" name="文字_高性能计算 · 车云协同 · 软件平_0238"/>
          <p:cNvSpPr txBox="1"/>
          <p:nvPr/>
        </p:nvSpPr>
        <p:spPr>
          <a:xfrm>
            <a:off x="8793022" y="2194624"/>
            <a:ext cx="2103010" cy="152392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85" b="0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高性能计算 · 车云协同 · 软件平台</a:t>
            </a:r>
            <a:endParaRPr sz="985" b="0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38" name="图标_cloud_0239"/>
          <p:cNvGrpSpPr/>
          <p:nvPr/>
        </p:nvGrpSpPr>
        <p:grpSpPr>
          <a:xfrm>
            <a:off x="11393135" y="1886792"/>
            <a:ext cx="392561" cy="298688"/>
            <a:chOff x="13672474" y="2264054"/>
            <a:chExt cx="471098" cy="358444"/>
          </a:xfrm>
        </p:grpSpPr>
        <p:sp>
          <p:nvSpPr>
            <p:cNvPr id="239" name="云轮廓_0240"/>
            <p:cNvSpPr/>
            <p:nvPr/>
          </p:nvSpPr>
          <p:spPr>
            <a:xfrm>
              <a:off x="13672474" y="2264054"/>
              <a:ext cx="471098" cy="358444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210" y="900"/>
                  </a:moveTo>
                  <a:cubicBezTo>
                    <a:pt x="40" y="900"/>
                    <a:pt x="-25" y="690"/>
                    <a:pt x="105" y="550"/>
                  </a:cubicBezTo>
                  <a:cubicBezTo>
                    <a:pt x="30" y="260"/>
                    <a:pt x="320" y="190"/>
                    <a:pt x="420" y="390"/>
                  </a:cubicBezTo>
                  <a:cubicBezTo>
                    <a:pt x="530" y="-30"/>
                    <a:pt x="920" y="0"/>
                    <a:pt x="940" y="430"/>
                  </a:cubicBezTo>
                  <a:cubicBezTo>
                    <a:pt x="1100" y="590"/>
                    <a:pt x="1020" y="900"/>
                    <a:pt x="840" y="900"/>
                  </a:cubicBezTo>
                  <a:lnTo>
                    <a:pt x="210" y="900"/>
                  </a:lnTo>
                  <a:close/>
                </a:path>
              </a:pathLst>
            </a:custGeom>
            <a:noFill/>
            <a:ln w="2159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</p:grpSp>
      <p:cxnSp>
        <p:nvCxnSpPr>
          <p:cNvPr id="240" name="连接线_0241"/>
          <p:cNvCxnSpPr/>
          <p:nvPr/>
        </p:nvCxnSpPr>
        <p:spPr>
          <a:xfrm>
            <a:off x="11071283" y="2072711"/>
            <a:ext cx="304784" cy="0"/>
          </a:xfrm>
          <a:prstGeom prst="line">
            <a:avLst/>
          </a:prstGeom>
          <a:ln w="17145" cap="rnd">
            <a:solidFill>
              <a:srgbClr val="166AB1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文字_云端_（OTA）_0242"/>
          <p:cNvSpPr txBox="1"/>
          <p:nvPr/>
        </p:nvSpPr>
        <p:spPr>
          <a:xfrm>
            <a:off x="11284631" y="2301299"/>
            <a:ext cx="640047" cy="358121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85" b="0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云端</a:t>
            </a:r>
            <a:endParaRPr sz="985" b="0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85" b="0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（OTA）</a:t>
            </a:r>
            <a:endParaRPr sz="985" b="0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42" name="连接线_0243"/>
          <p:cNvCxnSpPr/>
          <p:nvPr/>
        </p:nvCxnSpPr>
        <p:spPr>
          <a:xfrm>
            <a:off x="9844526" y="2415593"/>
            <a:ext cx="0" cy="342882"/>
          </a:xfrm>
          <a:prstGeom prst="line">
            <a:avLst/>
          </a:prstGeom>
          <a:ln w="22860" cap="rnd">
            <a:solidFill>
              <a:srgbClr val="7545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文字_以太网 / TSN（高速主干网）_0244"/>
          <p:cNvSpPr txBox="1"/>
          <p:nvPr/>
        </p:nvSpPr>
        <p:spPr>
          <a:xfrm>
            <a:off x="8709206" y="2507028"/>
            <a:ext cx="2743057" cy="205729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以太网 / TSN（高速主干网）</a:t>
            </a:r>
            <a:endParaRPr sz="1100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44" name="连接线_0245"/>
          <p:cNvCxnSpPr/>
          <p:nvPr/>
        </p:nvCxnSpPr>
        <p:spPr>
          <a:xfrm>
            <a:off x="8808260" y="2758475"/>
            <a:ext cx="2651623" cy="0"/>
          </a:xfrm>
          <a:prstGeom prst="line">
            <a:avLst/>
          </a:prstGeom>
          <a:ln w="22860" cap="rnd">
            <a:solidFill>
              <a:srgbClr val="7545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连接线_0246"/>
          <p:cNvCxnSpPr/>
          <p:nvPr/>
        </p:nvCxnSpPr>
        <p:spPr>
          <a:xfrm>
            <a:off x="8808260" y="2758475"/>
            <a:ext cx="0" cy="198110"/>
          </a:xfrm>
          <a:prstGeom prst="line">
            <a:avLst/>
          </a:prstGeom>
          <a:ln w="21590" cap="rnd">
            <a:solidFill>
              <a:srgbClr val="7545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区域控制器_0247"/>
          <p:cNvSpPr/>
          <p:nvPr/>
        </p:nvSpPr>
        <p:spPr>
          <a:xfrm>
            <a:off x="8434900" y="2956585"/>
            <a:ext cx="754341" cy="487655"/>
          </a:xfrm>
          <a:prstGeom prst="roundRect">
            <a:avLst>
              <a:gd name="adj" fmla="val 10000"/>
            </a:avLst>
          </a:prstGeom>
          <a:solidFill>
            <a:srgbClr val="D9EDFD"/>
          </a:solidFill>
          <a:ln w="10160" cap="rnd">
            <a:solidFill>
              <a:srgbClr val="279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47" name="文字_前左区域_控制器_0248"/>
          <p:cNvSpPr txBox="1"/>
          <p:nvPr/>
        </p:nvSpPr>
        <p:spPr>
          <a:xfrm>
            <a:off x="8457759" y="2994683"/>
            <a:ext cx="708623" cy="396219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前左区域</a:t>
            </a:r>
            <a:endParaRPr sz="1210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控制器</a:t>
            </a:r>
            <a:endParaRPr sz="1210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8" name="路径_0249"/>
          <p:cNvSpPr/>
          <p:nvPr/>
        </p:nvSpPr>
        <p:spPr>
          <a:xfrm>
            <a:off x="8587292" y="3444238"/>
            <a:ext cx="220968" cy="274307"/>
          </a:xfrm>
          <a:custGeom>
            <a:avLst/>
            <a:gdLst/>
            <a:ahLst/>
            <a:cxnLst/>
            <a:rect l="l" t="t" r="r" b="b"/>
            <a:pathLst>
              <a:path w="265176" h="329185">
                <a:moveTo>
                  <a:pt x="265176" y="0"/>
                </a:moveTo>
                <a:lnTo>
                  <a:pt x="265176" y="164593"/>
                </a:lnTo>
                <a:lnTo>
                  <a:pt x="0" y="164593"/>
                </a:lnTo>
                <a:lnTo>
                  <a:pt x="0" y="329185"/>
                </a:lnTo>
              </a:path>
            </a:pathLst>
          </a:custGeom>
          <a:noFill/>
          <a:ln w="18415" cap="rnd">
            <a:solidFill>
              <a:srgbClr val="087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49" name="路径_0250"/>
          <p:cNvSpPr/>
          <p:nvPr/>
        </p:nvSpPr>
        <p:spPr>
          <a:xfrm>
            <a:off x="8808260" y="3444238"/>
            <a:ext cx="220968" cy="274307"/>
          </a:xfrm>
          <a:custGeom>
            <a:avLst/>
            <a:gdLst/>
            <a:ahLst/>
            <a:cxnLst/>
            <a:rect l="l" t="t" r="r" b="b"/>
            <a:pathLst>
              <a:path w="265176" h="329185">
                <a:moveTo>
                  <a:pt x="0" y="0"/>
                </a:moveTo>
                <a:lnTo>
                  <a:pt x="0" y="164593"/>
                </a:lnTo>
                <a:lnTo>
                  <a:pt x="265176" y="164593"/>
                </a:lnTo>
                <a:lnTo>
                  <a:pt x="265176" y="329185"/>
                </a:lnTo>
              </a:path>
            </a:pathLst>
          </a:custGeom>
          <a:noFill/>
          <a:ln w="18415" cap="rnd">
            <a:solidFill>
              <a:srgbClr val="2A9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grpSp>
        <p:nvGrpSpPr>
          <p:cNvPr id="250" name="图标_headlight_0251"/>
          <p:cNvGrpSpPr/>
          <p:nvPr/>
        </p:nvGrpSpPr>
        <p:grpSpPr>
          <a:xfrm>
            <a:off x="8502257" y="3805103"/>
            <a:ext cx="209692" cy="134106"/>
            <a:chOff x="10203240" y="4566147"/>
            <a:chExt cx="251643" cy="160935"/>
          </a:xfrm>
        </p:grpSpPr>
        <p:sp>
          <p:nvSpPr>
            <p:cNvPr id="251" name="图标线_0252"/>
            <p:cNvSpPr/>
            <p:nvPr/>
          </p:nvSpPr>
          <p:spPr>
            <a:xfrm>
              <a:off x="10203240" y="4566147"/>
              <a:ext cx="131674" cy="160935"/>
            </a:xfrm>
            <a:custGeom>
              <a:avLst/>
              <a:gdLst/>
              <a:ahLst/>
              <a:cxnLst/>
              <a:rect l="l" t="t" r="r" b="b"/>
              <a:pathLst>
                <a:path w="131674" h="160935">
                  <a:moveTo>
                    <a:pt x="0" y="17557"/>
                  </a:moveTo>
                  <a:lnTo>
                    <a:pt x="96561" y="0"/>
                  </a:lnTo>
                  <a:lnTo>
                    <a:pt x="131674" y="35113"/>
                  </a:lnTo>
                  <a:lnTo>
                    <a:pt x="131674" y="125822"/>
                  </a:lnTo>
                  <a:lnTo>
                    <a:pt x="96561" y="160935"/>
                  </a:lnTo>
                  <a:lnTo>
                    <a:pt x="0" y="140452"/>
                  </a:lnTo>
                  <a:lnTo>
                    <a:pt x="0" y="17557"/>
                  </a:lnTo>
                  <a:close/>
                </a:path>
              </a:pathLst>
            </a:custGeom>
            <a:noFill/>
            <a:ln w="2032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252" name="图标线_0253"/>
            <p:cNvCxnSpPr/>
            <p:nvPr/>
          </p:nvCxnSpPr>
          <p:spPr>
            <a:xfrm>
              <a:off x="10364175" y="4586630"/>
              <a:ext cx="90708" cy="0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图标线_0254"/>
            <p:cNvCxnSpPr/>
            <p:nvPr/>
          </p:nvCxnSpPr>
          <p:spPr>
            <a:xfrm>
              <a:off x="10364175" y="4624669"/>
              <a:ext cx="90708" cy="0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图标线_0255"/>
            <p:cNvCxnSpPr/>
            <p:nvPr/>
          </p:nvCxnSpPr>
          <p:spPr>
            <a:xfrm>
              <a:off x="10364175" y="4662708"/>
              <a:ext cx="90708" cy="0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图标线_0256"/>
            <p:cNvCxnSpPr/>
            <p:nvPr/>
          </p:nvCxnSpPr>
          <p:spPr>
            <a:xfrm>
              <a:off x="10364175" y="4700747"/>
              <a:ext cx="90708" cy="0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6" name="图标_radar_0257"/>
          <p:cNvGrpSpPr/>
          <p:nvPr/>
        </p:nvGrpSpPr>
        <p:grpSpPr>
          <a:xfrm>
            <a:off x="8939623" y="3779974"/>
            <a:ext cx="209692" cy="183617"/>
            <a:chOff x="10728106" y="4535991"/>
            <a:chExt cx="251643" cy="220352"/>
          </a:xfrm>
        </p:grpSpPr>
        <p:sp>
          <p:nvSpPr>
            <p:cNvPr id="257" name="图标部件_0258"/>
            <p:cNvSpPr/>
            <p:nvPr/>
          </p:nvSpPr>
          <p:spPr>
            <a:xfrm>
              <a:off x="10827593" y="4615891"/>
              <a:ext cx="52669" cy="52669"/>
            </a:xfrm>
            <a:prstGeom prst="ellipse">
              <a:avLst/>
            </a:prstGeom>
            <a:solidFill>
              <a:srgbClr val="166AB1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258" name="圆弧_0259"/>
            <p:cNvSpPr/>
            <p:nvPr/>
          </p:nvSpPr>
          <p:spPr>
            <a:xfrm>
              <a:off x="10896260" y="4575520"/>
              <a:ext cx="36672" cy="133411"/>
            </a:xfrm>
            <a:custGeom>
              <a:avLst/>
              <a:gdLst/>
              <a:ahLst/>
              <a:cxnLst/>
              <a:rect l="l" t="t" r="r" b="b"/>
              <a:pathLst>
                <a:path w="36672" h="133411">
                  <a:moveTo>
                    <a:pt x="0" y="0"/>
                  </a:moveTo>
                  <a:lnTo>
                    <a:pt x="4105" y="2790"/>
                  </a:lnTo>
                  <a:lnTo>
                    <a:pt x="8027" y="5832"/>
                  </a:lnTo>
                  <a:lnTo>
                    <a:pt x="11750" y="9114"/>
                  </a:lnTo>
                  <a:lnTo>
                    <a:pt x="15259" y="12623"/>
                  </a:lnTo>
                  <a:lnTo>
                    <a:pt x="18541" y="16346"/>
                  </a:lnTo>
                  <a:lnTo>
                    <a:pt x="21583" y="20268"/>
                  </a:lnTo>
                  <a:lnTo>
                    <a:pt x="24373" y="24373"/>
                  </a:lnTo>
                  <a:lnTo>
                    <a:pt x="26899" y="28645"/>
                  </a:lnTo>
                  <a:lnTo>
                    <a:pt x="29153" y="33067"/>
                  </a:lnTo>
                  <a:lnTo>
                    <a:pt x="31124" y="37622"/>
                  </a:lnTo>
                  <a:lnTo>
                    <a:pt x="32805" y="42292"/>
                  </a:lnTo>
                  <a:lnTo>
                    <a:pt x="34190" y="47058"/>
                  </a:lnTo>
                  <a:lnTo>
                    <a:pt x="35272" y="51902"/>
                  </a:lnTo>
                  <a:lnTo>
                    <a:pt x="36049" y="56804"/>
                  </a:lnTo>
                  <a:lnTo>
                    <a:pt x="36516" y="61745"/>
                  </a:lnTo>
                  <a:lnTo>
                    <a:pt x="36672" y="66705"/>
                  </a:lnTo>
                  <a:lnTo>
                    <a:pt x="36516" y="71666"/>
                  </a:lnTo>
                  <a:lnTo>
                    <a:pt x="36049" y="76607"/>
                  </a:lnTo>
                  <a:lnTo>
                    <a:pt x="35272" y="81509"/>
                  </a:lnTo>
                  <a:lnTo>
                    <a:pt x="34190" y="86353"/>
                  </a:lnTo>
                  <a:lnTo>
                    <a:pt x="32805" y="91119"/>
                  </a:lnTo>
                  <a:lnTo>
                    <a:pt x="31124" y="95789"/>
                  </a:lnTo>
                  <a:lnTo>
                    <a:pt x="29153" y="100344"/>
                  </a:lnTo>
                  <a:lnTo>
                    <a:pt x="26899" y="104766"/>
                  </a:lnTo>
                  <a:lnTo>
                    <a:pt x="24373" y="109038"/>
                  </a:lnTo>
                  <a:lnTo>
                    <a:pt x="21583" y="113143"/>
                  </a:lnTo>
                  <a:lnTo>
                    <a:pt x="18541" y="117065"/>
                  </a:lnTo>
                  <a:lnTo>
                    <a:pt x="15259" y="120787"/>
                  </a:lnTo>
                  <a:lnTo>
                    <a:pt x="11750" y="124297"/>
                  </a:lnTo>
                  <a:lnTo>
                    <a:pt x="8027" y="127579"/>
                  </a:lnTo>
                  <a:lnTo>
                    <a:pt x="4105" y="130621"/>
                  </a:lnTo>
                  <a:lnTo>
                    <a:pt x="0" y="133411"/>
                  </a:lnTo>
                </a:path>
              </a:pathLst>
            </a:custGeom>
            <a:noFill/>
            <a:ln w="1905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259" name="圆弧_0260"/>
            <p:cNvSpPr/>
            <p:nvPr/>
          </p:nvSpPr>
          <p:spPr>
            <a:xfrm>
              <a:off x="10774923" y="4575520"/>
              <a:ext cx="36672" cy="133411"/>
            </a:xfrm>
            <a:custGeom>
              <a:avLst/>
              <a:gdLst/>
              <a:ahLst/>
              <a:cxnLst/>
              <a:rect l="l" t="t" r="r" b="b"/>
              <a:pathLst>
                <a:path w="36672" h="133411">
                  <a:moveTo>
                    <a:pt x="36672" y="133411"/>
                  </a:moveTo>
                  <a:lnTo>
                    <a:pt x="32567" y="130621"/>
                  </a:lnTo>
                  <a:lnTo>
                    <a:pt x="28645" y="127579"/>
                  </a:lnTo>
                  <a:lnTo>
                    <a:pt x="24922" y="124297"/>
                  </a:lnTo>
                  <a:lnTo>
                    <a:pt x="21413" y="120787"/>
                  </a:lnTo>
                  <a:lnTo>
                    <a:pt x="18131" y="117065"/>
                  </a:lnTo>
                  <a:lnTo>
                    <a:pt x="15089" y="113143"/>
                  </a:lnTo>
                  <a:lnTo>
                    <a:pt x="12299" y="109038"/>
                  </a:lnTo>
                  <a:lnTo>
                    <a:pt x="9773" y="104766"/>
                  </a:lnTo>
                  <a:lnTo>
                    <a:pt x="7519" y="100344"/>
                  </a:lnTo>
                  <a:lnTo>
                    <a:pt x="5548" y="95789"/>
                  </a:lnTo>
                  <a:lnTo>
                    <a:pt x="3867" y="91119"/>
                  </a:lnTo>
                  <a:lnTo>
                    <a:pt x="2482" y="86353"/>
                  </a:lnTo>
                  <a:lnTo>
                    <a:pt x="1400" y="81509"/>
                  </a:lnTo>
                  <a:lnTo>
                    <a:pt x="623" y="76607"/>
                  </a:lnTo>
                  <a:lnTo>
                    <a:pt x="156" y="71666"/>
                  </a:lnTo>
                  <a:lnTo>
                    <a:pt x="0" y="66705"/>
                  </a:lnTo>
                  <a:lnTo>
                    <a:pt x="156" y="61745"/>
                  </a:lnTo>
                  <a:lnTo>
                    <a:pt x="623" y="56804"/>
                  </a:lnTo>
                  <a:lnTo>
                    <a:pt x="1400" y="51902"/>
                  </a:lnTo>
                  <a:lnTo>
                    <a:pt x="2482" y="47058"/>
                  </a:lnTo>
                  <a:lnTo>
                    <a:pt x="3867" y="42292"/>
                  </a:lnTo>
                  <a:lnTo>
                    <a:pt x="5548" y="37622"/>
                  </a:lnTo>
                  <a:lnTo>
                    <a:pt x="7519" y="33067"/>
                  </a:lnTo>
                  <a:lnTo>
                    <a:pt x="9773" y="28645"/>
                  </a:lnTo>
                  <a:lnTo>
                    <a:pt x="12299" y="24373"/>
                  </a:lnTo>
                  <a:lnTo>
                    <a:pt x="15089" y="20268"/>
                  </a:lnTo>
                  <a:lnTo>
                    <a:pt x="18131" y="16346"/>
                  </a:lnTo>
                  <a:lnTo>
                    <a:pt x="21413" y="12623"/>
                  </a:lnTo>
                  <a:lnTo>
                    <a:pt x="24922" y="9114"/>
                  </a:lnTo>
                  <a:lnTo>
                    <a:pt x="28645" y="5832"/>
                  </a:lnTo>
                  <a:lnTo>
                    <a:pt x="32567" y="2790"/>
                  </a:lnTo>
                  <a:lnTo>
                    <a:pt x="36672" y="0"/>
                  </a:lnTo>
                </a:path>
              </a:pathLst>
            </a:custGeom>
            <a:noFill/>
            <a:ln w="1905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260" name="圆弧_0261"/>
            <p:cNvSpPr/>
            <p:nvPr/>
          </p:nvSpPr>
          <p:spPr>
            <a:xfrm>
              <a:off x="10921346" y="4535991"/>
              <a:ext cx="58403" cy="212469"/>
            </a:xfrm>
            <a:custGeom>
              <a:avLst/>
              <a:gdLst/>
              <a:ahLst/>
              <a:cxnLst/>
              <a:rect l="l" t="t" r="r" b="b"/>
              <a:pathLst>
                <a:path w="58403" h="212469">
                  <a:moveTo>
                    <a:pt x="0" y="0"/>
                  </a:moveTo>
                  <a:lnTo>
                    <a:pt x="6537" y="4443"/>
                  </a:lnTo>
                  <a:lnTo>
                    <a:pt x="12783" y="9287"/>
                  </a:lnTo>
                  <a:lnTo>
                    <a:pt x="18712" y="14515"/>
                  </a:lnTo>
                  <a:lnTo>
                    <a:pt x="24301" y="20104"/>
                  </a:lnTo>
                  <a:lnTo>
                    <a:pt x="29529" y="26033"/>
                  </a:lnTo>
                  <a:lnTo>
                    <a:pt x="34373" y="32278"/>
                  </a:lnTo>
                  <a:lnTo>
                    <a:pt x="38816" y="38816"/>
                  </a:lnTo>
                  <a:lnTo>
                    <a:pt x="42840" y="45619"/>
                  </a:lnTo>
                  <a:lnTo>
                    <a:pt x="46428" y="52662"/>
                  </a:lnTo>
                  <a:lnTo>
                    <a:pt x="49567" y="59916"/>
                  </a:lnTo>
                  <a:lnTo>
                    <a:pt x="52245" y="67353"/>
                  </a:lnTo>
                  <a:lnTo>
                    <a:pt x="54450" y="74944"/>
                  </a:lnTo>
                  <a:lnTo>
                    <a:pt x="56174" y="82658"/>
                  </a:lnTo>
                  <a:lnTo>
                    <a:pt x="57411" y="90465"/>
                  </a:lnTo>
                  <a:lnTo>
                    <a:pt x="58155" y="98334"/>
                  </a:lnTo>
                  <a:lnTo>
                    <a:pt x="58403" y="106234"/>
                  </a:lnTo>
                  <a:lnTo>
                    <a:pt x="58155" y="114135"/>
                  </a:lnTo>
                  <a:lnTo>
                    <a:pt x="57411" y="122004"/>
                  </a:lnTo>
                  <a:lnTo>
                    <a:pt x="56174" y="129811"/>
                  </a:lnTo>
                  <a:lnTo>
                    <a:pt x="54450" y="137525"/>
                  </a:lnTo>
                  <a:lnTo>
                    <a:pt x="52245" y="145115"/>
                  </a:lnTo>
                  <a:lnTo>
                    <a:pt x="49567" y="152552"/>
                  </a:lnTo>
                  <a:lnTo>
                    <a:pt x="46428" y="159807"/>
                  </a:lnTo>
                  <a:lnTo>
                    <a:pt x="42840" y="166849"/>
                  </a:lnTo>
                  <a:lnTo>
                    <a:pt x="38816" y="173653"/>
                  </a:lnTo>
                  <a:lnTo>
                    <a:pt x="34373" y="180190"/>
                  </a:lnTo>
                  <a:lnTo>
                    <a:pt x="29529" y="186436"/>
                  </a:lnTo>
                  <a:lnTo>
                    <a:pt x="24301" y="192365"/>
                  </a:lnTo>
                  <a:lnTo>
                    <a:pt x="18712" y="197954"/>
                  </a:lnTo>
                  <a:lnTo>
                    <a:pt x="12783" y="203182"/>
                  </a:lnTo>
                  <a:lnTo>
                    <a:pt x="6537" y="208026"/>
                  </a:lnTo>
                  <a:lnTo>
                    <a:pt x="0" y="212469"/>
                  </a:lnTo>
                </a:path>
              </a:pathLst>
            </a:custGeom>
            <a:noFill/>
            <a:ln w="1905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261" name="圆弧_0262"/>
            <p:cNvSpPr/>
            <p:nvPr/>
          </p:nvSpPr>
          <p:spPr>
            <a:xfrm>
              <a:off x="10728106" y="4535991"/>
              <a:ext cx="58403" cy="212469"/>
            </a:xfrm>
            <a:custGeom>
              <a:avLst/>
              <a:gdLst/>
              <a:ahLst/>
              <a:cxnLst/>
              <a:rect l="l" t="t" r="r" b="b"/>
              <a:pathLst>
                <a:path w="58403" h="212469">
                  <a:moveTo>
                    <a:pt x="58403" y="212469"/>
                  </a:moveTo>
                  <a:lnTo>
                    <a:pt x="51866" y="208026"/>
                  </a:lnTo>
                  <a:lnTo>
                    <a:pt x="45620" y="203182"/>
                  </a:lnTo>
                  <a:lnTo>
                    <a:pt x="39691" y="197954"/>
                  </a:lnTo>
                  <a:lnTo>
                    <a:pt x="34102" y="192365"/>
                  </a:lnTo>
                  <a:lnTo>
                    <a:pt x="28874" y="186436"/>
                  </a:lnTo>
                  <a:lnTo>
                    <a:pt x="24030" y="180190"/>
                  </a:lnTo>
                  <a:lnTo>
                    <a:pt x="19587" y="173653"/>
                  </a:lnTo>
                  <a:lnTo>
                    <a:pt x="15563" y="166849"/>
                  </a:lnTo>
                  <a:lnTo>
                    <a:pt x="11975" y="159807"/>
                  </a:lnTo>
                  <a:lnTo>
                    <a:pt x="8836" y="152552"/>
                  </a:lnTo>
                  <a:lnTo>
                    <a:pt x="6158" y="145115"/>
                  </a:lnTo>
                  <a:lnTo>
                    <a:pt x="3953" y="137525"/>
                  </a:lnTo>
                  <a:lnTo>
                    <a:pt x="2229" y="129811"/>
                  </a:lnTo>
                  <a:lnTo>
                    <a:pt x="992" y="122004"/>
                  </a:lnTo>
                  <a:lnTo>
                    <a:pt x="248" y="114135"/>
                  </a:lnTo>
                  <a:lnTo>
                    <a:pt x="0" y="106234"/>
                  </a:lnTo>
                  <a:lnTo>
                    <a:pt x="248" y="98334"/>
                  </a:lnTo>
                  <a:lnTo>
                    <a:pt x="992" y="90465"/>
                  </a:lnTo>
                  <a:lnTo>
                    <a:pt x="2229" y="82658"/>
                  </a:lnTo>
                  <a:lnTo>
                    <a:pt x="3953" y="74944"/>
                  </a:lnTo>
                  <a:lnTo>
                    <a:pt x="6158" y="67353"/>
                  </a:lnTo>
                  <a:lnTo>
                    <a:pt x="8836" y="59916"/>
                  </a:lnTo>
                  <a:lnTo>
                    <a:pt x="11975" y="52662"/>
                  </a:lnTo>
                  <a:lnTo>
                    <a:pt x="15563" y="45619"/>
                  </a:lnTo>
                  <a:lnTo>
                    <a:pt x="19587" y="38816"/>
                  </a:lnTo>
                  <a:lnTo>
                    <a:pt x="24030" y="32278"/>
                  </a:lnTo>
                  <a:lnTo>
                    <a:pt x="28874" y="26033"/>
                  </a:lnTo>
                  <a:lnTo>
                    <a:pt x="34102" y="20104"/>
                  </a:lnTo>
                  <a:lnTo>
                    <a:pt x="39691" y="14515"/>
                  </a:lnTo>
                  <a:lnTo>
                    <a:pt x="45620" y="9287"/>
                  </a:lnTo>
                  <a:lnTo>
                    <a:pt x="51866" y="4443"/>
                  </a:lnTo>
                  <a:lnTo>
                    <a:pt x="58403" y="0"/>
                  </a:lnTo>
                </a:path>
              </a:pathLst>
            </a:custGeom>
            <a:noFill/>
            <a:ln w="1905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262" name="图标线_0263"/>
            <p:cNvCxnSpPr/>
            <p:nvPr/>
          </p:nvCxnSpPr>
          <p:spPr>
            <a:xfrm>
              <a:off x="10853928" y="4671486"/>
              <a:ext cx="0" cy="76078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图标线_0264"/>
            <p:cNvCxnSpPr/>
            <p:nvPr/>
          </p:nvCxnSpPr>
          <p:spPr>
            <a:xfrm>
              <a:off x="10792480" y="4756343"/>
              <a:ext cx="122895" cy="0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4" name="文字_车灯_0265"/>
          <p:cNvSpPr txBox="1"/>
          <p:nvPr/>
        </p:nvSpPr>
        <p:spPr>
          <a:xfrm>
            <a:off x="8404422" y="4015709"/>
            <a:ext cx="403839" cy="182870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85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车灯</a:t>
            </a:r>
            <a:endParaRPr sz="985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5" name="文字_传感器_0266"/>
          <p:cNvSpPr txBox="1"/>
          <p:nvPr/>
        </p:nvSpPr>
        <p:spPr>
          <a:xfrm>
            <a:off x="8823500" y="4015709"/>
            <a:ext cx="487655" cy="182870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85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传感器</a:t>
            </a:r>
            <a:endParaRPr sz="985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6" name="文字_（左前）_0267"/>
          <p:cNvSpPr txBox="1"/>
          <p:nvPr/>
        </p:nvSpPr>
        <p:spPr>
          <a:xfrm>
            <a:off x="8472999" y="4198580"/>
            <a:ext cx="685764" cy="182870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85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（左前）</a:t>
            </a:r>
            <a:endParaRPr sz="985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7" name="连接线_0268"/>
          <p:cNvCxnSpPr/>
          <p:nvPr/>
        </p:nvCxnSpPr>
        <p:spPr>
          <a:xfrm>
            <a:off x="9692134" y="2758475"/>
            <a:ext cx="0" cy="198110"/>
          </a:xfrm>
          <a:prstGeom prst="line">
            <a:avLst/>
          </a:prstGeom>
          <a:ln w="21590" cap="rnd">
            <a:solidFill>
              <a:srgbClr val="7545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8" name="区域控制器_0269"/>
          <p:cNvSpPr/>
          <p:nvPr/>
        </p:nvSpPr>
        <p:spPr>
          <a:xfrm>
            <a:off x="9318774" y="2956585"/>
            <a:ext cx="754341" cy="487655"/>
          </a:xfrm>
          <a:prstGeom prst="roundRect">
            <a:avLst>
              <a:gd name="adj" fmla="val 10000"/>
            </a:avLst>
          </a:prstGeom>
          <a:solidFill>
            <a:srgbClr val="D9EDFD"/>
          </a:solidFill>
          <a:ln w="10160" cap="rnd">
            <a:solidFill>
              <a:srgbClr val="279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69" name="文字_前右区域_控制器_0270"/>
          <p:cNvSpPr txBox="1"/>
          <p:nvPr/>
        </p:nvSpPr>
        <p:spPr>
          <a:xfrm>
            <a:off x="9341633" y="2994683"/>
            <a:ext cx="708623" cy="396219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前右区域</a:t>
            </a:r>
            <a:endParaRPr sz="1210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控制器</a:t>
            </a:r>
            <a:endParaRPr sz="1210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0" name="路径_0271"/>
          <p:cNvSpPr/>
          <p:nvPr/>
        </p:nvSpPr>
        <p:spPr>
          <a:xfrm>
            <a:off x="9471166" y="3444238"/>
            <a:ext cx="220968" cy="274307"/>
          </a:xfrm>
          <a:custGeom>
            <a:avLst/>
            <a:gdLst/>
            <a:ahLst/>
            <a:cxnLst/>
            <a:rect l="l" t="t" r="r" b="b"/>
            <a:pathLst>
              <a:path w="265176" h="329185">
                <a:moveTo>
                  <a:pt x="265176" y="0"/>
                </a:moveTo>
                <a:lnTo>
                  <a:pt x="265176" y="164593"/>
                </a:lnTo>
                <a:lnTo>
                  <a:pt x="0" y="164593"/>
                </a:lnTo>
                <a:lnTo>
                  <a:pt x="0" y="329185"/>
                </a:lnTo>
              </a:path>
            </a:pathLst>
          </a:custGeom>
          <a:noFill/>
          <a:ln w="18415" cap="rnd">
            <a:solidFill>
              <a:srgbClr val="087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71" name="路径_0272"/>
          <p:cNvSpPr/>
          <p:nvPr/>
        </p:nvSpPr>
        <p:spPr>
          <a:xfrm>
            <a:off x="9692134" y="3444238"/>
            <a:ext cx="220968" cy="274307"/>
          </a:xfrm>
          <a:custGeom>
            <a:avLst/>
            <a:gdLst/>
            <a:ahLst/>
            <a:cxnLst/>
            <a:rect l="l" t="t" r="r" b="b"/>
            <a:pathLst>
              <a:path w="265176" h="329185">
                <a:moveTo>
                  <a:pt x="0" y="0"/>
                </a:moveTo>
                <a:lnTo>
                  <a:pt x="0" y="164593"/>
                </a:lnTo>
                <a:lnTo>
                  <a:pt x="265176" y="164593"/>
                </a:lnTo>
                <a:lnTo>
                  <a:pt x="265176" y="329185"/>
                </a:lnTo>
              </a:path>
            </a:pathLst>
          </a:custGeom>
          <a:noFill/>
          <a:ln w="18415" cap="rnd">
            <a:solidFill>
              <a:srgbClr val="2A9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grpSp>
        <p:nvGrpSpPr>
          <p:cNvPr id="272" name="图标_camera_0273"/>
          <p:cNvGrpSpPr/>
          <p:nvPr/>
        </p:nvGrpSpPr>
        <p:grpSpPr>
          <a:xfrm>
            <a:off x="9381255" y="3817295"/>
            <a:ext cx="182870" cy="117036"/>
            <a:chOff x="11258092" y="4580778"/>
            <a:chExt cx="219456" cy="140451"/>
          </a:xfrm>
        </p:grpSpPr>
        <p:sp>
          <p:nvSpPr>
            <p:cNvPr id="273" name="图标部件_0274"/>
            <p:cNvSpPr/>
            <p:nvPr/>
          </p:nvSpPr>
          <p:spPr>
            <a:xfrm>
              <a:off x="11258092" y="4580778"/>
              <a:ext cx="219456" cy="140451"/>
            </a:xfrm>
            <a:prstGeom prst="roundRect">
              <a:avLst>
                <a:gd name="adj" fmla="val 10000"/>
              </a:avLst>
            </a:prstGeom>
            <a:solidFill>
              <a:srgbClr val="166AB1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274" name="图标部件_0275"/>
            <p:cNvSpPr/>
            <p:nvPr/>
          </p:nvSpPr>
          <p:spPr>
            <a:xfrm>
              <a:off x="11331244" y="4604186"/>
              <a:ext cx="73152" cy="73152"/>
            </a:xfrm>
            <a:prstGeom prst="ellipse">
              <a:avLst/>
            </a:prstGeom>
            <a:solidFill>
              <a:srgbClr val="FFFFFF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275" name="图标线_0276"/>
            <p:cNvSpPr/>
            <p:nvPr/>
          </p:nvSpPr>
          <p:spPr>
            <a:xfrm>
              <a:off x="11457066" y="4580778"/>
              <a:ext cx="58521" cy="140452"/>
            </a:xfrm>
            <a:custGeom>
              <a:avLst/>
              <a:gdLst/>
              <a:ahLst/>
              <a:cxnLst/>
              <a:rect l="l" t="t" r="r" b="b"/>
              <a:pathLst>
                <a:path w="58521" h="140452">
                  <a:moveTo>
                    <a:pt x="0" y="29261"/>
                  </a:moveTo>
                  <a:lnTo>
                    <a:pt x="58521" y="0"/>
                  </a:lnTo>
                  <a:lnTo>
                    <a:pt x="58521" y="140452"/>
                  </a:lnTo>
                  <a:lnTo>
                    <a:pt x="0" y="108265"/>
                  </a:lnTo>
                  <a:close/>
                </a:path>
              </a:pathLst>
            </a:custGeom>
            <a:solidFill>
              <a:srgbClr val="166AB1"/>
            </a:solidFill>
            <a:ln w="2032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</p:grpSp>
      <p:grpSp>
        <p:nvGrpSpPr>
          <p:cNvPr id="276" name="图标_radar_0277"/>
          <p:cNvGrpSpPr/>
          <p:nvPr/>
        </p:nvGrpSpPr>
        <p:grpSpPr>
          <a:xfrm>
            <a:off x="9823497" y="3779974"/>
            <a:ext cx="209692" cy="183617"/>
            <a:chOff x="11788810" y="4535991"/>
            <a:chExt cx="251643" cy="220352"/>
          </a:xfrm>
        </p:grpSpPr>
        <p:sp>
          <p:nvSpPr>
            <p:cNvPr id="277" name="图标部件_0278"/>
            <p:cNvSpPr/>
            <p:nvPr/>
          </p:nvSpPr>
          <p:spPr>
            <a:xfrm>
              <a:off x="11888297" y="4615891"/>
              <a:ext cx="52669" cy="52669"/>
            </a:xfrm>
            <a:prstGeom prst="ellipse">
              <a:avLst/>
            </a:prstGeom>
            <a:solidFill>
              <a:srgbClr val="166AB1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278" name="圆弧_0279"/>
            <p:cNvSpPr/>
            <p:nvPr/>
          </p:nvSpPr>
          <p:spPr>
            <a:xfrm>
              <a:off x="11956964" y="4575520"/>
              <a:ext cx="36672" cy="133411"/>
            </a:xfrm>
            <a:custGeom>
              <a:avLst/>
              <a:gdLst/>
              <a:ahLst/>
              <a:cxnLst/>
              <a:rect l="l" t="t" r="r" b="b"/>
              <a:pathLst>
                <a:path w="36672" h="133411">
                  <a:moveTo>
                    <a:pt x="0" y="0"/>
                  </a:moveTo>
                  <a:lnTo>
                    <a:pt x="4105" y="2790"/>
                  </a:lnTo>
                  <a:lnTo>
                    <a:pt x="8027" y="5832"/>
                  </a:lnTo>
                  <a:lnTo>
                    <a:pt x="11750" y="9114"/>
                  </a:lnTo>
                  <a:lnTo>
                    <a:pt x="15259" y="12623"/>
                  </a:lnTo>
                  <a:lnTo>
                    <a:pt x="18541" y="16346"/>
                  </a:lnTo>
                  <a:lnTo>
                    <a:pt x="21583" y="20268"/>
                  </a:lnTo>
                  <a:lnTo>
                    <a:pt x="24373" y="24373"/>
                  </a:lnTo>
                  <a:lnTo>
                    <a:pt x="26899" y="28645"/>
                  </a:lnTo>
                  <a:lnTo>
                    <a:pt x="29153" y="33067"/>
                  </a:lnTo>
                  <a:lnTo>
                    <a:pt x="31124" y="37622"/>
                  </a:lnTo>
                  <a:lnTo>
                    <a:pt x="32805" y="42292"/>
                  </a:lnTo>
                  <a:lnTo>
                    <a:pt x="34190" y="47058"/>
                  </a:lnTo>
                  <a:lnTo>
                    <a:pt x="35272" y="51902"/>
                  </a:lnTo>
                  <a:lnTo>
                    <a:pt x="36049" y="56804"/>
                  </a:lnTo>
                  <a:lnTo>
                    <a:pt x="36516" y="61745"/>
                  </a:lnTo>
                  <a:lnTo>
                    <a:pt x="36672" y="66705"/>
                  </a:lnTo>
                  <a:lnTo>
                    <a:pt x="36516" y="71666"/>
                  </a:lnTo>
                  <a:lnTo>
                    <a:pt x="36049" y="76607"/>
                  </a:lnTo>
                  <a:lnTo>
                    <a:pt x="35272" y="81509"/>
                  </a:lnTo>
                  <a:lnTo>
                    <a:pt x="34190" y="86353"/>
                  </a:lnTo>
                  <a:lnTo>
                    <a:pt x="32805" y="91119"/>
                  </a:lnTo>
                  <a:lnTo>
                    <a:pt x="31124" y="95789"/>
                  </a:lnTo>
                  <a:lnTo>
                    <a:pt x="29153" y="100344"/>
                  </a:lnTo>
                  <a:lnTo>
                    <a:pt x="26899" y="104766"/>
                  </a:lnTo>
                  <a:lnTo>
                    <a:pt x="24373" y="109038"/>
                  </a:lnTo>
                  <a:lnTo>
                    <a:pt x="21583" y="113143"/>
                  </a:lnTo>
                  <a:lnTo>
                    <a:pt x="18541" y="117065"/>
                  </a:lnTo>
                  <a:lnTo>
                    <a:pt x="15259" y="120787"/>
                  </a:lnTo>
                  <a:lnTo>
                    <a:pt x="11750" y="124297"/>
                  </a:lnTo>
                  <a:lnTo>
                    <a:pt x="8027" y="127579"/>
                  </a:lnTo>
                  <a:lnTo>
                    <a:pt x="4105" y="130621"/>
                  </a:lnTo>
                  <a:lnTo>
                    <a:pt x="0" y="133411"/>
                  </a:lnTo>
                </a:path>
              </a:pathLst>
            </a:custGeom>
            <a:noFill/>
            <a:ln w="1905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279" name="圆弧_0280"/>
            <p:cNvSpPr/>
            <p:nvPr/>
          </p:nvSpPr>
          <p:spPr>
            <a:xfrm>
              <a:off x="11835627" y="4575520"/>
              <a:ext cx="36672" cy="133411"/>
            </a:xfrm>
            <a:custGeom>
              <a:avLst/>
              <a:gdLst/>
              <a:ahLst/>
              <a:cxnLst/>
              <a:rect l="l" t="t" r="r" b="b"/>
              <a:pathLst>
                <a:path w="36672" h="133411">
                  <a:moveTo>
                    <a:pt x="36672" y="133411"/>
                  </a:moveTo>
                  <a:lnTo>
                    <a:pt x="32567" y="130621"/>
                  </a:lnTo>
                  <a:lnTo>
                    <a:pt x="28645" y="127579"/>
                  </a:lnTo>
                  <a:lnTo>
                    <a:pt x="24922" y="124297"/>
                  </a:lnTo>
                  <a:lnTo>
                    <a:pt x="21413" y="120787"/>
                  </a:lnTo>
                  <a:lnTo>
                    <a:pt x="18131" y="117065"/>
                  </a:lnTo>
                  <a:lnTo>
                    <a:pt x="15089" y="113143"/>
                  </a:lnTo>
                  <a:lnTo>
                    <a:pt x="12299" y="109038"/>
                  </a:lnTo>
                  <a:lnTo>
                    <a:pt x="9773" y="104766"/>
                  </a:lnTo>
                  <a:lnTo>
                    <a:pt x="7519" y="100344"/>
                  </a:lnTo>
                  <a:lnTo>
                    <a:pt x="5548" y="95789"/>
                  </a:lnTo>
                  <a:lnTo>
                    <a:pt x="3867" y="91119"/>
                  </a:lnTo>
                  <a:lnTo>
                    <a:pt x="2482" y="86353"/>
                  </a:lnTo>
                  <a:lnTo>
                    <a:pt x="1400" y="81509"/>
                  </a:lnTo>
                  <a:lnTo>
                    <a:pt x="623" y="76607"/>
                  </a:lnTo>
                  <a:lnTo>
                    <a:pt x="156" y="71666"/>
                  </a:lnTo>
                  <a:lnTo>
                    <a:pt x="0" y="66705"/>
                  </a:lnTo>
                  <a:lnTo>
                    <a:pt x="156" y="61745"/>
                  </a:lnTo>
                  <a:lnTo>
                    <a:pt x="623" y="56804"/>
                  </a:lnTo>
                  <a:lnTo>
                    <a:pt x="1400" y="51902"/>
                  </a:lnTo>
                  <a:lnTo>
                    <a:pt x="2482" y="47058"/>
                  </a:lnTo>
                  <a:lnTo>
                    <a:pt x="3867" y="42292"/>
                  </a:lnTo>
                  <a:lnTo>
                    <a:pt x="5548" y="37622"/>
                  </a:lnTo>
                  <a:lnTo>
                    <a:pt x="7519" y="33067"/>
                  </a:lnTo>
                  <a:lnTo>
                    <a:pt x="9773" y="28645"/>
                  </a:lnTo>
                  <a:lnTo>
                    <a:pt x="12299" y="24373"/>
                  </a:lnTo>
                  <a:lnTo>
                    <a:pt x="15089" y="20268"/>
                  </a:lnTo>
                  <a:lnTo>
                    <a:pt x="18131" y="16346"/>
                  </a:lnTo>
                  <a:lnTo>
                    <a:pt x="21413" y="12623"/>
                  </a:lnTo>
                  <a:lnTo>
                    <a:pt x="24922" y="9114"/>
                  </a:lnTo>
                  <a:lnTo>
                    <a:pt x="28645" y="5832"/>
                  </a:lnTo>
                  <a:lnTo>
                    <a:pt x="32567" y="2790"/>
                  </a:lnTo>
                  <a:lnTo>
                    <a:pt x="36672" y="0"/>
                  </a:lnTo>
                </a:path>
              </a:pathLst>
            </a:custGeom>
            <a:noFill/>
            <a:ln w="1905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280" name="圆弧_0281"/>
            <p:cNvSpPr/>
            <p:nvPr/>
          </p:nvSpPr>
          <p:spPr>
            <a:xfrm>
              <a:off x="11982050" y="4535991"/>
              <a:ext cx="58403" cy="212469"/>
            </a:xfrm>
            <a:custGeom>
              <a:avLst/>
              <a:gdLst/>
              <a:ahLst/>
              <a:cxnLst/>
              <a:rect l="l" t="t" r="r" b="b"/>
              <a:pathLst>
                <a:path w="58403" h="212469">
                  <a:moveTo>
                    <a:pt x="0" y="0"/>
                  </a:moveTo>
                  <a:lnTo>
                    <a:pt x="6537" y="4443"/>
                  </a:lnTo>
                  <a:lnTo>
                    <a:pt x="12783" y="9287"/>
                  </a:lnTo>
                  <a:lnTo>
                    <a:pt x="18712" y="14515"/>
                  </a:lnTo>
                  <a:lnTo>
                    <a:pt x="24301" y="20104"/>
                  </a:lnTo>
                  <a:lnTo>
                    <a:pt x="29529" y="26033"/>
                  </a:lnTo>
                  <a:lnTo>
                    <a:pt x="34373" y="32278"/>
                  </a:lnTo>
                  <a:lnTo>
                    <a:pt x="38816" y="38816"/>
                  </a:lnTo>
                  <a:lnTo>
                    <a:pt x="42840" y="45619"/>
                  </a:lnTo>
                  <a:lnTo>
                    <a:pt x="46428" y="52662"/>
                  </a:lnTo>
                  <a:lnTo>
                    <a:pt x="49567" y="59916"/>
                  </a:lnTo>
                  <a:lnTo>
                    <a:pt x="52245" y="67353"/>
                  </a:lnTo>
                  <a:lnTo>
                    <a:pt x="54450" y="74944"/>
                  </a:lnTo>
                  <a:lnTo>
                    <a:pt x="56174" y="82658"/>
                  </a:lnTo>
                  <a:lnTo>
                    <a:pt x="57411" y="90465"/>
                  </a:lnTo>
                  <a:lnTo>
                    <a:pt x="58155" y="98334"/>
                  </a:lnTo>
                  <a:lnTo>
                    <a:pt x="58403" y="106234"/>
                  </a:lnTo>
                  <a:lnTo>
                    <a:pt x="58155" y="114135"/>
                  </a:lnTo>
                  <a:lnTo>
                    <a:pt x="57411" y="122004"/>
                  </a:lnTo>
                  <a:lnTo>
                    <a:pt x="56174" y="129811"/>
                  </a:lnTo>
                  <a:lnTo>
                    <a:pt x="54450" y="137525"/>
                  </a:lnTo>
                  <a:lnTo>
                    <a:pt x="52245" y="145115"/>
                  </a:lnTo>
                  <a:lnTo>
                    <a:pt x="49567" y="152552"/>
                  </a:lnTo>
                  <a:lnTo>
                    <a:pt x="46428" y="159807"/>
                  </a:lnTo>
                  <a:lnTo>
                    <a:pt x="42840" y="166849"/>
                  </a:lnTo>
                  <a:lnTo>
                    <a:pt x="38816" y="173653"/>
                  </a:lnTo>
                  <a:lnTo>
                    <a:pt x="34373" y="180190"/>
                  </a:lnTo>
                  <a:lnTo>
                    <a:pt x="29529" y="186436"/>
                  </a:lnTo>
                  <a:lnTo>
                    <a:pt x="24301" y="192365"/>
                  </a:lnTo>
                  <a:lnTo>
                    <a:pt x="18712" y="197954"/>
                  </a:lnTo>
                  <a:lnTo>
                    <a:pt x="12783" y="203182"/>
                  </a:lnTo>
                  <a:lnTo>
                    <a:pt x="6537" y="208026"/>
                  </a:lnTo>
                  <a:lnTo>
                    <a:pt x="0" y="212469"/>
                  </a:lnTo>
                </a:path>
              </a:pathLst>
            </a:custGeom>
            <a:noFill/>
            <a:ln w="1905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281" name="圆弧_0282"/>
            <p:cNvSpPr/>
            <p:nvPr/>
          </p:nvSpPr>
          <p:spPr>
            <a:xfrm>
              <a:off x="11788810" y="4535991"/>
              <a:ext cx="58403" cy="212469"/>
            </a:xfrm>
            <a:custGeom>
              <a:avLst/>
              <a:gdLst/>
              <a:ahLst/>
              <a:cxnLst/>
              <a:rect l="l" t="t" r="r" b="b"/>
              <a:pathLst>
                <a:path w="58403" h="212469">
                  <a:moveTo>
                    <a:pt x="58403" y="212469"/>
                  </a:moveTo>
                  <a:lnTo>
                    <a:pt x="51866" y="208026"/>
                  </a:lnTo>
                  <a:lnTo>
                    <a:pt x="45620" y="203182"/>
                  </a:lnTo>
                  <a:lnTo>
                    <a:pt x="39691" y="197954"/>
                  </a:lnTo>
                  <a:lnTo>
                    <a:pt x="34102" y="192365"/>
                  </a:lnTo>
                  <a:lnTo>
                    <a:pt x="28874" y="186436"/>
                  </a:lnTo>
                  <a:lnTo>
                    <a:pt x="24030" y="180190"/>
                  </a:lnTo>
                  <a:lnTo>
                    <a:pt x="19587" y="173653"/>
                  </a:lnTo>
                  <a:lnTo>
                    <a:pt x="15563" y="166849"/>
                  </a:lnTo>
                  <a:lnTo>
                    <a:pt x="11975" y="159807"/>
                  </a:lnTo>
                  <a:lnTo>
                    <a:pt x="8836" y="152552"/>
                  </a:lnTo>
                  <a:lnTo>
                    <a:pt x="6158" y="145115"/>
                  </a:lnTo>
                  <a:lnTo>
                    <a:pt x="3953" y="137525"/>
                  </a:lnTo>
                  <a:lnTo>
                    <a:pt x="2229" y="129811"/>
                  </a:lnTo>
                  <a:lnTo>
                    <a:pt x="992" y="122004"/>
                  </a:lnTo>
                  <a:lnTo>
                    <a:pt x="248" y="114135"/>
                  </a:lnTo>
                  <a:lnTo>
                    <a:pt x="0" y="106234"/>
                  </a:lnTo>
                  <a:lnTo>
                    <a:pt x="248" y="98334"/>
                  </a:lnTo>
                  <a:lnTo>
                    <a:pt x="992" y="90465"/>
                  </a:lnTo>
                  <a:lnTo>
                    <a:pt x="2229" y="82658"/>
                  </a:lnTo>
                  <a:lnTo>
                    <a:pt x="3953" y="74944"/>
                  </a:lnTo>
                  <a:lnTo>
                    <a:pt x="6158" y="67353"/>
                  </a:lnTo>
                  <a:lnTo>
                    <a:pt x="8836" y="59916"/>
                  </a:lnTo>
                  <a:lnTo>
                    <a:pt x="11975" y="52662"/>
                  </a:lnTo>
                  <a:lnTo>
                    <a:pt x="15563" y="45619"/>
                  </a:lnTo>
                  <a:lnTo>
                    <a:pt x="19587" y="38816"/>
                  </a:lnTo>
                  <a:lnTo>
                    <a:pt x="24030" y="32278"/>
                  </a:lnTo>
                  <a:lnTo>
                    <a:pt x="28874" y="26033"/>
                  </a:lnTo>
                  <a:lnTo>
                    <a:pt x="34102" y="20104"/>
                  </a:lnTo>
                  <a:lnTo>
                    <a:pt x="39691" y="14515"/>
                  </a:lnTo>
                  <a:lnTo>
                    <a:pt x="45620" y="9287"/>
                  </a:lnTo>
                  <a:lnTo>
                    <a:pt x="51866" y="4443"/>
                  </a:lnTo>
                  <a:lnTo>
                    <a:pt x="58403" y="0"/>
                  </a:lnTo>
                </a:path>
              </a:pathLst>
            </a:custGeom>
            <a:noFill/>
            <a:ln w="1905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282" name="图标线_0283"/>
            <p:cNvCxnSpPr/>
            <p:nvPr/>
          </p:nvCxnSpPr>
          <p:spPr>
            <a:xfrm>
              <a:off x="11914632" y="4671486"/>
              <a:ext cx="0" cy="76078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图标线_0284"/>
            <p:cNvCxnSpPr/>
            <p:nvPr/>
          </p:nvCxnSpPr>
          <p:spPr>
            <a:xfrm>
              <a:off x="11853184" y="4756343"/>
              <a:ext cx="122895" cy="0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4" name="文字_摄像头_0285"/>
          <p:cNvSpPr txBox="1"/>
          <p:nvPr/>
        </p:nvSpPr>
        <p:spPr>
          <a:xfrm>
            <a:off x="9288296" y="4015709"/>
            <a:ext cx="403839" cy="182870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5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摄像头</a:t>
            </a:r>
            <a:endParaRPr sz="915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5" name="文字_雷达_0286"/>
          <p:cNvSpPr txBox="1"/>
          <p:nvPr/>
        </p:nvSpPr>
        <p:spPr>
          <a:xfrm>
            <a:off x="9707374" y="4015709"/>
            <a:ext cx="487655" cy="182870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85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雷达</a:t>
            </a:r>
            <a:endParaRPr sz="985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6" name="文字_（右前）_0287"/>
          <p:cNvSpPr txBox="1"/>
          <p:nvPr/>
        </p:nvSpPr>
        <p:spPr>
          <a:xfrm>
            <a:off x="9356873" y="4198580"/>
            <a:ext cx="685764" cy="182870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85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（右前）</a:t>
            </a:r>
            <a:endParaRPr sz="985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87" name="连接线_0288"/>
          <p:cNvCxnSpPr/>
          <p:nvPr/>
        </p:nvCxnSpPr>
        <p:spPr>
          <a:xfrm>
            <a:off x="10576009" y="2758475"/>
            <a:ext cx="0" cy="198110"/>
          </a:xfrm>
          <a:prstGeom prst="line">
            <a:avLst/>
          </a:prstGeom>
          <a:ln w="21590" cap="rnd">
            <a:solidFill>
              <a:srgbClr val="7545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区域控制器_0289"/>
          <p:cNvSpPr/>
          <p:nvPr/>
        </p:nvSpPr>
        <p:spPr>
          <a:xfrm>
            <a:off x="10202648" y="2956585"/>
            <a:ext cx="754341" cy="487655"/>
          </a:xfrm>
          <a:prstGeom prst="roundRect">
            <a:avLst>
              <a:gd name="adj" fmla="val 10000"/>
            </a:avLst>
          </a:prstGeom>
          <a:solidFill>
            <a:srgbClr val="D9EDFD"/>
          </a:solidFill>
          <a:ln w="10160" cap="rnd">
            <a:solidFill>
              <a:srgbClr val="279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89" name="文字_后左区域_控制器_0290"/>
          <p:cNvSpPr txBox="1"/>
          <p:nvPr/>
        </p:nvSpPr>
        <p:spPr>
          <a:xfrm>
            <a:off x="10225507" y="2994683"/>
            <a:ext cx="708623" cy="396219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后左区域</a:t>
            </a:r>
            <a:endParaRPr sz="1210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控制器</a:t>
            </a:r>
            <a:endParaRPr sz="1210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0" name="路径_0291"/>
          <p:cNvSpPr/>
          <p:nvPr/>
        </p:nvSpPr>
        <p:spPr>
          <a:xfrm>
            <a:off x="10355040" y="3444238"/>
            <a:ext cx="220969" cy="274307"/>
          </a:xfrm>
          <a:custGeom>
            <a:avLst/>
            <a:gdLst/>
            <a:ahLst/>
            <a:cxnLst/>
            <a:rect l="l" t="t" r="r" b="b"/>
            <a:pathLst>
              <a:path w="265177" h="329185">
                <a:moveTo>
                  <a:pt x="265177" y="0"/>
                </a:moveTo>
                <a:lnTo>
                  <a:pt x="265177" y="164593"/>
                </a:lnTo>
                <a:lnTo>
                  <a:pt x="0" y="164593"/>
                </a:lnTo>
                <a:lnTo>
                  <a:pt x="0" y="329185"/>
                </a:lnTo>
              </a:path>
            </a:pathLst>
          </a:custGeom>
          <a:noFill/>
          <a:ln w="18415" cap="rnd">
            <a:solidFill>
              <a:srgbClr val="087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91" name="路径_0292"/>
          <p:cNvSpPr/>
          <p:nvPr/>
        </p:nvSpPr>
        <p:spPr>
          <a:xfrm>
            <a:off x="10576009" y="3444238"/>
            <a:ext cx="220968" cy="274307"/>
          </a:xfrm>
          <a:custGeom>
            <a:avLst/>
            <a:gdLst/>
            <a:ahLst/>
            <a:cxnLst/>
            <a:rect l="l" t="t" r="r" b="b"/>
            <a:pathLst>
              <a:path w="265175" h="329185">
                <a:moveTo>
                  <a:pt x="0" y="0"/>
                </a:moveTo>
                <a:lnTo>
                  <a:pt x="0" y="164593"/>
                </a:lnTo>
                <a:lnTo>
                  <a:pt x="265175" y="164593"/>
                </a:lnTo>
                <a:lnTo>
                  <a:pt x="265175" y="329185"/>
                </a:lnTo>
              </a:path>
            </a:pathLst>
          </a:custGeom>
          <a:noFill/>
          <a:ln w="18415" cap="rnd">
            <a:solidFill>
              <a:srgbClr val="2A9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grpSp>
        <p:nvGrpSpPr>
          <p:cNvPr id="292" name="图标_window_0293"/>
          <p:cNvGrpSpPr/>
          <p:nvPr/>
        </p:nvGrpSpPr>
        <p:grpSpPr>
          <a:xfrm>
            <a:off x="10274882" y="3790474"/>
            <a:ext cx="175555" cy="158488"/>
            <a:chOff x="12330501" y="4548591"/>
            <a:chExt cx="210677" cy="190195"/>
          </a:xfrm>
        </p:grpSpPr>
        <p:sp>
          <p:nvSpPr>
            <p:cNvPr id="293" name="图标线_0294"/>
            <p:cNvSpPr/>
            <p:nvPr/>
          </p:nvSpPr>
          <p:spPr>
            <a:xfrm>
              <a:off x="12330501" y="4548591"/>
              <a:ext cx="210677" cy="190195"/>
            </a:xfrm>
            <a:custGeom>
              <a:avLst/>
              <a:gdLst/>
              <a:ahLst/>
              <a:cxnLst/>
              <a:rect l="l" t="t" r="r" b="b"/>
              <a:pathLst>
                <a:path w="210677" h="190195">
                  <a:moveTo>
                    <a:pt x="17556" y="0"/>
                  </a:moveTo>
                  <a:lnTo>
                    <a:pt x="210677" y="0"/>
                  </a:lnTo>
                  <a:lnTo>
                    <a:pt x="210677" y="190195"/>
                  </a:lnTo>
                  <a:lnTo>
                    <a:pt x="0" y="190195"/>
                  </a:lnTo>
                  <a:lnTo>
                    <a:pt x="0" y="87782"/>
                  </a:lnTo>
                  <a:lnTo>
                    <a:pt x="17556" y="0"/>
                  </a:lnTo>
                  <a:close/>
                </a:path>
              </a:pathLst>
            </a:custGeom>
            <a:noFill/>
            <a:ln w="2032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294" name="图标线_0295"/>
            <p:cNvSpPr/>
            <p:nvPr/>
          </p:nvSpPr>
          <p:spPr>
            <a:xfrm>
              <a:off x="12356835" y="4574926"/>
              <a:ext cx="146304" cy="93634"/>
            </a:xfrm>
            <a:custGeom>
              <a:avLst/>
              <a:gdLst/>
              <a:ahLst/>
              <a:cxnLst/>
              <a:rect l="l" t="t" r="r" b="b"/>
              <a:pathLst>
                <a:path w="146304" h="93634">
                  <a:moveTo>
                    <a:pt x="20483" y="0"/>
                  </a:moveTo>
                  <a:lnTo>
                    <a:pt x="146304" y="0"/>
                  </a:lnTo>
                  <a:lnTo>
                    <a:pt x="146304" y="93634"/>
                  </a:lnTo>
                  <a:lnTo>
                    <a:pt x="0" y="93634"/>
                  </a:lnTo>
                  <a:lnTo>
                    <a:pt x="20483" y="0"/>
                  </a:lnTo>
                  <a:close/>
                </a:path>
              </a:pathLst>
            </a:custGeom>
            <a:noFill/>
            <a:ln w="2032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295" name="图标线_0296"/>
            <p:cNvCxnSpPr/>
            <p:nvPr/>
          </p:nvCxnSpPr>
          <p:spPr>
            <a:xfrm>
              <a:off x="12482657" y="4706599"/>
              <a:ext cx="35113" cy="0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6" name="图标_seat_0297"/>
          <p:cNvGrpSpPr/>
          <p:nvPr/>
        </p:nvGrpSpPr>
        <p:grpSpPr>
          <a:xfrm>
            <a:off x="10804901" y="3763653"/>
            <a:ext cx="58518" cy="53641"/>
            <a:chOff x="12966557" y="4516404"/>
            <a:chExt cx="70225" cy="64373"/>
          </a:xfrm>
        </p:grpSpPr>
        <p:sp>
          <p:nvSpPr>
            <p:cNvPr id="297" name="图标部件_0298"/>
            <p:cNvSpPr/>
            <p:nvPr/>
          </p:nvSpPr>
          <p:spPr>
            <a:xfrm>
              <a:off x="12966557" y="4516404"/>
              <a:ext cx="70225" cy="64373"/>
            </a:xfrm>
            <a:prstGeom prst="ellipse">
              <a:avLst/>
            </a:prstGeom>
            <a:solidFill>
              <a:srgbClr val="166AB1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298" name="图标线_0299"/>
            <p:cNvSpPr/>
            <p:nvPr/>
          </p:nvSpPr>
          <p:spPr>
            <a:xfrm>
              <a:off x="12864144" y="4595408"/>
              <a:ext cx="155083" cy="149230"/>
            </a:xfrm>
            <a:custGeom>
              <a:avLst/>
              <a:gdLst/>
              <a:ahLst/>
              <a:cxnLst/>
              <a:rect l="l" t="t" r="r" b="b"/>
              <a:pathLst>
                <a:path w="155083" h="149230">
                  <a:moveTo>
                    <a:pt x="90709" y="0"/>
                  </a:moveTo>
                  <a:lnTo>
                    <a:pt x="155083" y="5852"/>
                  </a:lnTo>
                  <a:lnTo>
                    <a:pt x="131674" y="84856"/>
                  </a:lnTo>
                  <a:lnTo>
                    <a:pt x="67300" y="93635"/>
                  </a:lnTo>
                  <a:lnTo>
                    <a:pt x="55596" y="149230"/>
                  </a:lnTo>
                  <a:lnTo>
                    <a:pt x="0" y="149230"/>
                  </a:lnTo>
                  <a:lnTo>
                    <a:pt x="17557" y="58522"/>
                  </a:lnTo>
                  <a:lnTo>
                    <a:pt x="81931" y="46817"/>
                  </a:lnTo>
                  <a:lnTo>
                    <a:pt x="90709" y="0"/>
                  </a:lnTo>
                  <a:close/>
                </a:path>
              </a:pathLst>
            </a:custGeom>
            <a:solidFill>
              <a:srgbClr val="166AB1"/>
            </a:solidFill>
            <a:ln w="2032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299" name="图标线_0300"/>
            <p:cNvSpPr/>
            <p:nvPr/>
          </p:nvSpPr>
          <p:spPr>
            <a:xfrm>
              <a:off x="12943149" y="4700747"/>
              <a:ext cx="128747" cy="64374"/>
            </a:xfrm>
            <a:custGeom>
              <a:avLst/>
              <a:gdLst/>
              <a:ahLst/>
              <a:cxnLst/>
              <a:rect l="l" t="t" r="r" b="b"/>
              <a:pathLst>
                <a:path w="128747" h="64374">
                  <a:moveTo>
                    <a:pt x="61447" y="0"/>
                  </a:moveTo>
                  <a:lnTo>
                    <a:pt x="114117" y="8778"/>
                  </a:lnTo>
                  <a:lnTo>
                    <a:pt x="128747" y="64374"/>
                  </a:lnTo>
                  <a:lnTo>
                    <a:pt x="0" y="64374"/>
                  </a:lnTo>
                </a:path>
              </a:pathLst>
            </a:custGeom>
            <a:noFill/>
            <a:ln w="2032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</p:grpSp>
      <p:sp>
        <p:nvSpPr>
          <p:cNvPr id="300" name="文字_车门_0301"/>
          <p:cNvSpPr txBox="1"/>
          <p:nvPr/>
        </p:nvSpPr>
        <p:spPr>
          <a:xfrm>
            <a:off x="10172170" y="4015709"/>
            <a:ext cx="403839" cy="182870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85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车门</a:t>
            </a:r>
            <a:endParaRPr sz="985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1" name="文字_座椅_0302"/>
          <p:cNvSpPr txBox="1"/>
          <p:nvPr/>
        </p:nvSpPr>
        <p:spPr>
          <a:xfrm>
            <a:off x="10591248" y="4015709"/>
            <a:ext cx="487655" cy="182870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85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座椅</a:t>
            </a:r>
            <a:endParaRPr sz="985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2" name="文字_（左后）_0303"/>
          <p:cNvSpPr txBox="1"/>
          <p:nvPr/>
        </p:nvSpPr>
        <p:spPr>
          <a:xfrm>
            <a:off x="10240747" y="4198580"/>
            <a:ext cx="685764" cy="182870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85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（左后）</a:t>
            </a:r>
            <a:endParaRPr sz="985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03" name="连接线_0304"/>
          <p:cNvCxnSpPr/>
          <p:nvPr/>
        </p:nvCxnSpPr>
        <p:spPr>
          <a:xfrm>
            <a:off x="11459882" y="2758475"/>
            <a:ext cx="0" cy="198110"/>
          </a:xfrm>
          <a:prstGeom prst="line">
            <a:avLst/>
          </a:prstGeom>
          <a:ln w="21590" cap="rnd">
            <a:solidFill>
              <a:srgbClr val="7545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4" name="区域控制器_0305"/>
          <p:cNvSpPr/>
          <p:nvPr/>
        </p:nvSpPr>
        <p:spPr>
          <a:xfrm>
            <a:off x="11086522" y="2956585"/>
            <a:ext cx="754341" cy="487655"/>
          </a:xfrm>
          <a:prstGeom prst="roundRect">
            <a:avLst>
              <a:gd name="adj" fmla="val 10000"/>
            </a:avLst>
          </a:prstGeom>
          <a:solidFill>
            <a:srgbClr val="D9EDFD"/>
          </a:solidFill>
          <a:ln w="10160" cap="rnd">
            <a:solidFill>
              <a:srgbClr val="279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05" name="文字_后右区域_控制器_0306"/>
          <p:cNvSpPr txBox="1"/>
          <p:nvPr/>
        </p:nvSpPr>
        <p:spPr>
          <a:xfrm>
            <a:off x="11109381" y="2994683"/>
            <a:ext cx="708623" cy="396219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后右区域</a:t>
            </a:r>
            <a:endParaRPr sz="1210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控制器</a:t>
            </a:r>
            <a:endParaRPr sz="1210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6" name="路径_0307"/>
          <p:cNvSpPr/>
          <p:nvPr/>
        </p:nvSpPr>
        <p:spPr>
          <a:xfrm>
            <a:off x="11238914" y="3444238"/>
            <a:ext cx="220968" cy="274307"/>
          </a:xfrm>
          <a:custGeom>
            <a:avLst/>
            <a:gdLst/>
            <a:ahLst/>
            <a:cxnLst/>
            <a:rect l="l" t="t" r="r" b="b"/>
            <a:pathLst>
              <a:path w="265176" h="329185">
                <a:moveTo>
                  <a:pt x="265176" y="0"/>
                </a:moveTo>
                <a:lnTo>
                  <a:pt x="265176" y="164593"/>
                </a:lnTo>
                <a:lnTo>
                  <a:pt x="0" y="164593"/>
                </a:lnTo>
                <a:lnTo>
                  <a:pt x="0" y="329185"/>
                </a:lnTo>
              </a:path>
            </a:pathLst>
          </a:custGeom>
          <a:noFill/>
          <a:ln w="18415" cap="rnd">
            <a:solidFill>
              <a:srgbClr val="087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07" name="路径_0308"/>
          <p:cNvSpPr/>
          <p:nvPr/>
        </p:nvSpPr>
        <p:spPr>
          <a:xfrm>
            <a:off x="11459882" y="3444238"/>
            <a:ext cx="220968" cy="274307"/>
          </a:xfrm>
          <a:custGeom>
            <a:avLst/>
            <a:gdLst/>
            <a:ahLst/>
            <a:cxnLst/>
            <a:rect l="l" t="t" r="r" b="b"/>
            <a:pathLst>
              <a:path w="265176" h="329185">
                <a:moveTo>
                  <a:pt x="0" y="0"/>
                </a:moveTo>
                <a:lnTo>
                  <a:pt x="0" y="164593"/>
                </a:lnTo>
                <a:lnTo>
                  <a:pt x="265176" y="164593"/>
                </a:lnTo>
                <a:lnTo>
                  <a:pt x="265176" y="329185"/>
                </a:lnTo>
              </a:path>
            </a:pathLst>
          </a:custGeom>
          <a:noFill/>
          <a:ln w="18415" cap="rnd">
            <a:solidFill>
              <a:srgbClr val="2A9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grpSp>
        <p:nvGrpSpPr>
          <p:cNvPr id="308" name="图标_battery_0309"/>
          <p:cNvGrpSpPr/>
          <p:nvPr/>
        </p:nvGrpSpPr>
        <p:grpSpPr>
          <a:xfrm>
            <a:off x="11144126" y="3795350"/>
            <a:ext cx="204814" cy="146297"/>
            <a:chOff x="13373648" y="4554443"/>
            <a:chExt cx="245790" cy="175565"/>
          </a:xfrm>
        </p:grpSpPr>
        <p:sp>
          <p:nvSpPr>
            <p:cNvPr id="309" name="图标部件_0310"/>
            <p:cNvSpPr/>
            <p:nvPr/>
          </p:nvSpPr>
          <p:spPr>
            <a:xfrm>
              <a:off x="13373648" y="4580778"/>
              <a:ext cx="245790" cy="149230"/>
            </a:xfrm>
            <a:prstGeom prst="roundRect">
              <a:avLst>
                <a:gd name="adj" fmla="val 10000"/>
              </a:avLst>
            </a:prstGeom>
            <a:noFill/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310" name="图标部件_0311"/>
            <p:cNvSpPr/>
            <p:nvPr/>
          </p:nvSpPr>
          <p:spPr>
            <a:xfrm>
              <a:off x="13402909" y="4554443"/>
              <a:ext cx="46817" cy="23408"/>
            </a:xfrm>
            <a:prstGeom prst="rect">
              <a:avLst/>
            </a:prstGeom>
            <a:solidFill>
              <a:srgbClr val="166AB1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311" name="图标部件_0312"/>
            <p:cNvSpPr/>
            <p:nvPr/>
          </p:nvSpPr>
          <p:spPr>
            <a:xfrm>
              <a:off x="13543361" y="4554443"/>
              <a:ext cx="46817" cy="23408"/>
            </a:xfrm>
            <a:prstGeom prst="rect">
              <a:avLst/>
            </a:prstGeom>
            <a:solidFill>
              <a:srgbClr val="166AB1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312" name="图标线_0313"/>
            <p:cNvCxnSpPr/>
            <p:nvPr/>
          </p:nvCxnSpPr>
          <p:spPr>
            <a:xfrm>
              <a:off x="13405835" y="4633447"/>
              <a:ext cx="43891" cy="0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图标线_0314"/>
            <p:cNvCxnSpPr/>
            <p:nvPr/>
          </p:nvCxnSpPr>
          <p:spPr>
            <a:xfrm>
              <a:off x="13426318" y="4612965"/>
              <a:ext cx="0" cy="43891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图标线_0315"/>
            <p:cNvCxnSpPr/>
            <p:nvPr/>
          </p:nvCxnSpPr>
          <p:spPr>
            <a:xfrm>
              <a:off x="13537509" y="4633447"/>
              <a:ext cx="43891" cy="0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5" name="图标_radar_0316"/>
          <p:cNvGrpSpPr/>
          <p:nvPr/>
        </p:nvGrpSpPr>
        <p:grpSpPr>
          <a:xfrm>
            <a:off x="11591245" y="3779974"/>
            <a:ext cx="209692" cy="183617"/>
            <a:chOff x="13910218" y="4535991"/>
            <a:chExt cx="251643" cy="220352"/>
          </a:xfrm>
        </p:grpSpPr>
        <p:sp>
          <p:nvSpPr>
            <p:cNvPr id="316" name="图标部件_0317"/>
            <p:cNvSpPr/>
            <p:nvPr/>
          </p:nvSpPr>
          <p:spPr>
            <a:xfrm>
              <a:off x="14009705" y="4615891"/>
              <a:ext cx="52669" cy="52669"/>
            </a:xfrm>
            <a:prstGeom prst="ellipse">
              <a:avLst/>
            </a:prstGeom>
            <a:solidFill>
              <a:srgbClr val="166AB1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317" name="圆弧_0318"/>
            <p:cNvSpPr/>
            <p:nvPr/>
          </p:nvSpPr>
          <p:spPr>
            <a:xfrm>
              <a:off x="14078372" y="4575520"/>
              <a:ext cx="36672" cy="133411"/>
            </a:xfrm>
            <a:custGeom>
              <a:avLst/>
              <a:gdLst/>
              <a:ahLst/>
              <a:cxnLst/>
              <a:rect l="l" t="t" r="r" b="b"/>
              <a:pathLst>
                <a:path w="36672" h="133411">
                  <a:moveTo>
                    <a:pt x="0" y="0"/>
                  </a:moveTo>
                  <a:lnTo>
                    <a:pt x="4105" y="2790"/>
                  </a:lnTo>
                  <a:lnTo>
                    <a:pt x="8027" y="5832"/>
                  </a:lnTo>
                  <a:lnTo>
                    <a:pt x="11750" y="9114"/>
                  </a:lnTo>
                  <a:lnTo>
                    <a:pt x="15259" y="12623"/>
                  </a:lnTo>
                  <a:lnTo>
                    <a:pt x="18541" y="16346"/>
                  </a:lnTo>
                  <a:lnTo>
                    <a:pt x="21583" y="20268"/>
                  </a:lnTo>
                  <a:lnTo>
                    <a:pt x="24373" y="24373"/>
                  </a:lnTo>
                  <a:lnTo>
                    <a:pt x="26899" y="28645"/>
                  </a:lnTo>
                  <a:lnTo>
                    <a:pt x="29153" y="33067"/>
                  </a:lnTo>
                  <a:lnTo>
                    <a:pt x="31124" y="37622"/>
                  </a:lnTo>
                  <a:lnTo>
                    <a:pt x="32805" y="42292"/>
                  </a:lnTo>
                  <a:lnTo>
                    <a:pt x="34190" y="47058"/>
                  </a:lnTo>
                  <a:lnTo>
                    <a:pt x="35272" y="51902"/>
                  </a:lnTo>
                  <a:lnTo>
                    <a:pt x="36049" y="56804"/>
                  </a:lnTo>
                  <a:lnTo>
                    <a:pt x="36516" y="61745"/>
                  </a:lnTo>
                  <a:lnTo>
                    <a:pt x="36672" y="66705"/>
                  </a:lnTo>
                  <a:lnTo>
                    <a:pt x="36516" y="71666"/>
                  </a:lnTo>
                  <a:lnTo>
                    <a:pt x="36049" y="76607"/>
                  </a:lnTo>
                  <a:lnTo>
                    <a:pt x="35272" y="81509"/>
                  </a:lnTo>
                  <a:lnTo>
                    <a:pt x="34190" y="86353"/>
                  </a:lnTo>
                  <a:lnTo>
                    <a:pt x="32805" y="91119"/>
                  </a:lnTo>
                  <a:lnTo>
                    <a:pt x="31124" y="95789"/>
                  </a:lnTo>
                  <a:lnTo>
                    <a:pt x="29153" y="100344"/>
                  </a:lnTo>
                  <a:lnTo>
                    <a:pt x="26899" y="104766"/>
                  </a:lnTo>
                  <a:lnTo>
                    <a:pt x="24373" y="109038"/>
                  </a:lnTo>
                  <a:lnTo>
                    <a:pt x="21583" y="113143"/>
                  </a:lnTo>
                  <a:lnTo>
                    <a:pt x="18541" y="117065"/>
                  </a:lnTo>
                  <a:lnTo>
                    <a:pt x="15259" y="120787"/>
                  </a:lnTo>
                  <a:lnTo>
                    <a:pt x="11750" y="124297"/>
                  </a:lnTo>
                  <a:lnTo>
                    <a:pt x="8027" y="127579"/>
                  </a:lnTo>
                  <a:lnTo>
                    <a:pt x="4105" y="130621"/>
                  </a:lnTo>
                  <a:lnTo>
                    <a:pt x="0" y="133411"/>
                  </a:lnTo>
                </a:path>
              </a:pathLst>
            </a:custGeom>
            <a:noFill/>
            <a:ln w="1905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318" name="圆弧_0319"/>
            <p:cNvSpPr/>
            <p:nvPr/>
          </p:nvSpPr>
          <p:spPr>
            <a:xfrm>
              <a:off x="13957035" y="4575520"/>
              <a:ext cx="36672" cy="133411"/>
            </a:xfrm>
            <a:custGeom>
              <a:avLst/>
              <a:gdLst/>
              <a:ahLst/>
              <a:cxnLst/>
              <a:rect l="l" t="t" r="r" b="b"/>
              <a:pathLst>
                <a:path w="36672" h="133411">
                  <a:moveTo>
                    <a:pt x="36672" y="133411"/>
                  </a:moveTo>
                  <a:lnTo>
                    <a:pt x="32567" y="130621"/>
                  </a:lnTo>
                  <a:lnTo>
                    <a:pt x="28645" y="127579"/>
                  </a:lnTo>
                  <a:lnTo>
                    <a:pt x="24922" y="124297"/>
                  </a:lnTo>
                  <a:lnTo>
                    <a:pt x="21413" y="120787"/>
                  </a:lnTo>
                  <a:lnTo>
                    <a:pt x="18131" y="117065"/>
                  </a:lnTo>
                  <a:lnTo>
                    <a:pt x="15089" y="113143"/>
                  </a:lnTo>
                  <a:lnTo>
                    <a:pt x="12299" y="109038"/>
                  </a:lnTo>
                  <a:lnTo>
                    <a:pt x="9773" y="104766"/>
                  </a:lnTo>
                  <a:lnTo>
                    <a:pt x="7519" y="100344"/>
                  </a:lnTo>
                  <a:lnTo>
                    <a:pt x="5548" y="95789"/>
                  </a:lnTo>
                  <a:lnTo>
                    <a:pt x="3867" y="91119"/>
                  </a:lnTo>
                  <a:lnTo>
                    <a:pt x="2482" y="86353"/>
                  </a:lnTo>
                  <a:lnTo>
                    <a:pt x="1400" y="81509"/>
                  </a:lnTo>
                  <a:lnTo>
                    <a:pt x="623" y="76607"/>
                  </a:lnTo>
                  <a:lnTo>
                    <a:pt x="156" y="71666"/>
                  </a:lnTo>
                  <a:lnTo>
                    <a:pt x="0" y="66705"/>
                  </a:lnTo>
                  <a:lnTo>
                    <a:pt x="156" y="61745"/>
                  </a:lnTo>
                  <a:lnTo>
                    <a:pt x="623" y="56804"/>
                  </a:lnTo>
                  <a:lnTo>
                    <a:pt x="1400" y="51902"/>
                  </a:lnTo>
                  <a:lnTo>
                    <a:pt x="2482" y="47058"/>
                  </a:lnTo>
                  <a:lnTo>
                    <a:pt x="3867" y="42292"/>
                  </a:lnTo>
                  <a:lnTo>
                    <a:pt x="5548" y="37622"/>
                  </a:lnTo>
                  <a:lnTo>
                    <a:pt x="7519" y="33067"/>
                  </a:lnTo>
                  <a:lnTo>
                    <a:pt x="9773" y="28645"/>
                  </a:lnTo>
                  <a:lnTo>
                    <a:pt x="12299" y="24373"/>
                  </a:lnTo>
                  <a:lnTo>
                    <a:pt x="15089" y="20268"/>
                  </a:lnTo>
                  <a:lnTo>
                    <a:pt x="18131" y="16346"/>
                  </a:lnTo>
                  <a:lnTo>
                    <a:pt x="21413" y="12623"/>
                  </a:lnTo>
                  <a:lnTo>
                    <a:pt x="24922" y="9114"/>
                  </a:lnTo>
                  <a:lnTo>
                    <a:pt x="28645" y="5832"/>
                  </a:lnTo>
                  <a:lnTo>
                    <a:pt x="32567" y="2790"/>
                  </a:lnTo>
                  <a:lnTo>
                    <a:pt x="36672" y="0"/>
                  </a:lnTo>
                </a:path>
              </a:pathLst>
            </a:custGeom>
            <a:noFill/>
            <a:ln w="1905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319" name="圆弧_0320"/>
            <p:cNvSpPr/>
            <p:nvPr/>
          </p:nvSpPr>
          <p:spPr>
            <a:xfrm>
              <a:off x="14103458" y="4535991"/>
              <a:ext cx="58403" cy="212469"/>
            </a:xfrm>
            <a:custGeom>
              <a:avLst/>
              <a:gdLst/>
              <a:ahLst/>
              <a:cxnLst/>
              <a:rect l="l" t="t" r="r" b="b"/>
              <a:pathLst>
                <a:path w="58403" h="212469">
                  <a:moveTo>
                    <a:pt x="0" y="0"/>
                  </a:moveTo>
                  <a:lnTo>
                    <a:pt x="6537" y="4443"/>
                  </a:lnTo>
                  <a:lnTo>
                    <a:pt x="12783" y="9287"/>
                  </a:lnTo>
                  <a:lnTo>
                    <a:pt x="18712" y="14515"/>
                  </a:lnTo>
                  <a:lnTo>
                    <a:pt x="24301" y="20104"/>
                  </a:lnTo>
                  <a:lnTo>
                    <a:pt x="29529" y="26033"/>
                  </a:lnTo>
                  <a:lnTo>
                    <a:pt x="34373" y="32278"/>
                  </a:lnTo>
                  <a:lnTo>
                    <a:pt x="38816" y="38816"/>
                  </a:lnTo>
                  <a:lnTo>
                    <a:pt x="42840" y="45619"/>
                  </a:lnTo>
                  <a:lnTo>
                    <a:pt x="46428" y="52662"/>
                  </a:lnTo>
                  <a:lnTo>
                    <a:pt x="49567" y="59916"/>
                  </a:lnTo>
                  <a:lnTo>
                    <a:pt x="52245" y="67353"/>
                  </a:lnTo>
                  <a:lnTo>
                    <a:pt x="54450" y="74944"/>
                  </a:lnTo>
                  <a:lnTo>
                    <a:pt x="56174" y="82658"/>
                  </a:lnTo>
                  <a:lnTo>
                    <a:pt x="57411" y="90465"/>
                  </a:lnTo>
                  <a:lnTo>
                    <a:pt x="58155" y="98334"/>
                  </a:lnTo>
                  <a:lnTo>
                    <a:pt x="58403" y="106234"/>
                  </a:lnTo>
                  <a:lnTo>
                    <a:pt x="58155" y="114135"/>
                  </a:lnTo>
                  <a:lnTo>
                    <a:pt x="57411" y="122004"/>
                  </a:lnTo>
                  <a:lnTo>
                    <a:pt x="56174" y="129811"/>
                  </a:lnTo>
                  <a:lnTo>
                    <a:pt x="54450" y="137525"/>
                  </a:lnTo>
                  <a:lnTo>
                    <a:pt x="52245" y="145115"/>
                  </a:lnTo>
                  <a:lnTo>
                    <a:pt x="49567" y="152552"/>
                  </a:lnTo>
                  <a:lnTo>
                    <a:pt x="46428" y="159807"/>
                  </a:lnTo>
                  <a:lnTo>
                    <a:pt x="42840" y="166849"/>
                  </a:lnTo>
                  <a:lnTo>
                    <a:pt x="38816" y="173653"/>
                  </a:lnTo>
                  <a:lnTo>
                    <a:pt x="34373" y="180190"/>
                  </a:lnTo>
                  <a:lnTo>
                    <a:pt x="29529" y="186436"/>
                  </a:lnTo>
                  <a:lnTo>
                    <a:pt x="24301" y="192365"/>
                  </a:lnTo>
                  <a:lnTo>
                    <a:pt x="18712" y="197954"/>
                  </a:lnTo>
                  <a:lnTo>
                    <a:pt x="12783" y="203182"/>
                  </a:lnTo>
                  <a:lnTo>
                    <a:pt x="6537" y="208026"/>
                  </a:lnTo>
                  <a:lnTo>
                    <a:pt x="0" y="212469"/>
                  </a:lnTo>
                </a:path>
              </a:pathLst>
            </a:custGeom>
            <a:noFill/>
            <a:ln w="1905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320" name="圆弧_0321"/>
            <p:cNvSpPr/>
            <p:nvPr/>
          </p:nvSpPr>
          <p:spPr>
            <a:xfrm>
              <a:off x="13910218" y="4535991"/>
              <a:ext cx="58403" cy="212469"/>
            </a:xfrm>
            <a:custGeom>
              <a:avLst/>
              <a:gdLst/>
              <a:ahLst/>
              <a:cxnLst/>
              <a:rect l="l" t="t" r="r" b="b"/>
              <a:pathLst>
                <a:path w="58403" h="212469">
                  <a:moveTo>
                    <a:pt x="58403" y="212469"/>
                  </a:moveTo>
                  <a:lnTo>
                    <a:pt x="51866" y="208026"/>
                  </a:lnTo>
                  <a:lnTo>
                    <a:pt x="45620" y="203182"/>
                  </a:lnTo>
                  <a:lnTo>
                    <a:pt x="39691" y="197954"/>
                  </a:lnTo>
                  <a:lnTo>
                    <a:pt x="34102" y="192365"/>
                  </a:lnTo>
                  <a:lnTo>
                    <a:pt x="28874" y="186436"/>
                  </a:lnTo>
                  <a:lnTo>
                    <a:pt x="24030" y="180190"/>
                  </a:lnTo>
                  <a:lnTo>
                    <a:pt x="19587" y="173653"/>
                  </a:lnTo>
                  <a:lnTo>
                    <a:pt x="15563" y="166849"/>
                  </a:lnTo>
                  <a:lnTo>
                    <a:pt x="11975" y="159807"/>
                  </a:lnTo>
                  <a:lnTo>
                    <a:pt x="8836" y="152552"/>
                  </a:lnTo>
                  <a:lnTo>
                    <a:pt x="6158" y="145115"/>
                  </a:lnTo>
                  <a:lnTo>
                    <a:pt x="3953" y="137525"/>
                  </a:lnTo>
                  <a:lnTo>
                    <a:pt x="2229" y="129811"/>
                  </a:lnTo>
                  <a:lnTo>
                    <a:pt x="992" y="122004"/>
                  </a:lnTo>
                  <a:lnTo>
                    <a:pt x="248" y="114135"/>
                  </a:lnTo>
                  <a:lnTo>
                    <a:pt x="0" y="106234"/>
                  </a:lnTo>
                  <a:lnTo>
                    <a:pt x="248" y="98334"/>
                  </a:lnTo>
                  <a:lnTo>
                    <a:pt x="992" y="90465"/>
                  </a:lnTo>
                  <a:lnTo>
                    <a:pt x="2229" y="82658"/>
                  </a:lnTo>
                  <a:lnTo>
                    <a:pt x="3953" y="74944"/>
                  </a:lnTo>
                  <a:lnTo>
                    <a:pt x="6158" y="67353"/>
                  </a:lnTo>
                  <a:lnTo>
                    <a:pt x="8836" y="59916"/>
                  </a:lnTo>
                  <a:lnTo>
                    <a:pt x="11975" y="52662"/>
                  </a:lnTo>
                  <a:lnTo>
                    <a:pt x="15563" y="45619"/>
                  </a:lnTo>
                  <a:lnTo>
                    <a:pt x="19587" y="38816"/>
                  </a:lnTo>
                  <a:lnTo>
                    <a:pt x="24030" y="32278"/>
                  </a:lnTo>
                  <a:lnTo>
                    <a:pt x="28874" y="26033"/>
                  </a:lnTo>
                  <a:lnTo>
                    <a:pt x="34102" y="20104"/>
                  </a:lnTo>
                  <a:lnTo>
                    <a:pt x="39691" y="14515"/>
                  </a:lnTo>
                  <a:lnTo>
                    <a:pt x="45620" y="9287"/>
                  </a:lnTo>
                  <a:lnTo>
                    <a:pt x="51866" y="4443"/>
                  </a:lnTo>
                  <a:lnTo>
                    <a:pt x="58403" y="0"/>
                  </a:lnTo>
                </a:path>
              </a:pathLst>
            </a:custGeom>
            <a:noFill/>
            <a:ln w="1905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321" name="图标线_0322"/>
            <p:cNvCxnSpPr/>
            <p:nvPr/>
          </p:nvCxnSpPr>
          <p:spPr>
            <a:xfrm>
              <a:off x="14036039" y="4671486"/>
              <a:ext cx="0" cy="76078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图标线_0323"/>
            <p:cNvCxnSpPr/>
            <p:nvPr/>
          </p:nvCxnSpPr>
          <p:spPr>
            <a:xfrm>
              <a:off x="13974592" y="4756343"/>
              <a:ext cx="122895" cy="0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3" name="文字_电源_0324"/>
          <p:cNvSpPr txBox="1"/>
          <p:nvPr/>
        </p:nvSpPr>
        <p:spPr>
          <a:xfrm>
            <a:off x="11056043" y="4015709"/>
            <a:ext cx="403839" cy="182870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85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电源</a:t>
            </a:r>
            <a:endParaRPr sz="985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4" name="文字_传感器_0325"/>
          <p:cNvSpPr txBox="1"/>
          <p:nvPr/>
        </p:nvSpPr>
        <p:spPr>
          <a:xfrm>
            <a:off x="11475121" y="4015709"/>
            <a:ext cx="487655" cy="182870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85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传感器</a:t>
            </a:r>
            <a:endParaRPr sz="985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5" name="文字_（右后）_0326"/>
          <p:cNvSpPr txBox="1"/>
          <p:nvPr/>
        </p:nvSpPr>
        <p:spPr>
          <a:xfrm>
            <a:off x="11124620" y="4198580"/>
            <a:ext cx="685764" cy="182870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85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（右后）</a:t>
            </a:r>
            <a:endParaRPr sz="985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6" name="连接线_0327"/>
          <p:cNvCxnSpPr/>
          <p:nvPr/>
        </p:nvCxnSpPr>
        <p:spPr>
          <a:xfrm>
            <a:off x="8412042" y="4450027"/>
            <a:ext cx="175251" cy="0"/>
          </a:xfrm>
          <a:prstGeom prst="line">
            <a:avLst/>
          </a:prstGeom>
          <a:ln w="25400" cap="rnd">
            <a:solidFill>
              <a:srgbClr val="7545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" name="文字_以太网 / TSN_0328"/>
          <p:cNvSpPr txBox="1"/>
          <p:nvPr/>
        </p:nvSpPr>
        <p:spPr>
          <a:xfrm>
            <a:off x="8633010" y="4358592"/>
            <a:ext cx="1051505" cy="175251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85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以太网 / TSN</a:t>
            </a:r>
            <a:endParaRPr sz="985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8" name="连接线_0329"/>
          <p:cNvCxnSpPr/>
          <p:nvPr/>
        </p:nvCxnSpPr>
        <p:spPr>
          <a:xfrm>
            <a:off x="9798810" y="4450027"/>
            <a:ext cx="175251" cy="0"/>
          </a:xfrm>
          <a:prstGeom prst="line">
            <a:avLst/>
          </a:prstGeom>
          <a:ln w="25400" cap="rnd">
            <a:solidFill>
              <a:srgbClr val="087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" name="文字_CAN总线_0330"/>
          <p:cNvSpPr txBox="1"/>
          <p:nvPr/>
        </p:nvSpPr>
        <p:spPr>
          <a:xfrm>
            <a:off x="10019777" y="4358592"/>
            <a:ext cx="761960" cy="175251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85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CAN总线</a:t>
            </a:r>
            <a:endParaRPr sz="985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30" name="连接线_0331"/>
          <p:cNvCxnSpPr/>
          <p:nvPr/>
        </p:nvCxnSpPr>
        <p:spPr>
          <a:xfrm>
            <a:off x="10956989" y="4450027"/>
            <a:ext cx="175251" cy="0"/>
          </a:xfrm>
          <a:prstGeom prst="line">
            <a:avLst/>
          </a:prstGeom>
          <a:ln w="25400" cap="rnd">
            <a:solidFill>
              <a:srgbClr val="2A9B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1" name="文字_LIN总线_0332"/>
          <p:cNvSpPr txBox="1"/>
          <p:nvPr/>
        </p:nvSpPr>
        <p:spPr>
          <a:xfrm>
            <a:off x="11177957" y="4358592"/>
            <a:ext cx="685764" cy="175251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85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LIN总线</a:t>
            </a:r>
            <a:endParaRPr sz="985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2" name="框_0333"/>
          <p:cNvSpPr/>
          <p:nvPr/>
        </p:nvSpPr>
        <p:spPr>
          <a:xfrm>
            <a:off x="236208" y="5143411"/>
            <a:ext cx="2857351" cy="304784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064481"/>
              </a:gs>
              <a:gs pos="100000">
                <a:srgbClr val="0A78CC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33" name="文字_复杂度上升的核心原因_0334"/>
          <p:cNvSpPr txBox="1"/>
          <p:nvPr/>
        </p:nvSpPr>
        <p:spPr>
          <a:xfrm>
            <a:off x="358121" y="5158650"/>
            <a:ext cx="2544947" cy="259067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复杂度上升的核心原因</a:t>
            </a:r>
            <a:endParaRPr sz="154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4" name="标题箭尾_0335"/>
          <p:cNvSpPr/>
          <p:nvPr/>
        </p:nvSpPr>
        <p:spPr>
          <a:xfrm>
            <a:off x="3078320" y="5143411"/>
            <a:ext cx="190490" cy="304784"/>
          </a:xfrm>
          <a:prstGeom prst="chevron">
            <a:avLst/>
          </a:prstGeom>
          <a:solidFill>
            <a:srgbClr val="B6D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35" name="标题箭尾_0336"/>
          <p:cNvSpPr/>
          <p:nvPr/>
        </p:nvSpPr>
        <p:spPr>
          <a:xfrm>
            <a:off x="3200233" y="5143411"/>
            <a:ext cx="190490" cy="304784"/>
          </a:xfrm>
          <a:prstGeom prst="chevron">
            <a:avLst/>
          </a:prstGeom>
          <a:solidFill>
            <a:srgbClr val="B6D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36" name="圆_0337"/>
          <p:cNvSpPr/>
          <p:nvPr/>
        </p:nvSpPr>
        <p:spPr>
          <a:xfrm>
            <a:off x="274306" y="5600587"/>
            <a:ext cx="350502" cy="350502"/>
          </a:xfrm>
          <a:prstGeom prst="ellipse">
            <a:avLst/>
          </a:prstGeom>
          <a:solidFill>
            <a:srgbClr val="166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grpSp>
        <p:nvGrpSpPr>
          <p:cNvPr id="337" name="图标_gear_0338"/>
          <p:cNvGrpSpPr/>
          <p:nvPr/>
        </p:nvGrpSpPr>
        <p:grpSpPr>
          <a:xfrm>
            <a:off x="344710" y="5670992"/>
            <a:ext cx="209692" cy="209692"/>
            <a:chOff x="413674" y="6805330"/>
            <a:chExt cx="251643" cy="251643"/>
          </a:xfrm>
        </p:grpSpPr>
        <p:sp>
          <p:nvSpPr>
            <p:cNvPr id="338" name="图标线_0339"/>
            <p:cNvSpPr/>
            <p:nvPr/>
          </p:nvSpPr>
          <p:spPr>
            <a:xfrm>
              <a:off x="413674" y="6805330"/>
              <a:ext cx="251643" cy="251643"/>
            </a:xfrm>
            <a:custGeom>
              <a:avLst/>
              <a:gdLst/>
              <a:ahLst/>
              <a:cxnLst/>
              <a:rect l="l" t="t" r="r" b="b"/>
              <a:pathLst>
                <a:path w="251643" h="251643">
                  <a:moveTo>
                    <a:pt x="251643" y="125822"/>
                  </a:moveTo>
                  <a:lnTo>
                    <a:pt x="250567" y="142244"/>
                  </a:lnTo>
                  <a:lnTo>
                    <a:pt x="247356" y="158386"/>
                  </a:lnTo>
                  <a:lnTo>
                    <a:pt x="217735" y="163893"/>
                  </a:lnTo>
                  <a:lnTo>
                    <a:pt x="211980" y="175565"/>
                  </a:lnTo>
                  <a:lnTo>
                    <a:pt x="204750" y="186385"/>
                  </a:lnTo>
                  <a:lnTo>
                    <a:pt x="214791" y="214791"/>
                  </a:lnTo>
                  <a:lnTo>
                    <a:pt x="202417" y="225642"/>
                  </a:lnTo>
                  <a:lnTo>
                    <a:pt x="188732" y="234786"/>
                  </a:lnTo>
                  <a:lnTo>
                    <a:pt x="163893" y="217735"/>
                  </a:lnTo>
                  <a:lnTo>
                    <a:pt x="151571" y="221918"/>
                  </a:lnTo>
                  <a:lnTo>
                    <a:pt x="138807" y="224457"/>
                  </a:lnTo>
                  <a:lnTo>
                    <a:pt x="125822" y="251643"/>
                  </a:lnTo>
                  <a:lnTo>
                    <a:pt x="109399" y="250567"/>
                  </a:lnTo>
                  <a:lnTo>
                    <a:pt x="93257" y="247356"/>
                  </a:lnTo>
                  <a:lnTo>
                    <a:pt x="87750" y="217735"/>
                  </a:lnTo>
                  <a:lnTo>
                    <a:pt x="76078" y="211980"/>
                  </a:lnTo>
                  <a:lnTo>
                    <a:pt x="65258" y="204750"/>
                  </a:lnTo>
                  <a:lnTo>
                    <a:pt x="36852" y="214791"/>
                  </a:lnTo>
                  <a:lnTo>
                    <a:pt x="26001" y="202417"/>
                  </a:lnTo>
                  <a:lnTo>
                    <a:pt x="16857" y="188732"/>
                  </a:lnTo>
                  <a:lnTo>
                    <a:pt x="33908" y="163893"/>
                  </a:lnTo>
                  <a:lnTo>
                    <a:pt x="29725" y="151571"/>
                  </a:lnTo>
                  <a:lnTo>
                    <a:pt x="27186" y="138807"/>
                  </a:lnTo>
                  <a:lnTo>
                    <a:pt x="0" y="125822"/>
                  </a:lnTo>
                  <a:lnTo>
                    <a:pt x="1076" y="109399"/>
                  </a:lnTo>
                  <a:lnTo>
                    <a:pt x="4287" y="93257"/>
                  </a:lnTo>
                  <a:lnTo>
                    <a:pt x="33908" y="87750"/>
                  </a:lnTo>
                  <a:lnTo>
                    <a:pt x="39663" y="76078"/>
                  </a:lnTo>
                  <a:lnTo>
                    <a:pt x="46893" y="65258"/>
                  </a:lnTo>
                  <a:lnTo>
                    <a:pt x="36852" y="36852"/>
                  </a:lnTo>
                  <a:lnTo>
                    <a:pt x="49226" y="26001"/>
                  </a:lnTo>
                  <a:lnTo>
                    <a:pt x="62911" y="16857"/>
                  </a:lnTo>
                  <a:lnTo>
                    <a:pt x="87750" y="33908"/>
                  </a:lnTo>
                  <a:lnTo>
                    <a:pt x="100072" y="29725"/>
                  </a:lnTo>
                  <a:lnTo>
                    <a:pt x="112836" y="27186"/>
                  </a:lnTo>
                  <a:lnTo>
                    <a:pt x="125822" y="0"/>
                  </a:lnTo>
                  <a:lnTo>
                    <a:pt x="142244" y="1076"/>
                  </a:lnTo>
                  <a:lnTo>
                    <a:pt x="158386" y="4287"/>
                  </a:lnTo>
                  <a:lnTo>
                    <a:pt x="163893" y="33908"/>
                  </a:lnTo>
                  <a:lnTo>
                    <a:pt x="175565" y="39663"/>
                  </a:lnTo>
                  <a:lnTo>
                    <a:pt x="186385" y="46893"/>
                  </a:lnTo>
                  <a:lnTo>
                    <a:pt x="214791" y="36852"/>
                  </a:lnTo>
                  <a:lnTo>
                    <a:pt x="225642" y="49226"/>
                  </a:lnTo>
                  <a:lnTo>
                    <a:pt x="234786" y="62911"/>
                  </a:lnTo>
                  <a:lnTo>
                    <a:pt x="217735" y="87750"/>
                  </a:lnTo>
                  <a:lnTo>
                    <a:pt x="221918" y="100072"/>
                  </a:lnTo>
                  <a:lnTo>
                    <a:pt x="224457" y="112836"/>
                  </a:lnTo>
                  <a:close/>
                </a:path>
              </a:pathLst>
            </a:custGeom>
            <a:solidFill>
              <a:srgbClr val="FFFFFF"/>
            </a:solidFill>
            <a:ln w="20320" cap="rnd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339" name="圆_0340"/>
            <p:cNvSpPr/>
            <p:nvPr/>
          </p:nvSpPr>
          <p:spPr>
            <a:xfrm>
              <a:off x="492678" y="6884334"/>
              <a:ext cx="93634" cy="9363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</p:grpSp>
      <p:sp>
        <p:nvSpPr>
          <p:cNvPr id="340" name="文字_功能数量增加_0341"/>
          <p:cNvSpPr txBox="1"/>
          <p:nvPr/>
        </p:nvSpPr>
        <p:spPr>
          <a:xfrm>
            <a:off x="693383" y="5570108"/>
            <a:ext cx="1081984" cy="403839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功能数量增加</a:t>
            </a:r>
            <a:endParaRPr sz="1140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1" name="文字_从少量功能_到数百项功能_0342"/>
          <p:cNvSpPr txBox="1"/>
          <p:nvPr/>
        </p:nvSpPr>
        <p:spPr>
          <a:xfrm>
            <a:off x="335263" y="6080622"/>
            <a:ext cx="1455344" cy="571470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从少量功能</a:t>
            </a:r>
            <a:endParaRPr sz="1010" b="0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到数百项功能</a:t>
            </a:r>
            <a:endParaRPr sz="1010" b="0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42" name="连接线_0343"/>
          <p:cNvCxnSpPr/>
          <p:nvPr/>
        </p:nvCxnSpPr>
        <p:spPr>
          <a:xfrm>
            <a:off x="1760127" y="5631065"/>
            <a:ext cx="0" cy="967690"/>
          </a:xfrm>
          <a:prstGeom prst="line">
            <a:avLst/>
          </a:prstGeom>
          <a:ln w="10160" cap="rnd">
            <a:solidFill>
              <a:srgbClr val="D8E8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3" name="圆_0344"/>
          <p:cNvSpPr/>
          <p:nvPr/>
        </p:nvSpPr>
        <p:spPr>
          <a:xfrm>
            <a:off x="1866802" y="5600587"/>
            <a:ext cx="350502" cy="350502"/>
          </a:xfrm>
          <a:prstGeom prst="ellipse">
            <a:avLst/>
          </a:prstGeom>
          <a:solidFill>
            <a:srgbClr val="166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grpSp>
        <p:nvGrpSpPr>
          <p:cNvPr id="344" name="图标_camera_0345"/>
          <p:cNvGrpSpPr/>
          <p:nvPr/>
        </p:nvGrpSpPr>
        <p:grpSpPr>
          <a:xfrm>
            <a:off x="1944522" y="5722196"/>
            <a:ext cx="182870" cy="117036"/>
            <a:chOff x="2333548" y="6866778"/>
            <a:chExt cx="219456" cy="140451"/>
          </a:xfrm>
        </p:grpSpPr>
        <p:sp>
          <p:nvSpPr>
            <p:cNvPr id="345" name="图标部件_0346"/>
            <p:cNvSpPr/>
            <p:nvPr/>
          </p:nvSpPr>
          <p:spPr>
            <a:xfrm>
              <a:off x="2333548" y="6866778"/>
              <a:ext cx="219456" cy="140451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6510" cap="rnd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346" name="图标部件_0347"/>
            <p:cNvSpPr/>
            <p:nvPr/>
          </p:nvSpPr>
          <p:spPr>
            <a:xfrm>
              <a:off x="2406700" y="6890186"/>
              <a:ext cx="73152" cy="73152"/>
            </a:xfrm>
            <a:prstGeom prst="ellipse">
              <a:avLst/>
            </a:prstGeom>
            <a:solidFill>
              <a:srgbClr val="FFFFFF"/>
            </a:solidFill>
            <a:ln w="16510" cap="rnd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347" name="图标线_0348"/>
            <p:cNvSpPr/>
            <p:nvPr/>
          </p:nvSpPr>
          <p:spPr>
            <a:xfrm>
              <a:off x="2532522" y="6866778"/>
              <a:ext cx="58521" cy="140452"/>
            </a:xfrm>
            <a:custGeom>
              <a:avLst/>
              <a:gdLst/>
              <a:ahLst/>
              <a:cxnLst/>
              <a:rect l="l" t="t" r="r" b="b"/>
              <a:pathLst>
                <a:path w="58521" h="140452">
                  <a:moveTo>
                    <a:pt x="0" y="29261"/>
                  </a:moveTo>
                  <a:lnTo>
                    <a:pt x="58521" y="0"/>
                  </a:lnTo>
                  <a:lnTo>
                    <a:pt x="58521" y="140452"/>
                  </a:lnTo>
                  <a:lnTo>
                    <a:pt x="0" y="108265"/>
                  </a:lnTo>
                  <a:close/>
                </a:path>
              </a:pathLst>
            </a:custGeom>
            <a:solidFill>
              <a:srgbClr val="FFFFFF"/>
            </a:solidFill>
            <a:ln w="20320" cap="rnd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</p:grpSp>
      <p:sp>
        <p:nvSpPr>
          <p:cNvPr id="348" name="文字_传感器与_执行器增多_0349"/>
          <p:cNvSpPr txBox="1"/>
          <p:nvPr/>
        </p:nvSpPr>
        <p:spPr>
          <a:xfrm>
            <a:off x="2285880" y="5570108"/>
            <a:ext cx="1081984" cy="403839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传感器与</a:t>
            </a:r>
            <a:endParaRPr sz="1140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执行器增多</a:t>
            </a:r>
            <a:endParaRPr sz="1140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9" name="文字_摄像头、雷达、超声波等_各类传感器与_0350"/>
          <p:cNvSpPr txBox="1"/>
          <p:nvPr/>
        </p:nvSpPr>
        <p:spPr>
          <a:xfrm>
            <a:off x="1927760" y="6080622"/>
            <a:ext cx="1455344" cy="571470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摄像头、雷达、超声波等</a:t>
            </a:r>
            <a:endParaRPr sz="975" b="0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各类传感器与执行器</a:t>
            </a:r>
            <a:endParaRPr sz="975" b="0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数量快速上升</a:t>
            </a:r>
            <a:endParaRPr sz="975" b="0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0" name="连接线_0351"/>
          <p:cNvCxnSpPr/>
          <p:nvPr/>
        </p:nvCxnSpPr>
        <p:spPr>
          <a:xfrm>
            <a:off x="3352625" y="5631065"/>
            <a:ext cx="0" cy="967690"/>
          </a:xfrm>
          <a:prstGeom prst="line">
            <a:avLst/>
          </a:prstGeom>
          <a:ln w="10160" cap="rnd">
            <a:solidFill>
              <a:srgbClr val="D8E8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1" name="圆_0352"/>
          <p:cNvSpPr/>
          <p:nvPr/>
        </p:nvSpPr>
        <p:spPr>
          <a:xfrm>
            <a:off x="3459299" y="5600587"/>
            <a:ext cx="350502" cy="350502"/>
          </a:xfrm>
          <a:prstGeom prst="ellipse">
            <a:avLst/>
          </a:prstGeom>
          <a:solidFill>
            <a:srgbClr val="166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grpSp>
        <p:nvGrpSpPr>
          <p:cNvPr id="352" name="图标_bars_0353"/>
          <p:cNvGrpSpPr/>
          <p:nvPr/>
        </p:nvGrpSpPr>
        <p:grpSpPr>
          <a:xfrm>
            <a:off x="3549211" y="5688060"/>
            <a:ext cx="165802" cy="177993"/>
            <a:chOff x="4259275" y="6825813"/>
            <a:chExt cx="198973" cy="213603"/>
          </a:xfrm>
        </p:grpSpPr>
        <p:sp>
          <p:nvSpPr>
            <p:cNvPr id="353" name="图标部件_0354"/>
            <p:cNvSpPr/>
            <p:nvPr/>
          </p:nvSpPr>
          <p:spPr>
            <a:xfrm>
              <a:off x="4259275" y="6951634"/>
              <a:ext cx="46817" cy="87782"/>
            </a:xfrm>
            <a:prstGeom prst="rect">
              <a:avLst/>
            </a:prstGeom>
            <a:solidFill>
              <a:srgbClr val="FFFFFF"/>
            </a:solidFill>
            <a:ln w="16510" cap="rnd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354" name="图标部件_0355"/>
            <p:cNvSpPr/>
            <p:nvPr/>
          </p:nvSpPr>
          <p:spPr>
            <a:xfrm>
              <a:off x="4335353" y="6896039"/>
              <a:ext cx="46817" cy="143377"/>
            </a:xfrm>
            <a:prstGeom prst="rect">
              <a:avLst/>
            </a:prstGeom>
            <a:solidFill>
              <a:srgbClr val="FFFFFF"/>
            </a:solidFill>
            <a:ln w="16510" cap="rnd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355" name="图标部件_0356"/>
            <p:cNvSpPr/>
            <p:nvPr/>
          </p:nvSpPr>
          <p:spPr>
            <a:xfrm>
              <a:off x="4411431" y="6825813"/>
              <a:ext cx="46817" cy="213603"/>
            </a:xfrm>
            <a:prstGeom prst="rect">
              <a:avLst/>
            </a:prstGeom>
            <a:solidFill>
              <a:srgbClr val="FFFFFF"/>
            </a:solidFill>
            <a:ln w="16510" cap="rnd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</p:grpSp>
      <p:sp>
        <p:nvSpPr>
          <p:cNvPr id="356" name="文字_数据量与带宽_需求上升_0357"/>
          <p:cNvSpPr txBox="1"/>
          <p:nvPr/>
        </p:nvSpPr>
        <p:spPr>
          <a:xfrm>
            <a:off x="3878378" y="5570108"/>
            <a:ext cx="1081984" cy="403839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数据量与带宽</a:t>
            </a:r>
            <a:endParaRPr sz="1140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需求上升</a:t>
            </a:r>
            <a:endParaRPr sz="1140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7" name="文字_高分辨率传感器、_多源融合带来海量数_0358"/>
          <p:cNvSpPr txBox="1"/>
          <p:nvPr/>
        </p:nvSpPr>
        <p:spPr>
          <a:xfrm>
            <a:off x="3520256" y="6080622"/>
            <a:ext cx="1455344" cy="571470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高分辨率传感器、</a:t>
            </a:r>
            <a:endParaRPr sz="1010" b="0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多源融合带来海量数据</a:t>
            </a:r>
            <a:endParaRPr sz="1010" b="0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8" name="连接线_0359"/>
          <p:cNvCxnSpPr/>
          <p:nvPr/>
        </p:nvCxnSpPr>
        <p:spPr>
          <a:xfrm>
            <a:off x="4945122" y="5631065"/>
            <a:ext cx="0" cy="967690"/>
          </a:xfrm>
          <a:prstGeom prst="line">
            <a:avLst/>
          </a:prstGeom>
          <a:ln w="10160" cap="rnd">
            <a:solidFill>
              <a:srgbClr val="D8E8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9" name="圆_0360"/>
          <p:cNvSpPr/>
          <p:nvPr/>
        </p:nvSpPr>
        <p:spPr>
          <a:xfrm>
            <a:off x="5051796" y="5600587"/>
            <a:ext cx="350502" cy="350502"/>
          </a:xfrm>
          <a:prstGeom prst="ellipse">
            <a:avLst/>
          </a:prstGeom>
          <a:solidFill>
            <a:srgbClr val="166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grpSp>
        <p:nvGrpSpPr>
          <p:cNvPr id="360" name="图标_clock_0361"/>
          <p:cNvGrpSpPr/>
          <p:nvPr/>
        </p:nvGrpSpPr>
        <p:grpSpPr>
          <a:xfrm>
            <a:off x="5127078" y="5675868"/>
            <a:ext cx="199938" cy="199938"/>
            <a:chOff x="6152814" y="6811182"/>
            <a:chExt cx="239938" cy="239938"/>
          </a:xfrm>
        </p:grpSpPr>
        <p:sp>
          <p:nvSpPr>
            <p:cNvPr id="361" name="图标部件_0362"/>
            <p:cNvSpPr/>
            <p:nvPr/>
          </p:nvSpPr>
          <p:spPr>
            <a:xfrm>
              <a:off x="6152814" y="6811182"/>
              <a:ext cx="239938" cy="239938"/>
            </a:xfrm>
            <a:prstGeom prst="ellipse">
              <a:avLst/>
            </a:prstGeom>
            <a:noFill/>
            <a:ln w="16510" cap="rnd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362" name="图标线_0363"/>
            <p:cNvCxnSpPr/>
            <p:nvPr/>
          </p:nvCxnSpPr>
          <p:spPr>
            <a:xfrm>
              <a:off x="6272783" y="6855073"/>
              <a:ext cx="0" cy="76079"/>
            </a:xfrm>
            <a:prstGeom prst="line">
              <a:avLst/>
            </a:prstGeom>
            <a:ln w="20320" cap="rnd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图标线_0364"/>
            <p:cNvCxnSpPr/>
            <p:nvPr/>
          </p:nvCxnSpPr>
          <p:spPr>
            <a:xfrm>
              <a:off x="6272783" y="6931152"/>
              <a:ext cx="64374" cy="29260"/>
            </a:xfrm>
            <a:prstGeom prst="line">
              <a:avLst/>
            </a:prstGeom>
            <a:ln w="20320" cap="rnd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4" name="文字_实时性与可靠性_要求提高_0365"/>
          <p:cNvSpPr txBox="1"/>
          <p:nvPr/>
        </p:nvSpPr>
        <p:spPr>
          <a:xfrm>
            <a:off x="5470875" y="5570108"/>
            <a:ext cx="1081984" cy="403839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实时性与可靠性</a:t>
            </a:r>
            <a:endParaRPr sz="1090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要求提高</a:t>
            </a:r>
            <a:endParaRPr sz="1090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5" name="文字_自动驾驶、主动安全等_对实时性和功能_0366"/>
          <p:cNvSpPr txBox="1"/>
          <p:nvPr/>
        </p:nvSpPr>
        <p:spPr>
          <a:xfrm>
            <a:off x="5112753" y="6080622"/>
            <a:ext cx="1455344" cy="571470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自动驾驶、主动安全等</a:t>
            </a:r>
            <a:endParaRPr sz="1010" b="0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对实时性和功能安全</a:t>
            </a:r>
            <a:endParaRPr sz="1010" b="0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提出更高要求</a:t>
            </a:r>
            <a:endParaRPr sz="1010" b="0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66" name="连接线_0367"/>
          <p:cNvCxnSpPr/>
          <p:nvPr/>
        </p:nvCxnSpPr>
        <p:spPr>
          <a:xfrm>
            <a:off x="6537619" y="5631065"/>
            <a:ext cx="0" cy="967690"/>
          </a:xfrm>
          <a:prstGeom prst="line">
            <a:avLst/>
          </a:prstGeom>
          <a:ln w="10160" cap="rnd">
            <a:solidFill>
              <a:srgbClr val="D8E8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7" name="圆_0368"/>
          <p:cNvSpPr/>
          <p:nvPr/>
        </p:nvSpPr>
        <p:spPr>
          <a:xfrm>
            <a:off x="6644293" y="5600587"/>
            <a:ext cx="350502" cy="350502"/>
          </a:xfrm>
          <a:prstGeom prst="ellipse">
            <a:avLst/>
          </a:prstGeom>
          <a:solidFill>
            <a:srgbClr val="166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grpSp>
        <p:nvGrpSpPr>
          <p:cNvPr id="368" name="图标_network_0369"/>
          <p:cNvGrpSpPr/>
          <p:nvPr/>
        </p:nvGrpSpPr>
        <p:grpSpPr>
          <a:xfrm>
            <a:off x="6717137" y="5668553"/>
            <a:ext cx="204814" cy="204814"/>
            <a:chOff x="8060984" y="6802404"/>
            <a:chExt cx="245790" cy="245790"/>
          </a:xfrm>
        </p:grpSpPr>
        <p:cxnSp>
          <p:nvCxnSpPr>
            <p:cNvPr id="369" name="图标线_0370"/>
            <p:cNvCxnSpPr/>
            <p:nvPr/>
          </p:nvCxnSpPr>
          <p:spPr>
            <a:xfrm flipV="1">
              <a:off x="8183879" y="6831665"/>
              <a:ext cx="0" cy="99487"/>
            </a:xfrm>
            <a:prstGeom prst="line">
              <a:avLst/>
            </a:prstGeom>
            <a:ln w="20320" cap="rnd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0" name="图标部件_0371"/>
            <p:cNvSpPr/>
            <p:nvPr/>
          </p:nvSpPr>
          <p:spPr>
            <a:xfrm>
              <a:off x="8154619" y="6802404"/>
              <a:ext cx="58521" cy="58521"/>
            </a:xfrm>
            <a:prstGeom prst="ellipse">
              <a:avLst/>
            </a:prstGeom>
            <a:noFill/>
            <a:ln w="16510" cap="rnd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371" name="图标线_0372"/>
            <p:cNvCxnSpPr/>
            <p:nvPr/>
          </p:nvCxnSpPr>
          <p:spPr>
            <a:xfrm flipH="1">
              <a:off x="8090245" y="6931152"/>
              <a:ext cx="93634" cy="87782"/>
            </a:xfrm>
            <a:prstGeom prst="line">
              <a:avLst/>
            </a:prstGeom>
            <a:ln w="20320" cap="rnd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2" name="图标部件_0373"/>
            <p:cNvSpPr/>
            <p:nvPr/>
          </p:nvSpPr>
          <p:spPr>
            <a:xfrm>
              <a:off x="8060984" y="6989673"/>
              <a:ext cx="58521" cy="58521"/>
            </a:xfrm>
            <a:prstGeom prst="ellipse">
              <a:avLst/>
            </a:prstGeom>
            <a:noFill/>
            <a:ln w="16510" cap="rnd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373" name="图标线_0374"/>
            <p:cNvCxnSpPr/>
            <p:nvPr/>
          </p:nvCxnSpPr>
          <p:spPr>
            <a:xfrm>
              <a:off x="8183879" y="6931152"/>
              <a:ext cx="93635" cy="87782"/>
            </a:xfrm>
            <a:prstGeom prst="line">
              <a:avLst/>
            </a:prstGeom>
            <a:ln w="20320" cap="rnd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4" name="图标部件_0375"/>
            <p:cNvSpPr/>
            <p:nvPr/>
          </p:nvSpPr>
          <p:spPr>
            <a:xfrm>
              <a:off x="8248253" y="6989673"/>
              <a:ext cx="58521" cy="58521"/>
            </a:xfrm>
            <a:prstGeom prst="ellipse">
              <a:avLst/>
            </a:prstGeom>
            <a:noFill/>
            <a:ln w="16510" cap="rnd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375" name="图标部件_0376"/>
            <p:cNvSpPr/>
            <p:nvPr/>
          </p:nvSpPr>
          <p:spPr>
            <a:xfrm>
              <a:off x="8157545" y="6901891"/>
              <a:ext cx="52669" cy="52669"/>
            </a:xfrm>
            <a:prstGeom prst="ellipse">
              <a:avLst/>
            </a:prstGeom>
            <a:solidFill>
              <a:srgbClr val="FFFFFF"/>
            </a:solidFill>
            <a:ln w="16510" cap="rnd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</p:grpSp>
      <p:sp>
        <p:nvSpPr>
          <p:cNvPr id="376" name="文字_多网络并存_0377"/>
          <p:cNvSpPr txBox="1"/>
          <p:nvPr/>
        </p:nvSpPr>
        <p:spPr>
          <a:xfrm>
            <a:off x="7063372" y="5570108"/>
            <a:ext cx="1081984" cy="403839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多网络并存</a:t>
            </a:r>
            <a:endParaRPr sz="1140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7" name="文字_CAN/LIN/FlexRay/以太_0378"/>
          <p:cNvSpPr txBox="1"/>
          <p:nvPr/>
        </p:nvSpPr>
        <p:spPr>
          <a:xfrm>
            <a:off x="6705250" y="6080622"/>
            <a:ext cx="1455344" cy="571470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5" b="0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CAN/LIN/FlexRay/以太网</a:t>
            </a:r>
            <a:endParaRPr sz="955" b="0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5" b="0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不同场景采用不同总线，</a:t>
            </a:r>
            <a:endParaRPr sz="955" b="0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5" b="0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网络架构更加复杂</a:t>
            </a:r>
            <a:endParaRPr sz="955" b="0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78" name="连接线_0379"/>
          <p:cNvCxnSpPr/>
          <p:nvPr/>
        </p:nvCxnSpPr>
        <p:spPr>
          <a:xfrm>
            <a:off x="8130117" y="5631065"/>
            <a:ext cx="0" cy="967690"/>
          </a:xfrm>
          <a:prstGeom prst="line">
            <a:avLst/>
          </a:prstGeom>
          <a:ln w="10160" cap="rnd">
            <a:solidFill>
              <a:srgbClr val="D8E8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9" name="圆_0380"/>
          <p:cNvSpPr/>
          <p:nvPr/>
        </p:nvSpPr>
        <p:spPr>
          <a:xfrm>
            <a:off x="8236790" y="5600587"/>
            <a:ext cx="350502" cy="350502"/>
          </a:xfrm>
          <a:prstGeom prst="ellipse">
            <a:avLst/>
          </a:prstGeom>
          <a:solidFill>
            <a:srgbClr val="166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grpSp>
        <p:nvGrpSpPr>
          <p:cNvPr id="380" name="图标_cloud_upload_0381"/>
          <p:cNvGrpSpPr/>
          <p:nvPr/>
        </p:nvGrpSpPr>
        <p:grpSpPr>
          <a:xfrm>
            <a:off x="8299881" y="5678306"/>
            <a:ext cx="224321" cy="207253"/>
            <a:chOff x="9960376" y="6814108"/>
            <a:chExt cx="269199" cy="248717"/>
          </a:xfrm>
        </p:grpSpPr>
        <p:sp>
          <p:nvSpPr>
            <p:cNvPr id="381" name="云轮廓_0382"/>
            <p:cNvSpPr/>
            <p:nvPr/>
          </p:nvSpPr>
          <p:spPr>
            <a:xfrm>
              <a:off x="9960376" y="6814108"/>
              <a:ext cx="269199" cy="204825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210" y="900"/>
                  </a:moveTo>
                  <a:cubicBezTo>
                    <a:pt x="40" y="900"/>
                    <a:pt x="-25" y="690"/>
                    <a:pt x="105" y="550"/>
                  </a:cubicBezTo>
                  <a:cubicBezTo>
                    <a:pt x="30" y="260"/>
                    <a:pt x="320" y="190"/>
                    <a:pt x="420" y="390"/>
                  </a:cubicBezTo>
                  <a:cubicBezTo>
                    <a:pt x="530" y="-30"/>
                    <a:pt x="920" y="0"/>
                    <a:pt x="940" y="430"/>
                  </a:cubicBezTo>
                  <a:cubicBezTo>
                    <a:pt x="1100" y="590"/>
                    <a:pt x="1020" y="900"/>
                    <a:pt x="840" y="900"/>
                  </a:cubicBezTo>
                  <a:lnTo>
                    <a:pt x="210" y="900"/>
                  </a:lnTo>
                  <a:close/>
                </a:path>
              </a:pathLst>
            </a:custGeom>
            <a:noFill/>
            <a:ln w="21590" cap="rnd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382" name="图标线_0383"/>
            <p:cNvCxnSpPr/>
            <p:nvPr/>
          </p:nvCxnSpPr>
          <p:spPr>
            <a:xfrm>
              <a:off x="10094976" y="6925299"/>
              <a:ext cx="0" cy="137526"/>
            </a:xfrm>
            <a:prstGeom prst="line">
              <a:avLst/>
            </a:prstGeom>
            <a:ln w="20320" cap="rnd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3" name="图标线_0384"/>
            <p:cNvSpPr/>
            <p:nvPr/>
          </p:nvSpPr>
          <p:spPr>
            <a:xfrm>
              <a:off x="10036454" y="6910669"/>
              <a:ext cx="117043" cy="64374"/>
            </a:xfrm>
            <a:custGeom>
              <a:avLst/>
              <a:gdLst/>
              <a:ahLst/>
              <a:cxnLst/>
              <a:rect l="l" t="t" r="r" b="b"/>
              <a:pathLst>
                <a:path w="117043" h="64374">
                  <a:moveTo>
                    <a:pt x="0" y="64374"/>
                  </a:moveTo>
                  <a:lnTo>
                    <a:pt x="58522" y="0"/>
                  </a:lnTo>
                  <a:lnTo>
                    <a:pt x="117043" y="64374"/>
                  </a:lnTo>
                </a:path>
              </a:pathLst>
            </a:custGeom>
            <a:noFill/>
            <a:ln w="20320" cap="rnd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</p:grpSp>
      <p:sp>
        <p:nvSpPr>
          <p:cNvPr id="384" name="文字_软件更新与_OTA需求增强_0385"/>
          <p:cNvSpPr txBox="1"/>
          <p:nvPr/>
        </p:nvSpPr>
        <p:spPr>
          <a:xfrm>
            <a:off x="8655869" y="5570108"/>
            <a:ext cx="1081984" cy="403839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软件更新与</a:t>
            </a:r>
            <a:endParaRPr sz="1140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OTA需求增强</a:t>
            </a:r>
            <a:endParaRPr sz="1140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5" name="文字_车辆功能持续迭代，_需要支持远程升级_0386"/>
          <p:cNvSpPr txBox="1"/>
          <p:nvPr/>
        </p:nvSpPr>
        <p:spPr>
          <a:xfrm>
            <a:off x="8297747" y="6080622"/>
            <a:ext cx="1455344" cy="571470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车辆功能持续迭代，</a:t>
            </a:r>
            <a:endParaRPr sz="1010" b="0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需要支持远程升级</a:t>
            </a:r>
            <a:endParaRPr sz="1010" b="0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1437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和全生命周期管理</a:t>
            </a:r>
            <a:endParaRPr sz="1010" b="0">
              <a:solidFill>
                <a:srgbClr val="1437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86" name="连接线_0387"/>
          <p:cNvCxnSpPr/>
          <p:nvPr/>
        </p:nvCxnSpPr>
        <p:spPr>
          <a:xfrm>
            <a:off x="9836908" y="5265324"/>
            <a:ext cx="0" cy="1379148"/>
          </a:xfrm>
          <a:prstGeom prst="line">
            <a:avLst/>
          </a:prstGeom>
          <a:ln w="12700" cap="rnd">
            <a:solidFill>
              <a:srgbClr val="9BC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7" name="框_0388"/>
          <p:cNvSpPr/>
          <p:nvPr/>
        </p:nvSpPr>
        <p:spPr>
          <a:xfrm>
            <a:off x="9996919" y="5265324"/>
            <a:ext cx="883874" cy="281925"/>
          </a:xfrm>
          <a:prstGeom prst="roundRect">
            <a:avLst>
              <a:gd name="adj" fmla="val 10000"/>
            </a:avLst>
          </a:prstGeom>
          <a:solidFill>
            <a:srgbClr val="0C4F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88" name="文字_结论_0389"/>
          <p:cNvSpPr txBox="1"/>
          <p:nvPr/>
        </p:nvSpPr>
        <p:spPr>
          <a:xfrm>
            <a:off x="10126453" y="5288183"/>
            <a:ext cx="632427" cy="220968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8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8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9" name="文字_复杂度不只是_“节点变多”，_更是“_0390"/>
          <p:cNvSpPr txBox="1"/>
          <p:nvPr/>
        </p:nvSpPr>
        <p:spPr>
          <a:xfrm>
            <a:off x="10035017" y="5631065"/>
            <a:ext cx="1889662" cy="998168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35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复杂度不只是</a:t>
            </a:r>
            <a:endParaRPr sz="1335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35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“节点变多”，</a:t>
            </a:r>
            <a:endParaRPr sz="1335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35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更是“计算、通信、</a:t>
            </a:r>
            <a:endParaRPr sz="1335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35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软件与协同方式”</a:t>
            </a:r>
            <a:endParaRPr sz="1335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35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全面升级。</a:t>
            </a:r>
            <a:endParaRPr sz="1335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90" name="Picture 31" descr="tongji_wordm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4" y="172212"/>
            <a:ext cx="1554480" cy="385298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" name="白色背景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右下角淡蓝装饰"/>
          <p:cNvSpPr/>
          <p:nvPr/>
        </p:nvSpPr>
        <p:spPr>
          <a:xfrm>
            <a:off x="10774679" y="5440680"/>
            <a:ext cx="1417320" cy="1417320"/>
          </a:xfrm>
          <a:custGeom>
            <a:avLst/>
            <a:gdLst/>
            <a:ahLst/>
            <a:cxnLst/>
            <a:rect l="l" t="t" r="r" b="b"/>
            <a:pathLst>
              <a:path w="1417320" h="1417320">
                <a:moveTo>
                  <a:pt x="1417320" y="1417320"/>
                </a:moveTo>
                <a:lnTo>
                  <a:pt x="0" y="1417320"/>
                </a:lnTo>
                <a:lnTo>
                  <a:pt x="700" y="1372800"/>
                </a:lnTo>
                <a:lnTo>
                  <a:pt x="2797" y="1328325"/>
                </a:lnTo>
                <a:lnTo>
                  <a:pt x="6290" y="1283938"/>
                </a:lnTo>
                <a:lnTo>
                  <a:pt x="11176" y="1239682"/>
                </a:lnTo>
                <a:lnTo>
                  <a:pt x="17450" y="1195602"/>
                </a:lnTo>
                <a:lnTo>
                  <a:pt x="25105" y="1151740"/>
                </a:lnTo>
                <a:lnTo>
                  <a:pt x="34134" y="1108141"/>
                </a:lnTo>
                <a:lnTo>
                  <a:pt x="44528" y="1064846"/>
                </a:lnTo>
                <a:lnTo>
                  <a:pt x="56277" y="1021900"/>
                </a:lnTo>
                <a:lnTo>
                  <a:pt x="69369" y="979344"/>
                </a:lnTo>
                <a:lnTo>
                  <a:pt x="83791" y="937219"/>
                </a:lnTo>
                <a:lnTo>
                  <a:pt x="99529" y="895569"/>
                </a:lnTo>
                <a:lnTo>
                  <a:pt x="116568" y="854434"/>
                </a:lnTo>
                <a:lnTo>
                  <a:pt x="134891" y="813854"/>
                </a:lnTo>
                <a:lnTo>
                  <a:pt x="154479" y="773870"/>
                </a:lnTo>
                <a:lnTo>
                  <a:pt x="175313" y="734520"/>
                </a:lnTo>
                <a:lnTo>
                  <a:pt x="197373" y="695845"/>
                </a:lnTo>
                <a:lnTo>
                  <a:pt x="220637" y="657881"/>
                </a:lnTo>
                <a:lnTo>
                  <a:pt x="245082" y="620667"/>
                </a:lnTo>
                <a:lnTo>
                  <a:pt x="270684" y="584240"/>
                </a:lnTo>
                <a:lnTo>
                  <a:pt x="297418" y="548634"/>
                </a:lnTo>
                <a:lnTo>
                  <a:pt x="325256" y="513886"/>
                </a:lnTo>
                <a:lnTo>
                  <a:pt x="354173" y="480029"/>
                </a:lnTo>
                <a:lnTo>
                  <a:pt x="384138" y="447097"/>
                </a:lnTo>
                <a:lnTo>
                  <a:pt x="415124" y="415123"/>
                </a:lnTo>
                <a:lnTo>
                  <a:pt x="447098" y="384138"/>
                </a:lnTo>
                <a:lnTo>
                  <a:pt x="480030" y="354172"/>
                </a:lnTo>
                <a:lnTo>
                  <a:pt x="513886" y="325256"/>
                </a:lnTo>
                <a:lnTo>
                  <a:pt x="548635" y="297417"/>
                </a:lnTo>
                <a:lnTo>
                  <a:pt x="584240" y="270684"/>
                </a:lnTo>
                <a:lnTo>
                  <a:pt x="620668" y="245082"/>
                </a:lnTo>
                <a:lnTo>
                  <a:pt x="657882" y="220637"/>
                </a:lnTo>
                <a:lnTo>
                  <a:pt x="695846" y="197373"/>
                </a:lnTo>
                <a:lnTo>
                  <a:pt x="734521" y="175313"/>
                </a:lnTo>
                <a:lnTo>
                  <a:pt x="773870" y="154478"/>
                </a:lnTo>
                <a:lnTo>
                  <a:pt x="813855" y="134890"/>
                </a:lnTo>
                <a:lnTo>
                  <a:pt x="854435" y="116568"/>
                </a:lnTo>
                <a:lnTo>
                  <a:pt x="895570" y="99529"/>
                </a:lnTo>
                <a:lnTo>
                  <a:pt x="937220" y="83790"/>
                </a:lnTo>
                <a:lnTo>
                  <a:pt x="979344" y="69368"/>
                </a:lnTo>
                <a:lnTo>
                  <a:pt x="1021901" y="56276"/>
                </a:lnTo>
                <a:lnTo>
                  <a:pt x="1064847" y="44527"/>
                </a:lnTo>
                <a:lnTo>
                  <a:pt x="1108141" y="34133"/>
                </a:lnTo>
                <a:lnTo>
                  <a:pt x="1151741" y="25104"/>
                </a:lnTo>
                <a:lnTo>
                  <a:pt x="1195602" y="17449"/>
                </a:lnTo>
                <a:lnTo>
                  <a:pt x="1239683" y="11175"/>
                </a:lnTo>
                <a:lnTo>
                  <a:pt x="1283939" y="6290"/>
                </a:lnTo>
                <a:lnTo>
                  <a:pt x="1328326" y="2796"/>
                </a:lnTo>
                <a:lnTo>
                  <a:pt x="1372801" y="699"/>
                </a:lnTo>
                <a:lnTo>
                  <a:pt x="1417320" y="0"/>
                </a:lnTo>
                <a:lnTo>
                  <a:pt x="1417320" y="1417320"/>
                </a:lnTo>
                <a:close/>
              </a:path>
            </a:pathLst>
          </a:custGeom>
          <a:solidFill>
            <a:srgbClr val="F4F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右下角淡蓝装饰"/>
          <p:cNvSpPr/>
          <p:nvPr/>
        </p:nvSpPr>
        <p:spPr>
          <a:xfrm>
            <a:off x="11076431" y="5742432"/>
            <a:ext cx="1115568" cy="1115568"/>
          </a:xfrm>
          <a:custGeom>
            <a:avLst/>
            <a:gdLst/>
            <a:ahLst/>
            <a:cxnLst/>
            <a:rect l="l" t="t" r="r" b="b"/>
            <a:pathLst>
              <a:path w="1115568" h="1115568">
                <a:moveTo>
                  <a:pt x="1115568" y="1115568"/>
                </a:moveTo>
                <a:lnTo>
                  <a:pt x="0" y="1115568"/>
                </a:lnTo>
                <a:lnTo>
                  <a:pt x="551" y="1080527"/>
                </a:lnTo>
                <a:lnTo>
                  <a:pt x="2202" y="1045520"/>
                </a:lnTo>
                <a:lnTo>
                  <a:pt x="4951" y="1010583"/>
                </a:lnTo>
                <a:lnTo>
                  <a:pt x="8797" y="975750"/>
                </a:lnTo>
                <a:lnTo>
                  <a:pt x="13735" y="941054"/>
                </a:lnTo>
                <a:lnTo>
                  <a:pt x="19760" y="906531"/>
                </a:lnTo>
                <a:lnTo>
                  <a:pt x="26867" y="872214"/>
                </a:lnTo>
                <a:lnTo>
                  <a:pt x="35048" y="838137"/>
                </a:lnTo>
                <a:lnTo>
                  <a:pt x="44295" y="804334"/>
                </a:lnTo>
                <a:lnTo>
                  <a:pt x="54600" y="770838"/>
                </a:lnTo>
                <a:lnTo>
                  <a:pt x="65952" y="737682"/>
                </a:lnTo>
                <a:lnTo>
                  <a:pt x="78339" y="704900"/>
                </a:lnTo>
                <a:lnTo>
                  <a:pt x="91751" y="672522"/>
                </a:lnTo>
                <a:lnTo>
                  <a:pt x="106172" y="640582"/>
                </a:lnTo>
                <a:lnTo>
                  <a:pt x="121590" y="609110"/>
                </a:lnTo>
                <a:lnTo>
                  <a:pt x="137989" y="578139"/>
                </a:lnTo>
                <a:lnTo>
                  <a:pt x="155352" y="547697"/>
                </a:lnTo>
                <a:lnTo>
                  <a:pt x="173663" y="517816"/>
                </a:lnTo>
                <a:lnTo>
                  <a:pt x="192904" y="488525"/>
                </a:lnTo>
                <a:lnTo>
                  <a:pt x="213055" y="459853"/>
                </a:lnTo>
                <a:lnTo>
                  <a:pt x="234097" y="431828"/>
                </a:lnTo>
                <a:lnTo>
                  <a:pt x="256008" y="404478"/>
                </a:lnTo>
                <a:lnTo>
                  <a:pt x="278768" y="377829"/>
                </a:lnTo>
                <a:lnTo>
                  <a:pt x="302354" y="351909"/>
                </a:lnTo>
                <a:lnTo>
                  <a:pt x="326742" y="326742"/>
                </a:lnTo>
                <a:lnTo>
                  <a:pt x="351909" y="302353"/>
                </a:lnTo>
                <a:lnTo>
                  <a:pt x="377830" y="278768"/>
                </a:lnTo>
                <a:lnTo>
                  <a:pt x="404478" y="256008"/>
                </a:lnTo>
                <a:lnTo>
                  <a:pt x="431829" y="234096"/>
                </a:lnTo>
                <a:lnTo>
                  <a:pt x="459854" y="213054"/>
                </a:lnTo>
                <a:lnTo>
                  <a:pt x="488526" y="192903"/>
                </a:lnTo>
                <a:lnTo>
                  <a:pt x="517817" y="173662"/>
                </a:lnTo>
                <a:lnTo>
                  <a:pt x="547698" y="155351"/>
                </a:lnTo>
                <a:lnTo>
                  <a:pt x="578139" y="137988"/>
                </a:lnTo>
                <a:lnTo>
                  <a:pt x="609111" y="121589"/>
                </a:lnTo>
                <a:lnTo>
                  <a:pt x="640582" y="106171"/>
                </a:lnTo>
                <a:lnTo>
                  <a:pt x="672523" y="91750"/>
                </a:lnTo>
                <a:lnTo>
                  <a:pt x="704900" y="78339"/>
                </a:lnTo>
                <a:lnTo>
                  <a:pt x="737683" y="65951"/>
                </a:lnTo>
                <a:lnTo>
                  <a:pt x="770839" y="54599"/>
                </a:lnTo>
                <a:lnTo>
                  <a:pt x="804335" y="44295"/>
                </a:lnTo>
                <a:lnTo>
                  <a:pt x="838138" y="35047"/>
                </a:lnTo>
                <a:lnTo>
                  <a:pt x="872215" y="26866"/>
                </a:lnTo>
                <a:lnTo>
                  <a:pt x="906532" y="19759"/>
                </a:lnTo>
                <a:lnTo>
                  <a:pt x="941055" y="13734"/>
                </a:lnTo>
                <a:lnTo>
                  <a:pt x="975750" y="8796"/>
                </a:lnTo>
                <a:lnTo>
                  <a:pt x="1010584" y="4950"/>
                </a:lnTo>
                <a:lnTo>
                  <a:pt x="1045521" y="2201"/>
                </a:lnTo>
                <a:lnTo>
                  <a:pt x="1080527" y="550"/>
                </a:lnTo>
                <a:lnTo>
                  <a:pt x="1115568" y="0"/>
                </a:lnTo>
                <a:lnTo>
                  <a:pt x="1115568" y="1115568"/>
                </a:lnTo>
                <a:close/>
              </a:path>
            </a:pathLst>
          </a:custGeom>
          <a:solidFill>
            <a:srgbClr val="F8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圆形"/>
          <p:cNvSpPr/>
          <p:nvPr/>
        </p:nvSpPr>
        <p:spPr>
          <a:xfrm>
            <a:off x="1038758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圆形"/>
          <p:cNvSpPr/>
          <p:nvPr/>
        </p:nvSpPr>
        <p:spPr>
          <a:xfrm>
            <a:off x="1038758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圆形"/>
          <p:cNvSpPr/>
          <p:nvPr/>
        </p:nvSpPr>
        <p:spPr>
          <a:xfrm>
            <a:off x="1038758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圆形"/>
          <p:cNvSpPr/>
          <p:nvPr/>
        </p:nvSpPr>
        <p:spPr>
          <a:xfrm>
            <a:off x="1055217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圆形"/>
          <p:cNvSpPr/>
          <p:nvPr/>
        </p:nvSpPr>
        <p:spPr>
          <a:xfrm>
            <a:off x="1055217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圆形"/>
          <p:cNvSpPr/>
          <p:nvPr/>
        </p:nvSpPr>
        <p:spPr>
          <a:xfrm>
            <a:off x="1055217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圆形"/>
          <p:cNvSpPr/>
          <p:nvPr/>
        </p:nvSpPr>
        <p:spPr>
          <a:xfrm>
            <a:off x="10716767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圆形"/>
          <p:cNvSpPr/>
          <p:nvPr/>
        </p:nvSpPr>
        <p:spPr>
          <a:xfrm>
            <a:off x="10716767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圆形"/>
          <p:cNvSpPr/>
          <p:nvPr/>
        </p:nvSpPr>
        <p:spPr>
          <a:xfrm>
            <a:off x="10716767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圆形"/>
          <p:cNvSpPr/>
          <p:nvPr/>
        </p:nvSpPr>
        <p:spPr>
          <a:xfrm>
            <a:off x="10881359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圆形"/>
          <p:cNvSpPr/>
          <p:nvPr/>
        </p:nvSpPr>
        <p:spPr>
          <a:xfrm>
            <a:off x="10881359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圆形"/>
          <p:cNvSpPr/>
          <p:nvPr/>
        </p:nvSpPr>
        <p:spPr>
          <a:xfrm>
            <a:off x="10881359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圆形"/>
          <p:cNvSpPr/>
          <p:nvPr/>
        </p:nvSpPr>
        <p:spPr>
          <a:xfrm>
            <a:off x="11045952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圆形"/>
          <p:cNvSpPr/>
          <p:nvPr/>
        </p:nvSpPr>
        <p:spPr>
          <a:xfrm>
            <a:off x="11045952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圆形"/>
          <p:cNvSpPr/>
          <p:nvPr/>
        </p:nvSpPr>
        <p:spPr>
          <a:xfrm>
            <a:off x="11045952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圆形"/>
          <p:cNvSpPr/>
          <p:nvPr/>
        </p:nvSpPr>
        <p:spPr>
          <a:xfrm>
            <a:off x="1121054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圆形"/>
          <p:cNvSpPr/>
          <p:nvPr/>
        </p:nvSpPr>
        <p:spPr>
          <a:xfrm>
            <a:off x="1121054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圆形"/>
          <p:cNvSpPr/>
          <p:nvPr/>
        </p:nvSpPr>
        <p:spPr>
          <a:xfrm>
            <a:off x="1121054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圆形"/>
          <p:cNvSpPr/>
          <p:nvPr/>
        </p:nvSpPr>
        <p:spPr>
          <a:xfrm>
            <a:off x="1137513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圆形"/>
          <p:cNvSpPr/>
          <p:nvPr/>
        </p:nvSpPr>
        <p:spPr>
          <a:xfrm>
            <a:off x="1137513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圆形"/>
          <p:cNvSpPr/>
          <p:nvPr/>
        </p:nvSpPr>
        <p:spPr>
          <a:xfrm>
            <a:off x="1137513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圆形"/>
          <p:cNvSpPr/>
          <p:nvPr/>
        </p:nvSpPr>
        <p:spPr>
          <a:xfrm>
            <a:off x="11539728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圆形"/>
          <p:cNvSpPr/>
          <p:nvPr/>
        </p:nvSpPr>
        <p:spPr>
          <a:xfrm>
            <a:off x="11539728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圆形"/>
          <p:cNvSpPr/>
          <p:nvPr/>
        </p:nvSpPr>
        <p:spPr>
          <a:xfrm>
            <a:off x="11539728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标题蓝色竖线"/>
          <p:cNvSpPr/>
          <p:nvPr/>
        </p:nvSpPr>
        <p:spPr>
          <a:xfrm>
            <a:off x="274320" y="356616"/>
            <a:ext cx="109728" cy="585216"/>
          </a:xfrm>
          <a:prstGeom prst="roundRect">
            <a:avLst>
              <a:gd name="adj" fmla="val 41666"/>
            </a:avLst>
          </a:prstGeom>
          <a:gradFill>
            <a:gsLst>
              <a:gs pos="0">
                <a:srgbClr val="3A92D5"/>
              </a:gs>
              <a:gs pos="100000">
                <a:srgbClr val="146FB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标题"/>
          <p:cNvSpPr txBox="1"/>
          <p:nvPr/>
        </p:nvSpPr>
        <p:spPr>
          <a:xfrm>
            <a:off x="621792" y="301752"/>
            <a:ext cx="9390888" cy="64922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5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整车</a:t>
            </a:r>
            <a:r>
              <a:rPr sz="35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电子电气架构演进</a:t>
            </a:r>
            <a:endParaRPr sz="35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标题分隔线"/>
          <p:cNvSpPr/>
          <p:nvPr/>
        </p:nvSpPr>
        <p:spPr>
          <a:xfrm>
            <a:off x="621792" y="1051560"/>
            <a:ext cx="11109960" cy="18288"/>
          </a:xfrm>
          <a:prstGeom prst="rect">
            <a:avLst/>
          </a:prstGeom>
          <a:gradFill>
            <a:gsLst>
              <a:gs pos="0">
                <a:srgbClr val="3A92D5"/>
              </a:gs>
              <a:gs pos="100000">
                <a:srgbClr val="E3EFF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tongji_wordm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4" y="256032"/>
            <a:ext cx="1554480" cy="385298"/>
          </a:xfrm>
          <a:prstGeom prst="rect">
            <a:avLst/>
          </a:prstGeom>
          <a:effectLst/>
        </p:spPr>
      </p:pic>
      <p:sp>
        <p:nvSpPr>
          <p:cNvPr id="33" name="导入句"/>
          <p:cNvSpPr txBox="1"/>
          <p:nvPr/>
        </p:nvSpPr>
        <p:spPr>
          <a:xfrm>
            <a:off x="621792" y="1271016"/>
            <a:ext cx="10972800" cy="57607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从简单机械 / 电气控制出发：不断增加功能，也不断调整控制、计算与连接的分工。</a:t>
            </a:r>
            <a:endParaRPr sz="20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本页总结背景"/>
          <p:cNvSpPr/>
          <p:nvPr/>
        </p:nvSpPr>
        <p:spPr>
          <a:xfrm>
            <a:off x="585216" y="5852160"/>
            <a:ext cx="11064240" cy="594360"/>
          </a:xfrm>
          <a:prstGeom prst="roundRect">
            <a:avLst>
              <a:gd name="adj" fmla="val 23076"/>
            </a:avLst>
          </a:prstGeom>
          <a:gradFill>
            <a:gsLst>
              <a:gs pos="0">
                <a:srgbClr val="F0F7FE"/>
              </a:gs>
              <a:gs pos="100000">
                <a:srgbClr val="E9F3F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可编辑曲线"/>
          <p:cNvSpPr/>
          <p:nvPr/>
        </p:nvSpPr>
        <p:spPr>
          <a:xfrm>
            <a:off x="907999" y="5990783"/>
            <a:ext cx="310621" cy="133685"/>
          </a:xfrm>
          <a:custGeom>
            <a:avLst/>
            <a:gdLst/>
            <a:ahLst/>
            <a:cxnLst/>
            <a:rect l="l" t="t" r="r" b="b"/>
            <a:pathLst>
              <a:path w="310621" h="133685">
                <a:moveTo>
                  <a:pt x="0" y="133685"/>
                </a:moveTo>
                <a:lnTo>
                  <a:pt x="51115" y="0"/>
                </a:lnTo>
                <a:lnTo>
                  <a:pt x="251643" y="0"/>
                </a:lnTo>
                <a:lnTo>
                  <a:pt x="310621" y="133685"/>
                </a:lnTo>
              </a:path>
            </a:pathLst>
          </a:custGeom>
          <a:noFill/>
          <a:ln w="254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矩形"/>
          <p:cNvSpPr/>
          <p:nvPr/>
        </p:nvSpPr>
        <p:spPr>
          <a:xfrm>
            <a:off x="896203" y="6112672"/>
            <a:ext cx="338145" cy="165140"/>
          </a:xfrm>
          <a:prstGeom prst="roundRect">
            <a:avLst>
              <a:gd name="adj" fmla="val 19047"/>
            </a:avLst>
          </a:prstGeom>
          <a:noFill/>
          <a:ln w="254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连线"/>
          <p:cNvCxnSpPr/>
          <p:nvPr/>
        </p:nvCxnSpPr>
        <p:spPr>
          <a:xfrm>
            <a:off x="915863" y="6120536"/>
            <a:ext cx="302757" cy="0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圆形"/>
          <p:cNvSpPr/>
          <p:nvPr/>
        </p:nvSpPr>
        <p:spPr>
          <a:xfrm>
            <a:off x="935522" y="6171651"/>
            <a:ext cx="51114" cy="5111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圆形"/>
          <p:cNvSpPr/>
          <p:nvPr/>
        </p:nvSpPr>
        <p:spPr>
          <a:xfrm>
            <a:off x="1136050" y="6171651"/>
            <a:ext cx="51114" cy="5111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连线"/>
          <p:cNvCxnSpPr/>
          <p:nvPr/>
        </p:nvCxnSpPr>
        <p:spPr>
          <a:xfrm>
            <a:off x="943386" y="6273881"/>
            <a:ext cx="0" cy="51115"/>
          </a:xfrm>
          <a:prstGeom prst="line">
            <a:avLst/>
          </a:prstGeom>
          <a:ln w="381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连线"/>
          <p:cNvCxnSpPr/>
          <p:nvPr/>
        </p:nvCxnSpPr>
        <p:spPr>
          <a:xfrm>
            <a:off x="1183233" y="6273881"/>
            <a:ext cx="0" cy="51115"/>
          </a:xfrm>
          <a:prstGeom prst="line">
            <a:avLst/>
          </a:prstGeom>
          <a:ln w="381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连线"/>
          <p:cNvCxnSpPr/>
          <p:nvPr/>
        </p:nvCxnSpPr>
        <p:spPr>
          <a:xfrm>
            <a:off x="1435608" y="5943600"/>
            <a:ext cx="0" cy="411480"/>
          </a:xfrm>
          <a:prstGeom prst="line">
            <a:avLst/>
          </a:prstGeom>
          <a:ln w="15875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akeaway"/>
          <p:cNvSpPr txBox="1"/>
          <p:nvPr/>
        </p:nvSpPr>
        <p:spPr>
          <a:xfrm>
            <a:off x="1655064" y="5943600"/>
            <a:ext cx="9692640" cy="44805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演进是组织方式的变化；不同阶段会并存，不是所有车型同时换代。</a:t>
            </a:r>
            <a:endParaRPr sz="21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694944" y="2011680"/>
            <a:ext cx="2450592" cy="352044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813816" y="2130552"/>
            <a:ext cx="2212848" cy="429768"/>
          </a:xfrm>
          <a:prstGeom prst="roundRect">
            <a:avLst>
              <a:gd name="adj" fmla="val 11000"/>
            </a:avLst>
          </a:prstGeom>
          <a:solidFill>
            <a:srgbClr val="E6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59536" y="2162556"/>
            <a:ext cx="2121408" cy="365759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局部电子控制</a:t>
            </a:r>
            <a:endParaRPr sz="20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813816" y="2642616"/>
            <a:ext cx="2212848" cy="32918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1967｜大众1600</a:t>
            </a:r>
            <a:endParaRPr sz="17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932688" y="3236976"/>
            <a:ext cx="1965960" cy="438912"/>
          </a:xfrm>
          <a:prstGeom prst="roundRect">
            <a:avLst>
              <a:gd name="adj" fmla="val 11000"/>
            </a:avLst>
          </a:prstGeom>
          <a:solidFill>
            <a:srgbClr val="E6F1FD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78408" y="3268980"/>
            <a:ext cx="1874519" cy="37490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电子控制单元</a:t>
            </a:r>
            <a:endParaRPr sz="17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Rounded Rectangle 94"/>
          <p:cNvSpPr/>
          <p:nvPr/>
        </p:nvSpPr>
        <p:spPr>
          <a:xfrm>
            <a:off x="786384" y="4096512"/>
            <a:ext cx="941832" cy="41148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32104" y="4128516"/>
            <a:ext cx="850392" cy="34747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传感器</a:t>
            </a:r>
            <a:endParaRPr sz="1550" b="1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Rounded Rectangle 96"/>
          <p:cNvSpPr/>
          <p:nvPr/>
        </p:nvSpPr>
        <p:spPr>
          <a:xfrm>
            <a:off x="2112264" y="4096512"/>
            <a:ext cx="941832" cy="41148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157984" y="4128516"/>
            <a:ext cx="850392" cy="34747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执行器</a:t>
            </a:r>
            <a:endParaRPr sz="1550" b="1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99" name="Connector 98"/>
          <p:cNvCxnSpPr/>
          <p:nvPr/>
        </p:nvCxnSpPr>
        <p:spPr>
          <a:xfrm flipV="1">
            <a:off x="1261872" y="3730752"/>
            <a:ext cx="274320" cy="338328"/>
          </a:xfrm>
          <a:prstGeom prst="line">
            <a:avLst/>
          </a:prstGeom>
          <a:ln w="21590" cap="rnd">
            <a:solidFill>
              <a:srgbClr val="146FB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2359152" y="3721608"/>
            <a:ext cx="219456" cy="347472"/>
          </a:xfrm>
          <a:prstGeom prst="line">
            <a:avLst/>
          </a:prstGeom>
          <a:ln w="21590" cap="rnd">
            <a:solidFill>
              <a:srgbClr val="146FB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822960" y="4828032"/>
            <a:ext cx="2194560" cy="2743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先把一个功能管好</a:t>
            </a:r>
            <a:endParaRPr sz="19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786384" y="5202936"/>
            <a:ext cx="2267712" cy="30175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功能要协同</a:t>
            </a:r>
            <a:endParaRPr sz="145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3" name="Connector 102"/>
          <p:cNvCxnSpPr/>
          <p:nvPr/>
        </p:nvCxnSpPr>
        <p:spPr>
          <a:xfrm>
            <a:off x="3200400" y="3803904"/>
            <a:ext cx="237744" cy="0"/>
          </a:xfrm>
          <a:prstGeom prst="line">
            <a:avLst/>
          </a:prstGeom>
          <a:ln w="25400" cap="rnd">
            <a:solidFill>
              <a:srgbClr val="146FB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ounded Rectangle 103"/>
          <p:cNvSpPr/>
          <p:nvPr/>
        </p:nvSpPr>
        <p:spPr>
          <a:xfrm>
            <a:off x="3483864" y="2011680"/>
            <a:ext cx="2450592" cy="352044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3602736" y="2130552"/>
            <a:ext cx="2212848" cy="429768"/>
          </a:xfrm>
          <a:prstGeom prst="roundRect">
            <a:avLst>
              <a:gd name="adj" fmla="val 11000"/>
            </a:avLst>
          </a:prstGeom>
          <a:solidFill>
            <a:srgbClr val="E6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648456" y="2162556"/>
            <a:ext cx="2121408" cy="365759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分布式网络化</a:t>
            </a:r>
            <a:endParaRPr sz="20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3602736" y="2642616"/>
            <a:ext cx="2212848" cy="32918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1995｜宝马7系</a:t>
            </a:r>
            <a:endParaRPr sz="17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Rounded Rectangle 107"/>
          <p:cNvSpPr/>
          <p:nvPr/>
        </p:nvSpPr>
        <p:spPr>
          <a:xfrm>
            <a:off x="3685032" y="3236976"/>
            <a:ext cx="841248" cy="393192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730752" y="3268980"/>
            <a:ext cx="749808" cy="32918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ECU</a:t>
            </a:r>
            <a:endParaRPr sz="155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" name="Rounded Rectangle 109"/>
          <p:cNvSpPr/>
          <p:nvPr/>
        </p:nvSpPr>
        <p:spPr>
          <a:xfrm>
            <a:off x="4873752" y="3236976"/>
            <a:ext cx="841248" cy="393192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919472" y="3268980"/>
            <a:ext cx="749808" cy="32918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ECU</a:t>
            </a:r>
            <a:endParaRPr sz="155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3685032" y="4096512"/>
            <a:ext cx="841248" cy="393192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730752" y="4128516"/>
            <a:ext cx="749808" cy="32918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ECU</a:t>
            </a:r>
            <a:endParaRPr sz="155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Rounded Rectangle 113"/>
          <p:cNvSpPr/>
          <p:nvPr/>
        </p:nvSpPr>
        <p:spPr>
          <a:xfrm>
            <a:off x="4873752" y="4096512"/>
            <a:ext cx="841248" cy="393192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919472" y="4128516"/>
            <a:ext cx="749808" cy="32918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ECU</a:t>
            </a:r>
            <a:endParaRPr sz="155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6" name="Connector 115"/>
          <p:cNvCxnSpPr/>
          <p:nvPr/>
        </p:nvCxnSpPr>
        <p:spPr>
          <a:xfrm>
            <a:off x="3712464" y="3877056"/>
            <a:ext cx="1975104" cy="0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4096512" y="3639312"/>
            <a:ext cx="0" cy="237744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5285232" y="3639312"/>
            <a:ext cx="0" cy="237744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4096512" y="3877056"/>
            <a:ext cx="0" cy="219456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5285232" y="3877056"/>
            <a:ext cx="0" cy="219456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3611880" y="4828032"/>
            <a:ext cx="2194560" cy="2743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多个ECU交换信息</a:t>
            </a:r>
            <a:endParaRPr sz="19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3575304" y="5202936"/>
            <a:ext cx="2267712" cy="30175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跨功能整合</a:t>
            </a:r>
            <a:endParaRPr sz="145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23" name="Connector 122"/>
          <p:cNvCxnSpPr/>
          <p:nvPr/>
        </p:nvCxnSpPr>
        <p:spPr>
          <a:xfrm>
            <a:off x="5989320" y="3803904"/>
            <a:ext cx="237744" cy="0"/>
          </a:xfrm>
          <a:prstGeom prst="line">
            <a:avLst/>
          </a:prstGeom>
          <a:ln w="25400" cap="rnd">
            <a:solidFill>
              <a:srgbClr val="146FB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Rounded Rectangle 123"/>
          <p:cNvSpPr/>
          <p:nvPr/>
        </p:nvSpPr>
        <p:spPr>
          <a:xfrm>
            <a:off x="6272784" y="2011680"/>
            <a:ext cx="2450592" cy="352044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ounded Rectangle 124"/>
          <p:cNvSpPr/>
          <p:nvPr/>
        </p:nvSpPr>
        <p:spPr>
          <a:xfrm>
            <a:off x="6391656" y="2130552"/>
            <a:ext cx="2212848" cy="429768"/>
          </a:xfrm>
          <a:prstGeom prst="roundRect">
            <a:avLst>
              <a:gd name="adj" fmla="val 11000"/>
            </a:avLst>
          </a:prstGeom>
          <a:solidFill>
            <a:srgbClr val="E6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437376" y="2162556"/>
            <a:ext cx="2121408" cy="365759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功能域集成</a:t>
            </a:r>
            <a:endParaRPr sz="20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6391656" y="2642616"/>
            <a:ext cx="2212848" cy="32918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2017｜奥迪A8</a:t>
            </a:r>
            <a:endParaRPr sz="17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" name="Rounded Rectangle 127"/>
          <p:cNvSpPr/>
          <p:nvPr/>
        </p:nvSpPr>
        <p:spPr>
          <a:xfrm>
            <a:off x="6391656" y="3246120"/>
            <a:ext cx="996696" cy="658368"/>
          </a:xfrm>
          <a:prstGeom prst="roundRect">
            <a:avLst>
              <a:gd name="adj" fmla="val 11000"/>
            </a:avLst>
          </a:prstGeom>
          <a:solidFill>
            <a:srgbClr val="E6F1FD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437376" y="3278124"/>
            <a:ext cx="905256" cy="59436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2B42"/>
                </a:solidFill>
                <a:latin typeface="Arial" panose="020B0604020202020204" pitchFamily="34" charset="0"/>
              </a:rPr>
              <a:t>驾驶</a:t>
            </a:r>
            <a:endParaRPr sz="1500" b="1">
              <a:solidFill>
                <a:srgbClr val="162B42"/>
              </a:solidFill>
              <a:latin typeface="Arial" panose="020B0604020202020204" pitchFamily="34" charset="0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2B42"/>
                </a:solidFill>
                <a:latin typeface="Arial" panose="020B0604020202020204" pitchFamily="34" charset="0"/>
              </a:rPr>
              <a:t>辅助域</a:t>
            </a:r>
            <a:endParaRPr sz="1500" b="1">
              <a:solidFill>
                <a:srgbClr val="162B42"/>
              </a:solidFill>
              <a:latin typeface="Arial" panose="020B0604020202020204" pitchFamily="34" charset="0"/>
            </a:endParaRPr>
          </a:p>
        </p:txBody>
      </p:sp>
      <p:sp>
        <p:nvSpPr>
          <p:cNvPr id="130" name="Rounded Rectangle 129"/>
          <p:cNvSpPr/>
          <p:nvPr/>
        </p:nvSpPr>
        <p:spPr>
          <a:xfrm>
            <a:off x="6391656" y="4315968"/>
            <a:ext cx="448056" cy="283464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 flipH="1">
            <a:off x="6615684" y="3922776"/>
            <a:ext cx="269748" cy="356616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Rounded Rectangle 131"/>
          <p:cNvSpPr/>
          <p:nvPr/>
        </p:nvSpPr>
        <p:spPr>
          <a:xfrm>
            <a:off x="6931152" y="4315968"/>
            <a:ext cx="448056" cy="283464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3" name="Connector 132"/>
          <p:cNvCxnSpPr/>
          <p:nvPr/>
        </p:nvCxnSpPr>
        <p:spPr>
          <a:xfrm>
            <a:off x="6885432" y="3922776"/>
            <a:ext cx="269748" cy="356616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Rounded Rectangle 133"/>
          <p:cNvSpPr/>
          <p:nvPr/>
        </p:nvSpPr>
        <p:spPr>
          <a:xfrm>
            <a:off x="7607808" y="3246120"/>
            <a:ext cx="996696" cy="658368"/>
          </a:xfrm>
          <a:prstGeom prst="roundRect">
            <a:avLst>
              <a:gd name="adj" fmla="val 11000"/>
            </a:avLst>
          </a:prstGeom>
          <a:solidFill>
            <a:srgbClr val="E6F1FD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653528" y="3278124"/>
            <a:ext cx="905256" cy="594359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座舱域</a:t>
            </a:r>
            <a:endParaRPr sz="155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" name="Rounded Rectangle 135"/>
          <p:cNvSpPr/>
          <p:nvPr/>
        </p:nvSpPr>
        <p:spPr>
          <a:xfrm>
            <a:off x="7607808" y="4315968"/>
            <a:ext cx="448056" cy="283464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7" name="Connector 136"/>
          <p:cNvCxnSpPr/>
          <p:nvPr/>
        </p:nvCxnSpPr>
        <p:spPr>
          <a:xfrm flipH="1">
            <a:off x="7831836" y="3922776"/>
            <a:ext cx="269747" cy="356616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Rounded Rectangle 137"/>
          <p:cNvSpPr/>
          <p:nvPr/>
        </p:nvSpPr>
        <p:spPr>
          <a:xfrm>
            <a:off x="8147304" y="4315968"/>
            <a:ext cx="448056" cy="283464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9" name="Connector 138"/>
          <p:cNvCxnSpPr/>
          <p:nvPr/>
        </p:nvCxnSpPr>
        <p:spPr>
          <a:xfrm>
            <a:off x="8101583" y="3922776"/>
            <a:ext cx="269748" cy="356616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/>
          <p:cNvSpPr txBox="1"/>
          <p:nvPr/>
        </p:nvSpPr>
        <p:spPr>
          <a:xfrm>
            <a:off x="6400800" y="4828032"/>
            <a:ext cx="2194560" cy="2743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相关计算集中处理</a:t>
            </a:r>
            <a:endParaRPr sz="19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6364224" y="5202936"/>
            <a:ext cx="2267712" cy="30175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跨域与布线</a:t>
            </a:r>
            <a:endParaRPr sz="145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42" name="Connector 141"/>
          <p:cNvCxnSpPr/>
          <p:nvPr/>
        </p:nvCxnSpPr>
        <p:spPr>
          <a:xfrm>
            <a:off x="8778240" y="3803904"/>
            <a:ext cx="237744" cy="0"/>
          </a:xfrm>
          <a:prstGeom prst="line">
            <a:avLst/>
          </a:prstGeom>
          <a:ln w="25400" cap="rnd">
            <a:solidFill>
              <a:srgbClr val="146FB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Rounded Rectangle 142"/>
          <p:cNvSpPr/>
          <p:nvPr/>
        </p:nvSpPr>
        <p:spPr>
          <a:xfrm>
            <a:off x="9061704" y="2011680"/>
            <a:ext cx="2450592" cy="352044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9180576" y="2130552"/>
            <a:ext cx="2212848" cy="429768"/>
          </a:xfrm>
          <a:prstGeom prst="roundRect">
            <a:avLst>
              <a:gd name="adj" fmla="val 11000"/>
            </a:avLst>
          </a:prstGeom>
          <a:solidFill>
            <a:srgbClr val="E6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9226296" y="2162556"/>
            <a:ext cx="2121408" cy="50393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中央计算＋区域接入</a:t>
            </a:r>
            <a:endParaRPr sz="18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9180576" y="2642616"/>
            <a:ext cx="2212848" cy="32918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Model 3 / 宝马新世代</a:t>
            </a:r>
            <a:endParaRPr sz="17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" name="Rounded Rectangle 146"/>
          <p:cNvSpPr/>
          <p:nvPr/>
        </p:nvSpPr>
        <p:spPr>
          <a:xfrm>
            <a:off x="9317736" y="3227832"/>
            <a:ext cx="1938528" cy="539496"/>
          </a:xfrm>
          <a:prstGeom prst="roundRect">
            <a:avLst>
              <a:gd name="adj" fmla="val 11000"/>
            </a:avLst>
          </a:prstGeom>
          <a:solidFill>
            <a:srgbClr val="E6F1FD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9363456" y="3259836"/>
            <a:ext cx="1847088" cy="47548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高性能计算</a:t>
            </a:r>
            <a:endParaRPr sz="17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9" name="Rounded Rectangle 148"/>
          <p:cNvSpPr/>
          <p:nvPr/>
        </p:nvSpPr>
        <p:spPr>
          <a:xfrm>
            <a:off x="9189720" y="4206240"/>
            <a:ext cx="960120" cy="429768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9235440" y="4238244"/>
            <a:ext cx="868680" cy="365759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区域A</a:t>
            </a:r>
            <a:endParaRPr sz="155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51" name="Connector 150"/>
          <p:cNvCxnSpPr/>
          <p:nvPr/>
        </p:nvCxnSpPr>
        <p:spPr>
          <a:xfrm flipH="1">
            <a:off x="9669780" y="3776472"/>
            <a:ext cx="617220" cy="393191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ounded Rectangle 151"/>
          <p:cNvSpPr/>
          <p:nvPr/>
        </p:nvSpPr>
        <p:spPr>
          <a:xfrm>
            <a:off x="10415016" y="4206240"/>
            <a:ext cx="960120" cy="429768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0460736" y="4238244"/>
            <a:ext cx="868680" cy="365759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区域B</a:t>
            </a:r>
            <a:endParaRPr sz="155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54" name="Connector 153"/>
          <p:cNvCxnSpPr/>
          <p:nvPr/>
        </p:nvCxnSpPr>
        <p:spPr>
          <a:xfrm>
            <a:off x="10287000" y="3776472"/>
            <a:ext cx="608076" cy="393191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/>
          <p:cNvSpPr txBox="1"/>
          <p:nvPr/>
        </p:nvSpPr>
        <p:spPr>
          <a:xfrm>
            <a:off x="9189720" y="4828032"/>
            <a:ext cx="2194560" cy="2743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计算与位置分开组织</a:t>
            </a:r>
            <a:endParaRPr sz="185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9153144" y="5202936"/>
            <a:ext cx="2267712" cy="30175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仍需管理实时性与隔离</a:t>
            </a:r>
            <a:endParaRPr sz="145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" name="白色背景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右下角淡蓝装饰"/>
          <p:cNvSpPr/>
          <p:nvPr/>
        </p:nvSpPr>
        <p:spPr>
          <a:xfrm>
            <a:off x="10774679" y="5440680"/>
            <a:ext cx="1417320" cy="1417320"/>
          </a:xfrm>
          <a:custGeom>
            <a:avLst/>
            <a:gdLst/>
            <a:ahLst/>
            <a:cxnLst/>
            <a:rect l="l" t="t" r="r" b="b"/>
            <a:pathLst>
              <a:path w="1417320" h="1417320">
                <a:moveTo>
                  <a:pt x="1417320" y="1417320"/>
                </a:moveTo>
                <a:lnTo>
                  <a:pt x="0" y="1417320"/>
                </a:lnTo>
                <a:lnTo>
                  <a:pt x="700" y="1372800"/>
                </a:lnTo>
                <a:lnTo>
                  <a:pt x="2797" y="1328325"/>
                </a:lnTo>
                <a:lnTo>
                  <a:pt x="6290" y="1283938"/>
                </a:lnTo>
                <a:lnTo>
                  <a:pt x="11176" y="1239682"/>
                </a:lnTo>
                <a:lnTo>
                  <a:pt x="17450" y="1195602"/>
                </a:lnTo>
                <a:lnTo>
                  <a:pt x="25105" y="1151740"/>
                </a:lnTo>
                <a:lnTo>
                  <a:pt x="34134" y="1108141"/>
                </a:lnTo>
                <a:lnTo>
                  <a:pt x="44528" y="1064846"/>
                </a:lnTo>
                <a:lnTo>
                  <a:pt x="56277" y="1021900"/>
                </a:lnTo>
                <a:lnTo>
                  <a:pt x="69369" y="979344"/>
                </a:lnTo>
                <a:lnTo>
                  <a:pt x="83791" y="937219"/>
                </a:lnTo>
                <a:lnTo>
                  <a:pt x="99529" y="895569"/>
                </a:lnTo>
                <a:lnTo>
                  <a:pt x="116568" y="854434"/>
                </a:lnTo>
                <a:lnTo>
                  <a:pt x="134891" y="813854"/>
                </a:lnTo>
                <a:lnTo>
                  <a:pt x="154479" y="773870"/>
                </a:lnTo>
                <a:lnTo>
                  <a:pt x="175313" y="734520"/>
                </a:lnTo>
                <a:lnTo>
                  <a:pt x="197373" y="695845"/>
                </a:lnTo>
                <a:lnTo>
                  <a:pt x="220637" y="657881"/>
                </a:lnTo>
                <a:lnTo>
                  <a:pt x="245082" y="620667"/>
                </a:lnTo>
                <a:lnTo>
                  <a:pt x="270684" y="584240"/>
                </a:lnTo>
                <a:lnTo>
                  <a:pt x="297418" y="548634"/>
                </a:lnTo>
                <a:lnTo>
                  <a:pt x="325256" y="513886"/>
                </a:lnTo>
                <a:lnTo>
                  <a:pt x="354173" y="480029"/>
                </a:lnTo>
                <a:lnTo>
                  <a:pt x="384138" y="447097"/>
                </a:lnTo>
                <a:lnTo>
                  <a:pt x="415124" y="415123"/>
                </a:lnTo>
                <a:lnTo>
                  <a:pt x="447098" y="384138"/>
                </a:lnTo>
                <a:lnTo>
                  <a:pt x="480030" y="354172"/>
                </a:lnTo>
                <a:lnTo>
                  <a:pt x="513886" y="325256"/>
                </a:lnTo>
                <a:lnTo>
                  <a:pt x="548635" y="297417"/>
                </a:lnTo>
                <a:lnTo>
                  <a:pt x="584240" y="270684"/>
                </a:lnTo>
                <a:lnTo>
                  <a:pt x="620668" y="245082"/>
                </a:lnTo>
                <a:lnTo>
                  <a:pt x="657882" y="220637"/>
                </a:lnTo>
                <a:lnTo>
                  <a:pt x="695846" y="197373"/>
                </a:lnTo>
                <a:lnTo>
                  <a:pt x="734521" y="175313"/>
                </a:lnTo>
                <a:lnTo>
                  <a:pt x="773870" y="154478"/>
                </a:lnTo>
                <a:lnTo>
                  <a:pt x="813855" y="134890"/>
                </a:lnTo>
                <a:lnTo>
                  <a:pt x="854435" y="116568"/>
                </a:lnTo>
                <a:lnTo>
                  <a:pt x="895570" y="99529"/>
                </a:lnTo>
                <a:lnTo>
                  <a:pt x="937220" y="83790"/>
                </a:lnTo>
                <a:lnTo>
                  <a:pt x="979344" y="69368"/>
                </a:lnTo>
                <a:lnTo>
                  <a:pt x="1021901" y="56276"/>
                </a:lnTo>
                <a:lnTo>
                  <a:pt x="1064847" y="44527"/>
                </a:lnTo>
                <a:lnTo>
                  <a:pt x="1108141" y="34133"/>
                </a:lnTo>
                <a:lnTo>
                  <a:pt x="1151741" y="25104"/>
                </a:lnTo>
                <a:lnTo>
                  <a:pt x="1195602" y="17449"/>
                </a:lnTo>
                <a:lnTo>
                  <a:pt x="1239683" y="11175"/>
                </a:lnTo>
                <a:lnTo>
                  <a:pt x="1283939" y="6290"/>
                </a:lnTo>
                <a:lnTo>
                  <a:pt x="1328326" y="2796"/>
                </a:lnTo>
                <a:lnTo>
                  <a:pt x="1372801" y="699"/>
                </a:lnTo>
                <a:lnTo>
                  <a:pt x="1417320" y="0"/>
                </a:lnTo>
                <a:lnTo>
                  <a:pt x="1417320" y="1417320"/>
                </a:lnTo>
                <a:close/>
              </a:path>
            </a:pathLst>
          </a:custGeom>
          <a:solidFill>
            <a:srgbClr val="F4F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右下角淡蓝装饰"/>
          <p:cNvSpPr/>
          <p:nvPr/>
        </p:nvSpPr>
        <p:spPr>
          <a:xfrm>
            <a:off x="11076431" y="5742432"/>
            <a:ext cx="1115568" cy="1115568"/>
          </a:xfrm>
          <a:custGeom>
            <a:avLst/>
            <a:gdLst/>
            <a:ahLst/>
            <a:cxnLst/>
            <a:rect l="l" t="t" r="r" b="b"/>
            <a:pathLst>
              <a:path w="1115568" h="1115568">
                <a:moveTo>
                  <a:pt x="1115568" y="1115568"/>
                </a:moveTo>
                <a:lnTo>
                  <a:pt x="0" y="1115568"/>
                </a:lnTo>
                <a:lnTo>
                  <a:pt x="551" y="1080527"/>
                </a:lnTo>
                <a:lnTo>
                  <a:pt x="2202" y="1045520"/>
                </a:lnTo>
                <a:lnTo>
                  <a:pt x="4951" y="1010583"/>
                </a:lnTo>
                <a:lnTo>
                  <a:pt x="8797" y="975750"/>
                </a:lnTo>
                <a:lnTo>
                  <a:pt x="13735" y="941054"/>
                </a:lnTo>
                <a:lnTo>
                  <a:pt x="19760" y="906531"/>
                </a:lnTo>
                <a:lnTo>
                  <a:pt x="26867" y="872214"/>
                </a:lnTo>
                <a:lnTo>
                  <a:pt x="35048" y="838137"/>
                </a:lnTo>
                <a:lnTo>
                  <a:pt x="44295" y="804334"/>
                </a:lnTo>
                <a:lnTo>
                  <a:pt x="54600" y="770838"/>
                </a:lnTo>
                <a:lnTo>
                  <a:pt x="65952" y="737682"/>
                </a:lnTo>
                <a:lnTo>
                  <a:pt x="78339" y="704900"/>
                </a:lnTo>
                <a:lnTo>
                  <a:pt x="91751" y="672522"/>
                </a:lnTo>
                <a:lnTo>
                  <a:pt x="106172" y="640582"/>
                </a:lnTo>
                <a:lnTo>
                  <a:pt x="121590" y="609110"/>
                </a:lnTo>
                <a:lnTo>
                  <a:pt x="137989" y="578139"/>
                </a:lnTo>
                <a:lnTo>
                  <a:pt x="155352" y="547697"/>
                </a:lnTo>
                <a:lnTo>
                  <a:pt x="173663" y="517816"/>
                </a:lnTo>
                <a:lnTo>
                  <a:pt x="192904" y="488525"/>
                </a:lnTo>
                <a:lnTo>
                  <a:pt x="213055" y="459853"/>
                </a:lnTo>
                <a:lnTo>
                  <a:pt x="234097" y="431828"/>
                </a:lnTo>
                <a:lnTo>
                  <a:pt x="256008" y="404478"/>
                </a:lnTo>
                <a:lnTo>
                  <a:pt x="278768" y="377829"/>
                </a:lnTo>
                <a:lnTo>
                  <a:pt x="302354" y="351909"/>
                </a:lnTo>
                <a:lnTo>
                  <a:pt x="326742" y="326742"/>
                </a:lnTo>
                <a:lnTo>
                  <a:pt x="351909" y="302353"/>
                </a:lnTo>
                <a:lnTo>
                  <a:pt x="377830" y="278768"/>
                </a:lnTo>
                <a:lnTo>
                  <a:pt x="404478" y="256008"/>
                </a:lnTo>
                <a:lnTo>
                  <a:pt x="431829" y="234096"/>
                </a:lnTo>
                <a:lnTo>
                  <a:pt x="459854" y="213054"/>
                </a:lnTo>
                <a:lnTo>
                  <a:pt x="488526" y="192903"/>
                </a:lnTo>
                <a:lnTo>
                  <a:pt x="517817" y="173662"/>
                </a:lnTo>
                <a:lnTo>
                  <a:pt x="547698" y="155351"/>
                </a:lnTo>
                <a:lnTo>
                  <a:pt x="578139" y="137988"/>
                </a:lnTo>
                <a:lnTo>
                  <a:pt x="609111" y="121589"/>
                </a:lnTo>
                <a:lnTo>
                  <a:pt x="640582" y="106171"/>
                </a:lnTo>
                <a:lnTo>
                  <a:pt x="672523" y="91750"/>
                </a:lnTo>
                <a:lnTo>
                  <a:pt x="704900" y="78339"/>
                </a:lnTo>
                <a:lnTo>
                  <a:pt x="737683" y="65951"/>
                </a:lnTo>
                <a:lnTo>
                  <a:pt x="770839" y="54599"/>
                </a:lnTo>
                <a:lnTo>
                  <a:pt x="804335" y="44295"/>
                </a:lnTo>
                <a:lnTo>
                  <a:pt x="838138" y="35047"/>
                </a:lnTo>
                <a:lnTo>
                  <a:pt x="872215" y="26866"/>
                </a:lnTo>
                <a:lnTo>
                  <a:pt x="906532" y="19759"/>
                </a:lnTo>
                <a:lnTo>
                  <a:pt x="941055" y="13734"/>
                </a:lnTo>
                <a:lnTo>
                  <a:pt x="975750" y="8796"/>
                </a:lnTo>
                <a:lnTo>
                  <a:pt x="1010584" y="4950"/>
                </a:lnTo>
                <a:lnTo>
                  <a:pt x="1045521" y="2201"/>
                </a:lnTo>
                <a:lnTo>
                  <a:pt x="1080527" y="550"/>
                </a:lnTo>
                <a:lnTo>
                  <a:pt x="1115568" y="0"/>
                </a:lnTo>
                <a:lnTo>
                  <a:pt x="1115568" y="1115568"/>
                </a:lnTo>
                <a:close/>
              </a:path>
            </a:pathLst>
          </a:custGeom>
          <a:solidFill>
            <a:srgbClr val="F8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圆形"/>
          <p:cNvSpPr/>
          <p:nvPr/>
        </p:nvSpPr>
        <p:spPr>
          <a:xfrm>
            <a:off x="1038758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圆形"/>
          <p:cNvSpPr/>
          <p:nvPr/>
        </p:nvSpPr>
        <p:spPr>
          <a:xfrm>
            <a:off x="1038758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圆形"/>
          <p:cNvSpPr/>
          <p:nvPr/>
        </p:nvSpPr>
        <p:spPr>
          <a:xfrm>
            <a:off x="1038758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圆形"/>
          <p:cNvSpPr/>
          <p:nvPr/>
        </p:nvSpPr>
        <p:spPr>
          <a:xfrm>
            <a:off x="1055217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圆形"/>
          <p:cNvSpPr/>
          <p:nvPr/>
        </p:nvSpPr>
        <p:spPr>
          <a:xfrm>
            <a:off x="1055217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圆形"/>
          <p:cNvSpPr/>
          <p:nvPr/>
        </p:nvSpPr>
        <p:spPr>
          <a:xfrm>
            <a:off x="1055217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圆形"/>
          <p:cNvSpPr/>
          <p:nvPr/>
        </p:nvSpPr>
        <p:spPr>
          <a:xfrm>
            <a:off x="10716767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圆形"/>
          <p:cNvSpPr/>
          <p:nvPr/>
        </p:nvSpPr>
        <p:spPr>
          <a:xfrm>
            <a:off x="10716767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圆形"/>
          <p:cNvSpPr/>
          <p:nvPr/>
        </p:nvSpPr>
        <p:spPr>
          <a:xfrm>
            <a:off x="10716767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圆形"/>
          <p:cNvSpPr/>
          <p:nvPr/>
        </p:nvSpPr>
        <p:spPr>
          <a:xfrm>
            <a:off x="10881359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圆形"/>
          <p:cNvSpPr/>
          <p:nvPr/>
        </p:nvSpPr>
        <p:spPr>
          <a:xfrm>
            <a:off x="10881359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圆形"/>
          <p:cNvSpPr/>
          <p:nvPr/>
        </p:nvSpPr>
        <p:spPr>
          <a:xfrm>
            <a:off x="10881359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圆形"/>
          <p:cNvSpPr/>
          <p:nvPr/>
        </p:nvSpPr>
        <p:spPr>
          <a:xfrm>
            <a:off x="11045952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圆形"/>
          <p:cNvSpPr/>
          <p:nvPr/>
        </p:nvSpPr>
        <p:spPr>
          <a:xfrm>
            <a:off x="11045952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圆形"/>
          <p:cNvSpPr/>
          <p:nvPr/>
        </p:nvSpPr>
        <p:spPr>
          <a:xfrm>
            <a:off x="11045952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圆形"/>
          <p:cNvSpPr/>
          <p:nvPr/>
        </p:nvSpPr>
        <p:spPr>
          <a:xfrm>
            <a:off x="1121054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圆形"/>
          <p:cNvSpPr/>
          <p:nvPr/>
        </p:nvSpPr>
        <p:spPr>
          <a:xfrm>
            <a:off x="1121054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圆形"/>
          <p:cNvSpPr/>
          <p:nvPr/>
        </p:nvSpPr>
        <p:spPr>
          <a:xfrm>
            <a:off x="1121054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圆形"/>
          <p:cNvSpPr/>
          <p:nvPr/>
        </p:nvSpPr>
        <p:spPr>
          <a:xfrm>
            <a:off x="1137513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圆形"/>
          <p:cNvSpPr/>
          <p:nvPr/>
        </p:nvSpPr>
        <p:spPr>
          <a:xfrm>
            <a:off x="1137513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圆形"/>
          <p:cNvSpPr/>
          <p:nvPr/>
        </p:nvSpPr>
        <p:spPr>
          <a:xfrm>
            <a:off x="1137513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圆形"/>
          <p:cNvSpPr/>
          <p:nvPr/>
        </p:nvSpPr>
        <p:spPr>
          <a:xfrm>
            <a:off x="11539728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圆形"/>
          <p:cNvSpPr/>
          <p:nvPr/>
        </p:nvSpPr>
        <p:spPr>
          <a:xfrm>
            <a:off x="11539728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圆形"/>
          <p:cNvSpPr/>
          <p:nvPr/>
        </p:nvSpPr>
        <p:spPr>
          <a:xfrm>
            <a:off x="11539728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标题蓝色竖线"/>
          <p:cNvSpPr/>
          <p:nvPr/>
        </p:nvSpPr>
        <p:spPr>
          <a:xfrm>
            <a:off x="274320" y="356616"/>
            <a:ext cx="109728" cy="585216"/>
          </a:xfrm>
          <a:prstGeom prst="roundRect">
            <a:avLst>
              <a:gd name="adj" fmla="val 41666"/>
            </a:avLst>
          </a:prstGeom>
          <a:gradFill>
            <a:gsLst>
              <a:gs pos="0">
                <a:srgbClr val="3A92D5"/>
              </a:gs>
              <a:gs pos="100000">
                <a:srgbClr val="146FB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标题"/>
          <p:cNvSpPr txBox="1"/>
          <p:nvPr/>
        </p:nvSpPr>
        <p:spPr>
          <a:xfrm>
            <a:off x="621792" y="301752"/>
            <a:ext cx="9390888" cy="64922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从电子控制，到控制器联网</a:t>
            </a:r>
            <a:endParaRPr sz="35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标题分隔线"/>
          <p:cNvSpPr/>
          <p:nvPr/>
        </p:nvSpPr>
        <p:spPr>
          <a:xfrm>
            <a:off x="621792" y="1051560"/>
            <a:ext cx="11109960" cy="18288"/>
          </a:xfrm>
          <a:prstGeom prst="rect">
            <a:avLst/>
          </a:prstGeom>
          <a:gradFill>
            <a:gsLst>
              <a:gs pos="0">
                <a:srgbClr val="3A92D5"/>
              </a:gs>
              <a:gs pos="100000">
                <a:srgbClr val="E3EFF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tongji_wordm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4" y="256032"/>
            <a:ext cx="1554480" cy="385298"/>
          </a:xfrm>
          <a:prstGeom prst="rect">
            <a:avLst/>
          </a:prstGeom>
          <a:effectLst/>
        </p:spPr>
      </p:pic>
      <p:sp>
        <p:nvSpPr>
          <p:cNvPr id="33" name="导入句"/>
          <p:cNvSpPr txBox="1"/>
          <p:nvPr/>
        </p:nvSpPr>
        <p:spPr>
          <a:xfrm>
            <a:off x="621792" y="1271016"/>
            <a:ext cx="10972800" cy="57607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两个真实例子，说明“一个功能由电子系统控制”和“多个模块交换信息”不是同一件事。</a:t>
            </a:r>
            <a:endParaRPr sz="20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本页总结背景"/>
          <p:cNvSpPr/>
          <p:nvPr/>
        </p:nvSpPr>
        <p:spPr>
          <a:xfrm>
            <a:off x="585216" y="5852160"/>
            <a:ext cx="11064240" cy="594360"/>
          </a:xfrm>
          <a:prstGeom prst="roundRect">
            <a:avLst>
              <a:gd name="adj" fmla="val 23076"/>
            </a:avLst>
          </a:prstGeom>
          <a:gradFill>
            <a:gsLst>
              <a:gs pos="0">
                <a:srgbClr val="F0F7FE"/>
              </a:gs>
              <a:gs pos="100000">
                <a:srgbClr val="E9F3F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可编辑曲线"/>
          <p:cNvSpPr/>
          <p:nvPr/>
        </p:nvSpPr>
        <p:spPr>
          <a:xfrm>
            <a:off x="907999" y="5990783"/>
            <a:ext cx="310621" cy="133685"/>
          </a:xfrm>
          <a:custGeom>
            <a:avLst/>
            <a:gdLst/>
            <a:ahLst/>
            <a:cxnLst/>
            <a:rect l="l" t="t" r="r" b="b"/>
            <a:pathLst>
              <a:path w="310621" h="133685">
                <a:moveTo>
                  <a:pt x="0" y="133685"/>
                </a:moveTo>
                <a:lnTo>
                  <a:pt x="51115" y="0"/>
                </a:lnTo>
                <a:lnTo>
                  <a:pt x="251643" y="0"/>
                </a:lnTo>
                <a:lnTo>
                  <a:pt x="310621" y="133685"/>
                </a:lnTo>
              </a:path>
            </a:pathLst>
          </a:custGeom>
          <a:noFill/>
          <a:ln w="254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矩形"/>
          <p:cNvSpPr/>
          <p:nvPr/>
        </p:nvSpPr>
        <p:spPr>
          <a:xfrm>
            <a:off x="896203" y="6112672"/>
            <a:ext cx="338145" cy="165140"/>
          </a:xfrm>
          <a:prstGeom prst="roundRect">
            <a:avLst>
              <a:gd name="adj" fmla="val 19047"/>
            </a:avLst>
          </a:prstGeom>
          <a:noFill/>
          <a:ln w="254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连线"/>
          <p:cNvCxnSpPr/>
          <p:nvPr/>
        </p:nvCxnSpPr>
        <p:spPr>
          <a:xfrm>
            <a:off x="915863" y="6120536"/>
            <a:ext cx="302757" cy="0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圆形"/>
          <p:cNvSpPr/>
          <p:nvPr/>
        </p:nvSpPr>
        <p:spPr>
          <a:xfrm>
            <a:off x="935522" y="6171651"/>
            <a:ext cx="51114" cy="5111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圆形"/>
          <p:cNvSpPr/>
          <p:nvPr/>
        </p:nvSpPr>
        <p:spPr>
          <a:xfrm>
            <a:off x="1136050" y="6171651"/>
            <a:ext cx="51114" cy="5111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连线"/>
          <p:cNvCxnSpPr/>
          <p:nvPr/>
        </p:nvCxnSpPr>
        <p:spPr>
          <a:xfrm>
            <a:off x="943386" y="6273881"/>
            <a:ext cx="0" cy="51115"/>
          </a:xfrm>
          <a:prstGeom prst="line">
            <a:avLst/>
          </a:prstGeom>
          <a:ln w="381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连线"/>
          <p:cNvCxnSpPr/>
          <p:nvPr/>
        </p:nvCxnSpPr>
        <p:spPr>
          <a:xfrm>
            <a:off x="1183233" y="6273881"/>
            <a:ext cx="0" cy="51115"/>
          </a:xfrm>
          <a:prstGeom prst="line">
            <a:avLst/>
          </a:prstGeom>
          <a:ln w="381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连线"/>
          <p:cNvCxnSpPr/>
          <p:nvPr/>
        </p:nvCxnSpPr>
        <p:spPr>
          <a:xfrm>
            <a:off x="1435608" y="5943600"/>
            <a:ext cx="0" cy="411480"/>
          </a:xfrm>
          <a:prstGeom prst="line">
            <a:avLst/>
          </a:prstGeom>
          <a:ln w="15875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akeaway"/>
          <p:cNvSpPr txBox="1"/>
          <p:nvPr/>
        </p:nvSpPr>
        <p:spPr>
          <a:xfrm>
            <a:off x="1655064" y="5943600"/>
            <a:ext cx="9692640" cy="44805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先让单个功能工作，再让不同功能通过信息交换配合起来。</a:t>
            </a:r>
            <a:endParaRPr sz="21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694944" y="1965960"/>
            <a:ext cx="5175504" cy="3602736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6309360" y="1965960"/>
            <a:ext cx="5175504" cy="3602736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886968" y="2112264"/>
            <a:ext cx="1115568" cy="402336"/>
          </a:xfrm>
          <a:prstGeom prst="roundRect">
            <a:avLst>
              <a:gd name="adj" fmla="val 11000"/>
            </a:avLst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32688" y="2144268"/>
            <a:ext cx="1024127" cy="33832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1967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2167128" y="2112264"/>
            <a:ext cx="3520440" cy="38404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大众1600 LE / TLE</a:t>
            </a:r>
            <a:endParaRPr sz="24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905256" y="2688336"/>
            <a:ext cx="4727448" cy="57404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美国版车型采用Bosch Jetronic</a:t>
            </a:r>
            <a:endParaRPr sz="20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电子喷射系统，以应对排放要求。</a:t>
            </a:r>
            <a:endParaRPr sz="20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Rounded Rectangle 94"/>
          <p:cNvSpPr/>
          <p:nvPr/>
        </p:nvSpPr>
        <p:spPr>
          <a:xfrm>
            <a:off x="914400" y="3630168"/>
            <a:ext cx="1207008" cy="566928"/>
          </a:xfrm>
          <a:prstGeom prst="roundRect">
            <a:avLst>
              <a:gd name="adj" fmla="val 11000"/>
            </a:avLst>
          </a:prstGeom>
          <a:solidFill>
            <a:srgbClr val="E6F1FD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60120" y="3662172"/>
            <a:ext cx="1115568" cy="5029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传感信息</a:t>
            </a:r>
            <a:endParaRPr sz="19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Rounded Rectangle 96"/>
          <p:cNvSpPr/>
          <p:nvPr/>
        </p:nvSpPr>
        <p:spPr>
          <a:xfrm>
            <a:off x="2478024" y="3630168"/>
            <a:ext cx="1463040" cy="566928"/>
          </a:xfrm>
          <a:prstGeom prst="roundRect">
            <a:avLst>
              <a:gd name="adj" fmla="val 11000"/>
            </a:avLst>
          </a:prstGeom>
          <a:solidFill>
            <a:srgbClr val="E6F1FD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523744" y="3662172"/>
            <a:ext cx="1371600" cy="5029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电子控制</a:t>
            </a:r>
            <a:endParaRPr sz="19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Rounded Rectangle 98"/>
          <p:cNvSpPr/>
          <p:nvPr/>
        </p:nvSpPr>
        <p:spPr>
          <a:xfrm>
            <a:off x="4297680" y="3630168"/>
            <a:ext cx="1280160" cy="566928"/>
          </a:xfrm>
          <a:prstGeom prst="roundRect">
            <a:avLst>
              <a:gd name="adj" fmla="val 11000"/>
            </a:avLst>
          </a:prstGeom>
          <a:solidFill>
            <a:srgbClr val="E6F1FD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343400" y="3662172"/>
            <a:ext cx="1188719" cy="5029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燃油喷射</a:t>
            </a:r>
            <a:endParaRPr sz="19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1" name="Connector 100"/>
          <p:cNvCxnSpPr/>
          <p:nvPr/>
        </p:nvCxnSpPr>
        <p:spPr>
          <a:xfrm>
            <a:off x="2130552" y="3913632"/>
            <a:ext cx="301752" cy="0"/>
          </a:xfrm>
          <a:prstGeom prst="line">
            <a:avLst/>
          </a:prstGeom>
          <a:ln w="24130" cap="rnd">
            <a:solidFill>
              <a:srgbClr val="146FB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3950208" y="3913632"/>
            <a:ext cx="301752" cy="0"/>
          </a:xfrm>
          <a:prstGeom prst="line">
            <a:avLst/>
          </a:prstGeom>
          <a:ln w="24130" cap="rnd">
            <a:solidFill>
              <a:srgbClr val="146FB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914400" y="4379976"/>
            <a:ext cx="4718304" cy="38404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把一个具体功能控制得更好</a:t>
            </a:r>
            <a:endParaRPr sz="19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Rounded Rectangle 103"/>
          <p:cNvSpPr/>
          <p:nvPr/>
        </p:nvSpPr>
        <p:spPr>
          <a:xfrm>
            <a:off x="914400" y="5020056"/>
            <a:ext cx="4709160" cy="365760"/>
          </a:xfrm>
          <a:prstGeom prst="roundRect">
            <a:avLst>
              <a:gd name="adj" fmla="val 11000"/>
            </a:avLst>
          </a:prstGeom>
          <a:solidFill>
            <a:srgbClr val="E6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60120" y="5052060"/>
            <a:ext cx="4617720" cy="30175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有电子控制 ≠ 已有复杂车载网络</a:t>
            </a:r>
            <a:endParaRPr sz="19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Rounded Rectangle 105"/>
          <p:cNvSpPr/>
          <p:nvPr/>
        </p:nvSpPr>
        <p:spPr>
          <a:xfrm>
            <a:off x="6501384" y="2112264"/>
            <a:ext cx="1115568" cy="402336"/>
          </a:xfrm>
          <a:prstGeom prst="roundRect">
            <a:avLst>
              <a:gd name="adj" fmla="val 11000"/>
            </a:avLst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547104" y="2144268"/>
            <a:ext cx="1024127" cy="33832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1995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7781544" y="2112264"/>
            <a:ext cx="3474720" cy="38404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宝马7系：CAN联网</a:t>
            </a:r>
            <a:endParaRPr sz="24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6519672" y="2688336"/>
            <a:ext cx="4700016" cy="57404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CiA记录：5个ECU通过CAN互联。</a:t>
            </a:r>
            <a:endParaRPr sz="20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重点开始转向多个控制单元的信息交换。</a:t>
            </a:r>
            <a:endParaRPr sz="20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" name="Rounded Rectangle 109"/>
          <p:cNvSpPr/>
          <p:nvPr/>
        </p:nvSpPr>
        <p:spPr>
          <a:xfrm>
            <a:off x="8092440" y="3944493"/>
            <a:ext cx="1600200" cy="493776"/>
          </a:xfrm>
          <a:prstGeom prst="roundRect">
            <a:avLst>
              <a:gd name="adj" fmla="val 11000"/>
            </a:avLst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138160" y="3976497"/>
            <a:ext cx="1508760" cy="42976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CAN网络</a:t>
            </a:r>
            <a:endParaRPr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2" name="Connector 111"/>
          <p:cNvCxnSpPr>
            <a:stCxn id="111" idx="1"/>
          </p:cNvCxnSpPr>
          <p:nvPr/>
        </p:nvCxnSpPr>
        <p:spPr>
          <a:xfrm flipH="1" flipV="1">
            <a:off x="7205218" y="3889756"/>
            <a:ext cx="932815" cy="301625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>
            <a:off x="7205218" y="4419981"/>
            <a:ext cx="932815" cy="320040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H="1">
            <a:off x="8814562" y="4392676"/>
            <a:ext cx="36576" cy="850392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>
            <a:stCxn id="111" idx="3"/>
          </p:cNvCxnSpPr>
          <p:nvPr/>
        </p:nvCxnSpPr>
        <p:spPr>
          <a:xfrm flipV="1">
            <a:off x="9646793" y="3889756"/>
            <a:ext cx="996950" cy="301625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9646793" y="4387596"/>
            <a:ext cx="996950" cy="352425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ounded Rectangle 116"/>
          <p:cNvSpPr/>
          <p:nvPr/>
        </p:nvSpPr>
        <p:spPr>
          <a:xfrm>
            <a:off x="6620256" y="3715893"/>
            <a:ext cx="1143000" cy="356616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665976" y="3747897"/>
            <a:ext cx="1051560" cy="29260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ECU 1</a:t>
            </a:r>
            <a:endParaRPr sz="155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" name="Rounded Rectangle 118"/>
          <p:cNvSpPr/>
          <p:nvPr/>
        </p:nvSpPr>
        <p:spPr>
          <a:xfrm>
            <a:off x="6620256" y="4566285"/>
            <a:ext cx="1143000" cy="356616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665976" y="4598289"/>
            <a:ext cx="1051560" cy="29260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ECU 2</a:t>
            </a:r>
            <a:endParaRPr sz="155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" name="Rounded Rectangle 120"/>
          <p:cNvSpPr/>
          <p:nvPr/>
        </p:nvSpPr>
        <p:spPr>
          <a:xfrm>
            <a:off x="8266175" y="4868037"/>
            <a:ext cx="1143000" cy="356616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311896" y="4900041"/>
            <a:ext cx="1051560" cy="29260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ECU 3</a:t>
            </a:r>
            <a:endParaRPr sz="155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" name="Rounded Rectangle 122"/>
          <p:cNvSpPr/>
          <p:nvPr/>
        </p:nvSpPr>
        <p:spPr>
          <a:xfrm>
            <a:off x="10058400" y="3715893"/>
            <a:ext cx="1143000" cy="356616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104120" y="3747897"/>
            <a:ext cx="1051560" cy="29260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ECU 4</a:t>
            </a:r>
            <a:endParaRPr sz="155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5" name="Rounded Rectangle 124"/>
          <p:cNvSpPr/>
          <p:nvPr/>
        </p:nvSpPr>
        <p:spPr>
          <a:xfrm>
            <a:off x="10058400" y="4566285"/>
            <a:ext cx="1143000" cy="356616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0104120" y="4598289"/>
            <a:ext cx="1051560" cy="29260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ECU 5</a:t>
            </a:r>
            <a:endParaRPr sz="155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" name="白色背景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右下角淡蓝装饰"/>
          <p:cNvSpPr/>
          <p:nvPr/>
        </p:nvSpPr>
        <p:spPr>
          <a:xfrm>
            <a:off x="10774679" y="5440680"/>
            <a:ext cx="1417320" cy="1417320"/>
          </a:xfrm>
          <a:custGeom>
            <a:avLst/>
            <a:gdLst/>
            <a:ahLst/>
            <a:cxnLst/>
            <a:rect l="l" t="t" r="r" b="b"/>
            <a:pathLst>
              <a:path w="1417320" h="1417320">
                <a:moveTo>
                  <a:pt x="1417320" y="1417320"/>
                </a:moveTo>
                <a:lnTo>
                  <a:pt x="0" y="1417320"/>
                </a:lnTo>
                <a:lnTo>
                  <a:pt x="700" y="1372800"/>
                </a:lnTo>
                <a:lnTo>
                  <a:pt x="2797" y="1328325"/>
                </a:lnTo>
                <a:lnTo>
                  <a:pt x="6290" y="1283938"/>
                </a:lnTo>
                <a:lnTo>
                  <a:pt x="11176" y="1239682"/>
                </a:lnTo>
                <a:lnTo>
                  <a:pt x="17450" y="1195602"/>
                </a:lnTo>
                <a:lnTo>
                  <a:pt x="25105" y="1151740"/>
                </a:lnTo>
                <a:lnTo>
                  <a:pt x="34134" y="1108141"/>
                </a:lnTo>
                <a:lnTo>
                  <a:pt x="44528" y="1064846"/>
                </a:lnTo>
                <a:lnTo>
                  <a:pt x="56277" y="1021900"/>
                </a:lnTo>
                <a:lnTo>
                  <a:pt x="69369" y="979344"/>
                </a:lnTo>
                <a:lnTo>
                  <a:pt x="83791" y="937219"/>
                </a:lnTo>
                <a:lnTo>
                  <a:pt x="99529" y="895569"/>
                </a:lnTo>
                <a:lnTo>
                  <a:pt x="116568" y="854434"/>
                </a:lnTo>
                <a:lnTo>
                  <a:pt x="134891" y="813854"/>
                </a:lnTo>
                <a:lnTo>
                  <a:pt x="154479" y="773870"/>
                </a:lnTo>
                <a:lnTo>
                  <a:pt x="175313" y="734520"/>
                </a:lnTo>
                <a:lnTo>
                  <a:pt x="197373" y="695845"/>
                </a:lnTo>
                <a:lnTo>
                  <a:pt x="220637" y="657881"/>
                </a:lnTo>
                <a:lnTo>
                  <a:pt x="245082" y="620667"/>
                </a:lnTo>
                <a:lnTo>
                  <a:pt x="270684" y="584240"/>
                </a:lnTo>
                <a:lnTo>
                  <a:pt x="297418" y="548634"/>
                </a:lnTo>
                <a:lnTo>
                  <a:pt x="325256" y="513886"/>
                </a:lnTo>
                <a:lnTo>
                  <a:pt x="354173" y="480029"/>
                </a:lnTo>
                <a:lnTo>
                  <a:pt x="384138" y="447097"/>
                </a:lnTo>
                <a:lnTo>
                  <a:pt x="415124" y="415123"/>
                </a:lnTo>
                <a:lnTo>
                  <a:pt x="447098" y="384138"/>
                </a:lnTo>
                <a:lnTo>
                  <a:pt x="480030" y="354172"/>
                </a:lnTo>
                <a:lnTo>
                  <a:pt x="513886" y="325256"/>
                </a:lnTo>
                <a:lnTo>
                  <a:pt x="548635" y="297417"/>
                </a:lnTo>
                <a:lnTo>
                  <a:pt x="584240" y="270684"/>
                </a:lnTo>
                <a:lnTo>
                  <a:pt x="620668" y="245082"/>
                </a:lnTo>
                <a:lnTo>
                  <a:pt x="657882" y="220637"/>
                </a:lnTo>
                <a:lnTo>
                  <a:pt x="695846" y="197373"/>
                </a:lnTo>
                <a:lnTo>
                  <a:pt x="734521" y="175313"/>
                </a:lnTo>
                <a:lnTo>
                  <a:pt x="773870" y="154478"/>
                </a:lnTo>
                <a:lnTo>
                  <a:pt x="813855" y="134890"/>
                </a:lnTo>
                <a:lnTo>
                  <a:pt x="854435" y="116568"/>
                </a:lnTo>
                <a:lnTo>
                  <a:pt x="895570" y="99529"/>
                </a:lnTo>
                <a:lnTo>
                  <a:pt x="937220" y="83790"/>
                </a:lnTo>
                <a:lnTo>
                  <a:pt x="979344" y="69368"/>
                </a:lnTo>
                <a:lnTo>
                  <a:pt x="1021901" y="56276"/>
                </a:lnTo>
                <a:lnTo>
                  <a:pt x="1064847" y="44527"/>
                </a:lnTo>
                <a:lnTo>
                  <a:pt x="1108141" y="34133"/>
                </a:lnTo>
                <a:lnTo>
                  <a:pt x="1151741" y="25104"/>
                </a:lnTo>
                <a:lnTo>
                  <a:pt x="1195602" y="17449"/>
                </a:lnTo>
                <a:lnTo>
                  <a:pt x="1239683" y="11175"/>
                </a:lnTo>
                <a:lnTo>
                  <a:pt x="1283939" y="6290"/>
                </a:lnTo>
                <a:lnTo>
                  <a:pt x="1328326" y="2796"/>
                </a:lnTo>
                <a:lnTo>
                  <a:pt x="1372801" y="699"/>
                </a:lnTo>
                <a:lnTo>
                  <a:pt x="1417320" y="0"/>
                </a:lnTo>
                <a:lnTo>
                  <a:pt x="1417320" y="1417320"/>
                </a:lnTo>
                <a:close/>
              </a:path>
            </a:pathLst>
          </a:custGeom>
          <a:solidFill>
            <a:srgbClr val="F4F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右下角淡蓝装饰"/>
          <p:cNvSpPr/>
          <p:nvPr/>
        </p:nvSpPr>
        <p:spPr>
          <a:xfrm>
            <a:off x="11076431" y="5742432"/>
            <a:ext cx="1115568" cy="1115568"/>
          </a:xfrm>
          <a:custGeom>
            <a:avLst/>
            <a:gdLst/>
            <a:ahLst/>
            <a:cxnLst/>
            <a:rect l="l" t="t" r="r" b="b"/>
            <a:pathLst>
              <a:path w="1115568" h="1115568">
                <a:moveTo>
                  <a:pt x="1115568" y="1115568"/>
                </a:moveTo>
                <a:lnTo>
                  <a:pt x="0" y="1115568"/>
                </a:lnTo>
                <a:lnTo>
                  <a:pt x="551" y="1080527"/>
                </a:lnTo>
                <a:lnTo>
                  <a:pt x="2202" y="1045520"/>
                </a:lnTo>
                <a:lnTo>
                  <a:pt x="4951" y="1010583"/>
                </a:lnTo>
                <a:lnTo>
                  <a:pt x="8797" y="975750"/>
                </a:lnTo>
                <a:lnTo>
                  <a:pt x="13735" y="941054"/>
                </a:lnTo>
                <a:lnTo>
                  <a:pt x="19760" y="906531"/>
                </a:lnTo>
                <a:lnTo>
                  <a:pt x="26867" y="872214"/>
                </a:lnTo>
                <a:lnTo>
                  <a:pt x="35048" y="838137"/>
                </a:lnTo>
                <a:lnTo>
                  <a:pt x="44295" y="804334"/>
                </a:lnTo>
                <a:lnTo>
                  <a:pt x="54600" y="770838"/>
                </a:lnTo>
                <a:lnTo>
                  <a:pt x="65952" y="737682"/>
                </a:lnTo>
                <a:lnTo>
                  <a:pt x="78339" y="704900"/>
                </a:lnTo>
                <a:lnTo>
                  <a:pt x="91751" y="672522"/>
                </a:lnTo>
                <a:lnTo>
                  <a:pt x="106172" y="640582"/>
                </a:lnTo>
                <a:lnTo>
                  <a:pt x="121590" y="609110"/>
                </a:lnTo>
                <a:lnTo>
                  <a:pt x="137989" y="578139"/>
                </a:lnTo>
                <a:lnTo>
                  <a:pt x="155352" y="547697"/>
                </a:lnTo>
                <a:lnTo>
                  <a:pt x="173663" y="517816"/>
                </a:lnTo>
                <a:lnTo>
                  <a:pt x="192904" y="488525"/>
                </a:lnTo>
                <a:lnTo>
                  <a:pt x="213055" y="459853"/>
                </a:lnTo>
                <a:lnTo>
                  <a:pt x="234097" y="431828"/>
                </a:lnTo>
                <a:lnTo>
                  <a:pt x="256008" y="404478"/>
                </a:lnTo>
                <a:lnTo>
                  <a:pt x="278768" y="377829"/>
                </a:lnTo>
                <a:lnTo>
                  <a:pt x="302354" y="351909"/>
                </a:lnTo>
                <a:lnTo>
                  <a:pt x="326742" y="326742"/>
                </a:lnTo>
                <a:lnTo>
                  <a:pt x="351909" y="302353"/>
                </a:lnTo>
                <a:lnTo>
                  <a:pt x="377830" y="278768"/>
                </a:lnTo>
                <a:lnTo>
                  <a:pt x="404478" y="256008"/>
                </a:lnTo>
                <a:lnTo>
                  <a:pt x="431829" y="234096"/>
                </a:lnTo>
                <a:lnTo>
                  <a:pt x="459854" y="213054"/>
                </a:lnTo>
                <a:lnTo>
                  <a:pt x="488526" y="192903"/>
                </a:lnTo>
                <a:lnTo>
                  <a:pt x="517817" y="173662"/>
                </a:lnTo>
                <a:lnTo>
                  <a:pt x="547698" y="155351"/>
                </a:lnTo>
                <a:lnTo>
                  <a:pt x="578139" y="137988"/>
                </a:lnTo>
                <a:lnTo>
                  <a:pt x="609111" y="121589"/>
                </a:lnTo>
                <a:lnTo>
                  <a:pt x="640582" y="106171"/>
                </a:lnTo>
                <a:lnTo>
                  <a:pt x="672523" y="91750"/>
                </a:lnTo>
                <a:lnTo>
                  <a:pt x="704900" y="78339"/>
                </a:lnTo>
                <a:lnTo>
                  <a:pt x="737683" y="65951"/>
                </a:lnTo>
                <a:lnTo>
                  <a:pt x="770839" y="54599"/>
                </a:lnTo>
                <a:lnTo>
                  <a:pt x="804335" y="44295"/>
                </a:lnTo>
                <a:lnTo>
                  <a:pt x="838138" y="35047"/>
                </a:lnTo>
                <a:lnTo>
                  <a:pt x="872215" y="26866"/>
                </a:lnTo>
                <a:lnTo>
                  <a:pt x="906532" y="19759"/>
                </a:lnTo>
                <a:lnTo>
                  <a:pt x="941055" y="13734"/>
                </a:lnTo>
                <a:lnTo>
                  <a:pt x="975750" y="8796"/>
                </a:lnTo>
                <a:lnTo>
                  <a:pt x="1010584" y="4950"/>
                </a:lnTo>
                <a:lnTo>
                  <a:pt x="1045521" y="2201"/>
                </a:lnTo>
                <a:lnTo>
                  <a:pt x="1080527" y="550"/>
                </a:lnTo>
                <a:lnTo>
                  <a:pt x="1115568" y="0"/>
                </a:lnTo>
                <a:lnTo>
                  <a:pt x="1115568" y="1115568"/>
                </a:lnTo>
                <a:close/>
              </a:path>
            </a:pathLst>
          </a:custGeom>
          <a:solidFill>
            <a:srgbClr val="F8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圆形"/>
          <p:cNvSpPr/>
          <p:nvPr/>
        </p:nvSpPr>
        <p:spPr>
          <a:xfrm>
            <a:off x="1038758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圆形"/>
          <p:cNvSpPr/>
          <p:nvPr/>
        </p:nvSpPr>
        <p:spPr>
          <a:xfrm>
            <a:off x="1038758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圆形"/>
          <p:cNvSpPr/>
          <p:nvPr/>
        </p:nvSpPr>
        <p:spPr>
          <a:xfrm>
            <a:off x="1038758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圆形"/>
          <p:cNvSpPr/>
          <p:nvPr/>
        </p:nvSpPr>
        <p:spPr>
          <a:xfrm>
            <a:off x="1055217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圆形"/>
          <p:cNvSpPr/>
          <p:nvPr/>
        </p:nvSpPr>
        <p:spPr>
          <a:xfrm>
            <a:off x="1055217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圆形"/>
          <p:cNvSpPr/>
          <p:nvPr/>
        </p:nvSpPr>
        <p:spPr>
          <a:xfrm>
            <a:off x="1055217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圆形"/>
          <p:cNvSpPr/>
          <p:nvPr/>
        </p:nvSpPr>
        <p:spPr>
          <a:xfrm>
            <a:off x="10716767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圆形"/>
          <p:cNvSpPr/>
          <p:nvPr/>
        </p:nvSpPr>
        <p:spPr>
          <a:xfrm>
            <a:off x="10716767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圆形"/>
          <p:cNvSpPr/>
          <p:nvPr/>
        </p:nvSpPr>
        <p:spPr>
          <a:xfrm>
            <a:off x="10716767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圆形"/>
          <p:cNvSpPr/>
          <p:nvPr/>
        </p:nvSpPr>
        <p:spPr>
          <a:xfrm>
            <a:off x="10881359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圆形"/>
          <p:cNvSpPr/>
          <p:nvPr/>
        </p:nvSpPr>
        <p:spPr>
          <a:xfrm>
            <a:off x="10881359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圆形"/>
          <p:cNvSpPr/>
          <p:nvPr/>
        </p:nvSpPr>
        <p:spPr>
          <a:xfrm>
            <a:off x="10881359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圆形"/>
          <p:cNvSpPr/>
          <p:nvPr/>
        </p:nvSpPr>
        <p:spPr>
          <a:xfrm>
            <a:off x="11045952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圆形"/>
          <p:cNvSpPr/>
          <p:nvPr/>
        </p:nvSpPr>
        <p:spPr>
          <a:xfrm>
            <a:off x="11045952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圆形"/>
          <p:cNvSpPr/>
          <p:nvPr/>
        </p:nvSpPr>
        <p:spPr>
          <a:xfrm>
            <a:off x="11045952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圆形"/>
          <p:cNvSpPr/>
          <p:nvPr/>
        </p:nvSpPr>
        <p:spPr>
          <a:xfrm>
            <a:off x="1121054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圆形"/>
          <p:cNvSpPr/>
          <p:nvPr/>
        </p:nvSpPr>
        <p:spPr>
          <a:xfrm>
            <a:off x="1121054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圆形"/>
          <p:cNvSpPr/>
          <p:nvPr/>
        </p:nvSpPr>
        <p:spPr>
          <a:xfrm>
            <a:off x="1121054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圆形"/>
          <p:cNvSpPr/>
          <p:nvPr/>
        </p:nvSpPr>
        <p:spPr>
          <a:xfrm>
            <a:off x="1137513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圆形"/>
          <p:cNvSpPr/>
          <p:nvPr/>
        </p:nvSpPr>
        <p:spPr>
          <a:xfrm>
            <a:off x="1137513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圆形"/>
          <p:cNvSpPr/>
          <p:nvPr/>
        </p:nvSpPr>
        <p:spPr>
          <a:xfrm>
            <a:off x="1137513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圆形"/>
          <p:cNvSpPr/>
          <p:nvPr/>
        </p:nvSpPr>
        <p:spPr>
          <a:xfrm>
            <a:off x="11539728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圆形"/>
          <p:cNvSpPr/>
          <p:nvPr/>
        </p:nvSpPr>
        <p:spPr>
          <a:xfrm>
            <a:off x="11539728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圆形"/>
          <p:cNvSpPr/>
          <p:nvPr/>
        </p:nvSpPr>
        <p:spPr>
          <a:xfrm>
            <a:off x="11539728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标题蓝色竖线"/>
          <p:cNvSpPr/>
          <p:nvPr/>
        </p:nvSpPr>
        <p:spPr>
          <a:xfrm>
            <a:off x="274320" y="356616"/>
            <a:ext cx="109728" cy="585216"/>
          </a:xfrm>
          <a:prstGeom prst="roundRect">
            <a:avLst>
              <a:gd name="adj" fmla="val 41666"/>
            </a:avLst>
          </a:prstGeom>
          <a:gradFill>
            <a:gsLst>
              <a:gs pos="0">
                <a:srgbClr val="3A92D5"/>
              </a:gs>
              <a:gs pos="100000">
                <a:srgbClr val="146FB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标题"/>
          <p:cNvSpPr txBox="1"/>
          <p:nvPr/>
        </p:nvSpPr>
        <p:spPr>
          <a:xfrm>
            <a:off x="621792" y="301752"/>
            <a:ext cx="9390888" cy="64922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奥迪A8：为什么需要域控制器？</a:t>
            </a:r>
            <a:endParaRPr sz="35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标题分隔线"/>
          <p:cNvSpPr/>
          <p:nvPr/>
        </p:nvSpPr>
        <p:spPr>
          <a:xfrm>
            <a:off x="621792" y="1051560"/>
            <a:ext cx="11109960" cy="18288"/>
          </a:xfrm>
          <a:prstGeom prst="rect">
            <a:avLst/>
          </a:prstGeom>
          <a:gradFill>
            <a:gsLst>
              <a:gs pos="0">
                <a:srgbClr val="3A92D5"/>
              </a:gs>
              <a:gs pos="100000">
                <a:srgbClr val="E3EFF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tongji_wordm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4" y="256032"/>
            <a:ext cx="1554480" cy="385298"/>
          </a:xfrm>
          <a:prstGeom prst="rect">
            <a:avLst/>
          </a:prstGeom>
          <a:effectLst/>
        </p:spPr>
      </p:pic>
      <p:sp>
        <p:nvSpPr>
          <p:cNvPr id="33" name="导入句"/>
          <p:cNvSpPr txBox="1"/>
          <p:nvPr/>
        </p:nvSpPr>
        <p:spPr>
          <a:xfrm>
            <a:off x="621792" y="1271016"/>
            <a:ext cx="10972800" cy="57607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2017年zFAS：把多种感知信息汇聚，形成供多个驾驶辅助功能使用的环境模型。</a:t>
            </a:r>
            <a:endParaRPr sz="20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本页总结背景"/>
          <p:cNvSpPr/>
          <p:nvPr/>
        </p:nvSpPr>
        <p:spPr>
          <a:xfrm>
            <a:off x="585216" y="5852160"/>
            <a:ext cx="11064240" cy="594360"/>
          </a:xfrm>
          <a:prstGeom prst="roundRect">
            <a:avLst>
              <a:gd name="adj" fmla="val 23076"/>
            </a:avLst>
          </a:prstGeom>
          <a:gradFill>
            <a:gsLst>
              <a:gs pos="0">
                <a:srgbClr val="F0F7FE"/>
              </a:gs>
              <a:gs pos="100000">
                <a:srgbClr val="E9F3F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可编辑曲线"/>
          <p:cNvSpPr/>
          <p:nvPr/>
        </p:nvSpPr>
        <p:spPr>
          <a:xfrm>
            <a:off x="907999" y="5990783"/>
            <a:ext cx="310621" cy="133685"/>
          </a:xfrm>
          <a:custGeom>
            <a:avLst/>
            <a:gdLst/>
            <a:ahLst/>
            <a:cxnLst/>
            <a:rect l="l" t="t" r="r" b="b"/>
            <a:pathLst>
              <a:path w="310621" h="133685">
                <a:moveTo>
                  <a:pt x="0" y="133685"/>
                </a:moveTo>
                <a:lnTo>
                  <a:pt x="51115" y="0"/>
                </a:lnTo>
                <a:lnTo>
                  <a:pt x="251643" y="0"/>
                </a:lnTo>
                <a:lnTo>
                  <a:pt x="310621" y="133685"/>
                </a:lnTo>
              </a:path>
            </a:pathLst>
          </a:custGeom>
          <a:noFill/>
          <a:ln w="254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矩形"/>
          <p:cNvSpPr/>
          <p:nvPr/>
        </p:nvSpPr>
        <p:spPr>
          <a:xfrm>
            <a:off x="896203" y="6112672"/>
            <a:ext cx="338145" cy="165140"/>
          </a:xfrm>
          <a:prstGeom prst="roundRect">
            <a:avLst>
              <a:gd name="adj" fmla="val 19047"/>
            </a:avLst>
          </a:prstGeom>
          <a:noFill/>
          <a:ln w="254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连线"/>
          <p:cNvCxnSpPr/>
          <p:nvPr/>
        </p:nvCxnSpPr>
        <p:spPr>
          <a:xfrm>
            <a:off x="915863" y="6120536"/>
            <a:ext cx="302757" cy="0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圆形"/>
          <p:cNvSpPr/>
          <p:nvPr/>
        </p:nvSpPr>
        <p:spPr>
          <a:xfrm>
            <a:off x="935522" y="6171651"/>
            <a:ext cx="51114" cy="5111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圆形"/>
          <p:cNvSpPr/>
          <p:nvPr/>
        </p:nvSpPr>
        <p:spPr>
          <a:xfrm>
            <a:off x="1136050" y="6171651"/>
            <a:ext cx="51114" cy="5111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连线"/>
          <p:cNvCxnSpPr/>
          <p:nvPr/>
        </p:nvCxnSpPr>
        <p:spPr>
          <a:xfrm>
            <a:off x="943386" y="6273881"/>
            <a:ext cx="0" cy="51115"/>
          </a:xfrm>
          <a:prstGeom prst="line">
            <a:avLst/>
          </a:prstGeom>
          <a:ln w="381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连线"/>
          <p:cNvCxnSpPr/>
          <p:nvPr/>
        </p:nvCxnSpPr>
        <p:spPr>
          <a:xfrm>
            <a:off x="1183233" y="6273881"/>
            <a:ext cx="0" cy="51115"/>
          </a:xfrm>
          <a:prstGeom prst="line">
            <a:avLst/>
          </a:prstGeom>
          <a:ln w="381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连线"/>
          <p:cNvCxnSpPr/>
          <p:nvPr/>
        </p:nvCxnSpPr>
        <p:spPr>
          <a:xfrm>
            <a:off x="1435608" y="5943600"/>
            <a:ext cx="0" cy="411480"/>
          </a:xfrm>
          <a:prstGeom prst="line">
            <a:avLst/>
          </a:prstGeom>
          <a:ln w="15875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akeaway"/>
          <p:cNvSpPr txBox="1"/>
          <p:nvPr/>
        </p:nvSpPr>
        <p:spPr>
          <a:xfrm>
            <a:off x="1655064" y="5943600"/>
            <a:ext cx="9692640" cy="44805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域控制的关键，是整合相关功能的计算与数据，而不是简单减少盒子。</a:t>
            </a:r>
            <a:endParaRPr sz="21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731520" y="1965960"/>
            <a:ext cx="2788920" cy="374904"/>
          </a:xfrm>
          <a:prstGeom prst="roundRect">
            <a:avLst>
              <a:gd name="adj" fmla="val 11000"/>
            </a:avLst>
          </a:prstGeom>
          <a:solidFill>
            <a:srgbClr val="EA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77240" y="1997964"/>
            <a:ext cx="2697479" cy="31089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以前：每个功能分别处理信息</a:t>
            </a:r>
            <a:endParaRPr sz="1600" b="1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Rounded Rectangle 90"/>
          <p:cNvSpPr/>
          <p:nvPr/>
        </p:nvSpPr>
        <p:spPr>
          <a:xfrm>
            <a:off x="3877056" y="1965960"/>
            <a:ext cx="7598664" cy="374904"/>
          </a:xfrm>
          <a:prstGeom prst="roundRect">
            <a:avLst>
              <a:gd name="adj" fmla="val 11000"/>
            </a:avLst>
          </a:prstGeom>
          <a:solidFill>
            <a:srgbClr val="E6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922776" y="1997964"/>
            <a:ext cx="7507224" cy="31089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本例：多个功能使用更统一的环境信息</a:t>
            </a:r>
            <a:endParaRPr sz="20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859536" y="2606040"/>
            <a:ext cx="1984248" cy="32918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多源感知</a:t>
            </a:r>
            <a:endParaRPr sz="22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877824" y="3063240"/>
            <a:ext cx="1965960" cy="521207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23544" y="3095244"/>
            <a:ext cx="1874519" cy="457199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摄像头</a:t>
            </a:r>
            <a:endParaRPr sz="20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96" name="Connector 95"/>
          <p:cNvCxnSpPr/>
          <p:nvPr/>
        </p:nvCxnSpPr>
        <p:spPr>
          <a:xfrm>
            <a:off x="2880360" y="3323844"/>
            <a:ext cx="448056" cy="0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3328416" y="3323844"/>
            <a:ext cx="0" cy="726947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3328416" y="4050791"/>
            <a:ext cx="621792" cy="0"/>
          </a:xfrm>
          <a:prstGeom prst="line">
            <a:avLst/>
          </a:prstGeom>
          <a:ln w="21590" cap="rnd">
            <a:solidFill>
              <a:srgbClr val="146FB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ounded Rectangle 98"/>
          <p:cNvSpPr/>
          <p:nvPr/>
        </p:nvSpPr>
        <p:spPr>
          <a:xfrm>
            <a:off x="877824" y="3877056"/>
            <a:ext cx="1965960" cy="521207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23544" y="3909060"/>
            <a:ext cx="1874519" cy="457199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雷达</a:t>
            </a:r>
            <a:endParaRPr sz="20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1" name="Connector 100"/>
          <p:cNvCxnSpPr/>
          <p:nvPr/>
        </p:nvCxnSpPr>
        <p:spPr>
          <a:xfrm>
            <a:off x="2880360" y="4137660"/>
            <a:ext cx="448056" cy="0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3328416" y="4050791"/>
            <a:ext cx="0" cy="86869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ounded Rectangle 103"/>
          <p:cNvSpPr/>
          <p:nvPr/>
        </p:nvSpPr>
        <p:spPr>
          <a:xfrm>
            <a:off x="877824" y="4690872"/>
            <a:ext cx="1965960" cy="521207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23544" y="4722876"/>
            <a:ext cx="1874519" cy="457199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其他传感信息</a:t>
            </a:r>
            <a:endParaRPr sz="20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6" name="Connector 105"/>
          <p:cNvCxnSpPr/>
          <p:nvPr/>
        </p:nvCxnSpPr>
        <p:spPr>
          <a:xfrm>
            <a:off x="2880360" y="4951476"/>
            <a:ext cx="448056" cy="0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3328416" y="4050791"/>
            <a:ext cx="0" cy="900685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ounded Rectangle 108"/>
          <p:cNvSpPr/>
          <p:nvPr/>
        </p:nvSpPr>
        <p:spPr>
          <a:xfrm>
            <a:off x="3977639" y="2990088"/>
            <a:ext cx="4114800" cy="2221992"/>
          </a:xfrm>
          <a:prstGeom prst="roundRect">
            <a:avLst>
              <a:gd name="adj" fmla="val 11000"/>
            </a:avLst>
          </a:prstGeom>
          <a:solidFill>
            <a:srgbClr val="E6F1FD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4376318" y="3433572"/>
            <a:ext cx="416051" cy="416051"/>
          </a:xfrm>
          <a:prstGeom prst="rect">
            <a:avLst/>
          </a:prstGeom>
          <a:noFill/>
          <a:ln w="2286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4465929" y="3523183"/>
            <a:ext cx="236829" cy="236829"/>
          </a:xfrm>
          <a:prstGeom prst="rect">
            <a:avLst/>
          </a:prstGeom>
          <a:solidFill>
            <a:srgbClr val="E6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2" name="Connector 111"/>
          <p:cNvCxnSpPr/>
          <p:nvPr/>
        </p:nvCxnSpPr>
        <p:spPr>
          <a:xfrm>
            <a:off x="4427524" y="3350361"/>
            <a:ext cx="0" cy="70409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4427524" y="3862425"/>
            <a:ext cx="0" cy="70409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4293108" y="3503980"/>
            <a:ext cx="70408" cy="0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4805172" y="3503980"/>
            <a:ext cx="70408" cy="0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4517136" y="3350361"/>
            <a:ext cx="0" cy="70409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4517136" y="3862425"/>
            <a:ext cx="0" cy="70409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4293108" y="3593591"/>
            <a:ext cx="70408" cy="0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4805172" y="3593591"/>
            <a:ext cx="70408" cy="0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4606747" y="3350361"/>
            <a:ext cx="0" cy="70409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4606747" y="3862425"/>
            <a:ext cx="0" cy="70409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4293108" y="3683203"/>
            <a:ext cx="70408" cy="0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4805172" y="3683203"/>
            <a:ext cx="70408" cy="0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4696358" y="3350361"/>
            <a:ext cx="0" cy="70409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4696358" y="3862425"/>
            <a:ext cx="0" cy="70409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4293108" y="3772814"/>
            <a:ext cx="70408" cy="0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4805172" y="3772814"/>
            <a:ext cx="70408" cy="0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5001768" y="3337560"/>
            <a:ext cx="2834640" cy="45720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zFAS</a:t>
            </a:r>
            <a:endParaRPr sz="32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4270248" y="4087368"/>
            <a:ext cx="3511296" cy="42976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汇聚数据，形成环境模型</a:t>
            </a:r>
            <a:endParaRPr sz="21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4315968" y="4681728"/>
            <a:ext cx="3456432" cy="32004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中央驾驶辅助控制器</a:t>
            </a:r>
            <a:endParaRPr sz="19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31" name="Connector 130"/>
          <p:cNvCxnSpPr/>
          <p:nvPr/>
        </p:nvCxnSpPr>
        <p:spPr>
          <a:xfrm>
            <a:off x="8129016" y="4050791"/>
            <a:ext cx="374904" cy="0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8503920" y="3323844"/>
            <a:ext cx="0" cy="726947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503920" y="3323844"/>
            <a:ext cx="530352" cy="0"/>
          </a:xfrm>
          <a:prstGeom prst="line">
            <a:avLst/>
          </a:prstGeom>
          <a:ln w="21590" cap="rnd">
            <a:solidFill>
              <a:srgbClr val="146FB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Rounded Rectangle 133"/>
          <p:cNvSpPr/>
          <p:nvPr/>
        </p:nvSpPr>
        <p:spPr>
          <a:xfrm>
            <a:off x="9061704" y="3063240"/>
            <a:ext cx="2286000" cy="521207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9107424" y="3095244"/>
            <a:ext cx="2194560" cy="457199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驾驶辅助</a:t>
            </a:r>
            <a:endParaRPr sz="20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37" name="Connector 136"/>
          <p:cNvCxnSpPr/>
          <p:nvPr/>
        </p:nvCxnSpPr>
        <p:spPr>
          <a:xfrm>
            <a:off x="8503920" y="4050791"/>
            <a:ext cx="0" cy="86869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8503920" y="4137660"/>
            <a:ext cx="530352" cy="0"/>
          </a:xfrm>
          <a:prstGeom prst="line">
            <a:avLst/>
          </a:prstGeom>
          <a:ln w="21590" cap="rnd">
            <a:solidFill>
              <a:srgbClr val="146FB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Rounded Rectangle 138"/>
          <p:cNvSpPr/>
          <p:nvPr/>
        </p:nvSpPr>
        <p:spPr>
          <a:xfrm>
            <a:off x="9061704" y="3877056"/>
            <a:ext cx="2286000" cy="521207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9107424" y="3909060"/>
            <a:ext cx="2194560" cy="457199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泊车辅助</a:t>
            </a:r>
            <a:endParaRPr sz="20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42" name="Connector 141"/>
          <p:cNvCxnSpPr/>
          <p:nvPr/>
        </p:nvCxnSpPr>
        <p:spPr>
          <a:xfrm>
            <a:off x="8503920" y="4050791"/>
            <a:ext cx="0" cy="900685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8503920" y="4951476"/>
            <a:ext cx="530352" cy="0"/>
          </a:xfrm>
          <a:prstGeom prst="line">
            <a:avLst/>
          </a:prstGeom>
          <a:ln w="21590" cap="rnd">
            <a:solidFill>
              <a:srgbClr val="146FB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Rounded Rectangle 143"/>
          <p:cNvSpPr/>
          <p:nvPr/>
        </p:nvSpPr>
        <p:spPr>
          <a:xfrm>
            <a:off x="9061704" y="4690872"/>
            <a:ext cx="2286000" cy="521207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9107424" y="4722876"/>
            <a:ext cx="2194560" cy="457199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底盘相关协同</a:t>
            </a:r>
            <a:endParaRPr sz="20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9070848" y="2606040"/>
            <a:ext cx="2286000" cy="32918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多个功能共享</a:t>
            </a:r>
            <a:endParaRPr sz="22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859536" y="5431536"/>
            <a:ext cx="10652760" cy="28346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简化数据关系图：不是全车只剩zFAS；原系统还包含雷达控制单元等协同与冗余设计。</a:t>
            </a:r>
            <a:endParaRPr sz="155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" name="白色背景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右下角淡蓝装饰"/>
          <p:cNvSpPr/>
          <p:nvPr/>
        </p:nvSpPr>
        <p:spPr>
          <a:xfrm>
            <a:off x="10774679" y="5440680"/>
            <a:ext cx="1417320" cy="1417320"/>
          </a:xfrm>
          <a:custGeom>
            <a:avLst/>
            <a:gdLst/>
            <a:ahLst/>
            <a:cxnLst/>
            <a:rect l="l" t="t" r="r" b="b"/>
            <a:pathLst>
              <a:path w="1417320" h="1417320">
                <a:moveTo>
                  <a:pt x="1417320" y="1417320"/>
                </a:moveTo>
                <a:lnTo>
                  <a:pt x="0" y="1417320"/>
                </a:lnTo>
                <a:lnTo>
                  <a:pt x="700" y="1372800"/>
                </a:lnTo>
                <a:lnTo>
                  <a:pt x="2797" y="1328325"/>
                </a:lnTo>
                <a:lnTo>
                  <a:pt x="6290" y="1283938"/>
                </a:lnTo>
                <a:lnTo>
                  <a:pt x="11176" y="1239682"/>
                </a:lnTo>
                <a:lnTo>
                  <a:pt x="17450" y="1195602"/>
                </a:lnTo>
                <a:lnTo>
                  <a:pt x="25105" y="1151740"/>
                </a:lnTo>
                <a:lnTo>
                  <a:pt x="34134" y="1108141"/>
                </a:lnTo>
                <a:lnTo>
                  <a:pt x="44528" y="1064846"/>
                </a:lnTo>
                <a:lnTo>
                  <a:pt x="56277" y="1021900"/>
                </a:lnTo>
                <a:lnTo>
                  <a:pt x="69369" y="979344"/>
                </a:lnTo>
                <a:lnTo>
                  <a:pt x="83791" y="937219"/>
                </a:lnTo>
                <a:lnTo>
                  <a:pt x="99529" y="895569"/>
                </a:lnTo>
                <a:lnTo>
                  <a:pt x="116568" y="854434"/>
                </a:lnTo>
                <a:lnTo>
                  <a:pt x="134891" y="813854"/>
                </a:lnTo>
                <a:lnTo>
                  <a:pt x="154479" y="773870"/>
                </a:lnTo>
                <a:lnTo>
                  <a:pt x="175313" y="734520"/>
                </a:lnTo>
                <a:lnTo>
                  <a:pt x="197373" y="695845"/>
                </a:lnTo>
                <a:lnTo>
                  <a:pt x="220637" y="657881"/>
                </a:lnTo>
                <a:lnTo>
                  <a:pt x="245082" y="620667"/>
                </a:lnTo>
                <a:lnTo>
                  <a:pt x="270684" y="584240"/>
                </a:lnTo>
                <a:lnTo>
                  <a:pt x="297418" y="548634"/>
                </a:lnTo>
                <a:lnTo>
                  <a:pt x="325256" y="513886"/>
                </a:lnTo>
                <a:lnTo>
                  <a:pt x="354173" y="480029"/>
                </a:lnTo>
                <a:lnTo>
                  <a:pt x="384138" y="447097"/>
                </a:lnTo>
                <a:lnTo>
                  <a:pt x="415124" y="415123"/>
                </a:lnTo>
                <a:lnTo>
                  <a:pt x="447098" y="384138"/>
                </a:lnTo>
                <a:lnTo>
                  <a:pt x="480030" y="354172"/>
                </a:lnTo>
                <a:lnTo>
                  <a:pt x="513886" y="325256"/>
                </a:lnTo>
                <a:lnTo>
                  <a:pt x="548635" y="297417"/>
                </a:lnTo>
                <a:lnTo>
                  <a:pt x="584240" y="270684"/>
                </a:lnTo>
                <a:lnTo>
                  <a:pt x="620668" y="245082"/>
                </a:lnTo>
                <a:lnTo>
                  <a:pt x="657882" y="220637"/>
                </a:lnTo>
                <a:lnTo>
                  <a:pt x="695846" y="197373"/>
                </a:lnTo>
                <a:lnTo>
                  <a:pt x="734521" y="175313"/>
                </a:lnTo>
                <a:lnTo>
                  <a:pt x="773870" y="154478"/>
                </a:lnTo>
                <a:lnTo>
                  <a:pt x="813855" y="134890"/>
                </a:lnTo>
                <a:lnTo>
                  <a:pt x="854435" y="116568"/>
                </a:lnTo>
                <a:lnTo>
                  <a:pt x="895570" y="99529"/>
                </a:lnTo>
                <a:lnTo>
                  <a:pt x="937220" y="83790"/>
                </a:lnTo>
                <a:lnTo>
                  <a:pt x="979344" y="69368"/>
                </a:lnTo>
                <a:lnTo>
                  <a:pt x="1021901" y="56276"/>
                </a:lnTo>
                <a:lnTo>
                  <a:pt x="1064847" y="44527"/>
                </a:lnTo>
                <a:lnTo>
                  <a:pt x="1108141" y="34133"/>
                </a:lnTo>
                <a:lnTo>
                  <a:pt x="1151741" y="25104"/>
                </a:lnTo>
                <a:lnTo>
                  <a:pt x="1195602" y="17449"/>
                </a:lnTo>
                <a:lnTo>
                  <a:pt x="1239683" y="11175"/>
                </a:lnTo>
                <a:lnTo>
                  <a:pt x="1283939" y="6290"/>
                </a:lnTo>
                <a:lnTo>
                  <a:pt x="1328326" y="2796"/>
                </a:lnTo>
                <a:lnTo>
                  <a:pt x="1372801" y="699"/>
                </a:lnTo>
                <a:lnTo>
                  <a:pt x="1417320" y="0"/>
                </a:lnTo>
                <a:lnTo>
                  <a:pt x="1417320" y="1417320"/>
                </a:lnTo>
                <a:close/>
              </a:path>
            </a:pathLst>
          </a:custGeom>
          <a:solidFill>
            <a:srgbClr val="F4F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右下角淡蓝装饰"/>
          <p:cNvSpPr/>
          <p:nvPr/>
        </p:nvSpPr>
        <p:spPr>
          <a:xfrm>
            <a:off x="11076431" y="5742432"/>
            <a:ext cx="1115568" cy="1115568"/>
          </a:xfrm>
          <a:custGeom>
            <a:avLst/>
            <a:gdLst/>
            <a:ahLst/>
            <a:cxnLst/>
            <a:rect l="l" t="t" r="r" b="b"/>
            <a:pathLst>
              <a:path w="1115568" h="1115568">
                <a:moveTo>
                  <a:pt x="1115568" y="1115568"/>
                </a:moveTo>
                <a:lnTo>
                  <a:pt x="0" y="1115568"/>
                </a:lnTo>
                <a:lnTo>
                  <a:pt x="551" y="1080527"/>
                </a:lnTo>
                <a:lnTo>
                  <a:pt x="2202" y="1045520"/>
                </a:lnTo>
                <a:lnTo>
                  <a:pt x="4951" y="1010583"/>
                </a:lnTo>
                <a:lnTo>
                  <a:pt x="8797" y="975750"/>
                </a:lnTo>
                <a:lnTo>
                  <a:pt x="13735" y="941054"/>
                </a:lnTo>
                <a:lnTo>
                  <a:pt x="19760" y="906531"/>
                </a:lnTo>
                <a:lnTo>
                  <a:pt x="26867" y="872214"/>
                </a:lnTo>
                <a:lnTo>
                  <a:pt x="35048" y="838137"/>
                </a:lnTo>
                <a:lnTo>
                  <a:pt x="44295" y="804334"/>
                </a:lnTo>
                <a:lnTo>
                  <a:pt x="54600" y="770838"/>
                </a:lnTo>
                <a:lnTo>
                  <a:pt x="65952" y="737682"/>
                </a:lnTo>
                <a:lnTo>
                  <a:pt x="78339" y="704900"/>
                </a:lnTo>
                <a:lnTo>
                  <a:pt x="91751" y="672522"/>
                </a:lnTo>
                <a:lnTo>
                  <a:pt x="106172" y="640582"/>
                </a:lnTo>
                <a:lnTo>
                  <a:pt x="121590" y="609110"/>
                </a:lnTo>
                <a:lnTo>
                  <a:pt x="137989" y="578139"/>
                </a:lnTo>
                <a:lnTo>
                  <a:pt x="155352" y="547697"/>
                </a:lnTo>
                <a:lnTo>
                  <a:pt x="173663" y="517816"/>
                </a:lnTo>
                <a:lnTo>
                  <a:pt x="192904" y="488525"/>
                </a:lnTo>
                <a:lnTo>
                  <a:pt x="213055" y="459853"/>
                </a:lnTo>
                <a:lnTo>
                  <a:pt x="234097" y="431828"/>
                </a:lnTo>
                <a:lnTo>
                  <a:pt x="256008" y="404478"/>
                </a:lnTo>
                <a:lnTo>
                  <a:pt x="278768" y="377829"/>
                </a:lnTo>
                <a:lnTo>
                  <a:pt x="302354" y="351909"/>
                </a:lnTo>
                <a:lnTo>
                  <a:pt x="326742" y="326742"/>
                </a:lnTo>
                <a:lnTo>
                  <a:pt x="351909" y="302353"/>
                </a:lnTo>
                <a:lnTo>
                  <a:pt x="377830" y="278768"/>
                </a:lnTo>
                <a:lnTo>
                  <a:pt x="404478" y="256008"/>
                </a:lnTo>
                <a:lnTo>
                  <a:pt x="431829" y="234096"/>
                </a:lnTo>
                <a:lnTo>
                  <a:pt x="459854" y="213054"/>
                </a:lnTo>
                <a:lnTo>
                  <a:pt x="488526" y="192903"/>
                </a:lnTo>
                <a:lnTo>
                  <a:pt x="517817" y="173662"/>
                </a:lnTo>
                <a:lnTo>
                  <a:pt x="547698" y="155351"/>
                </a:lnTo>
                <a:lnTo>
                  <a:pt x="578139" y="137988"/>
                </a:lnTo>
                <a:lnTo>
                  <a:pt x="609111" y="121589"/>
                </a:lnTo>
                <a:lnTo>
                  <a:pt x="640582" y="106171"/>
                </a:lnTo>
                <a:lnTo>
                  <a:pt x="672523" y="91750"/>
                </a:lnTo>
                <a:lnTo>
                  <a:pt x="704900" y="78339"/>
                </a:lnTo>
                <a:lnTo>
                  <a:pt x="737683" y="65951"/>
                </a:lnTo>
                <a:lnTo>
                  <a:pt x="770839" y="54599"/>
                </a:lnTo>
                <a:lnTo>
                  <a:pt x="804335" y="44295"/>
                </a:lnTo>
                <a:lnTo>
                  <a:pt x="838138" y="35047"/>
                </a:lnTo>
                <a:lnTo>
                  <a:pt x="872215" y="26866"/>
                </a:lnTo>
                <a:lnTo>
                  <a:pt x="906532" y="19759"/>
                </a:lnTo>
                <a:lnTo>
                  <a:pt x="941055" y="13734"/>
                </a:lnTo>
                <a:lnTo>
                  <a:pt x="975750" y="8796"/>
                </a:lnTo>
                <a:lnTo>
                  <a:pt x="1010584" y="4950"/>
                </a:lnTo>
                <a:lnTo>
                  <a:pt x="1045521" y="2201"/>
                </a:lnTo>
                <a:lnTo>
                  <a:pt x="1080527" y="550"/>
                </a:lnTo>
                <a:lnTo>
                  <a:pt x="1115568" y="0"/>
                </a:lnTo>
                <a:lnTo>
                  <a:pt x="1115568" y="1115568"/>
                </a:lnTo>
                <a:close/>
              </a:path>
            </a:pathLst>
          </a:custGeom>
          <a:solidFill>
            <a:srgbClr val="F8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圆形"/>
          <p:cNvSpPr/>
          <p:nvPr/>
        </p:nvSpPr>
        <p:spPr>
          <a:xfrm>
            <a:off x="1038758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圆形"/>
          <p:cNvSpPr/>
          <p:nvPr/>
        </p:nvSpPr>
        <p:spPr>
          <a:xfrm>
            <a:off x="1038758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圆形"/>
          <p:cNvSpPr/>
          <p:nvPr/>
        </p:nvSpPr>
        <p:spPr>
          <a:xfrm>
            <a:off x="1038758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圆形"/>
          <p:cNvSpPr/>
          <p:nvPr/>
        </p:nvSpPr>
        <p:spPr>
          <a:xfrm>
            <a:off x="1055217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圆形"/>
          <p:cNvSpPr/>
          <p:nvPr/>
        </p:nvSpPr>
        <p:spPr>
          <a:xfrm>
            <a:off x="1055217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圆形"/>
          <p:cNvSpPr/>
          <p:nvPr/>
        </p:nvSpPr>
        <p:spPr>
          <a:xfrm>
            <a:off x="1055217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圆形"/>
          <p:cNvSpPr/>
          <p:nvPr/>
        </p:nvSpPr>
        <p:spPr>
          <a:xfrm>
            <a:off x="10716767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圆形"/>
          <p:cNvSpPr/>
          <p:nvPr/>
        </p:nvSpPr>
        <p:spPr>
          <a:xfrm>
            <a:off x="10716767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圆形"/>
          <p:cNvSpPr/>
          <p:nvPr/>
        </p:nvSpPr>
        <p:spPr>
          <a:xfrm>
            <a:off x="10716767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圆形"/>
          <p:cNvSpPr/>
          <p:nvPr/>
        </p:nvSpPr>
        <p:spPr>
          <a:xfrm>
            <a:off x="10881359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圆形"/>
          <p:cNvSpPr/>
          <p:nvPr/>
        </p:nvSpPr>
        <p:spPr>
          <a:xfrm>
            <a:off x="10881359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圆形"/>
          <p:cNvSpPr/>
          <p:nvPr/>
        </p:nvSpPr>
        <p:spPr>
          <a:xfrm>
            <a:off x="10881359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圆形"/>
          <p:cNvSpPr/>
          <p:nvPr/>
        </p:nvSpPr>
        <p:spPr>
          <a:xfrm>
            <a:off x="11045952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圆形"/>
          <p:cNvSpPr/>
          <p:nvPr/>
        </p:nvSpPr>
        <p:spPr>
          <a:xfrm>
            <a:off x="11045952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圆形"/>
          <p:cNvSpPr/>
          <p:nvPr/>
        </p:nvSpPr>
        <p:spPr>
          <a:xfrm>
            <a:off x="11045952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圆形"/>
          <p:cNvSpPr/>
          <p:nvPr/>
        </p:nvSpPr>
        <p:spPr>
          <a:xfrm>
            <a:off x="1121054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圆形"/>
          <p:cNvSpPr/>
          <p:nvPr/>
        </p:nvSpPr>
        <p:spPr>
          <a:xfrm>
            <a:off x="1121054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圆形"/>
          <p:cNvSpPr/>
          <p:nvPr/>
        </p:nvSpPr>
        <p:spPr>
          <a:xfrm>
            <a:off x="1121054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圆形"/>
          <p:cNvSpPr/>
          <p:nvPr/>
        </p:nvSpPr>
        <p:spPr>
          <a:xfrm>
            <a:off x="1137513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圆形"/>
          <p:cNvSpPr/>
          <p:nvPr/>
        </p:nvSpPr>
        <p:spPr>
          <a:xfrm>
            <a:off x="1137513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圆形"/>
          <p:cNvSpPr/>
          <p:nvPr/>
        </p:nvSpPr>
        <p:spPr>
          <a:xfrm>
            <a:off x="1137513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圆形"/>
          <p:cNvSpPr/>
          <p:nvPr/>
        </p:nvSpPr>
        <p:spPr>
          <a:xfrm>
            <a:off x="11539728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圆形"/>
          <p:cNvSpPr/>
          <p:nvPr/>
        </p:nvSpPr>
        <p:spPr>
          <a:xfrm>
            <a:off x="11539728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圆形"/>
          <p:cNvSpPr/>
          <p:nvPr/>
        </p:nvSpPr>
        <p:spPr>
          <a:xfrm>
            <a:off x="11539728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标题蓝色竖线"/>
          <p:cNvSpPr/>
          <p:nvPr/>
        </p:nvSpPr>
        <p:spPr>
          <a:xfrm>
            <a:off x="274320" y="356616"/>
            <a:ext cx="109728" cy="585216"/>
          </a:xfrm>
          <a:prstGeom prst="roundRect">
            <a:avLst>
              <a:gd name="adj" fmla="val 41666"/>
            </a:avLst>
          </a:prstGeom>
          <a:gradFill>
            <a:gsLst>
              <a:gs pos="0">
                <a:srgbClr val="3A92D5"/>
              </a:gs>
              <a:gs pos="100000">
                <a:srgbClr val="146FB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标题"/>
          <p:cNvSpPr txBox="1"/>
          <p:nvPr/>
        </p:nvSpPr>
        <p:spPr>
          <a:xfrm>
            <a:off x="621792" y="301752"/>
            <a:ext cx="9390888" cy="64922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特斯拉Model 3：集中与分布并存</a:t>
            </a:r>
            <a:endParaRPr sz="35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标题分隔线"/>
          <p:cNvSpPr/>
          <p:nvPr/>
        </p:nvSpPr>
        <p:spPr>
          <a:xfrm>
            <a:off x="621792" y="1051560"/>
            <a:ext cx="11109960" cy="18288"/>
          </a:xfrm>
          <a:prstGeom prst="rect">
            <a:avLst/>
          </a:prstGeom>
          <a:gradFill>
            <a:gsLst>
              <a:gs pos="0">
                <a:srgbClr val="3A92D5"/>
              </a:gs>
              <a:gs pos="100000">
                <a:srgbClr val="E3EFF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tongji_wordm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4" y="256032"/>
            <a:ext cx="1554480" cy="385298"/>
          </a:xfrm>
          <a:prstGeom prst="rect">
            <a:avLst/>
          </a:prstGeom>
          <a:effectLst/>
        </p:spPr>
      </p:pic>
      <p:sp>
        <p:nvSpPr>
          <p:cNvPr id="33" name="导入句"/>
          <p:cNvSpPr txBox="1"/>
          <p:nvPr/>
        </p:nvSpPr>
        <p:spPr>
          <a:xfrm>
            <a:off x="621792" y="1271016"/>
            <a:ext cx="10972800" cy="57607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依据2017—2023版维修资料，看车载电脑与前、左、右车辆控制器的不同位置。</a:t>
            </a:r>
            <a:endParaRPr sz="20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本页总结背景"/>
          <p:cNvSpPr/>
          <p:nvPr/>
        </p:nvSpPr>
        <p:spPr>
          <a:xfrm>
            <a:off x="585216" y="5852160"/>
            <a:ext cx="11064240" cy="594360"/>
          </a:xfrm>
          <a:prstGeom prst="roundRect">
            <a:avLst>
              <a:gd name="adj" fmla="val 23076"/>
            </a:avLst>
          </a:prstGeom>
          <a:gradFill>
            <a:gsLst>
              <a:gs pos="0">
                <a:srgbClr val="F0F7FE"/>
              </a:gs>
              <a:gs pos="100000">
                <a:srgbClr val="E9F3F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可编辑曲线"/>
          <p:cNvSpPr/>
          <p:nvPr/>
        </p:nvSpPr>
        <p:spPr>
          <a:xfrm>
            <a:off x="907999" y="5990783"/>
            <a:ext cx="310621" cy="133685"/>
          </a:xfrm>
          <a:custGeom>
            <a:avLst/>
            <a:gdLst/>
            <a:ahLst/>
            <a:cxnLst/>
            <a:rect l="l" t="t" r="r" b="b"/>
            <a:pathLst>
              <a:path w="310621" h="133685">
                <a:moveTo>
                  <a:pt x="0" y="133685"/>
                </a:moveTo>
                <a:lnTo>
                  <a:pt x="51115" y="0"/>
                </a:lnTo>
                <a:lnTo>
                  <a:pt x="251643" y="0"/>
                </a:lnTo>
                <a:lnTo>
                  <a:pt x="310621" y="133685"/>
                </a:lnTo>
              </a:path>
            </a:pathLst>
          </a:custGeom>
          <a:noFill/>
          <a:ln w="254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矩形"/>
          <p:cNvSpPr/>
          <p:nvPr/>
        </p:nvSpPr>
        <p:spPr>
          <a:xfrm>
            <a:off x="896203" y="6112672"/>
            <a:ext cx="338145" cy="165140"/>
          </a:xfrm>
          <a:prstGeom prst="roundRect">
            <a:avLst>
              <a:gd name="adj" fmla="val 19047"/>
            </a:avLst>
          </a:prstGeom>
          <a:noFill/>
          <a:ln w="254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连线"/>
          <p:cNvCxnSpPr/>
          <p:nvPr/>
        </p:nvCxnSpPr>
        <p:spPr>
          <a:xfrm>
            <a:off x="915863" y="6120536"/>
            <a:ext cx="302757" cy="0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圆形"/>
          <p:cNvSpPr/>
          <p:nvPr/>
        </p:nvSpPr>
        <p:spPr>
          <a:xfrm>
            <a:off x="935522" y="6171651"/>
            <a:ext cx="51114" cy="5111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圆形"/>
          <p:cNvSpPr/>
          <p:nvPr/>
        </p:nvSpPr>
        <p:spPr>
          <a:xfrm>
            <a:off x="1136050" y="6171651"/>
            <a:ext cx="51114" cy="5111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连线"/>
          <p:cNvCxnSpPr/>
          <p:nvPr/>
        </p:nvCxnSpPr>
        <p:spPr>
          <a:xfrm>
            <a:off x="943386" y="6273881"/>
            <a:ext cx="0" cy="51115"/>
          </a:xfrm>
          <a:prstGeom prst="line">
            <a:avLst/>
          </a:prstGeom>
          <a:ln w="381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连线"/>
          <p:cNvCxnSpPr/>
          <p:nvPr/>
        </p:nvCxnSpPr>
        <p:spPr>
          <a:xfrm>
            <a:off x="1183233" y="6273881"/>
            <a:ext cx="0" cy="51115"/>
          </a:xfrm>
          <a:prstGeom prst="line">
            <a:avLst/>
          </a:prstGeom>
          <a:ln w="381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连线"/>
          <p:cNvCxnSpPr/>
          <p:nvPr/>
        </p:nvCxnSpPr>
        <p:spPr>
          <a:xfrm>
            <a:off x="1435608" y="5943600"/>
            <a:ext cx="0" cy="411480"/>
          </a:xfrm>
          <a:prstGeom prst="line">
            <a:avLst/>
          </a:prstGeom>
          <a:ln w="15875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akeaway"/>
          <p:cNvSpPr txBox="1"/>
          <p:nvPr/>
        </p:nvSpPr>
        <p:spPr>
          <a:xfrm>
            <a:off x="1655064" y="5943600"/>
            <a:ext cx="9692640" cy="44805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更集中的计算，不等于取消车身各处的控制器。</a:t>
            </a:r>
            <a:endParaRPr sz="21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694944" y="1965960"/>
            <a:ext cx="6693408" cy="3602736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14400" y="2103120"/>
            <a:ext cx="6236208" cy="33832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不是“全车仅三个ECU”</a:t>
            </a:r>
            <a:endParaRPr sz="19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Rounded Rectangle 90"/>
          <p:cNvSpPr/>
          <p:nvPr/>
        </p:nvSpPr>
        <p:spPr>
          <a:xfrm>
            <a:off x="1042415" y="2688336"/>
            <a:ext cx="5925312" cy="2295144"/>
          </a:xfrm>
          <a:prstGeom prst="roundRect">
            <a:avLst>
              <a:gd name="adj" fmla="val 11000"/>
            </a:avLst>
          </a:prstGeom>
          <a:solidFill>
            <a:srgbClr val="F1F7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1508760" y="2560320"/>
            <a:ext cx="667512" cy="210312"/>
          </a:xfrm>
          <a:prstGeom prst="roundRect">
            <a:avLst>
              <a:gd name="adj" fmla="val 11000"/>
            </a:avLst>
          </a:prstGeom>
          <a:solidFill>
            <a:srgbClr val="103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1508760" y="4892040"/>
            <a:ext cx="667512" cy="210312"/>
          </a:xfrm>
          <a:prstGeom prst="roundRect">
            <a:avLst>
              <a:gd name="adj" fmla="val 11000"/>
            </a:avLst>
          </a:prstGeom>
          <a:solidFill>
            <a:srgbClr val="103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5751576" y="2560320"/>
            <a:ext cx="667512" cy="210312"/>
          </a:xfrm>
          <a:prstGeom prst="roundRect">
            <a:avLst>
              <a:gd name="adj" fmla="val 11000"/>
            </a:avLst>
          </a:prstGeom>
          <a:solidFill>
            <a:srgbClr val="103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5751576" y="4892040"/>
            <a:ext cx="667512" cy="210312"/>
          </a:xfrm>
          <a:prstGeom prst="roundRect">
            <a:avLst>
              <a:gd name="adj" fmla="val 11000"/>
            </a:avLst>
          </a:prstGeom>
          <a:solidFill>
            <a:srgbClr val="103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1335024" y="3429000"/>
            <a:ext cx="1563624" cy="630936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380744" y="3461004"/>
            <a:ext cx="1472184" cy="566927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VCFRONT</a:t>
            </a:r>
            <a:endParaRPr sz="17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前车辆控制器</a:t>
            </a:r>
            <a:endParaRPr sz="17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Rounded Rectangle 97"/>
          <p:cNvSpPr/>
          <p:nvPr/>
        </p:nvSpPr>
        <p:spPr>
          <a:xfrm>
            <a:off x="3374136" y="2889504"/>
            <a:ext cx="1856231" cy="603504"/>
          </a:xfrm>
          <a:prstGeom prst="roundRect">
            <a:avLst>
              <a:gd name="adj" fmla="val 11000"/>
            </a:avLst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419856" y="2921508"/>
            <a:ext cx="1764791" cy="53949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Car Computer</a:t>
            </a:r>
            <a:endParaRPr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车载电脑</a:t>
            </a:r>
            <a:endParaRPr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Rounded Rectangle 99"/>
          <p:cNvSpPr/>
          <p:nvPr/>
        </p:nvSpPr>
        <p:spPr>
          <a:xfrm>
            <a:off x="3163824" y="4069080"/>
            <a:ext cx="1463040" cy="59436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209544" y="4101084"/>
            <a:ext cx="1371600" cy="53035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VCLEFT</a:t>
            </a:r>
            <a:endParaRPr sz="17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左车辆控制器</a:t>
            </a:r>
            <a:endParaRPr sz="17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Rounded Rectangle 101"/>
          <p:cNvSpPr/>
          <p:nvPr/>
        </p:nvSpPr>
        <p:spPr>
          <a:xfrm>
            <a:off x="5120640" y="4069080"/>
            <a:ext cx="1463040" cy="59436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166359" y="4101084"/>
            <a:ext cx="1371600" cy="53035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VCRIGHT</a:t>
            </a:r>
            <a:endParaRPr sz="17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右车辆控制器</a:t>
            </a:r>
            <a:endParaRPr sz="17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4" name="Connector 103"/>
          <p:cNvCxnSpPr/>
          <p:nvPr/>
        </p:nvCxnSpPr>
        <p:spPr>
          <a:xfrm>
            <a:off x="2935224" y="3749039"/>
            <a:ext cx="1389888" cy="0"/>
          </a:xfrm>
          <a:prstGeom prst="line">
            <a:avLst/>
          </a:prstGeom>
          <a:ln w="21590" cap="rnd">
            <a:solidFill>
              <a:srgbClr val="8195A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4325112" y="3520440"/>
            <a:ext cx="0" cy="228599"/>
          </a:xfrm>
          <a:prstGeom prst="line">
            <a:avLst/>
          </a:prstGeom>
          <a:ln w="21590" cap="rnd">
            <a:solidFill>
              <a:srgbClr val="8195A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3895344" y="3749039"/>
            <a:ext cx="429768" cy="283465"/>
          </a:xfrm>
          <a:prstGeom prst="line">
            <a:avLst/>
          </a:prstGeom>
          <a:ln w="21590" cap="rnd">
            <a:solidFill>
              <a:srgbClr val="8195A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H="1" flipV="1">
            <a:off x="4325112" y="3749039"/>
            <a:ext cx="1527048" cy="283465"/>
          </a:xfrm>
          <a:prstGeom prst="line">
            <a:avLst/>
          </a:prstGeom>
          <a:ln w="21590" cap="rnd">
            <a:solidFill>
              <a:srgbClr val="8195A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ounded Rectangle 108"/>
          <p:cNvSpPr/>
          <p:nvPr/>
        </p:nvSpPr>
        <p:spPr>
          <a:xfrm>
            <a:off x="7644383" y="1965960"/>
            <a:ext cx="3904487" cy="1380744"/>
          </a:xfrm>
          <a:prstGeom prst="roundRect">
            <a:avLst>
              <a:gd name="adj" fmla="val 11000"/>
            </a:avLst>
          </a:prstGeom>
          <a:solidFill>
            <a:srgbClr val="E6F1FD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863840" y="2112264"/>
            <a:ext cx="3474720" cy="35661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功能域 Domain</a:t>
            </a:r>
            <a:endParaRPr sz="23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7882127" y="2587752"/>
            <a:ext cx="3419856" cy="59436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按“做什么”组织</a:t>
            </a:r>
            <a:endParaRPr sz="20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例如驾驶辅助、座舱等功能</a:t>
            </a:r>
            <a:endParaRPr sz="20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7644383" y="3566160"/>
            <a:ext cx="3904487" cy="1380744"/>
          </a:xfrm>
          <a:prstGeom prst="roundRect">
            <a:avLst>
              <a:gd name="adj" fmla="val 11000"/>
            </a:avLst>
          </a:prstGeom>
          <a:solidFill>
            <a:srgbClr val="F1F7FE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863840" y="3712463"/>
            <a:ext cx="3474720" cy="35661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区域 Zone</a:t>
            </a:r>
            <a:endParaRPr sz="23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7882127" y="4197096"/>
            <a:ext cx="3419856" cy="58521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按“位于哪里”组织</a:t>
            </a:r>
            <a:endParaRPr sz="20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例如车身前部、左侧、右侧</a:t>
            </a:r>
            <a:endParaRPr sz="20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7772400" y="5166360"/>
            <a:ext cx="3657600" cy="30175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两个划分维度，可以结合使用。</a:t>
            </a:r>
            <a:endParaRPr sz="19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" name="白色背景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右下角淡蓝装饰"/>
          <p:cNvSpPr/>
          <p:nvPr/>
        </p:nvSpPr>
        <p:spPr>
          <a:xfrm>
            <a:off x="10774679" y="5440680"/>
            <a:ext cx="1417320" cy="1417320"/>
          </a:xfrm>
          <a:custGeom>
            <a:avLst/>
            <a:gdLst/>
            <a:ahLst/>
            <a:cxnLst/>
            <a:rect l="l" t="t" r="r" b="b"/>
            <a:pathLst>
              <a:path w="1417320" h="1417320">
                <a:moveTo>
                  <a:pt x="1417320" y="1417320"/>
                </a:moveTo>
                <a:lnTo>
                  <a:pt x="0" y="1417320"/>
                </a:lnTo>
                <a:lnTo>
                  <a:pt x="700" y="1372800"/>
                </a:lnTo>
                <a:lnTo>
                  <a:pt x="2797" y="1328325"/>
                </a:lnTo>
                <a:lnTo>
                  <a:pt x="6290" y="1283938"/>
                </a:lnTo>
                <a:lnTo>
                  <a:pt x="11176" y="1239682"/>
                </a:lnTo>
                <a:lnTo>
                  <a:pt x="17450" y="1195602"/>
                </a:lnTo>
                <a:lnTo>
                  <a:pt x="25105" y="1151740"/>
                </a:lnTo>
                <a:lnTo>
                  <a:pt x="34134" y="1108141"/>
                </a:lnTo>
                <a:lnTo>
                  <a:pt x="44528" y="1064846"/>
                </a:lnTo>
                <a:lnTo>
                  <a:pt x="56277" y="1021900"/>
                </a:lnTo>
                <a:lnTo>
                  <a:pt x="69369" y="979344"/>
                </a:lnTo>
                <a:lnTo>
                  <a:pt x="83791" y="937219"/>
                </a:lnTo>
                <a:lnTo>
                  <a:pt x="99529" y="895569"/>
                </a:lnTo>
                <a:lnTo>
                  <a:pt x="116568" y="854434"/>
                </a:lnTo>
                <a:lnTo>
                  <a:pt x="134891" y="813854"/>
                </a:lnTo>
                <a:lnTo>
                  <a:pt x="154479" y="773870"/>
                </a:lnTo>
                <a:lnTo>
                  <a:pt x="175313" y="734520"/>
                </a:lnTo>
                <a:lnTo>
                  <a:pt x="197373" y="695845"/>
                </a:lnTo>
                <a:lnTo>
                  <a:pt x="220637" y="657881"/>
                </a:lnTo>
                <a:lnTo>
                  <a:pt x="245082" y="620667"/>
                </a:lnTo>
                <a:lnTo>
                  <a:pt x="270684" y="584240"/>
                </a:lnTo>
                <a:lnTo>
                  <a:pt x="297418" y="548634"/>
                </a:lnTo>
                <a:lnTo>
                  <a:pt x="325256" y="513886"/>
                </a:lnTo>
                <a:lnTo>
                  <a:pt x="354173" y="480029"/>
                </a:lnTo>
                <a:lnTo>
                  <a:pt x="384138" y="447097"/>
                </a:lnTo>
                <a:lnTo>
                  <a:pt x="415124" y="415123"/>
                </a:lnTo>
                <a:lnTo>
                  <a:pt x="447098" y="384138"/>
                </a:lnTo>
                <a:lnTo>
                  <a:pt x="480030" y="354172"/>
                </a:lnTo>
                <a:lnTo>
                  <a:pt x="513886" y="325256"/>
                </a:lnTo>
                <a:lnTo>
                  <a:pt x="548635" y="297417"/>
                </a:lnTo>
                <a:lnTo>
                  <a:pt x="584240" y="270684"/>
                </a:lnTo>
                <a:lnTo>
                  <a:pt x="620668" y="245082"/>
                </a:lnTo>
                <a:lnTo>
                  <a:pt x="657882" y="220637"/>
                </a:lnTo>
                <a:lnTo>
                  <a:pt x="695846" y="197373"/>
                </a:lnTo>
                <a:lnTo>
                  <a:pt x="734521" y="175313"/>
                </a:lnTo>
                <a:lnTo>
                  <a:pt x="773870" y="154478"/>
                </a:lnTo>
                <a:lnTo>
                  <a:pt x="813855" y="134890"/>
                </a:lnTo>
                <a:lnTo>
                  <a:pt x="854435" y="116568"/>
                </a:lnTo>
                <a:lnTo>
                  <a:pt x="895570" y="99529"/>
                </a:lnTo>
                <a:lnTo>
                  <a:pt x="937220" y="83790"/>
                </a:lnTo>
                <a:lnTo>
                  <a:pt x="979344" y="69368"/>
                </a:lnTo>
                <a:lnTo>
                  <a:pt x="1021901" y="56276"/>
                </a:lnTo>
                <a:lnTo>
                  <a:pt x="1064847" y="44527"/>
                </a:lnTo>
                <a:lnTo>
                  <a:pt x="1108141" y="34133"/>
                </a:lnTo>
                <a:lnTo>
                  <a:pt x="1151741" y="25104"/>
                </a:lnTo>
                <a:lnTo>
                  <a:pt x="1195602" y="17449"/>
                </a:lnTo>
                <a:lnTo>
                  <a:pt x="1239683" y="11175"/>
                </a:lnTo>
                <a:lnTo>
                  <a:pt x="1283939" y="6290"/>
                </a:lnTo>
                <a:lnTo>
                  <a:pt x="1328326" y="2796"/>
                </a:lnTo>
                <a:lnTo>
                  <a:pt x="1372801" y="699"/>
                </a:lnTo>
                <a:lnTo>
                  <a:pt x="1417320" y="0"/>
                </a:lnTo>
                <a:lnTo>
                  <a:pt x="1417320" y="1417320"/>
                </a:lnTo>
                <a:close/>
              </a:path>
            </a:pathLst>
          </a:custGeom>
          <a:solidFill>
            <a:srgbClr val="F4F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右下角淡蓝装饰"/>
          <p:cNvSpPr/>
          <p:nvPr/>
        </p:nvSpPr>
        <p:spPr>
          <a:xfrm>
            <a:off x="11076431" y="5742432"/>
            <a:ext cx="1115568" cy="1115568"/>
          </a:xfrm>
          <a:custGeom>
            <a:avLst/>
            <a:gdLst/>
            <a:ahLst/>
            <a:cxnLst/>
            <a:rect l="l" t="t" r="r" b="b"/>
            <a:pathLst>
              <a:path w="1115568" h="1115568">
                <a:moveTo>
                  <a:pt x="1115568" y="1115568"/>
                </a:moveTo>
                <a:lnTo>
                  <a:pt x="0" y="1115568"/>
                </a:lnTo>
                <a:lnTo>
                  <a:pt x="551" y="1080527"/>
                </a:lnTo>
                <a:lnTo>
                  <a:pt x="2202" y="1045520"/>
                </a:lnTo>
                <a:lnTo>
                  <a:pt x="4951" y="1010583"/>
                </a:lnTo>
                <a:lnTo>
                  <a:pt x="8797" y="975750"/>
                </a:lnTo>
                <a:lnTo>
                  <a:pt x="13735" y="941054"/>
                </a:lnTo>
                <a:lnTo>
                  <a:pt x="19760" y="906531"/>
                </a:lnTo>
                <a:lnTo>
                  <a:pt x="26867" y="872214"/>
                </a:lnTo>
                <a:lnTo>
                  <a:pt x="35048" y="838137"/>
                </a:lnTo>
                <a:lnTo>
                  <a:pt x="44295" y="804334"/>
                </a:lnTo>
                <a:lnTo>
                  <a:pt x="54600" y="770838"/>
                </a:lnTo>
                <a:lnTo>
                  <a:pt x="65952" y="737682"/>
                </a:lnTo>
                <a:lnTo>
                  <a:pt x="78339" y="704900"/>
                </a:lnTo>
                <a:lnTo>
                  <a:pt x="91751" y="672522"/>
                </a:lnTo>
                <a:lnTo>
                  <a:pt x="106172" y="640582"/>
                </a:lnTo>
                <a:lnTo>
                  <a:pt x="121590" y="609110"/>
                </a:lnTo>
                <a:lnTo>
                  <a:pt x="137989" y="578139"/>
                </a:lnTo>
                <a:lnTo>
                  <a:pt x="155352" y="547697"/>
                </a:lnTo>
                <a:lnTo>
                  <a:pt x="173663" y="517816"/>
                </a:lnTo>
                <a:lnTo>
                  <a:pt x="192904" y="488525"/>
                </a:lnTo>
                <a:lnTo>
                  <a:pt x="213055" y="459853"/>
                </a:lnTo>
                <a:lnTo>
                  <a:pt x="234097" y="431828"/>
                </a:lnTo>
                <a:lnTo>
                  <a:pt x="256008" y="404478"/>
                </a:lnTo>
                <a:lnTo>
                  <a:pt x="278768" y="377829"/>
                </a:lnTo>
                <a:lnTo>
                  <a:pt x="302354" y="351909"/>
                </a:lnTo>
                <a:lnTo>
                  <a:pt x="326742" y="326742"/>
                </a:lnTo>
                <a:lnTo>
                  <a:pt x="351909" y="302353"/>
                </a:lnTo>
                <a:lnTo>
                  <a:pt x="377830" y="278768"/>
                </a:lnTo>
                <a:lnTo>
                  <a:pt x="404478" y="256008"/>
                </a:lnTo>
                <a:lnTo>
                  <a:pt x="431829" y="234096"/>
                </a:lnTo>
                <a:lnTo>
                  <a:pt x="459854" y="213054"/>
                </a:lnTo>
                <a:lnTo>
                  <a:pt x="488526" y="192903"/>
                </a:lnTo>
                <a:lnTo>
                  <a:pt x="517817" y="173662"/>
                </a:lnTo>
                <a:lnTo>
                  <a:pt x="547698" y="155351"/>
                </a:lnTo>
                <a:lnTo>
                  <a:pt x="578139" y="137988"/>
                </a:lnTo>
                <a:lnTo>
                  <a:pt x="609111" y="121589"/>
                </a:lnTo>
                <a:lnTo>
                  <a:pt x="640582" y="106171"/>
                </a:lnTo>
                <a:lnTo>
                  <a:pt x="672523" y="91750"/>
                </a:lnTo>
                <a:lnTo>
                  <a:pt x="704900" y="78339"/>
                </a:lnTo>
                <a:lnTo>
                  <a:pt x="737683" y="65951"/>
                </a:lnTo>
                <a:lnTo>
                  <a:pt x="770839" y="54599"/>
                </a:lnTo>
                <a:lnTo>
                  <a:pt x="804335" y="44295"/>
                </a:lnTo>
                <a:lnTo>
                  <a:pt x="838138" y="35047"/>
                </a:lnTo>
                <a:lnTo>
                  <a:pt x="872215" y="26866"/>
                </a:lnTo>
                <a:lnTo>
                  <a:pt x="906532" y="19759"/>
                </a:lnTo>
                <a:lnTo>
                  <a:pt x="941055" y="13734"/>
                </a:lnTo>
                <a:lnTo>
                  <a:pt x="975750" y="8796"/>
                </a:lnTo>
                <a:lnTo>
                  <a:pt x="1010584" y="4950"/>
                </a:lnTo>
                <a:lnTo>
                  <a:pt x="1045521" y="2201"/>
                </a:lnTo>
                <a:lnTo>
                  <a:pt x="1080527" y="550"/>
                </a:lnTo>
                <a:lnTo>
                  <a:pt x="1115568" y="0"/>
                </a:lnTo>
                <a:lnTo>
                  <a:pt x="1115568" y="1115568"/>
                </a:lnTo>
                <a:close/>
              </a:path>
            </a:pathLst>
          </a:custGeom>
          <a:solidFill>
            <a:srgbClr val="F8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圆形"/>
          <p:cNvSpPr/>
          <p:nvPr/>
        </p:nvSpPr>
        <p:spPr>
          <a:xfrm>
            <a:off x="1038758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圆形"/>
          <p:cNvSpPr/>
          <p:nvPr/>
        </p:nvSpPr>
        <p:spPr>
          <a:xfrm>
            <a:off x="1038758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圆形"/>
          <p:cNvSpPr/>
          <p:nvPr/>
        </p:nvSpPr>
        <p:spPr>
          <a:xfrm>
            <a:off x="1038758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圆形"/>
          <p:cNvSpPr/>
          <p:nvPr/>
        </p:nvSpPr>
        <p:spPr>
          <a:xfrm>
            <a:off x="1055217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圆形"/>
          <p:cNvSpPr/>
          <p:nvPr/>
        </p:nvSpPr>
        <p:spPr>
          <a:xfrm>
            <a:off x="1055217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圆形"/>
          <p:cNvSpPr/>
          <p:nvPr/>
        </p:nvSpPr>
        <p:spPr>
          <a:xfrm>
            <a:off x="1055217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圆形"/>
          <p:cNvSpPr/>
          <p:nvPr/>
        </p:nvSpPr>
        <p:spPr>
          <a:xfrm>
            <a:off x="10716767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圆形"/>
          <p:cNvSpPr/>
          <p:nvPr/>
        </p:nvSpPr>
        <p:spPr>
          <a:xfrm>
            <a:off x="10716767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圆形"/>
          <p:cNvSpPr/>
          <p:nvPr/>
        </p:nvSpPr>
        <p:spPr>
          <a:xfrm>
            <a:off x="10716767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圆形"/>
          <p:cNvSpPr/>
          <p:nvPr/>
        </p:nvSpPr>
        <p:spPr>
          <a:xfrm>
            <a:off x="10881359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圆形"/>
          <p:cNvSpPr/>
          <p:nvPr/>
        </p:nvSpPr>
        <p:spPr>
          <a:xfrm>
            <a:off x="10881359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圆形"/>
          <p:cNvSpPr/>
          <p:nvPr/>
        </p:nvSpPr>
        <p:spPr>
          <a:xfrm>
            <a:off x="10881359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圆形"/>
          <p:cNvSpPr/>
          <p:nvPr/>
        </p:nvSpPr>
        <p:spPr>
          <a:xfrm>
            <a:off x="11045952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圆形"/>
          <p:cNvSpPr/>
          <p:nvPr/>
        </p:nvSpPr>
        <p:spPr>
          <a:xfrm>
            <a:off x="11045952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圆形"/>
          <p:cNvSpPr/>
          <p:nvPr/>
        </p:nvSpPr>
        <p:spPr>
          <a:xfrm>
            <a:off x="11045952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圆形"/>
          <p:cNvSpPr/>
          <p:nvPr/>
        </p:nvSpPr>
        <p:spPr>
          <a:xfrm>
            <a:off x="1121054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圆形"/>
          <p:cNvSpPr/>
          <p:nvPr/>
        </p:nvSpPr>
        <p:spPr>
          <a:xfrm>
            <a:off x="1121054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圆形"/>
          <p:cNvSpPr/>
          <p:nvPr/>
        </p:nvSpPr>
        <p:spPr>
          <a:xfrm>
            <a:off x="1121054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圆形"/>
          <p:cNvSpPr/>
          <p:nvPr/>
        </p:nvSpPr>
        <p:spPr>
          <a:xfrm>
            <a:off x="1137513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圆形"/>
          <p:cNvSpPr/>
          <p:nvPr/>
        </p:nvSpPr>
        <p:spPr>
          <a:xfrm>
            <a:off x="1137513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圆形"/>
          <p:cNvSpPr/>
          <p:nvPr/>
        </p:nvSpPr>
        <p:spPr>
          <a:xfrm>
            <a:off x="1137513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圆形"/>
          <p:cNvSpPr/>
          <p:nvPr/>
        </p:nvSpPr>
        <p:spPr>
          <a:xfrm>
            <a:off x="11539728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圆形"/>
          <p:cNvSpPr/>
          <p:nvPr/>
        </p:nvSpPr>
        <p:spPr>
          <a:xfrm>
            <a:off x="11539728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圆形"/>
          <p:cNvSpPr/>
          <p:nvPr/>
        </p:nvSpPr>
        <p:spPr>
          <a:xfrm>
            <a:off x="11539728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标题蓝色竖线"/>
          <p:cNvSpPr/>
          <p:nvPr/>
        </p:nvSpPr>
        <p:spPr>
          <a:xfrm>
            <a:off x="274320" y="356616"/>
            <a:ext cx="109728" cy="585216"/>
          </a:xfrm>
          <a:prstGeom prst="roundRect">
            <a:avLst>
              <a:gd name="adj" fmla="val 41666"/>
            </a:avLst>
          </a:prstGeom>
          <a:gradFill>
            <a:gsLst>
              <a:gs pos="0">
                <a:srgbClr val="3A92D5"/>
              </a:gs>
              <a:gs pos="100000">
                <a:srgbClr val="146FB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标题"/>
          <p:cNvSpPr txBox="1"/>
          <p:nvPr/>
        </p:nvSpPr>
        <p:spPr>
          <a:xfrm>
            <a:off x="621792" y="301752"/>
            <a:ext cx="9390888" cy="64922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宝马Neue Klasse：中央计算＋区域接入</a:t>
            </a:r>
            <a:endParaRPr sz="35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标题分隔线"/>
          <p:cNvSpPr/>
          <p:nvPr/>
        </p:nvSpPr>
        <p:spPr>
          <a:xfrm>
            <a:off x="621792" y="1051560"/>
            <a:ext cx="11109960" cy="18288"/>
          </a:xfrm>
          <a:prstGeom prst="rect">
            <a:avLst/>
          </a:prstGeom>
          <a:gradFill>
            <a:gsLst>
              <a:gs pos="0">
                <a:srgbClr val="3A92D5"/>
              </a:gs>
              <a:gs pos="100000">
                <a:srgbClr val="E3EFF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tongji_wordm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4" y="256032"/>
            <a:ext cx="1554480" cy="385298"/>
          </a:xfrm>
          <a:prstGeom prst="rect">
            <a:avLst/>
          </a:prstGeom>
          <a:effectLst/>
        </p:spPr>
      </p:pic>
      <p:sp>
        <p:nvSpPr>
          <p:cNvPr id="33" name="导入句"/>
          <p:cNvSpPr txBox="1"/>
          <p:nvPr/>
        </p:nvSpPr>
        <p:spPr>
          <a:xfrm>
            <a:off x="621792" y="1271016"/>
            <a:ext cx="10972800" cy="57607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以新一代iX3为例：四个高性能计算机配合区域化线束，重新组织计算与连接。</a:t>
            </a:r>
            <a:endParaRPr sz="20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本页总结背景"/>
          <p:cNvSpPr/>
          <p:nvPr/>
        </p:nvSpPr>
        <p:spPr>
          <a:xfrm>
            <a:off x="585216" y="5852160"/>
            <a:ext cx="11064240" cy="594360"/>
          </a:xfrm>
          <a:prstGeom prst="roundRect">
            <a:avLst>
              <a:gd name="adj" fmla="val 23076"/>
            </a:avLst>
          </a:prstGeom>
          <a:gradFill>
            <a:gsLst>
              <a:gs pos="0">
                <a:srgbClr val="F0F7FE"/>
              </a:gs>
              <a:gs pos="100000">
                <a:srgbClr val="E9F3F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可编辑曲线"/>
          <p:cNvSpPr/>
          <p:nvPr/>
        </p:nvSpPr>
        <p:spPr>
          <a:xfrm>
            <a:off x="907999" y="5990783"/>
            <a:ext cx="310621" cy="133685"/>
          </a:xfrm>
          <a:custGeom>
            <a:avLst/>
            <a:gdLst/>
            <a:ahLst/>
            <a:cxnLst/>
            <a:rect l="l" t="t" r="r" b="b"/>
            <a:pathLst>
              <a:path w="310621" h="133685">
                <a:moveTo>
                  <a:pt x="0" y="133685"/>
                </a:moveTo>
                <a:lnTo>
                  <a:pt x="51115" y="0"/>
                </a:lnTo>
                <a:lnTo>
                  <a:pt x="251643" y="0"/>
                </a:lnTo>
                <a:lnTo>
                  <a:pt x="310621" y="133685"/>
                </a:lnTo>
              </a:path>
            </a:pathLst>
          </a:custGeom>
          <a:noFill/>
          <a:ln w="254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矩形"/>
          <p:cNvSpPr/>
          <p:nvPr/>
        </p:nvSpPr>
        <p:spPr>
          <a:xfrm>
            <a:off x="896203" y="6112672"/>
            <a:ext cx="338145" cy="165140"/>
          </a:xfrm>
          <a:prstGeom prst="roundRect">
            <a:avLst>
              <a:gd name="adj" fmla="val 19047"/>
            </a:avLst>
          </a:prstGeom>
          <a:noFill/>
          <a:ln w="254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连线"/>
          <p:cNvCxnSpPr/>
          <p:nvPr/>
        </p:nvCxnSpPr>
        <p:spPr>
          <a:xfrm>
            <a:off x="915863" y="6120536"/>
            <a:ext cx="302757" cy="0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圆形"/>
          <p:cNvSpPr/>
          <p:nvPr/>
        </p:nvSpPr>
        <p:spPr>
          <a:xfrm>
            <a:off x="935522" y="6171651"/>
            <a:ext cx="51114" cy="5111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圆形"/>
          <p:cNvSpPr/>
          <p:nvPr/>
        </p:nvSpPr>
        <p:spPr>
          <a:xfrm>
            <a:off x="1136050" y="6171651"/>
            <a:ext cx="51114" cy="5111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连线"/>
          <p:cNvCxnSpPr/>
          <p:nvPr/>
        </p:nvCxnSpPr>
        <p:spPr>
          <a:xfrm>
            <a:off x="943386" y="6273881"/>
            <a:ext cx="0" cy="51115"/>
          </a:xfrm>
          <a:prstGeom prst="line">
            <a:avLst/>
          </a:prstGeom>
          <a:ln w="381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连线"/>
          <p:cNvCxnSpPr/>
          <p:nvPr/>
        </p:nvCxnSpPr>
        <p:spPr>
          <a:xfrm>
            <a:off x="1183233" y="6273881"/>
            <a:ext cx="0" cy="51115"/>
          </a:xfrm>
          <a:prstGeom prst="line">
            <a:avLst/>
          </a:prstGeom>
          <a:ln w="381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连线"/>
          <p:cNvCxnSpPr/>
          <p:nvPr/>
        </p:nvCxnSpPr>
        <p:spPr>
          <a:xfrm>
            <a:off x="1435608" y="5943600"/>
            <a:ext cx="0" cy="411480"/>
          </a:xfrm>
          <a:prstGeom prst="line">
            <a:avLst/>
          </a:prstGeom>
          <a:ln w="15875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akeaway"/>
          <p:cNvSpPr txBox="1"/>
          <p:nvPr/>
        </p:nvSpPr>
        <p:spPr>
          <a:xfrm>
            <a:off x="1655064" y="5943600"/>
            <a:ext cx="9692640" cy="44805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计算可以集中，连接需要就近，执行仍然分布。</a:t>
            </a:r>
            <a:endParaRPr sz="21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694944" y="1965960"/>
            <a:ext cx="7635240" cy="361188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14400" y="2103120"/>
            <a:ext cx="7178040" cy="32918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四个“Superbrains”：按主要功能汇集计算能力</a:t>
            </a:r>
            <a:endParaRPr sz="20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Rounded Rectangle 90"/>
          <p:cNvSpPr/>
          <p:nvPr/>
        </p:nvSpPr>
        <p:spPr>
          <a:xfrm>
            <a:off x="932688" y="2651760"/>
            <a:ext cx="1627632" cy="612648"/>
          </a:xfrm>
          <a:prstGeom prst="roundRect">
            <a:avLst>
              <a:gd name="adj" fmla="val 11000"/>
            </a:avLst>
          </a:prstGeom>
          <a:solidFill>
            <a:srgbClr val="E6F1FD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78408" y="2683764"/>
            <a:ext cx="1536192" cy="54864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信息娱乐</a:t>
            </a:r>
            <a:endParaRPr sz="20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93" name="Connector 92"/>
          <p:cNvCxnSpPr/>
          <p:nvPr/>
        </p:nvCxnSpPr>
        <p:spPr>
          <a:xfrm>
            <a:off x="1746504" y="3291840"/>
            <a:ext cx="0" cy="283464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ounded Rectangle 93"/>
          <p:cNvSpPr/>
          <p:nvPr/>
        </p:nvSpPr>
        <p:spPr>
          <a:xfrm>
            <a:off x="2770632" y="2651760"/>
            <a:ext cx="1627632" cy="612648"/>
          </a:xfrm>
          <a:prstGeom prst="roundRect">
            <a:avLst>
              <a:gd name="adj" fmla="val 11000"/>
            </a:avLst>
          </a:prstGeom>
          <a:solidFill>
            <a:srgbClr val="E6F1FD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816351" y="2683764"/>
            <a:ext cx="1536192" cy="54864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驾驶辅助</a:t>
            </a:r>
            <a:endParaRPr sz="20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96" name="Connector 95"/>
          <p:cNvCxnSpPr/>
          <p:nvPr/>
        </p:nvCxnSpPr>
        <p:spPr>
          <a:xfrm>
            <a:off x="3584448" y="3291840"/>
            <a:ext cx="0" cy="283464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ounded Rectangle 96"/>
          <p:cNvSpPr/>
          <p:nvPr/>
        </p:nvSpPr>
        <p:spPr>
          <a:xfrm>
            <a:off x="4608576" y="2651760"/>
            <a:ext cx="1627632" cy="612648"/>
          </a:xfrm>
          <a:prstGeom prst="roundRect">
            <a:avLst>
              <a:gd name="adj" fmla="val 11000"/>
            </a:avLst>
          </a:prstGeom>
          <a:solidFill>
            <a:srgbClr val="E6F1FD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654296" y="2683764"/>
            <a:ext cx="1536192" cy="54864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行驶动态</a:t>
            </a:r>
            <a:endParaRPr sz="20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99" name="Connector 98"/>
          <p:cNvCxnSpPr/>
          <p:nvPr/>
        </p:nvCxnSpPr>
        <p:spPr>
          <a:xfrm>
            <a:off x="5422392" y="3291840"/>
            <a:ext cx="0" cy="283464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ounded Rectangle 99"/>
          <p:cNvSpPr/>
          <p:nvPr/>
        </p:nvSpPr>
        <p:spPr>
          <a:xfrm>
            <a:off x="6446520" y="2651760"/>
            <a:ext cx="1627632" cy="612648"/>
          </a:xfrm>
          <a:prstGeom prst="roundRect">
            <a:avLst>
              <a:gd name="adj" fmla="val 11000"/>
            </a:avLst>
          </a:prstGeom>
          <a:solidFill>
            <a:srgbClr val="E6F1FD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492240" y="2683764"/>
            <a:ext cx="1536192" cy="54864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基础功能</a:t>
            </a:r>
            <a:endParaRPr sz="20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2" name="Connector 101"/>
          <p:cNvCxnSpPr/>
          <p:nvPr/>
        </p:nvCxnSpPr>
        <p:spPr>
          <a:xfrm>
            <a:off x="7260336" y="3291840"/>
            <a:ext cx="0" cy="283464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746504" y="3584448"/>
            <a:ext cx="5513832" cy="0"/>
          </a:xfrm>
          <a:prstGeom prst="line">
            <a:avLst/>
          </a:prstGeom>
          <a:ln w="3048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2587752" y="3639312"/>
            <a:ext cx="4133087" cy="32918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高速互联 → 区域控制器 → 附近设备</a:t>
            </a:r>
            <a:endParaRPr sz="19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5" name="Connector 104"/>
          <p:cNvCxnSpPr/>
          <p:nvPr/>
        </p:nvCxnSpPr>
        <p:spPr>
          <a:xfrm>
            <a:off x="1746504" y="4005072"/>
            <a:ext cx="0" cy="246888"/>
          </a:xfrm>
          <a:prstGeom prst="line">
            <a:avLst/>
          </a:prstGeom>
          <a:ln w="21590" cap="rnd">
            <a:solidFill>
              <a:srgbClr val="146FB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932688" y="4279392"/>
            <a:ext cx="1627632" cy="585216"/>
          </a:xfrm>
          <a:prstGeom prst="roundRect">
            <a:avLst>
              <a:gd name="adj" fmla="val 11000"/>
            </a:avLst>
          </a:prstGeom>
          <a:solidFill>
            <a:srgbClr val="E6F1FD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78408" y="4311396"/>
            <a:ext cx="1536192" cy="52120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前部区域</a:t>
            </a:r>
            <a:endParaRPr sz="20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8" name="Connector 107"/>
          <p:cNvCxnSpPr/>
          <p:nvPr/>
        </p:nvCxnSpPr>
        <p:spPr>
          <a:xfrm>
            <a:off x="3584448" y="4005072"/>
            <a:ext cx="0" cy="246888"/>
          </a:xfrm>
          <a:prstGeom prst="line">
            <a:avLst/>
          </a:prstGeom>
          <a:ln w="21590" cap="rnd">
            <a:solidFill>
              <a:srgbClr val="146FB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ounded Rectangle 108"/>
          <p:cNvSpPr/>
          <p:nvPr/>
        </p:nvSpPr>
        <p:spPr>
          <a:xfrm>
            <a:off x="2770632" y="4279392"/>
            <a:ext cx="1627632" cy="585216"/>
          </a:xfrm>
          <a:prstGeom prst="roundRect">
            <a:avLst>
              <a:gd name="adj" fmla="val 11000"/>
            </a:avLst>
          </a:prstGeom>
          <a:solidFill>
            <a:srgbClr val="E6F1FD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816351" y="4311396"/>
            <a:ext cx="1536192" cy="52120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中部区域</a:t>
            </a:r>
            <a:endParaRPr sz="20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1" name="Connector 110"/>
          <p:cNvCxnSpPr/>
          <p:nvPr/>
        </p:nvCxnSpPr>
        <p:spPr>
          <a:xfrm>
            <a:off x="5422392" y="4005072"/>
            <a:ext cx="0" cy="246888"/>
          </a:xfrm>
          <a:prstGeom prst="line">
            <a:avLst/>
          </a:prstGeom>
          <a:ln w="21590" cap="rnd">
            <a:solidFill>
              <a:srgbClr val="146FB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Rounded Rectangle 111"/>
          <p:cNvSpPr/>
          <p:nvPr/>
        </p:nvSpPr>
        <p:spPr>
          <a:xfrm>
            <a:off x="4608576" y="4279392"/>
            <a:ext cx="1627632" cy="585216"/>
          </a:xfrm>
          <a:prstGeom prst="roundRect">
            <a:avLst>
              <a:gd name="adj" fmla="val 11000"/>
            </a:avLst>
          </a:prstGeom>
          <a:solidFill>
            <a:srgbClr val="E6F1FD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654296" y="4311396"/>
            <a:ext cx="1536192" cy="52120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后部区域</a:t>
            </a:r>
            <a:endParaRPr sz="20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4" name="Connector 113"/>
          <p:cNvCxnSpPr/>
          <p:nvPr/>
        </p:nvCxnSpPr>
        <p:spPr>
          <a:xfrm>
            <a:off x="7260336" y="4005072"/>
            <a:ext cx="0" cy="246888"/>
          </a:xfrm>
          <a:prstGeom prst="line">
            <a:avLst/>
          </a:prstGeom>
          <a:ln w="21590" cap="rnd">
            <a:solidFill>
              <a:srgbClr val="146FB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ounded Rectangle 114"/>
          <p:cNvSpPr/>
          <p:nvPr/>
        </p:nvSpPr>
        <p:spPr>
          <a:xfrm>
            <a:off x="6446520" y="4279392"/>
            <a:ext cx="1627632" cy="585216"/>
          </a:xfrm>
          <a:prstGeom prst="roundRect">
            <a:avLst>
              <a:gd name="adj" fmla="val 11000"/>
            </a:avLst>
          </a:prstGeom>
          <a:solidFill>
            <a:srgbClr val="E6F1FD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492240" y="4311396"/>
            <a:ext cx="1536192" cy="52120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车顶区域</a:t>
            </a:r>
            <a:endParaRPr sz="20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" name="Rounded Rectangle 117"/>
          <p:cNvSpPr/>
          <p:nvPr/>
        </p:nvSpPr>
        <p:spPr>
          <a:xfrm>
            <a:off x="8577072" y="1965960"/>
            <a:ext cx="2971800" cy="3611880"/>
          </a:xfrm>
          <a:prstGeom prst="roundRect">
            <a:avLst>
              <a:gd name="adj" fmla="val 11000"/>
            </a:avLst>
          </a:prstGeom>
          <a:solidFill>
            <a:srgbClr val="E6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796528" y="2103120"/>
            <a:ext cx="2523744" cy="32918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区域化线束的收益</a:t>
            </a:r>
            <a:endParaRPr sz="21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8741664" y="2679192"/>
            <a:ext cx="2624328" cy="60350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约600 m</a:t>
            </a:r>
            <a:endParaRPr sz="37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8851392" y="3383280"/>
            <a:ext cx="2404872" cy="41148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减少的线缆长度</a:t>
            </a:r>
            <a:endParaRPr sz="19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22" name="Connector 121"/>
          <p:cNvCxnSpPr/>
          <p:nvPr/>
        </p:nvCxnSpPr>
        <p:spPr>
          <a:xfrm>
            <a:off x="8924544" y="3913632"/>
            <a:ext cx="2295144" cy="0"/>
          </a:xfrm>
          <a:prstGeom prst="line">
            <a:avLst/>
          </a:prstGeom>
          <a:ln w="21590" cap="rnd">
            <a:solidFill>
              <a:srgbClr val="B5D6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8750808" y="4087368"/>
            <a:ext cx="2615184" cy="59436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约30%</a:t>
            </a:r>
            <a:endParaRPr sz="40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8805672" y="4754880"/>
            <a:ext cx="2523744" cy="49174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线束重量降低</a:t>
            </a:r>
            <a:endParaRPr sz="17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不是整车减重比例</a:t>
            </a:r>
            <a:endParaRPr sz="17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面标题_整车电子电气架构示意：复杂度来自哪里_0391"/>
          <p:cNvSpPr txBox="1"/>
          <p:nvPr/>
        </p:nvSpPr>
        <p:spPr>
          <a:xfrm>
            <a:off x="274306" y="106853"/>
            <a:ext cx="9646418" cy="457176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65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整车电子电气架构示意</a:t>
            </a:r>
            <a:endParaRPr sz="2665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" name="标题分隔线_0393"/>
          <p:cNvCxnSpPr/>
          <p:nvPr/>
        </p:nvCxnSpPr>
        <p:spPr>
          <a:xfrm>
            <a:off x="259067" y="655464"/>
            <a:ext cx="11680852" cy="0"/>
          </a:xfrm>
          <a:prstGeom prst="line">
            <a:avLst/>
          </a:prstGeom>
          <a:ln w="15875" cap="rnd">
            <a:solidFill>
              <a:srgbClr val="69AE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页面引导语_从传感器、控制器、网络到软件平台，多_0394"/>
          <p:cNvSpPr txBox="1"/>
          <p:nvPr/>
        </p:nvSpPr>
        <p:spPr>
          <a:xfrm>
            <a:off x="289545" y="731660"/>
            <a:ext cx="11505601" cy="243827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66A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从传感器、控制器、网络到软件平台，多层协同共同构成复杂系统</a:t>
            </a:r>
            <a:endParaRPr sz="1500" b="0">
              <a:solidFill>
                <a:srgbClr val="166AB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整车示意主面板_0395"/>
          <p:cNvSpPr/>
          <p:nvPr/>
        </p:nvSpPr>
        <p:spPr>
          <a:xfrm>
            <a:off x="190490" y="1089782"/>
            <a:ext cx="8457759" cy="5059416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1430" cap="rnd">
            <a:solidFill>
              <a:srgbClr val="C6E1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7" name="通信网络图例面板_0396"/>
          <p:cNvSpPr/>
          <p:nvPr/>
        </p:nvSpPr>
        <p:spPr>
          <a:xfrm>
            <a:off x="8823500" y="1089782"/>
            <a:ext cx="3177375" cy="2217305"/>
          </a:xfrm>
          <a:prstGeom prst="roundRect">
            <a:avLst>
              <a:gd name="adj" fmla="val 3500"/>
            </a:avLst>
          </a:prstGeom>
          <a:solidFill>
            <a:srgbClr val="F8FCFF"/>
          </a:solidFill>
          <a:ln w="11430" cap="rnd">
            <a:solidFill>
              <a:srgbClr val="C6E1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8" name="复杂度来源面板_0397"/>
          <p:cNvSpPr/>
          <p:nvPr/>
        </p:nvSpPr>
        <p:spPr>
          <a:xfrm>
            <a:off x="8823500" y="3444238"/>
            <a:ext cx="3177375" cy="2704959"/>
          </a:xfrm>
          <a:prstGeom prst="roundRect">
            <a:avLst>
              <a:gd name="adj" fmla="val 3500"/>
            </a:avLst>
          </a:prstGeom>
          <a:solidFill>
            <a:srgbClr val="F8FCFF"/>
          </a:solidFill>
          <a:ln w="11430" cap="rnd">
            <a:solidFill>
              <a:srgbClr val="C6E1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9" name="0.06_0398"/>
          <p:cNvSpPr/>
          <p:nvPr/>
        </p:nvSpPr>
        <p:spPr>
          <a:xfrm>
            <a:off x="8876838" y="1135499"/>
            <a:ext cx="3070700" cy="327643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07579D"/>
              </a:gs>
              <a:gs pos="100000">
                <a:srgbClr val="5EB0F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0" name="文字_通信网络图例_0399"/>
          <p:cNvSpPr txBox="1"/>
          <p:nvPr/>
        </p:nvSpPr>
        <p:spPr>
          <a:xfrm>
            <a:off x="9029230" y="1165978"/>
            <a:ext cx="2819253" cy="243827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通信网络图例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0.06_0400"/>
          <p:cNvSpPr/>
          <p:nvPr/>
        </p:nvSpPr>
        <p:spPr>
          <a:xfrm>
            <a:off x="8876838" y="3489957"/>
            <a:ext cx="3070700" cy="327643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07579D"/>
              </a:gs>
              <a:gs pos="100000">
                <a:srgbClr val="5EB0F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2" name="文字_复杂度来源_0401"/>
          <p:cNvSpPr txBox="1"/>
          <p:nvPr/>
        </p:nvSpPr>
        <p:spPr>
          <a:xfrm>
            <a:off x="9029230" y="3520435"/>
            <a:ext cx="2819253" cy="243827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复杂度来源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3" name="汽车俯视轮廓_可编辑_0402"/>
          <p:cNvGrpSpPr/>
          <p:nvPr/>
        </p:nvGrpSpPr>
        <p:grpSpPr>
          <a:xfrm>
            <a:off x="876254" y="1798405"/>
            <a:ext cx="7459591" cy="4015531"/>
            <a:chOff x="1051560" y="2157984"/>
            <a:chExt cx="8951976" cy="4818888"/>
          </a:xfrm>
        </p:grpSpPr>
        <p:sp>
          <p:nvSpPr>
            <p:cNvPr id="14" name="车体外轮廓_0403"/>
            <p:cNvSpPr/>
            <p:nvPr/>
          </p:nvSpPr>
          <p:spPr>
            <a:xfrm>
              <a:off x="1051560" y="2157984"/>
              <a:ext cx="8951976" cy="4818888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74" y="172"/>
                  </a:moveTo>
                  <a:cubicBezTo>
                    <a:pt x="128" y="51"/>
                    <a:pt x="334" y="18"/>
                    <a:pt x="470" y="23"/>
                  </a:cubicBezTo>
                  <a:lnTo>
                    <a:pt x="830" y="30"/>
                  </a:lnTo>
                  <a:cubicBezTo>
                    <a:pt x="974" y="42"/>
                    <a:pt x="997" y="175"/>
                    <a:pt x="993" y="498"/>
                  </a:cubicBezTo>
                  <a:cubicBezTo>
                    <a:pt x="997" y="820"/>
                    <a:pt x="974" y="956"/>
                    <a:pt x="830" y="970"/>
                  </a:cubicBezTo>
                  <a:lnTo>
                    <a:pt x="470" y="977"/>
                  </a:lnTo>
                  <a:cubicBezTo>
                    <a:pt x="334" y="982"/>
                    <a:pt x="128" y="949"/>
                    <a:pt x="74" y="828"/>
                  </a:cubicBezTo>
                  <a:cubicBezTo>
                    <a:pt x="12" y="690"/>
                    <a:pt x="13" y="310"/>
                    <a:pt x="74" y="172"/>
                  </a:cubicBezTo>
                  <a:close/>
                </a:path>
              </a:pathLst>
            </a:custGeom>
            <a:solidFill>
              <a:srgbClr val="F4F9FD"/>
            </a:solidFill>
            <a:ln w="15875" cap="rnd">
              <a:solidFill>
                <a:srgbClr val="B5D2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15" name="车体内轮廓_0404"/>
            <p:cNvSpPr/>
            <p:nvPr/>
          </p:nvSpPr>
          <p:spPr>
            <a:xfrm>
              <a:off x="1364879" y="2326645"/>
              <a:ext cx="8325337" cy="4481565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65" y="180"/>
                  </a:moveTo>
                  <a:cubicBezTo>
                    <a:pt x="115" y="65"/>
                    <a:pt x="329" y="22"/>
                    <a:pt x="460" y="25"/>
                  </a:cubicBezTo>
                  <a:lnTo>
                    <a:pt x="830" y="35"/>
                  </a:lnTo>
                  <a:cubicBezTo>
                    <a:pt x="970" y="52"/>
                    <a:pt x="981" y="179"/>
                    <a:pt x="980" y="497"/>
                  </a:cubicBezTo>
                  <a:cubicBezTo>
                    <a:pt x="981" y="820"/>
                    <a:pt x="970" y="947"/>
                    <a:pt x="830" y="965"/>
                  </a:cubicBezTo>
                  <a:lnTo>
                    <a:pt x="460" y="975"/>
                  </a:lnTo>
                  <a:cubicBezTo>
                    <a:pt x="329" y="978"/>
                    <a:pt x="115" y="935"/>
                    <a:pt x="65" y="820"/>
                  </a:cubicBezTo>
                  <a:cubicBezTo>
                    <a:pt x="16" y="680"/>
                    <a:pt x="16" y="320"/>
                    <a:pt x="65" y="180"/>
                  </a:cubicBezTo>
                  <a:close/>
                </a:path>
              </a:pathLst>
            </a:custGeom>
            <a:noFill/>
            <a:ln w="9525" cap="rnd">
              <a:solidFill>
                <a:srgbClr val="CCDFE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16" name="车轮_0405"/>
            <p:cNvSpPr/>
            <p:nvPr/>
          </p:nvSpPr>
          <p:spPr>
            <a:xfrm>
              <a:off x="2841955" y="2302550"/>
              <a:ext cx="1074237" cy="313227"/>
            </a:xfrm>
            <a:prstGeom prst="roundRect">
              <a:avLst>
                <a:gd name="adj" fmla="val 13000"/>
              </a:avLst>
            </a:prstGeom>
            <a:solidFill>
              <a:srgbClr val="D8E8F5"/>
            </a:solidFill>
            <a:ln w="8890" cap="rnd">
              <a:solidFill>
                <a:srgbClr val="BFDA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17" name="车轮_0406"/>
            <p:cNvSpPr/>
            <p:nvPr/>
          </p:nvSpPr>
          <p:spPr>
            <a:xfrm>
              <a:off x="2841955" y="6494983"/>
              <a:ext cx="1074237" cy="313227"/>
            </a:xfrm>
            <a:prstGeom prst="roundRect">
              <a:avLst>
                <a:gd name="adj" fmla="val 13000"/>
              </a:avLst>
            </a:prstGeom>
            <a:solidFill>
              <a:srgbClr val="D8E8F5"/>
            </a:solidFill>
            <a:ln w="8890" cap="rnd">
              <a:solidFill>
                <a:srgbClr val="BFDA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18" name="车轮_0407"/>
            <p:cNvSpPr/>
            <p:nvPr/>
          </p:nvSpPr>
          <p:spPr>
            <a:xfrm>
              <a:off x="7944581" y="2302550"/>
              <a:ext cx="1074237" cy="313227"/>
            </a:xfrm>
            <a:prstGeom prst="roundRect">
              <a:avLst>
                <a:gd name="adj" fmla="val 13000"/>
              </a:avLst>
            </a:prstGeom>
            <a:solidFill>
              <a:srgbClr val="D8E8F5"/>
            </a:solidFill>
            <a:ln w="8890" cap="rnd">
              <a:solidFill>
                <a:srgbClr val="BFDA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19" name="车轮_0408"/>
            <p:cNvSpPr/>
            <p:nvPr/>
          </p:nvSpPr>
          <p:spPr>
            <a:xfrm>
              <a:off x="7944581" y="6494983"/>
              <a:ext cx="1074237" cy="313227"/>
            </a:xfrm>
            <a:prstGeom prst="roundRect">
              <a:avLst>
                <a:gd name="adj" fmla="val 13000"/>
              </a:avLst>
            </a:prstGeom>
            <a:solidFill>
              <a:srgbClr val="D8E8F5"/>
            </a:solidFill>
            <a:ln w="8890" cap="rnd">
              <a:solidFill>
                <a:srgbClr val="BFDA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20" name="车头分区_0409"/>
            <p:cNvSpPr/>
            <p:nvPr/>
          </p:nvSpPr>
          <p:spPr>
            <a:xfrm>
              <a:off x="1051560" y="2157984"/>
              <a:ext cx="8951976" cy="4818888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80" y="252"/>
                  </a:moveTo>
                  <a:cubicBezTo>
                    <a:pt x="105" y="152"/>
                    <a:pt x="252" y="102"/>
                    <a:pt x="292" y="109"/>
                  </a:cubicBezTo>
                  <a:lnTo>
                    <a:pt x="275" y="891"/>
                  </a:lnTo>
                  <a:cubicBezTo>
                    <a:pt x="192" y="889"/>
                    <a:pt x="105" y="838"/>
                    <a:pt x="80" y="748"/>
                  </a:cubicBezTo>
                  <a:cubicBezTo>
                    <a:pt x="49" y="602"/>
                    <a:pt x="49" y="398"/>
                    <a:pt x="80" y="252"/>
                  </a:cubicBezTo>
                  <a:close/>
                </a:path>
              </a:pathLst>
            </a:custGeom>
            <a:noFill/>
            <a:ln w="8890" cap="rnd">
              <a:solidFill>
                <a:srgbClr val="D0E4F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21" name="座舱边界_0410"/>
            <p:cNvSpPr/>
            <p:nvPr/>
          </p:nvSpPr>
          <p:spPr>
            <a:xfrm>
              <a:off x="1051560" y="2157984"/>
              <a:ext cx="8951976" cy="4818888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300" y="148"/>
                  </a:moveTo>
                  <a:lnTo>
                    <a:pt x="410" y="91"/>
                  </a:lnTo>
                  <a:lnTo>
                    <a:pt x="710" y="92"/>
                  </a:lnTo>
                  <a:lnTo>
                    <a:pt x="817" y="146"/>
                  </a:lnTo>
                  <a:lnTo>
                    <a:pt x="817" y="854"/>
                  </a:lnTo>
                  <a:lnTo>
                    <a:pt x="710" y="909"/>
                  </a:lnTo>
                  <a:lnTo>
                    <a:pt x="410" y="909"/>
                  </a:lnTo>
                  <a:lnTo>
                    <a:pt x="300" y="852"/>
                  </a:lnTo>
                  <a:close/>
                </a:path>
              </a:pathLst>
            </a:custGeom>
            <a:solidFill>
              <a:srgbClr val="EAF4FC"/>
            </a:solidFill>
            <a:ln w="12700" cap="rnd">
              <a:solidFill>
                <a:srgbClr val="C3DC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22" name="前风挡_0411"/>
            <p:cNvSpPr/>
            <p:nvPr/>
          </p:nvSpPr>
          <p:spPr>
            <a:xfrm>
              <a:off x="1051560" y="2157984"/>
              <a:ext cx="8951976" cy="4818888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326" y="175"/>
                  </a:moveTo>
                  <a:lnTo>
                    <a:pt x="423" y="129"/>
                  </a:lnTo>
                  <a:lnTo>
                    <a:pt x="452" y="869"/>
                  </a:lnTo>
                  <a:lnTo>
                    <a:pt x="326" y="823"/>
                  </a:lnTo>
                  <a:close/>
                </a:path>
              </a:pathLst>
            </a:custGeom>
            <a:solidFill>
              <a:srgbClr val="E2EFF9"/>
            </a:solidFill>
            <a:ln w="8890" cap="rnd">
              <a:solidFill>
                <a:srgbClr val="C5DEE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23" name="后风挡_0412"/>
            <p:cNvSpPr/>
            <p:nvPr/>
          </p:nvSpPr>
          <p:spPr>
            <a:xfrm>
              <a:off x="1051560" y="2157984"/>
              <a:ext cx="8951976" cy="4818888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731" y="134"/>
                  </a:moveTo>
                  <a:lnTo>
                    <a:pt x="792" y="163"/>
                  </a:lnTo>
                  <a:lnTo>
                    <a:pt x="792" y="837"/>
                  </a:lnTo>
                  <a:lnTo>
                    <a:pt x="731" y="866"/>
                  </a:lnTo>
                  <a:close/>
                </a:path>
              </a:pathLst>
            </a:custGeom>
            <a:solidFill>
              <a:srgbClr val="E2EFF9"/>
            </a:solidFill>
            <a:ln w="8890" cap="rnd">
              <a:solidFill>
                <a:srgbClr val="C5DEE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24" name="座椅轮廓_0413"/>
            <p:cNvSpPr/>
            <p:nvPr/>
          </p:nvSpPr>
          <p:spPr>
            <a:xfrm>
              <a:off x="5527548" y="3121761"/>
              <a:ext cx="805677" cy="819210"/>
            </a:xfrm>
            <a:prstGeom prst="roundRect">
              <a:avLst>
                <a:gd name="adj" fmla="val 10000"/>
              </a:avLst>
            </a:prstGeom>
            <a:solidFill>
              <a:srgbClr val="EDF6FC"/>
            </a:solidFill>
            <a:ln w="8255" cap="rnd">
              <a:solidFill>
                <a:srgbClr val="D0E2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25" name="座椅轮廓_0414"/>
            <p:cNvSpPr/>
            <p:nvPr/>
          </p:nvSpPr>
          <p:spPr>
            <a:xfrm>
              <a:off x="5527548" y="5097505"/>
              <a:ext cx="805677" cy="819210"/>
            </a:xfrm>
            <a:prstGeom prst="roundRect">
              <a:avLst>
                <a:gd name="adj" fmla="val 10000"/>
              </a:avLst>
            </a:prstGeom>
            <a:solidFill>
              <a:srgbClr val="EDF6FC"/>
            </a:solidFill>
            <a:ln w="8255" cap="rnd">
              <a:solidFill>
                <a:srgbClr val="D0E2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26" name="座椅轮廓_0415"/>
            <p:cNvSpPr/>
            <p:nvPr/>
          </p:nvSpPr>
          <p:spPr>
            <a:xfrm>
              <a:off x="6691304" y="3121761"/>
              <a:ext cx="805677" cy="819210"/>
            </a:xfrm>
            <a:prstGeom prst="roundRect">
              <a:avLst>
                <a:gd name="adj" fmla="val 10000"/>
              </a:avLst>
            </a:prstGeom>
            <a:solidFill>
              <a:srgbClr val="EDF6FC"/>
            </a:solidFill>
            <a:ln w="8255" cap="rnd">
              <a:solidFill>
                <a:srgbClr val="D0E2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27" name="座椅轮廓_0416"/>
            <p:cNvSpPr/>
            <p:nvPr/>
          </p:nvSpPr>
          <p:spPr>
            <a:xfrm>
              <a:off x="6691304" y="5097505"/>
              <a:ext cx="805677" cy="819210"/>
            </a:xfrm>
            <a:prstGeom prst="roundRect">
              <a:avLst>
                <a:gd name="adj" fmla="val 10000"/>
              </a:avLst>
            </a:prstGeom>
            <a:solidFill>
              <a:srgbClr val="EDF6FC"/>
            </a:solidFill>
            <a:ln w="8255" cap="rnd">
              <a:solidFill>
                <a:srgbClr val="D0E2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28" name="连接线_0417"/>
            <p:cNvCxnSpPr/>
            <p:nvPr/>
          </p:nvCxnSpPr>
          <p:spPr>
            <a:xfrm>
              <a:off x="4900909" y="2688061"/>
              <a:ext cx="2596073" cy="0"/>
            </a:xfrm>
            <a:prstGeom prst="line">
              <a:avLst/>
            </a:prstGeom>
            <a:ln w="8890" cap="rnd">
              <a:solidFill>
                <a:srgbClr val="C6DDED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连接线_0418"/>
            <p:cNvCxnSpPr/>
            <p:nvPr/>
          </p:nvCxnSpPr>
          <p:spPr>
            <a:xfrm>
              <a:off x="4900909" y="6446794"/>
              <a:ext cx="2596073" cy="0"/>
            </a:xfrm>
            <a:prstGeom prst="line">
              <a:avLst/>
            </a:prstGeom>
            <a:ln w="8890" cap="rnd">
              <a:solidFill>
                <a:srgbClr val="C6DDED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连接线_0419"/>
            <p:cNvCxnSpPr/>
            <p:nvPr/>
          </p:nvCxnSpPr>
          <p:spPr>
            <a:xfrm>
              <a:off x="5706587" y="2688061"/>
              <a:ext cx="0" cy="289133"/>
            </a:xfrm>
            <a:prstGeom prst="line">
              <a:avLst/>
            </a:prstGeom>
            <a:ln w="8890" cap="rnd">
              <a:solidFill>
                <a:srgbClr val="C3DAEB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连接线_0420"/>
            <p:cNvCxnSpPr/>
            <p:nvPr/>
          </p:nvCxnSpPr>
          <p:spPr>
            <a:xfrm>
              <a:off x="5706587" y="6157661"/>
              <a:ext cx="0" cy="289133"/>
            </a:xfrm>
            <a:prstGeom prst="line">
              <a:avLst/>
            </a:prstGeom>
            <a:ln w="8890" cap="rnd">
              <a:solidFill>
                <a:srgbClr val="C3DAEB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连接线_0421"/>
            <p:cNvCxnSpPr/>
            <p:nvPr/>
          </p:nvCxnSpPr>
          <p:spPr>
            <a:xfrm>
              <a:off x="6959864" y="2688061"/>
              <a:ext cx="0" cy="289133"/>
            </a:xfrm>
            <a:prstGeom prst="line">
              <a:avLst/>
            </a:prstGeom>
            <a:ln w="8890" cap="rnd">
              <a:solidFill>
                <a:srgbClr val="C3DAEB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连接线_0422"/>
            <p:cNvCxnSpPr/>
            <p:nvPr/>
          </p:nvCxnSpPr>
          <p:spPr>
            <a:xfrm>
              <a:off x="6959864" y="6157661"/>
              <a:ext cx="0" cy="289133"/>
            </a:xfrm>
            <a:prstGeom prst="line">
              <a:avLst/>
            </a:prstGeom>
            <a:ln w="8890" cap="rnd">
              <a:solidFill>
                <a:srgbClr val="C3DAEB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后视镜轮廓_0423"/>
            <p:cNvSpPr/>
            <p:nvPr/>
          </p:nvSpPr>
          <p:spPr>
            <a:xfrm>
              <a:off x="4005712" y="2157984"/>
              <a:ext cx="429694" cy="240944"/>
            </a:xfrm>
            <a:prstGeom prst="roundRect">
              <a:avLst>
                <a:gd name="adj" fmla="val 10000"/>
              </a:avLst>
            </a:prstGeom>
            <a:solidFill>
              <a:srgbClr val="EAF4FC"/>
            </a:solidFill>
            <a:ln w="8890" cap="rnd">
              <a:solidFill>
                <a:srgbClr val="C3DAE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35" name="后视镜轮廓_0424"/>
            <p:cNvSpPr/>
            <p:nvPr/>
          </p:nvSpPr>
          <p:spPr>
            <a:xfrm>
              <a:off x="4005712" y="6735927"/>
              <a:ext cx="429694" cy="240944"/>
            </a:xfrm>
            <a:prstGeom prst="roundRect">
              <a:avLst>
                <a:gd name="adj" fmla="val 10000"/>
              </a:avLst>
            </a:prstGeom>
            <a:solidFill>
              <a:srgbClr val="EAF4FC"/>
            </a:solidFill>
            <a:ln w="8890" cap="rnd">
              <a:solidFill>
                <a:srgbClr val="C3DAE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</p:grpSp>
      <p:grpSp>
        <p:nvGrpSpPr>
          <p:cNvPr id="36" name="图标_camera_0425"/>
          <p:cNvGrpSpPr/>
          <p:nvPr/>
        </p:nvGrpSpPr>
        <p:grpSpPr>
          <a:xfrm>
            <a:off x="1710601" y="1368659"/>
            <a:ext cx="257162" cy="164583"/>
            <a:chOff x="2052828" y="1642262"/>
            <a:chExt cx="308610" cy="197510"/>
          </a:xfrm>
        </p:grpSpPr>
        <p:sp>
          <p:nvSpPr>
            <p:cNvPr id="37" name="图标部件_0426"/>
            <p:cNvSpPr/>
            <p:nvPr/>
          </p:nvSpPr>
          <p:spPr>
            <a:xfrm>
              <a:off x="2052828" y="1642262"/>
              <a:ext cx="308610" cy="197510"/>
            </a:xfrm>
            <a:prstGeom prst="roundRect">
              <a:avLst>
                <a:gd name="adj" fmla="val 10000"/>
              </a:avLst>
            </a:prstGeom>
            <a:solidFill>
              <a:srgbClr val="166AB1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38" name="图标部件_0427"/>
            <p:cNvSpPr/>
            <p:nvPr/>
          </p:nvSpPr>
          <p:spPr>
            <a:xfrm>
              <a:off x="2155698" y="1675180"/>
              <a:ext cx="102870" cy="102870"/>
            </a:xfrm>
            <a:prstGeom prst="ellipse">
              <a:avLst/>
            </a:prstGeom>
            <a:solidFill>
              <a:srgbClr val="FFFFFF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39" name="图标线_0428"/>
            <p:cNvSpPr/>
            <p:nvPr/>
          </p:nvSpPr>
          <p:spPr>
            <a:xfrm>
              <a:off x="2332634" y="1642262"/>
              <a:ext cx="82296" cy="197510"/>
            </a:xfrm>
            <a:custGeom>
              <a:avLst/>
              <a:gdLst/>
              <a:ahLst/>
              <a:cxnLst/>
              <a:rect l="l" t="t" r="r" b="b"/>
              <a:pathLst>
                <a:path w="82296" h="197510">
                  <a:moveTo>
                    <a:pt x="0" y="41148"/>
                  </a:moveTo>
                  <a:lnTo>
                    <a:pt x="82296" y="0"/>
                  </a:lnTo>
                  <a:lnTo>
                    <a:pt x="82296" y="197510"/>
                  </a:lnTo>
                  <a:lnTo>
                    <a:pt x="0" y="152248"/>
                  </a:lnTo>
                  <a:close/>
                </a:path>
              </a:pathLst>
            </a:custGeom>
            <a:solidFill>
              <a:srgbClr val="166AB1"/>
            </a:solidFill>
            <a:ln w="2032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</p:grpSp>
      <p:sp>
        <p:nvSpPr>
          <p:cNvPr id="40" name="文字_摄像头_（前视）_0429"/>
          <p:cNvSpPr txBox="1"/>
          <p:nvPr/>
        </p:nvSpPr>
        <p:spPr>
          <a:xfrm>
            <a:off x="2087771" y="1234554"/>
            <a:ext cx="1097223" cy="396219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摄像头</a:t>
            </a:r>
            <a:endParaRPr sz="1140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（前视）</a:t>
            </a:r>
            <a:endParaRPr sz="1140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感知范围示意_0430"/>
          <p:cNvSpPr/>
          <p:nvPr/>
        </p:nvSpPr>
        <p:spPr>
          <a:xfrm>
            <a:off x="1767748" y="1585056"/>
            <a:ext cx="226683" cy="162678"/>
          </a:xfrm>
          <a:custGeom>
            <a:avLst/>
            <a:gdLst/>
            <a:ahLst/>
            <a:cxnLst/>
            <a:rect l="l" t="t" r="r" b="b"/>
            <a:pathLst>
              <a:path w="272034" h="195224">
                <a:moveTo>
                  <a:pt x="128016" y="0"/>
                </a:moveTo>
                <a:lnTo>
                  <a:pt x="0" y="195224"/>
                </a:lnTo>
                <a:lnTo>
                  <a:pt x="272034" y="195224"/>
                </a:lnTo>
                <a:close/>
              </a:path>
            </a:pathLst>
          </a:custGeom>
          <a:solidFill>
            <a:srgbClr val="EC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grpSp>
        <p:nvGrpSpPr>
          <p:cNvPr id="42" name="图标_radar_0431"/>
          <p:cNvGrpSpPr/>
          <p:nvPr/>
        </p:nvGrpSpPr>
        <p:grpSpPr>
          <a:xfrm>
            <a:off x="3163278" y="1316177"/>
            <a:ext cx="294879" cy="258212"/>
            <a:chOff x="3796131" y="1579280"/>
            <a:chExt cx="353873" cy="309870"/>
          </a:xfrm>
        </p:grpSpPr>
        <p:sp>
          <p:nvSpPr>
            <p:cNvPr id="43" name="图标部件_0432"/>
            <p:cNvSpPr/>
            <p:nvPr/>
          </p:nvSpPr>
          <p:spPr>
            <a:xfrm>
              <a:off x="3936034" y="1691639"/>
              <a:ext cx="74066" cy="74066"/>
            </a:xfrm>
            <a:prstGeom prst="ellipse">
              <a:avLst/>
            </a:prstGeom>
            <a:solidFill>
              <a:srgbClr val="166AB1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44" name="圆弧_0433"/>
            <p:cNvSpPr/>
            <p:nvPr/>
          </p:nvSpPr>
          <p:spPr>
            <a:xfrm>
              <a:off x="4032598" y="1634868"/>
              <a:ext cx="51569" cy="187609"/>
            </a:xfrm>
            <a:custGeom>
              <a:avLst/>
              <a:gdLst/>
              <a:ahLst/>
              <a:cxnLst/>
              <a:rect l="l" t="t" r="r" b="b"/>
              <a:pathLst>
                <a:path w="51569" h="187609">
                  <a:moveTo>
                    <a:pt x="0" y="0"/>
                  </a:moveTo>
                  <a:lnTo>
                    <a:pt x="5772" y="3923"/>
                  </a:lnTo>
                  <a:lnTo>
                    <a:pt x="11287" y="8201"/>
                  </a:lnTo>
                  <a:lnTo>
                    <a:pt x="16522" y="12817"/>
                  </a:lnTo>
                  <a:lnTo>
                    <a:pt x="21458" y="17752"/>
                  </a:lnTo>
                  <a:lnTo>
                    <a:pt x="26073" y="22987"/>
                  </a:lnTo>
                  <a:lnTo>
                    <a:pt x="30351" y="28502"/>
                  </a:lnTo>
                  <a:lnTo>
                    <a:pt x="34274" y="34275"/>
                  </a:lnTo>
                  <a:lnTo>
                    <a:pt x="37827" y="40282"/>
                  </a:lnTo>
                  <a:lnTo>
                    <a:pt x="40995" y="46501"/>
                  </a:lnTo>
                  <a:lnTo>
                    <a:pt x="43767" y="52906"/>
                  </a:lnTo>
                  <a:lnTo>
                    <a:pt x="46131" y="59473"/>
                  </a:lnTo>
                  <a:lnTo>
                    <a:pt x="48079" y="66175"/>
                  </a:lnTo>
                  <a:lnTo>
                    <a:pt x="49601" y="72987"/>
                  </a:lnTo>
                  <a:lnTo>
                    <a:pt x="50693" y="79880"/>
                  </a:lnTo>
                  <a:lnTo>
                    <a:pt x="51350" y="86829"/>
                  </a:lnTo>
                  <a:lnTo>
                    <a:pt x="51569" y="93805"/>
                  </a:lnTo>
                  <a:lnTo>
                    <a:pt x="51350" y="100781"/>
                  </a:lnTo>
                  <a:lnTo>
                    <a:pt x="50693" y="107729"/>
                  </a:lnTo>
                  <a:lnTo>
                    <a:pt x="49601" y="114623"/>
                  </a:lnTo>
                  <a:lnTo>
                    <a:pt x="48079" y="121434"/>
                  </a:lnTo>
                  <a:lnTo>
                    <a:pt x="46131" y="128136"/>
                  </a:lnTo>
                  <a:lnTo>
                    <a:pt x="43767" y="134703"/>
                  </a:lnTo>
                  <a:lnTo>
                    <a:pt x="40995" y="141109"/>
                  </a:lnTo>
                  <a:lnTo>
                    <a:pt x="37827" y="147327"/>
                  </a:lnTo>
                  <a:lnTo>
                    <a:pt x="34274" y="153335"/>
                  </a:lnTo>
                  <a:lnTo>
                    <a:pt x="30351" y="159107"/>
                  </a:lnTo>
                  <a:lnTo>
                    <a:pt x="26073" y="164622"/>
                  </a:lnTo>
                  <a:lnTo>
                    <a:pt x="21458" y="169858"/>
                  </a:lnTo>
                  <a:lnTo>
                    <a:pt x="16522" y="174793"/>
                  </a:lnTo>
                  <a:lnTo>
                    <a:pt x="11287" y="179408"/>
                  </a:lnTo>
                  <a:lnTo>
                    <a:pt x="5772" y="183686"/>
                  </a:lnTo>
                  <a:lnTo>
                    <a:pt x="0" y="187609"/>
                  </a:lnTo>
                </a:path>
              </a:pathLst>
            </a:custGeom>
            <a:noFill/>
            <a:ln w="1905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45" name="圆弧_0434"/>
            <p:cNvSpPr/>
            <p:nvPr/>
          </p:nvSpPr>
          <p:spPr>
            <a:xfrm>
              <a:off x="3861968" y="1634868"/>
              <a:ext cx="51569" cy="187609"/>
            </a:xfrm>
            <a:custGeom>
              <a:avLst/>
              <a:gdLst/>
              <a:ahLst/>
              <a:cxnLst/>
              <a:rect l="l" t="t" r="r" b="b"/>
              <a:pathLst>
                <a:path w="51569" h="187609">
                  <a:moveTo>
                    <a:pt x="51569" y="187609"/>
                  </a:moveTo>
                  <a:lnTo>
                    <a:pt x="45797" y="183686"/>
                  </a:lnTo>
                  <a:lnTo>
                    <a:pt x="40282" y="179408"/>
                  </a:lnTo>
                  <a:lnTo>
                    <a:pt x="35047" y="174793"/>
                  </a:lnTo>
                  <a:lnTo>
                    <a:pt x="30111" y="169858"/>
                  </a:lnTo>
                  <a:lnTo>
                    <a:pt x="25496" y="164622"/>
                  </a:lnTo>
                  <a:lnTo>
                    <a:pt x="21218" y="159107"/>
                  </a:lnTo>
                  <a:lnTo>
                    <a:pt x="17295" y="153335"/>
                  </a:lnTo>
                  <a:lnTo>
                    <a:pt x="13742" y="147327"/>
                  </a:lnTo>
                  <a:lnTo>
                    <a:pt x="10574" y="141109"/>
                  </a:lnTo>
                  <a:lnTo>
                    <a:pt x="7802" y="134703"/>
                  </a:lnTo>
                  <a:lnTo>
                    <a:pt x="5438" y="128136"/>
                  </a:lnTo>
                  <a:lnTo>
                    <a:pt x="3490" y="121434"/>
                  </a:lnTo>
                  <a:lnTo>
                    <a:pt x="1968" y="114623"/>
                  </a:lnTo>
                  <a:lnTo>
                    <a:pt x="876" y="107729"/>
                  </a:lnTo>
                  <a:lnTo>
                    <a:pt x="219" y="100781"/>
                  </a:lnTo>
                  <a:lnTo>
                    <a:pt x="0" y="93805"/>
                  </a:lnTo>
                  <a:lnTo>
                    <a:pt x="219" y="86829"/>
                  </a:lnTo>
                  <a:lnTo>
                    <a:pt x="876" y="79880"/>
                  </a:lnTo>
                  <a:lnTo>
                    <a:pt x="1968" y="72987"/>
                  </a:lnTo>
                  <a:lnTo>
                    <a:pt x="3490" y="66175"/>
                  </a:lnTo>
                  <a:lnTo>
                    <a:pt x="5438" y="59473"/>
                  </a:lnTo>
                  <a:lnTo>
                    <a:pt x="7802" y="52906"/>
                  </a:lnTo>
                  <a:lnTo>
                    <a:pt x="10574" y="46501"/>
                  </a:lnTo>
                  <a:lnTo>
                    <a:pt x="13742" y="40282"/>
                  </a:lnTo>
                  <a:lnTo>
                    <a:pt x="17295" y="34275"/>
                  </a:lnTo>
                  <a:lnTo>
                    <a:pt x="21218" y="28502"/>
                  </a:lnTo>
                  <a:lnTo>
                    <a:pt x="25496" y="22987"/>
                  </a:lnTo>
                  <a:lnTo>
                    <a:pt x="30111" y="17752"/>
                  </a:lnTo>
                  <a:lnTo>
                    <a:pt x="35047" y="12817"/>
                  </a:lnTo>
                  <a:lnTo>
                    <a:pt x="40282" y="8201"/>
                  </a:lnTo>
                  <a:lnTo>
                    <a:pt x="45797" y="3923"/>
                  </a:lnTo>
                  <a:lnTo>
                    <a:pt x="51569" y="0"/>
                  </a:lnTo>
                </a:path>
              </a:pathLst>
            </a:custGeom>
            <a:noFill/>
            <a:ln w="1905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46" name="圆弧_0435"/>
            <p:cNvSpPr/>
            <p:nvPr/>
          </p:nvSpPr>
          <p:spPr>
            <a:xfrm>
              <a:off x="4067875" y="1579280"/>
              <a:ext cx="82129" cy="298785"/>
            </a:xfrm>
            <a:custGeom>
              <a:avLst/>
              <a:gdLst/>
              <a:ahLst/>
              <a:cxnLst/>
              <a:rect l="l" t="t" r="r" b="b"/>
              <a:pathLst>
                <a:path w="82129" h="298785">
                  <a:moveTo>
                    <a:pt x="0" y="0"/>
                  </a:moveTo>
                  <a:lnTo>
                    <a:pt x="9193" y="6248"/>
                  </a:lnTo>
                  <a:lnTo>
                    <a:pt x="17976" y="13061"/>
                  </a:lnTo>
                  <a:lnTo>
                    <a:pt x="26314" y="20412"/>
                  </a:lnTo>
                  <a:lnTo>
                    <a:pt x="34174" y="28271"/>
                  </a:lnTo>
                  <a:lnTo>
                    <a:pt x="41524" y="36609"/>
                  </a:lnTo>
                  <a:lnTo>
                    <a:pt x="48337" y="45392"/>
                  </a:lnTo>
                  <a:lnTo>
                    <a:pt x="54585" y="54585"/>
                  </a:lnTo>
                  <a:lnTo>
                    <a:pt x="60243" y="64153"/>
                  </a:lnTo>
                  <a:lnTo>
                    <a:pt x="65289" y="74057"/>
                  </a:lnTo>
                  <a:lnTo>
                    <a:pt x="69704" y="84258"/>
                  </a:lnTo>
                  <a:lnTo>
                    <a:pt x="73469" y="94716"/>
                  </a:lnTo>
                  <a:lnTo>
                    <a:pt x="76570" y="105390"/>
                  </a:lnTo>
                  <a:lnTo>
                    <a:pt x="78995" y="116238"/>
                  </a:lnTo>
                  <a:lnTo>
                    <a:pt x="80734" y="127217"/>
                  </a:lnTo>
                  <a:lnTo>
                    <a:pt x="81780" y="138283"/>
                  </a:lnTo>
                  <a:lnTo>
                    <a:pt x="82129" y="149393"/>
                  </a:lnTo>
                  <a:lnTo>
                    <a:pt x="81780" y="160503"/>
                  </a:lnTo>
                  <a:lnTo>
                    <a:pt x="80734" y="171569"/>
                  </a:lnTo>
                  <a:lnTo>
                    <a:pt x="78995" y="182547"/>
                  </a:lnTo>
                  <a:lnTo>
                    <a:pt x="76570" y="193395"/>
                  </a:lnTo>
                  <a:lnTo>
                    <a:pt x="73469" y="204069"/>
                  </a:lnTo>
                  <a:lnTo>
                    <a:pt x="69704" y="214527"/>
                  </a:lnTo>
                  <a:lnTo>
                    <a:pt x="65289" y="224729"/>
                  </a:lnTo>
                  <a:lnTo>
                    <a:pt x="60243" y="234632"/>
                  </a:lnTo>
                  <a:lnTo>
                    <a:pt x="54585" y="244200"/>
                  </a:lnTo>
                  <a:lnTo>
                    <a:pt x="48337" y="253393"/>
                  </a:lnTo>
                  <a:lnTo>
                    <a:pt x="41524" y="262176"/>
                  </a:lnTo>
                  <a:lnTo>
                    <a:pt x="34174" y="270514"/>
                  </a:lnTo>
                  <a:lnTo>
                    <a:pt x="26314" y="278374"/>
                  </a:lnTo>
                  <a:lnTo>
                    <a:pt x="17976" y="285725"/>
                  </a:lnTo>
                  <a:lnTo>
                    <a:pt x="9193" y="292537"/>
                  </a:lnTo>
                  <a:lnTo>
                    <a:pt x="0" y="298785"/>
                  </a:lnTo>
                </a:path>
              </a:pathLst>
            </a:custGeom>
            <a:noFill/>
            <a:ln w="1905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47" name="圆弧_0436"/>
            <p:cNvSpPr/>
            <p:nvPr/>
          </p:nvSpPr>
          <p:spPr>
            <a:xfrm>
              <a:off x="3796131" y="1579280"/>
              <a:ext cx="82129" cy="298785"/>
            </a:xfrm>
            <a:custGeom>
              <a:avLst/>
              <a:gdLst/>
              <a:ahLst/>
              <a:cxnLst/>
              <a:rect l="l" t="t" r="r" b="b"/>
              <a:pathLst>
                <a:path w="82129" h="298785">
                  <a:moveTo>
                    <a:pt x="82129" y="298785"/>
                  </a:moveTo>
                  <a:lnTo>
                    <a:pt x="72936" y="292537"/>
                  </a:lnTo>
                  <a:lnTo>
                    <a:pt x="64153" y="285725"/>
                  </a:lnTo>
                  <a:lnTo>
                    <a:pt x="55815" y="278374"/>
                  </a:lnTo>
                  <a:lnTo>
                    <a:pt x="47955" y="270514"/>
                  </a:lnTo>
                  <a:lnTo>
                    <a:pt x="40605" y="262176"/>
                  </a:lnTo>
                  <a:lnTo>
                    <a:pt x="33792" y="253393"/>
                  </a:lnTo>
                  <a:lnTo>
                    <a:pt x="27544" y="244200"/>
                  </a:lnTo>
                  <a:lnTo>
                    <a:pt x="21886" y="234632"/>
                  </a:lnTo>
                  <a:lnTo>
                    <a:pt x="16840" y="224729"/>
                  </a:lnTo>
                  <a:lnTo>
                    <a:pt x="12425" y="214527"/>
                  </a:lnTo>
                  <a:lnTo>
                    <a:pt x="8660" y="204069"/>
                  </a:lnTo>
                  <a:lnTo>
                    <a:pt x="5559" y="193395"/>
                  </a:lnTo>
                  <a:lnTo>
                    <a:pt x="3134" y="182547"/>
                  </a:lnTo>
                  <a:lnTo>
                    <a:pt x="1395" y="171569"/>
                  </a:lnTo>
                  <a:lnTo>
                    <a:pt x="349" y="160503"/>
                  </a:lnTo>
                  <a:lnTo>
                    <a:pt x="0" y="149393"/>
                  </a:lnTo>
                  <a:lnTo>
                    <a:pt x="349" y="138283"/>
                  </a:lnTo>
                  <a:lnTo>
                    <a:pt x="1395" y="127217"/>
                  </a:lnTo>
                  <a:lnTo>
                    <a:pt x="3134" y="116238"/>
                  </a:lnTo>
                  <a:lnTo>
                    <a:pt x="5559" y="105390"/>
                  </a:lnTo>
                  <a:lnTo>
                    <a:pt x="8660" y="94716"/>
                  </a:lnTo>
                  <a:lnTo>
                    <a:pt x="12425" y="84258"/>
                  </a:lnTo>
                  <a:lnTo>
                    <a:pt x="16840" y="74057"/>
                  </a:lnTo>
                  <a:lnTo>
                    <a:pt x="21886" y="64153"/>
                  </a:lnTo>
                  <a:lnTo>
                    <a:pt x="27544" y="54585"/>
                  </a:lnTo>
                  <a:lnTo>
                    <a:pt x="33792" y="45392"/>
                  </a:lnTo>
                  <a:lnTo>
                    <a:pt x="40605" y="36609"/>
                  </a:lnTo>
                  <a:lnTo>
                    <a:pt x="47955" y="28271"/>
                  </a:lnTo>
                  <a:lnTo>
                    <a:pt x="55815" y="20412"/>
                  </a:lnTo>
                  <a:lnTo>
                    <a:pt x="64153" y="13061"/>
                  </a:lnTo>
                  <a:lnTo>
                    <a:pt x="72936" y="6248"/>
                  </a:lnTo>
                  <a:lnTo>
                    <a:pt x="82129" y="0"/>
                  </a:lnTo>
                </a:path>
              </a:pathLst>
            </a:custGeom>
            <a:noFill/>
            <a:ln w="1905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48" name="图标线_0437"/>
            <p:cNvCxnSpPr/>
            <p:nvPr/>
          </p:nvCxnSpPr>
          <p:spPr>
            <a:xfrm>
              <a:off x="3973068" y="1769821"/>
              <a:ext cx="0" cy="106984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图标线_0438"/>
            <p:cNvCxnSpPr/>
            <p:nvPr/>
          </p:nvCxnSpPr>
          <p:spPr>
            <a:xfrm>
              <a:off x="3886657" y="1889150"/>
              <a:ext cx="172821" cy="0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文字_毫米波雷达_（前向）_0439"/>
          <p:cNvSpPr txBox="1"/>
          <p:nvPr/>
        </p:nvSpPr>
        <p:spPr>
          <a:xfrm>
            <a:off x="3550735" y="1234554"/>
            <a:ext cx="1097223" cy="396219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毫米波雷达</a:t>
            </a:r>
            <a:endParaRPr sz="1140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（前向）</a:t>
            </a:r>
            <a:endParaRPr sz="1140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感知范围示意_0440"/>
          <p:cNvSpPr/>
          <p:nvPr/>
        </p:nvSpPr>
        <p:spPr>
          <a:xfrm>
            <a:off x="3230712" y="1585056"/>
            <a:ext cx="226683" cy="162678"/>
          </a:xfrm>
          <a:custGeom>
            <a:avLst/>
            <a:gdLst/>
            <a:ahLst/>
            <a:cxnLst/>
            <a:rect l="l" t="t" r="r" b="b"/>
            <a:pathLst>
              <a:path w="272034" h="195224">
                <a:moveTo>
                  <a:pt x="128016" y="0"/>
                </a:moveTo>
                <a:lnTo>
                  <a:pt x="0" y="195224"/>
                </a:lnTo>
                <a:lnTo>
                  <a:pt x="272034" y="195224"/>
                </a:lnTo>
                <a:close/>
              </a:path>
            </a:pathLst>
          </a:custGeom>
          <a:solidFill>
            <a:srgbClr val="EC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grpSp>
        <p:nvGrpSpPr>
          <p:cNvPr id="52" name="图标_lidar_0441"/>
          <p:cNvGrpSpPr/>
          <p:nvPr/>
        </p:nvGrpSpPr>
        <p:grpSpPr>
          <a:xfrm>
            <a:off x="4712725" y="1334371"/>
            <a:ext cx="274306" cy="219444"/>
            <a:chOff x="5655564" y="1601114"/>
            <a:chExt cx="329184" cy="263347"/>
          </a:xfrm>
        </p:grpSpPr>
        <p:sp>
          <p:nvSpPr>
            <p:cNvPr id="53" name="图标部件_0442"/>
            <p:cNvSpPr/>
            <p:nvPr/>
          </p:nvSpPr>
          <p:spPr>
            <a:xfrm>
              <a:off x="5704941" y="1634032"/>
              <a:ext cx="230428" cy="164592"/>
            </a:xfrm>
            <a:prstGeom prst="roundRect">
              <a:avLst>
                <a:gd name="adj" fmla="val 10000"/>
              </a:avLst>
            </a:prstGeom>
            <a:solidFill>
              <a:srgbClr val="166AB1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54" name="图标部件_0443"/>
            <p:cNvSpPr/>
            <p:nvPr/>
          </p:nvSpPr>
          <p:spPr>
            <a:xfrm>
              <a:off x="5704941" y="1601114"/>
              <a:ext cx="230428" cy="86410"/>
            </a:xfrm>
            <a:prstGeom prst="ellipse">
              <a:avLst/>
            </a:prstGeom>
            <a:solidFill>
              <a:srgbClr val="EAF5FF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55" name="图标部件_0444"/>
            <p:cNvSpPr/>
            <p:nvPr/>
          </p:nvSpPr>
          <p:spPr>
            <a:xfrm>
              <a:off x="5667908" y="1757476"/>
              <a:ext cx="304495" cy="82296"/>
            </a:xfrm>
            <a:prstGeom prst="ellipse">
              <a:avLst/>
            </a:prstGeom>
            <a:noFill/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56" name="图标线_0445"/>
            <p:cNvCxnSpPr/>
            <p:nvPr/>
          </p:nvCxnSpPr>
          <p:spPr>
            <a:xfrm>
              <a:off x="5655564" y="1864461"/>
              <a:ext cx="329184" cy="0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文字_激光雷达_（可选）_0446"/>
          <p:cNvSpPr txBox="1"/>
          <p:nvPr/>
        </p:nvSpPr>
        <p:spPr>
          <a:xfrm>
            <a:off x="5089895" y="1234554"/>
            <a:ext cx="1097223" cy="396219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激光雷达</a:t>
            </a:r>
            <a:endParaRPr sz="1140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（可选）</a:t>
            </a:r>
            <a:endParaRPr sz="1140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感知范围示意_0447"/>
          <p:cNvSpPr/>
          <p:nvPr/>
        </p:nvSpPr>
        <p:spPr>
          <a:xfrm>
            <a:off x="4769872" y="1585056"/>
            <a:ext cx="226683" cy="162678"/>
          </a:xfrm>
          <a:custGeom>
            <a:avLst/>
            <a:gdLst/>
            <a:ahLst/>
            <a:cxnLst/>
            <a:rect l="l" t="t" r="r" b="b"/>
            <a:pathLst>
              <a:path w="272034" h="195224">
                <a:moveTo>
                  <a:pt x="128015" y="0"/>
                </a:moveTo>
                <a:lnTo>
                  <a:pt x="0" y="195224"/>
                </a:lnTo>
                <a:lnTo>
                  <a:pt x="272034" y="195224"/>
                </a:lnTo>
                <a:close/>
              </a:path>
            </a:pathLst>
          </a:custGeom>
          <a:solidFill>
            <a:srgbClr val="EC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grpSp>
        <p:nvGrpSpPr>
          <p:cNvPr id="59" name="图标_satellite_0448"/>
          <p:cNvGrpSpPr/>
          <p:nvPr/>
        </p:nvGrpSpPr>
        <p:grpSpPr>
          <a:xfrm>
            <a:off x="6278553" y="1272652"/>
            <a:ext cx="322309" cy="322309"/>
            <a:chOff x="7534656" y="1527048"/>
            <a:chExt cx="386791" cy="386791"/>
          </a:xfrm>
        </p:grpSpPr>
        <p:sp>
          <p:nvSpPr>
            <p:cNvPr id="60" name="图标部件_0449"/>
            <p:cNvSpPr/>
            <p:nvPr/>
          </p:nvSpPr>
          <p:spPr>
            <a:xfrm rot="2400000">
              <a:off x="7678674" y="1671066"/>
              <a:ext cx="123444" cy="123444"/>
            </a:xfrm>
            <a:prstGeom prst="rect">
              <a:avLst/>
            </a:prstGeom>
            <a:solidFill>
              <a:srgbClr val="166AB1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61" name="图标部件_0450"/>
            <p:cNvSpPr/>
            <p:nvPr/>
          </p:nvSpPr>
          <p:spPr>
            <a:xfrm rot="2400000">
              <a:off x="7534656" y="1527048"/>
              <a:ext cx="123444" cy="123444"/>
            </a:xfrm>
            <a:prstGeom prst="rect">
              <a:avLst/>
            </a:prstGeom>
            <a:noFill/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62" name="图标部件_0451"/>
            <p:cNvSpPr/>
            <p:nvPr/>
          </p:nvSpPr>
          <p:spPr>
            <a:xfrm rot="2400000">
              <a:off x="7798003" y="1527048"/>
              <a:ext cx="123444" cy="123444"/>
            </a:xfrm>
            <a:prstGeom prst="rect">
              <a:avLst/>
            </a:prstGeom>
            <a:noFill/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63" name="图标部件_0452"/>
            <p:cNvSpPr/>
            <p:nvPr/>
          </p:nvSpPr>
          <p:spPr>
            <a:xfrm rot="2400000">
              <a:off x="7534656" y="1790395"/>
              <a:ext cx="123444" cy="123444"/>
            </a:xfrm>
            <a:prstGeom prst="rect">
              <a:avLst/>
            </a:prstGeom>
            <a:noFill/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64" name="图标部件_0453"/>
            <p:cNvSpPr/>
            <p:nvPr/>
          </p:nvSpPr>
          <p:spPr>
            <a:xfrm rot="2400000">
              <a:off x="7798003" y="1790395"/>
              <a:ext cx="123444" cy="123444"/>
            </a:xfrm>
            <a:prstGeom prst="rect">
              <a:avLst/>
            </a:prstGeom>
            <a:noFill/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65" name="图标线_0454"/>
            <p:cNvCxnSpPr/>
            <p:nvPr/>
          </p:nvCxnSpPr>
          <p:spPr>
            <a:xfrm>
              <a:off x="7641640" y="1634032"/>
              <a:ext cx="57608" cy="57607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图标线_0455"/>
            <p:cNvCxnSpPr/>
            <p:nvPr/>
          </p:nvCxnSpPr>
          <p:spPr>
            <a:xfrm>
              <a:off x="7793888" y="1786280"/>
              <a:ext cx="61722" cy="61722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图标线_0456"/>
            <p:cNvCxnSpPr/>
            <p:nvPr/>
          </p:nvCxnSpPr>
          <p:spPr>
            <a:xfrm flipH="1">
              <a:off x="7777429" y="1638147"/>
              <a:ext cx="61722" cy="61722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图标线_0457"/>
            <p:cNvCxnSpPr/>
            <p:nvPr/>
          </p:nvCxnSpPr>
          <p:spPr>
            <a:xfrm flipV="1">
              <a:off x="7645755" y="1778050"/>
              <a:ext cx="53493" cy="53493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文字_GPS/IMU_（定位/惯导）_0458"/>
          <p:cNvSpPr txBox="1"/>
          <p:nvPr/>
        </p:nvSpPr>
        <p:spPr>
          <a:xfrm>
            <a:off x="6690012" y="1234554"/>
            <a:ext cx="1097223" cy="396219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GPS/IMU</a:t>
            </a:r>
            <a:endParaRPr sz="1140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（定位/惯导）</a:t>
            </a:r>
            <a:endParaRPr sz="1140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感知范围示意_0459"/>
          <p:cNvSpPr/>
          <p:nvPr/>
        </p:nvSpPr>
        <p:spPr>
          <a:xfrm>
            <a:off x="6369987" y="1585056"/>
            <a:ext cx="226683" cy="162678"/>
          </a:xfrm>
          <a:custGeom>
            <a:avLst/>
            <a:gdLst/>
            <a:ahLst/>
            <a:cxnLst/>
            <a:rect l="l" t="t" r="r" b="b"/>
            <a:pathLst>
              <a:path w="272034" h="195224">
                <a:moveTo>
                  <a:pt x="128017" y="0"/>
                </a:moveTo>
                <a:lnTo>
                  <a:pt x="0" y="195224"/>
                </a:lnTo>
                <a:lnTo>
                  <a:pt x="272034" y="195224"/>
                </a:lnTo>
                <a:close/>
              </a:path>
            </a:pathLst>
          </a:custGeom>
          <a:solidFill>
            <a:srgbClr val="EC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71" name="文字_超声波雷达_（左前）_0460"/>
          <p:cNvSpPr txBox="1"/>
          <p:nvPr/>
        </p:nvSpPr>
        <p:spPr>
          <a:xfrm>
            <a:off x="266686" y="2141287"/>
            <a:ext cx="716243" cy="411459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超声波雷达</a:t>
            </a:r>
            <a:endParaRPr sz="1010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（左前）</a:t>
            </a:r>
            <a:endParaRPr sz="1010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72" name="图标_radar_0461"/>
          <p:cNvGrpSpPr/>
          <p:nvPr/>
        </p:nvGrpSpPr>
        <p:grpSpPr>
          <a:xfrm>
            <a:off x="1017369" y="2225634"/>
            <a:ext cx="235904" cy="206568"/>
            <a:chOff x="1220906" y="2670686"/>
            <a:chExt cx="283099" cy="247895"/>
          </a:xfrm>
        </p:grpSpPr>
        <p:sp>
          <p:nvSpPr>
            <p:cNvPr id="73" name="图标部件_0462"/>
            <p:cNvSpPr/>
            <p:nvPr/>
          </p:nvSpPr>
          <p:spPr>
            <a:xfrm>
              <a:off x="1332829" y="2760573"/>
              <a:ext cx="59253" cy="59253"/>
            </a:xfrm>
            <a:prstGeom prst="ellipse">
              <a:avLst/>
            </a:prstGeom>
            <a:solidFill>
              <a:srgbClr val="166AB1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74" name="圆弧_0463"/>
            <p:cNvSpPr/>
            <p:nvPr/>
          </p:nvSpPr>
          <p:spPr>
            <a:xfrm>
              <a:off x="1410080" y="2715156"/>
              <a:ext cx="41255" cy="150087"/>
            </a:xfrm>
            <a:custGeom>
              <a:avLst/>
              <a:gdLst/>
              <a:ahLst/>
              <a:cxnLst/>
              <a:rect l="l" t="t" r="r" b="b"/>
              <a:pathLst>
                <a:path w="41255" h="150087">
                  <a:moveTo>
                    <a:pt x="0" y="0"/>
                  </a:moveTo>
                  <a:lnTo>
                    <a:pt x="4618" y="3138"/>
                  </a:lnTo>
                  <a:lnTo>
                    <a:pt x="9030" y="6561"/>
                  </a:lnTo>
                  <a:lnTo>
                    <a:pt x="13218" y="10253"/>
                  </a:lnTo>
                  <a:lnTo>
                    <a:pt x="17166" y="14201"/>
                  </a:lnTo>
                  <a:lnTo>
                    <a:pt x="20858" y="18390"/>
                  </a:lnTo>
                  <a:lnTo>
                    <a:pt x="24281" y="22801"/>
                  </a:lnTo>
                  <a:lnTo>
                    <a:pt x="27419" y="27420"/>
                  </a:lnTo>
                  <a:lnTo>
                    <a:pt x="30261" y="32226"/>
                  </a:lnTo>
                  <a:lnTo>
                    <a:pt x="32796" y="37201"/>
                  </a:lnTo>
                  <a:lnTo>
                    <a:pt x="35014" y="42325"/>
                  </a:lnTo>
                  <a:lnTo>
                    <a:pt x="36905" y="47578"/>
                  </a:lnTo>
                  <a:lnTo>
                    <a:pt x="38463" y="52940"/>
                  </a:lnTo>
                  <a:lnTo>
                    <a:pt x="39681" y="58389"/>
                  </a:lnTo>
                  <a:lnTo>
                    <a:pt x="40554" y="63904"/>
                  </a:lnTo>
                  <a:lnTo>
                    <a:pt x="41080" y="69463"/>
                  </a:lnTo>
                  <a:lnTo>
                    <a:pt x="41255" y="75044"/>
                  </a:lnTo>
                  <a:lnTo>
                    <a:pt x="41080" y="80624"/>
                  </a:lnTo>
                  <a:lnTo>
                    <a:pt x="40554" y="86183"/>
                  </a:lnTo>
                  <a:lnTo>
                    <a:pt x="39681" y="91698"/>
                  </a:lnTo>
                  <a:lnTo>
                    <a:pt x="38463" y="97147"/>
                  </a:lnTo>
                  <a:lnTo>
                    <a:pt x="36905" y="102509"/>
                  </a:lnTo>
                  <a:lnTo>
                    <a:pt x="35014" y="107762"/>
                  </a:lnTo>
                  <a:lnTo>
                    <a:pt x="32796" y="112887"/>
                  </a:lnTo>
                  <a:lnTo>
                    <a:pt x="30261" y="117862"/>
                  </a:lnTo>
                  <a:lnTo>
                    <a:pt x="27419" y="122668"/>
                  </a:lnTo>
                  <a:lnTo>
                    <a:pt x="24281" y="127286"/>
                  </a:lnTo>
                  <a:lnTo>
                    <a:pt x="20858" y="131698"/>
                  </a:lnTo>
                  <a:lnTo>
                    <a:pt x="17166" y="135886"/>
                  </a:lnTo>
                  <a:lnTo>
                    <a:pt x="13218" y="139834"/>
                  </a:lnTo>
                  <a:lnTo>
                    <a:pt x="9030" y="143527"/>
                  </a:lnTo>
                  <a:lnTo>
                    <a:pt x="4618" y="146949"/>
                  </a:lnTo>
                  <a:lnTo>
                    <a:pt x="0" y="150087"/>
                  </a:lnTo>
                </a:path>
              </a:pathLst>
            </a:custGeom>
            <a:noFill/>
            <a:ln w="1905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75" name="圆弧_0464"/>
            <p:cNvSpPr/>
            <p:nvPr/>
          </p:nvSpPr>
          <p:spPr>
            <a:xfrm>
              <a:off x="1273576" y="2715156"/>
              <a:ext cx="41255" cy="150087"/>
            </a:xfrm>
            <a:custGeom>
              <a:avLst/>
              <a:gdLst/>
              <a:ahLst/>
              <a:cxnLst/>
              <a:rect l="l" t="t" r="r" b="b"/>
              <a:pathLst>
                <a:path w="41255" h="150087">
                  <a:moveTo>
                    <a:pt x="41255" y="150087"/>
                  </a:moveTo>
                  <a:lnTo>
                    <a:pt x="36637" y="146949"/>
                  </a:lnTo>
                  <a:lnTo>
                    <a:pt x="32225" y="143527"/>
                  </a:lnTo>
                  <a:lnTo>
                    <a:pt x="28037" y="139834"/>
                  </a:lnTo>
                  <a:lnTo>
                    <a:pt x="24089" y="135886"/>
                  </a:lnTo>
                  <a:lnTo>
                    <a:pt x="20397" y="131698"/>
                  </a:lnTo>
                  <a:lnTo>
                    <a:pt x="16974" y="127286"/>
                  </a:lnTo>
                  <a:lnTo>
                    <a:pt x="13836" y="122668"/>
                  </a:lnTo>
                  <a:lnTo>
                    <a:pt x="10994" y="117862"/>
                  </a:lnTo>
                  <a:lnTo>
                    <a:pt x="8459" y="112887"/>
                  </a:lnTo>
                  <a:lnTo>
                    <a:pt x="6241" y="107762"/>
                  </a:lnTo>
                  <a:lnTo>
                    <a:pt x="4350" y="102509"/>
                  </a:lnTo>
                  <a:lnTo>
                    <a:pt x="2792" y="97147"/>
                  </a:lnTo>
                  <a:lnTo>
                    <a:pt x="1574" y="91698"/>
                  </a:lnTo>
                  <a:lnTo>
                    <a:pt x="701" y="86183"/>
                  </a:lnTo>
                  <a:lnTo>
                    <a:pt x="175" y="80624"/>
                  </a:lnTo>
                  <a:lnTo>
                    <a:pt x="0" y="75044"/>
                  </a:lnTo>
                  <a:lnTo>
                    <a:pt x="175" y="69463"/>
                  </a:lnTo>
                  <a:lnTo>
                    <a:pt x="701" y="63904"/>
                  </a:lnTo>
                  <a:lnTo>
                    <a:pt x="1574" y="58389"/>
                  </a:lnTo>
                  <a:lnTo>
                    <a:pt x="2792" y="52940"/>
                  </a:lnTo>
                  <a:lnTo>
                    <a:pt x="4350" y="47578"/>
                  </a:lnTo>
                  <a:lnTo>
                    <a:pt x="6241" y="42325"/>
                  </a:lnTo>
                  <a:lnTo>
                    <a:pt x="8459" y="37201"/>
                  </a:lnTo>
                  <a:lnTo>
                    <a:pt x="10994" y="32226"/>
                  </a:lnTo>
                  <a:lnTo>
                    <a:pt x="13836" y="27420"/>
                  </a:lnTo>
                  <a:lnTo>
                    <a:pt x="16974" y="22801"/>
                  </a:lnTo>
                  <a:lnTo>
                    <a:pt x="20397" y="18390"/>
                  </a:lnTo>
                  <a:lnTo>
                    <a:pt x="24089" y="14201"/>
                  </a:lnTo>
                  <a:lnTo>
                    <a:pt x="28037" y="10253"/>
                  </a:lnTo>
                  <a:lnTo>
                    <a:pt x="32225" y="6561"/>
                  </a:lnTo>
                  <a:lnTo>
                    <a:pt x="36637" y="3138"/>
                  </a:lnTo>
                  <a:lnTo>
                    <a:pt x="41255" y="0"/>
                  </a:lnTo>
                </a:path>
              </a:pathLst>
            </a:custGeom>
            <a:noFill/>
            <a:ln w="1905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76" name="圆弧_0465"/>
            <p:cNvSpPr/>
            <p:nvPr/>
          </p:nvSpPr>
          <p:spPr>
            <a:xfrm>
              <a:off x="1438301" y="2670686"/>
              <a:ext cx="65704" cy="239028"/>
            </a:xfrm>
            <a:custGeom>
              <a:avLst/>
              <a:gdLst/>
              <a:ahLst/>
              <a:cxnLst/>
              <a:rect l="l" t="t" r="r" b="b"/>
              <a:pathLst>
                <a:path w="65704" h="239028">
                  <a:moveTo>
                    <a:pt x="0" y="0"/>
                  </a:moveTo>
                  <a:lnTo>
                    <a:pt x="7355" y="4998"/>
                  </a:lnTo>
                  <a:lnTo>
                    <a:pt x="14381" y="10448"/>
                  </a:lnTo>
                  <a:lnTo>
                    <a:pt x="21052" y="16329"/>
                  </a:lnTo>
                  <a:lnTo>
                    <a:pt x="27339" y="22617"/>
                  </a:lnTo>
                  <a:lnTo>
                    <a:pt x="33220" y="29287"/>
                  </a:lnTo>
                  <a:lnTo>
                    <a:pt x="38670" y="36313"/>
                  </a:lnTo>
                  <a:lnTo>
                    <a:pt x="43668" y="43668"/>
                  </a:lnTo>
                  <a:lnTo>
                    <a:pt x="48195" y="51322"/>
                  </a:lnTo>
                  <a:lnTo>
                    <a:pt x="52232" y="59245"/>
                  </a:lnTo>
                  <a:lnTo>
                    <a:pt x="55764" y="67406"/>
                  </a:lnTo>
                  <a:lnTo>
                    <a:pt x="58776" y="75773"/>
                  </a:lnTo>
                  <a:lnTo>
                    <a:pt x="61257" y="84312"/>
                  </a:lnTo>
                  <a:lnTo>
                    <a:pt x="63196" y="92990"/>
                  </a:lnTo>
                  <a:lnTo>
                    <a:pt x="64587" y="101773"/>
                  </a:lnTo>
                  <a:lnTo>
                    <a:pt x="65424" y="110626"/>
                  </a:lnTo>
                  <a:lnTo>
                    <a:pt x="65704" y="119514"/>
                  </a:lnTo>
                  <a:lnTo>
                    <a:pt x="65424" y="128402"/>
                  </a:lnTo>
                  <a:lnTo>
                    <a:pt x="64587" y="137254"/>
                  </a:lnTo>
                  <a:lnTo>
                    <a:pt x="63196" y="146037"/>
                  </a:lnTo>
                  <a:lnTo>
                    <a:pt x="61257" y="154715"/>
                  </a:lnTo>
                  <a:lnTo>
                    <a:pt x="58776" y="163255"/>
                  </a:lnTo>
                  <a:lnTo>
                    <a:pt x="55764" y="171621"/>
                  </a:lnTo>
                  <a:lnTo>
                    <a:pt x="52232" y="179782"/>
                  </a:lnTo>
                  <a:lnTo>
                    <a:pt x="48195" y="187705"/>
                  </a:lnTo>
                  <a:lnTo>
                    <a:pt x="43668" y="195359"/>
                  </a:lnTo>
                  <a:lnTo>
                    <a:pt x="38670" y="202714"/>
                  </a:lnTo>
                  <a:lnTo>
                    <a:pt x="33220" y="209740"/>
                  </a:lnTo>
                  <a:lnTo>
                    <a:pt x="27339" y="216411"/>
                  </a:lnTo>
                  <a:lnTo>
                    <a:pt x="21052" y="222699"/>
                  </a:lnTo>
                  <a:lnTo>
                    <a:pt x="14381" y="228579"/>
                  </a:lnTo>
                  <a:lnTo>
                    <a:pt x="7355" y="234029"/>
                  </a:lnTo>
                  <a:lnTo>
                    <a:pt x="0" y="239028"/>
                  </a:lnTo>
                </a:path>
              </a:pathLst>
            </a:custGeom>
            <a:noFill/>
            <a:ln w="1905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77" name="圆弧_0466"/>
            <p:cNvSpPr/>
            <p:nvPr/>
          </p:nvSpPr>
          <p:spPr>
            <a:xfrm>
              <a:off x="1220906" y="2670686"/>
              <a:ext cx="65704" cy="239028"/>
            </a:xfrm>
            <a:custGeom>
              <a:avLst/>
              <a:gdLst/>
              <a:ahLst/>
              <a:cxnLst/>
              <a:rect l="l" t="t" r="r" b="b"/>
              <a:pathLst>
                <a:path w="65704" h="239028">
                  <a:moveTo>
                    <a:pt x="65704" y="239028"/>
                  </a:moveTo>
                  <a:lnTo>
                    <a:pt x="58349" y="234029"/>
                  </a:lnTo>
                  <a:lnTo>
                    <a:pt x="51323" y="228579"/>
                  </a:lnTo>
                  <a:lnTo>
                    <a:pt x="44652" y="222699"/>
                  </a:lnTo>
                  <a:lnTo>
                    <a:pt x="38365" y="216411"/>
                  </a:lnTo>
                  <a:lnTo>
                    <a:pt x="32484" y="209740"/>
                  </a:lnTo>
                  <a:lnTo>
                    <a:pt x="27034" y="202714"/>
                  </a:lnTo>
                  <a:lnTo>
                    <a:pt x="22036" y="195359"/>
                  </a:lnTo>
                  <a:lnTo>
                    <a:pt x="17509" y="187705"/>
                  </a:lnTo>
                  <a:lnTo>
                    <a:pt x="13472" y="179782"/>
                  </a:lnTo>
                  <a:lnTo>
                    <a:pt x="9940" y="171621"/>
                  </a:lnTo>
                  <a:lnTo>
                    <a:pt x="6928" y="163255"/>
                  </a:lnTo>
                  <a:lnTo>
                    <a:pt x="4447" y="154715"/>
                  </a:lnTo>
                  <a:lnTo>
                    <a:pt x="2508" y="146037"/>
                  </a:lnTo>
                  <a:lnTo>
                    <a:pt x="1117" y="137254"/>
                  </a:lnTo>
                  <a:lnTo>
                    <a:pt x="280" y="128402"/>
                  </a:lnTo>
                  <a:lnTo>
                    <a:pt x="0" y="119514"/>
                  </a:lnTo>
                  <a:lnTo>
                    <a:pt x="280" y="110626"/>
                  </a:lnTo>
                  <a:lnTo>
                    <a:pt x="1117" y="101773"/>
                  </a:lnTo>
                  <a:lnTo>
                    <a:pt x="2508" y="92990"/>
                  </a:lnTo>
                  <a:lnTo>
                    <a:pt x="4447" y="84312"/>
                  </a:lnTo>
                  <a:lnTo>
                    <a:pt x="6928" y="75773"/>
                  </a:lnTo>
                  <a:lnTo>
                    <a:pt x="9940" y="67406"/>
                  </a:lnTo>
                  <a:lnTo>
                    <a:pt x="13472" y="59245"/>
                  </a:lnTo>
                  <a:lnTo>
                    <a:pt x="17509" y="51322"/>
                  </a:lnTo>
                  <a:lnTo>
                    <a:pt x="22036" y="43668"/>
                  </a:lnTo>
                  <a:lnTo>
                    <a:pt x="27034" y="36313"/>
                  </a:lnTo>
                  <a:lnTo>
                    <a:pt x="32484" y="29287"/>
                  </a:lnTo>
                  <a:lnTo>
                    <a:pt x="38365" y="22617"/>
                  </a:lnTo>
                  <a:lnTo>
                    <a:pt x="44652" y="16329"/>
                  </a:lnTo>
                  <a:lnTo>
                    <a:pt x="51323" y="10448"/>
                  </a:lnTo>
                  <a:lnTo>
                    <a:pt x="58349" y="4998"/>
                  </a:lnTo>
                  <a:lnTo>
                    <a:pt x="65704" y="0"/>
                  </a:lnTo>
                </a:path>
              </a:pathLst>
            </a:custGeom>
            <a:noFill/>
            <a:ln w="1905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78" name="图标线_0467"/>
            <p:cNvCxnSpPr/>
            <p:nvPr/>
          </p:nvCxnSpPr>
          <p:spPr>
            <a:xfrm>
              <a:off x="1362456" y="2823118"/>
              <a:ext cx="0" cy="85588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图标线_0468"/>
            <p:cNvCxnSpPr/>
            <p:nvPr/>
          </p:nvCxnSpPr>
          <p:spPr>
            <a:xfrm>
              <a:off x="1293327" y="2918581"/>
              <a:ext cx="138257" cy="0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" name="文字_摄像头_（左侧）_0469"/>
          <p:cNvSpPr txBox="1"/>
          <p:nvPr/>
        </p:nvSpPr>
        <p:spPr>
          <a:xfrm>
            <a:off x="266686" y="3055639"/>
            <a:ext cx="716243" cy="411459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摄像头</a:t>
            </a:r>
            <a:endParaRPr sz="1010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（左侧）</a:t>
            </a:r>
            <a:endParaRPr sz="1010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81" name="图标_camera_0470"/>
          <p:cNvGrpSpPr/>
          <p:nvPr/>
        </p:nvGrpSpPr>
        <p:grpSpPr>
          <a:xfrm>
            <a:off x="1025598" y="3181972"/>
            <a:ext cx="205729" cy="131666"/>
            <a:chOff x="1230782" y="3818351"/>
            <a:chExt cx="246888" cy="158008"/>
          </a:xfrm>
        </p:grpSpPr>
        <p:sp>
          <p:nvSpPr>
            <p:cNvPr id="82" name="图标部件_0471"/>
            <p:cNvSpPr/>
            <p:nvPr/>
          </p:nvSpPr>
          <p:spPr>
            <a:xfrm>
              <a:off x="1230782" y="3818351"/>
              <a:ext cx="246888" cy="158008"/>
            </a:xfrm>
            <a:prstGeom prst="roundRect">
              <a:avLst>
                <a:gd name="adj" fmla="val 10000"/>
              </a:avLst>
            </a:prstGeom>
            <a:solidFill>
              <a:srgbClr val="166AB1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83" name="图标部件_0472"/>
            <p:cNvSpPr/>
            <p:nvPr/>
          </p:nvSpPr>
          <p:spPr>
            <a:xfrm>
              <a:off x="1313078" y="3844686"/>
              <a:ext cx="82296" cy="82296"/>
            </a:xfrm>
            <a:prstGeom prst="ellipse">
              <a:avLst/>
            </a:prstGeom>
            <a:solidFill>
              <a:srgbClr val="FFFFFF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84" name="图标线_0473"/>
            <p:cNvSpPr/>
            <p:nvPr/>
          </p:nvSpPr>
          <p:spPr>
            <a:xfrm>
              <a:off x="1454627" y="3818351"/>
              <a:ext cx="65837" cy="158008"/>
            </a:xfrm>
            <a:custGeom>
              <a:avLst/>
              <a:gdLst/>
              <a:ahLst/>
              <a:cxnLst/>
              <a:rect l="l" t="t" r="r" b="b"/>
              <a:pathLst>
                <a:path w="65837" h="158008">
                  <a:moveTo>
                    <a:pt x="0" y="32918"/>
                  </a:moveTo>
                  <a:lnTo>
                    <a:pt x="65837" y="0"/>
                  </a:lnTo>
                  <a:lnTo>
                    <a:pt x="65837" y="158008"/>
                  </a:lnTo>
                  <a:lnTo>
                    <a:pt x="0" y="121798"/>
                  </a:lnTo>
                  <a:close/>
                </a:path>
              </a:pathLst>
            </a:custGeom>
            <a:solidFill>
              <a:srgbClr val="166AB1"/>
            </a:solidFill>
            <a:ln w="2032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</p:grpSp>
      <p:sp>
        <p:nvSpPr>
          <p:cNvPr id="85" name="文字_摄像头_（左后）_0474"/>
          <p:cNvSpPr txBox="1"/>
          <p:nvPr/>
        </p:nvSpPr>
        <p:spPr>
          <a:xfrm>
            <a:off x="266686" y="4396690"/>
            <a:ext cx="716243" cy="411459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摄像头</a:t>
            </a:r>
            <a:endParaRPr sz="1010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（左后）</a:t>
            </a:r>
            <a:endParaRPr sz="1010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86" name="图标_camera_0475"/>
          <p:cNvGrpSpPr/>
          <p:nvPr/>
        </p:nvGrpSpPr>
        <p:grpSpPr>
          <a:xfrm>
            <a:off x="1025598" y="4523022"/>
            <a:ext cx="205729" cy="131666"/>
            <a:chOff x="1230782" y="5427695"/>
            <a:chExt cx="246888" cy="158008"/>
          </a:xfrm>
        </p:grpSpPr>
        <p:sp>
          <p:nvSpPr>
            <p:cNvPr id="87" name="图标部件_0476"/>
            <p:cNvSpPr/>
            <p:nvPr/>
          </p:nvSpPr>
          <p:spPr>
            <a:xfrm>
              <a:off x="1230782" y="5427695"/>
              <a:ext cx="246888" cy="158008"/>
            </a:xfrm>
            <a:prstGeom prst="roundRect">
              <a:avLst>
                <a:gd name="adj" fmla="val 10000"/>
              </a:avLst>
            </a:prstGeom>
            <a:solidFill>
              <a:srgbClr val="166AB1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88" name="图标部件_0477"/>
            <p:cNvSpPr/>
            <p:nvPr/>
          </p:nvSpPr>
          <p:spPr>
            <a:xfrm>
              <a:off x="1313078" y="5454030"/>
              <a:ext cx="82296" cy="82296"/>
            </a:xfrm>
            <a:prstGeom prst="ellipse">
              <a:avLst/>
            </a:prstGeom>
            <a:solidFill>
              <a:srgbClr val="FFFFFF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89" name="图标线_0478"/>
            <p:cNvSpPr/>
            <p:nvPr/>
          </p:nvSpPr>
          <p:spPr>
            <a:xfrm>
              <a:off x="1454627" y="5427695"/>
              <a:ext cx="65837" cy="158008"/>
            </a:xfrm>
            <a:custGeom>
              <a:avLst/>
              <a:gdLst/>
              <a:ahLst/>
              <a:cxnLst/>
              <a:rect l="l" t="t" r="r" b="b"/>
              <a:pathLst>
                <a:path w="65837" h="158008">
                  <a:moveTo>
                    <a:pt x="0" y="32918"/>
                  </a:moveTo>
                  <a:lnTo>
                    <a:pt x="65837" y="0"/>
                  </a:lnTo>
                  <a:lnTo>
                    <a:pt x="65837" y="158008"/>
                  </a:lnTo>
                  <a:lnTo>
                    <a:pt x="0" y="121798"/>
                  </a:lnTo>
                  <a:close/>
                </a:path>
              </a:pathLst>
            </a:custGeom>
            <a:solidFill>
              <a:srgbClr val="166AB1"/>
            </a:solidFill>
            <a:ln w="2032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</p:grpSp>
      <p:sp>
        <p:nvSpPr>
          <p:cNvPr id="90" name="文字_超声波雷达_（左后）_0479"/>
          <p:cNvSpPr txBox="1"/>
          <p:nvPr/>
        </p:nvSpPr>
        <p:spPr>
          <a:xfrm>
            <a:off x="266686" y="5303422"/>
            <a:ext cx="716243" cy="411459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超声波雷达</a:t>
            </a:r>
            <a:endParaRPr sz="1010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（左后）</a:t>
            </a:r>
            <a:endParaRPr sz="1010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91" name="图标_radar_0480"/>
          <p:cNvGrpSpPr/>
          <p:nvPr/>
        </p:nvGrpSpPr>
        <p:grpSpPr>
          <a:xfrm>
            <a:off x="1017369" y="5387770"/>
            <a:ext cx="235904" cy="206568"/>
            <a:chOff x="1220906" y="6465446"/>
            <a:chExt cx="283099" cy="247895"/>
          </a:xfrm>
        </p:grpSpPr>
        <p:sp>
          <p:nvSpPr>
            <p:cNvPr id="92" name="图标部件_0481"/>
            <p:cNvSpPr/>
            <p:nvPr/>
          </p:nvSpPr>
          <p:spPr>
            <a:xfrm>
              <a:off x="1332829" y="6555333"/>
              <a:ext cx="59253" cy="59253"/>
            </a:xfrm>
            <a:prstGeom prst="ellipse">
              <a:avLst/>
            </a:prstGeom>
            <a:solidFill>
              <a:srgbClr val="166AB1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93" name="圆弧_0482"/>
            <p:cNvSpPr/>
            <p:nvPr/>
          </p:nvSpPr>
          <p:spPr>
            <a:xfrm>
              <a:off x="1410080" y="6509916"/>
              <a:ext cx="41255" cy="150087"/>
            </a:xfrm>
            <a:custGeom>
              <a:avLst/>
              <a:gdLst/>
              <a:ahLst/>
              <a:cxnLst/>
              <a:rect l="l" t="t" r="r" b="b"/>
              <a:pathLst>
                <a:path w="41255" h="150087">
                  <a:moveTo>
                    <a:pt x="0" y="0"/>
                  </a:moveTo>
                  <a:lnTo>
                    <a:pt x="4618" y="3138"/>
                  </a:lnTo>
                  <a:lnTo>
                    <a:pt x="9030" y="6561"/>
                  </a:lnTo>
                  <a:lnTo>
                    <a:pt x="13218" y="10253"/>
                  </a:lnTo>
                  <a:lnTo>
                    <a:pt x="17166" y="14201"/>
                  </a:lnTo>
                  <a:lnTo>
                    <a:pt x="20858" y="18390"/>
                  </a:lnTo>
                  <a:lnTo>
                    <a:pt x="24281" y="22801"/>
                  </a:lnTo>
                  <a:lnTo>
                    <a:pt x="27419" y="27420"/>
                  </a:lnTo>
                  <a:lnTo>
                    <a:pt x="30261" y="32226"/>
                  </a:lnTo>
                  <a:lnTo>
                    <a:pt x="32796" y="37201"/>
                  </a:lnTo>
                  <a:lnTo>
                    <a:pt x="35014" y="42325"/>
                  </a:lnTo>
                  <a:lnTo>
                    <a:pt x="36905" y="47578"/>
                  </a:lnTo>
                  <a:lnTo>
                    <a:pt x="38463" y="52940"/>
                  </a:lnTo>
                  <a:lnTo>
                    <a:pt x="39681" y="58389"/>
                  </a:lnTo>
                  <a:lnTo>
                    <a:pt x="40554" y="63904"/>
                  </a:lnTo>
                  <a:lnTo>
                    <a:pt x="41080" y="69463"/>
                  </a:lnTo>
                  <a:lnTo>
                    <a:pt x="41255" y="75044"/>
                  </a:lnTo>
                  <a:lnTo>
                    <a:pt x="41080" y="80624"/>
                  </a:lnTo>
                  <a:lnTo>
                    <a:pt x="40554" y="86183"/>
                  </a:lnTo>
                  <a:lnTo>
                    <a:pt x="39681" y="91698"/>
                  </a:lnTo>
                  <a:lnTo>
                    <a:pt x="38463" y="97147"/>
                  </a:lnTo>
                  <a:lnTo>
                    <a:pt x="36905" y="102509"/>
                  </a:lnTo>
                  <a:lnTo>
                    <a:pt x="35014" y="107762"/>
                  </a:lnTo>
                  <a:lnTo>
                    <a:pt x="32796" y="112887"/>
                  </a:lnTo>
                  <a:lnTo>
                    <a:pt x="30261" y="117862"/>
                  </a:lnTo>
                  <a:lnTo>
                    <a:pt x="27419" y="122668"/>
                  </a:lnTo>
                  <a:lnTo>
                    <a:pt x="24281" y="127286"/>
                  </a:lnTo>
                  <a:lnTo>
                    <a:pt x="20858" y="131698"/>
                  </a:lnTo>
                  <a:lnTo>
                    <a:pt x="17166" y="135886"/>
                  </a:lnTo>
                  <a:lnTo>
                    <a:pt x="13218" y="139834"/>
                  </a:lnTo>
                  <a:lnTo>
                    <a:pt x="9030" y="143527"/>
                  </a:lnTo>
                  <a:lnTo>
                    <a:pt x="4618" y="146949"/>
                  </a:lnTo>
                  <a:lnTo>
                    <a:pt x="0" y="150087"/>
                  </a:lnTo>
                </a:path>
              </a:pathLst>
            </a:custGeom>
            <a:noFill/>
            <a:ln w="1905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94" name="圆弧_0483"/>
            <p:cNvSpPr/>
            <p:nvPr/>
          </p:nvSpPr>
          <p:spPr>
            <a:xfrm>
              <a:off x="1273576" y="6509916"/>
              <a:ext cx="41255" cy="150087"/>
            </a:xfrm>
            <a:custGeom>
              <a:avLst/>
              <a:gdLst/>
              <a:ahLst/>
              <a:cxnLst/>
              <a:rect l="l" t="t" r="r" b="b"/>
              <a:pathLst>
                <a:path w="41255" h="150087">
                  <a:moveTo>
                    <a:pt x="41255" y="150087"/>
                  </a:moveTo>
                  <a:lnTo>
                    <a:pt x="36637" y="146949"/>
                  </a:lnTo>
                  <a:lnTo>
                    <a:pt x="32225" y="143527"/>
                  </a:lnTo>
                  <a:lnTo>
                    <a:pt x="28037" y="139834"/>
                  </a:lnTo>
                  <a:lnTo>
                    <a:pt x="24089" y="135886"/>
                  </a:lnTo>
                  <a:lnTo>
                    <a:pt x="20397" y="131698"/>
                  </a:lnTo>
                  <a:lnTo>
                    <a:pt x="16974" y="127286"/>
                  </a:lnTo>
                  <a:lnTo>
                    <a:pt x="13836" y="122668"/>
                  </a:lnTo>
                  <a:lnTo>
                    <a:pt x="10994" y="117862"/>
                  </a:lnTo>
                  <a:lnTo>
                    <a:pt x="8459" y="112887"/>
                  </a:lnTo>
                  <a:lnTo>
                    <a:pt x="6241" y="107762"/>
                  </a:lnTo>
                  <a:lnTo>
                    <a:pt x="4350" y="102509"/>
                  </a:lnTo>
                  <a:lnTo>
                    <a:pt x="2792" y="97147"/>
                  </a:lnTo>
                  <a:lnTo>
                    <a:pt x="1574" y="91698"/>
                  </a:lnTo>
                  <a:lnTo>
                    <a:pt x="701" y="86183"/>
                  </a:lnTo>
                  <a:lnTo>
                    <a:pt x="175" y="80624"/>
                  </a:lnTo>
                  <a:lnTo>
                    <a:pt x="0" y="75044"/>
                  </a:lnTo>
                  <a:lnTo>
                    <a:pt x="175" y="69463"/>
                  </a:lnTo>
                  <a:lnTo>
                    <a:pt x="701" y="63904"/>
                  </a:lnTo>
                  <a:lnTo>
                    <a:pt x="1574" y="58389"/>
                  </a:lnTo>
                  <a:lnTo>
                    <a:pt x="2792" y="52940"/>
                  </a:lnTo>
                  <a:lnTo>
                    <a:pt x="4350" y="47578"/>
                  </a:lnTo>
                  <a:lnTo>
                    <a:pt x="6241" y="42325"/>
                  </a:lnTo>
                  <a:lnTo>
                    <a:pt x="8459" y="37201"/>
                  </a:lnTo>
                  <a:lnTo>
                    <a:pt x="10994" y="32226"/>
                  </a:lnTo>
                  <a:lnTo>
                    <a:pt x="13836" y="27420"/>
                  </a:lnTo>
                  <a:lnTo>
                    <a:pt x="16974" y="22801"/>
                  </a:lnTo>
                  <a:lnTo>
                    <a:pt x="20397" y="18390"/>
                  </a:lnTo>
                  <a:lnTo>
                    <a:pt x="24089" y="14201"/>
                  </a:lnTo>
                  <a:lnTo>
                    <a:pt x="28037" y="10253"/>
                  </a:lnTo>
                  <a:lnTo>
                    <a:pt x="32225" y="6561"/>
                  </a:lnTo>
                  <a:lnTo>
                    <a:pt x="36637" y="3138"/>
                  </a:lnTo>
                  <a:lnTo>
                    <a:pt x="41255" y="0"/>
                  </a:lnTo>
                </a:path>
              </a:pathLst>
            </a:custGeom>
            <a:noFill/>
            <a:ln w="1905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95" name="圆弧_0484"/>
            <p:cNvSpPr/>
            <p:nvPr/>
          </p:nvSpPr>
          <p:spPr>
            <a:xfrm>
              <a:off x="1438301" y="6465446"/>
              <a:ext cx="65704" cy="239028"/>
            </a:xfrm>
            <a:custGeom>
              <a:avLst/>
              <a:gdLst/>
              <a:ahLst/>
              <a:cxnLst/>
              <a:rect l="l" t="t" r="r" b="b"/>
              <a:pathLst>
                <a:path w="65704" h="239028">
                  <a:moveTo>
                    <a:pt x="0" y="0"/>
                  </a:moveTo>
                  <a:lnTo>
                    <a:pt x="7355" y="4998"/>
                  </a:lnTo>
                  <a:lnTo>
                    <a:pt x="14381" y="10448"/>
                  </a:lnTo>
                  <a:lnTo>
                    <a:pt x="21052" y="16329"/>
                  </a:lnTo>
                  <a:lnTo>
                    <a:pt x="27339" y="22617"/>
                  </a:lnTo>
                  <a:lnTo>
                    <a:pt x="33220" y="29287"/>
                  </a:lnTo>
                  <a:lnTo>
                    <a:pt x="38670" y="36313"/>
                  </a:lnTo>
                  <a:lnTo>
                    <a:pt x="43668" y="43668"/>
                  </a:lnTo>
                  <a:lnTo>
                    <a:pt x="48195" y="51322"/>
                  </a:lnTo>
                  <a:lnTo>
                    <a:pt x="52232" y="59245"/>
                  </a:lnTo>
                  <a:lnTo>
                    <a:pt x="55764" y="67406"/>
                  </a:lnTo>
                  <a:lnTo>
                    <a:pt x="58776" y="75773"/>
                  </a:lnTo>
                  <a:lnTo>
                    <a:pt x="61257" y="84312"/>
                  </a:lnTo>
                  <a:lnTo>
                    <a:pt x="63196" y="92990"/>
                  </a:lnTo>
                  <a:lnTo>
                    <a:pt x="64587" y="101773"/>
                  </a:lnTo>
                  <a:lnTo>
                    <a:pt x="65424" y="110626"/>
                  </a:lnTo>
                  <a:lnTo>
                    <a:pt x="65704" y="119514"/>
                  </a:lnTo>
                  <a:lnTo>
                    <a:pt x="65424" y="128402"/>
                  </a:lnTo>
                  <a:lnTo>
                    <a:pt x="64587" y="137254"/>
                  </a:lnTo>
                  <a:lnTo>
                    <a:pt x="63196" y="146037"/>
                  </a:lnTo>
                  <a:lnTo>
                    <a:pt x="61257" y="154715"/>
                  </a:lnTo>
                  <a:lnTo>
                    <a:pt x="58776" y="163255"/>
                  </a:lnTo>
                  <a:lnTo>
                    <a:pt x="55764" y="171621"/>
                  </a:lnTo>
                  <a:lnTo>
                    <a:pt x="52232" y="179782"/>
                  </a:lnTo>
                  <a:lnTo>
                    <a:pt x="48195" y="187705"/>
                  </a:lnTo>
                  <a:lnTo>
                    <a:pt x="43668" y="195359"/>
                  </a:lnTo>
                  <a:lnTo>
                    <a:pt x="38670" y="202714"/>
                  </a:lnTo>
                  <a:lnTo>
                    <a:pt x="33220" y="209740"/>
                  </a:lnTo>
                  <a:lnTo>
                    <a:pt x="27339" y="216411"/>
                  </a:lnTo>
                  <a:lnTo>
                    <a:pt x="21052" y="222699"/>
                  </a:lnTo>
                  <a:lnTo>
                    <a:pt x="14381" y="228579"/>
                  </a:lnTo>
                  <a:lnTo>
                    <a:pt x="7355" y="234029"/>
                  </a:lnTo>
                  <a:lnTo>
                    <a:pt x="0" y="239028"/>
                  </a:lnTo>
                </a:path>
              </a:pathLst>
            </a:custGeom>
            <a:noFill/>
            <a:ln w="1905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96" name="圆弧_0485"/>
            <p:cNvSpPr/>
            <p:nvPr/>
          </p:nvSpPr>
          <p:spPr>
            <a:xfrm>
              <a:off x="1220906" y="6465446"/>
              <a:ext cx="65704" cy="239028"/>
            </a:xfrm>
            <a:custGeom>
              <a:avLst/>
              <a:gdLst/>
              <a:ahLst/>
              <a:cxnLst/>
              <a:rect l="l" t="t" r="r" b="b"/>
              <a:pathLst>
                <a:path w="65704" h="239028">
                  <a:moveTo>
                    <a:pt x="65704" y="239028"/>
                  </a:moveTo>
                  <a:lnTo>
                    <a:pt x="58349" y="234029"/>
                  </a:lnTo>
                  <a:lnTo>
                    <a:pt x="51323" y="228579"/>
                  </a:lnTo>
                  <a:lnTo>
                    <a:pt x="44652" y="222699"/>
                  </a:lnTo>
                  <a:lnTo>
                    <a:pt x="38365" y="216411"/>
                  </a:lnTo>
                  <a:lnTo>
                    <a:pt x="32484" y="209740"/>
                  </a:lnTo>
                  <a:lnTo>
                    <a:pt x="27034" y="202714"/>
                  </a:lnTo>
                  <a:lnTo>
                    <a:pt x="22036" y="195359"/>
                  </a:lnTo>
                  <a:lnTo>
                    <a:pt x="17509" y="187705"/>
                  </a:lnTo>
                  <a:lnTo>
                    <a:pt x="13472" y="179782"/>
                  </a:lnTo>
                  <a:lnTo>
                    <a:pt x="9940" y="171621"/>
                  </a:lnTo>
                  <a:lnTo>
                    <a:pt x="6928" y="163255"/>
                  </a:lnTo>
                  <a:lnTo>
                    <a:pt x="4447" y="154715"/>
                  </a:lnTo>
                  <a:lnTo>
                    <a:pt x="2508" y="146037"/>
                  </a:lnTo>
                  <a:lnTo>
                    <a:pt x="1117" y="137254"/>
                  </a:lnTo>
                  <a:lnTo>
                    <a:pt x="280" y="128402"/>
                  </a:lnTo>
                  <a:lnTo>
                    <a:pt x="0" y="119514"/>
                  </a:lnTo>
                  <a:lnTo>
                    <a:pt x="280" y="110626"/>
                  </a:lnTo>
                  <a:lnTo>
                    <a:pt x="1117" y="101773"/>
                  </a:lnTo>
                  <a:lnTo>
                    <a:pt x="2508" y="92990"/>
                  </a:lnTo>
                  <a:lnTo>
                    <a:pt x="4447" y="84312"/>
                  </a:lnTo>
                  <a:lnTo>
                    <a:pt x="6928" y="75773"/>
                  </a:lnTo>
                  <a:lnTo>
                    <a:pt x="9940" y="67406"/>
                  </a:lnTo>
                  <a:lnTo>
                    <a:pt x="13472" y="59245"/>
                  </a:lnTo>
                  <a:lnTo>
                    <a:pt x="17509" y="51322"/>
                  </a:lnTo>
                  <a:lnTo>
                    <a:pt x="22036" y="43668"/>
                  </a:lnTo>
                  <a:lnTo>
                    <a:pt x="27034" y="36313"/>
                  </a:lnTo>
                  <a:lnTo>
                    <a:pt x="32484" y="29287"/>
                  </a:lnTo>
                  <a:lnTo>
                    <a:pt x="38365" y="22617"/>
                  </a:lnTo>
                  <a:lnTo>
                    <a:pt x="44652" y="16329"/>
                  </a:lnTo>
                  <a:lnTo>
                    <a:pt x="51323" y="10448"/>
                  </a:lnTo>
                  <a:lnTo>
                    <a:pt x="58349" y="4998"/>
                  </a:lnTo>
                  <a:lnTo>
                    <a:pt x="65704" y="0"/>
                  </a:lnTo>
                </a:path>
              </a:pathLst>
            </a:custGeom>
            <a:noFill/>
            <a:ln w="1905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97" name="图标线_0486"/>
            <p:cNvCxnSpPr/>
            <p:nvPr/>
          </p:nvCxnSpPr>
          <p:spPr>
            <a:xfrm>
              <a:off x="1362456" y="6617878"/>
              <a:ext cx="0" cy="85588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图标线_0487"/>
            <p:cNvCxnSpPr/>
            <p:nvPr/>
          </p:nvCxnSpPr>
          <p:spPr>
            <a:xfrm>
              <a:off x="1293327" y="6713341"/>
              <a:ext cx="138257" cy="0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图标_radar_0488"/>
          <p:cNvGrpSpPr/>
          <p:nvPr/>
        </p:nvGrpSpPr>
        <p:grpSpPr>
          <a:xfrm>
            <a:off x="7676902" y="2225634"/>
            <a:ext cx="235904" cy="206568"/>
            <a:chOff x="9212762" y="2670686"/>
            <a:chExt cx="283099" cy="247895"/>
          </a:xfrm>
        </p:grpSpPr>
        <p:sp>
          <p:nvSpPr>
            <p:cNvPr id="100" name="图标部件_0489"/>
            <p:cNvSpPr/>
            <p:nvPr/>
          </p:nvSpPr>
          <p:spPr>
            <a:xfrm>
              <a:off x="9324685" y="2760573"/>
              <a:ext cx="59253" cy="59253"/>
            </a:xfrm>
            <a:prstGeom prst="ellipse">
              <a:avLst/>
            </a:prstGeom>
            <a:solidFill>
              <a:srgbClr val="166AB1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101" name="圆弧_0490"/>
            <p:cNvSpPr/>
            <p:nvPr/>
          </p:nvSpPr>
          <p:spPr>
            <a:xfrm>
              <a:off x="9401936" y="2715156"/>
              <a:ext cx="41255" cy="150087"/>
            </a:xfrm>
            <a:custGeom>
              <a:avLst/>
              <a:gdLst/>
              <a:ahLst/>
              <a:cxnLst/>
              <a:rect l="l" t="t" r="r" b="b"/>
              <a:pathLst>
                <a:path w="41255" h="150087">
                  <a:moveTo>
                    <a:pt x="0" y="0"/>
                  </a:moveTo>
                  <a:lnTo>
                    <a:pt x="4618" y="3138"/>
                  </a:lnTo>
                  <a:lnTo>
                    <a:pt x="9030" y="6561"/>
                  </a:lnTo>
                  <a:lnTo>
                    <a:pt x="13218" y="10253"/>
                  </a:lnTo>
                  <a:lnTo>
                    <a:pt x="17166" y="14201"/>
                  </a:lnTo>
                  <a:lnTo>
                    <a:pt x="20858" y="18390"/>
                  </a:lnTo>
                  <a:lnTo>
                    <a:pt x="24281" y="22801"/>
                  </a:lnTo>
                  <a:lnTo>
                    <a:pt x="27419" y="27420"/>
                  </a:lnTo>
                  <a:lnTo>
                    <a:pt x="30261" y="32226"/>
                  </a:lnTo>
                  <a:lnTo>
                    <a:pt x="32796" y="37201"/>
                  </a:lnTo>
                  <a:lnTo>
                    <a:pt x="35014" y="42325"/>
                  </a:lnTo>
                  <a:lnTo>
                    <a:pt x="36905" y="47578"/>
                  </a:lnTo>
                  <a:lnTo>
                    <a:pt x="38463" y="52940"/>
                  </a:lnTo>
                  <a:lnTo>
                    <a:pt x="39681" y="58389"/>
                  </a:lnTo>
                  <a:lnTo>
                    <a:pt x="40554" y="63904"/>
                  </a:lnTo>
                  <a:lnTo>
                    <a:pt x="41080" y="69463"/>
                  </a:lnTo>
                  <a:lnTo>
                    <a:pt x="41255" y="75044"/>
                  </a:lnTo>
                  <a:lnTo>
                    <a:pt x="41080" y="80624"/>
                  </a:lnTo>
                  <a:lnTo>
                    <a:pt x="40554" y="86183"/>
                  </a:lnTo>
                  <a:lnTo>
                    <a:pt x="39681" y="91698"/>
                  </a:lnTo>
                  <a:lnTo>
                    <a:pt x="38463" y="97147"/>
                  </a:lnTo>
                  <a:lnTo>
                    <a:pt x="36905" y="102509"/>
                  </a:lnTo>
                  <a:lnTo>
                    <a:pt x="35014" y="107762"/>
                  </a:lnTo>
                  <a:lnTo>
                    <a:pt x="32796" y="112887"/>
                  </a:lnTo>
                  <a:lnTo>
                    <a:pt x="30261" y="117862"/>
                  </a:lnTo>
                  <a:lnTo>
                    <a:pt x="27419" y="122668"/>
                  </a:lnTo>
                  <a:lnTo>
                    <a:pt x="24281" y="127286"/>
                  </a:lnTo>
                  <a:lnTo>
                    <a:pt x="20858" y="131698"/>
                  </a:lnTo>
                  <a:lnTo>
                    <a:pt x="17166" y="135886"/>
                  </a:lnTo>
                  <a:lnTo>
                    <a:pt x="13218" y="139834"/>
                  </a:lnTo>
                  <a:lnTo>
                    <a:pt x="9030" y="143527"/>
                  </a:lnTo>
                  <a:lnTo>
                    <a:pt x="4618" y="146949"/>
                  </a:lnTo>
                  <a:lnTo>
                    <a:pt x="0" y="150087"/>
                  </a:lnTo>
                </a:path>
              </a:pathLst>
            </a:custGeom>
            <a:noFill/>
            <a:ln w="1905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102" name="圆弧_0491"/>
            <p:cNvSpPr/>
            <p:nvPr/>
          </p:nvSpPr>
          <p:spPr>
            <a:xfrm>
              <a:off x="9265432" y="2715156"/>
              <a:ext cx="41255" cy="150087"/>
            </a:xfrm>
            <a:custGeom>
              <a:avLst/>
              <a:gdLst/>
              <a:ahLst/>
              <a:cxnLst/>
              <a:rect l="l" t="t" r="r" b="b"/>
              <a:pathLst>
                <a:path w="41255" h="150087">
                  <a:moveTo>
                    <a:pt x="41255" y="150087"/>
                  </a:moveTo>
                  <a:lnTo>
                    <a:pt x="36637" y="146949"/>
                  </a:lnTo>
                  <a:lnTo>
                    <a:pt x="32225" y="143527"/>
                  </a:lnTo>
                  <a:lnTo>
                    <a:pt x="28037" y="139834"/>
                  </a:lnTo>
                  <a:lnTo>
                    <a:pt x="24089" y="135886"/>
                  </a:lnTo>
                  <a:lnTo>
                    <a:pt x="20397" y="131698"/>
                  </a:lnTo>
                  <a:lnTo>
                    <a:pt x="16974" y="127286"/>
                  </a:lnTo>
                  <a:lnTo>
                    <a:pt x="13836" y="122668"/>
                  </a:lnTo>
                  <a:lnTo>
                    <a:pt x="10994" y="117862"/>
                  </a:lnTo>
                  <a:lnTo>
                    <a:pt x="8459" y="112887"/>
                  </a:lnTo>
                  <a:lnTo>
                    <a:pt x="6241" y="107762"/>
                  </a:lnTo>
                  <a:lnTo>
                    <a:pt x="4350" y="102509"/>
                  </a:lnTo>
                  <a:lnTo>
                    <a:pt x="2792" y="97147"/>
                  </a:lnTo>
                  <a:lnTo>
                    <a:pt x="1574" y="91698"/>
                  </a:lnTo>
                  <a:lnTo>
                    <a:pt x="701" y="86183"/>
                  </a:lnTo>
                  <a:lnTo>
                    <a:pt x="175" y="80624"/>
                  </a:lnTo>
                  <a:lnTo>
                    <a:pt x="0" y="75044"/>
                  </a:lnTo>
                  <a:lnTo>
                    <a:pt x="175" y="69463"/>
                  </a:lnTo>
                  <a:lnTo>
                    <a:pt x="701" y="63904"/>
                  </a:lnTo>
                  <a:lnTo>
                    <a:pt x="1574" y="58389"/>
                  </a:lnTo>
                  <a:lnTo>
                    <a:pt x="2792" y="52940"/>
                  </a:lnTo>
                  <a:lnTo>
                    <a:pt x="4350" y="47578"/>
                  </a:lnTo>
                  <a:lnTo>
                    <a:pt x="6241" y="42325"/>
                  </a:lnTo>
                  <a:lnTo>
                    <a:pt x="8459" y="37201"/>
                  </a:lnTo>
                  <a:lnTo>
                    <a:pt x="10994" y="32226"/>
                  </a:lnTo>
                  <a:lnTo>
                    <a:pt x="13836" y="27420"/>
                  </a:lnTo>
                  <a:lnTo>
                    <a:pt x="16974" y="22801"/>
                  </a:lnTo>
                  <a:lnTo>
                    <a:pt x="20397" y="18390"/>
                  </a:lnTo>
                  <a:lnTo>
                    <a:pt x="24089" y="14201"/>
                  </a:lnTo>
                  <a:lnTo>
                    <a:pt x="28037" y="10253"/>
                  </a:lnTo>
                  <a:lnTo>
                    <a:pt x="32225" y="6561"/>
                  </a:lnTo>
                  <a:lnTo>
                    <a:pt x="36637" y="3138"/>
                  </a:lnTo>
                  <a:lnTo>
                    <a:pt x="41255" y="0"/>
                  </a:lnTo>
                </a:path>
              </a:pathLst>
            </a:custGeom>
            <a:noFill/>
            <a:ln w="1905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103" name="圆弧_0492"/>
            <p:cNvSpPr/>
            <p:nvPr/>
          </p:nvSpPr>
          <p:spPr>
            <a:xfrm>
              <a:off x="9430157" y="2670686"/>
              <a:ext cx="65704" cy="239028"/>
            </a:xfrm>
            <a:custGeom>
              <a:avLst/>
              <a:gdLst/>
              <a:ahLst/>
              <a:cxnLst/>
              <a:rect l="l" t="t" r="r" b="b"/>
              <a:pathLst>
                <a:path w="65704" h="239028">
                  <a:moveTo>
                    <a:pt x="0" y="0"/>
                  </a:moveTo>
                  <a:lnTo>
                    <a:pt x="7355" y="4998"/>
                  </a:lnTo>
                  <a:lnTo>
                    <a:pt x="14381" y="10448"/>
                  </a:lnTo>
                  <a:lnTo>
                    <a:pt x="21052" y="16329"/>
                  </a:lnTo>
                  <a:lnTo>
                    <a:pt x="27339" y="22617"/>
                  </a:lnTo>
                  <a:lnTo>
                    <a:pt x="33220" y="29287"/>
                  </a:lnTo>
                  <a:lnTo>
                    <a:pt x="38670" y="36313"/>
                  </a:lnTo>
                  <a:lnTo>
                    <a:pt x="43668" y="43668"/>
                  </a:lnTo>
                  <a:lnTo>
                    <a:pt x="48195" y="51322"/>
                  </a:lnTo>
                  <a:lnTo>
                    <a:pt x="52232" y="59245"/>
                  </a:lnTo>
                  <a:lnTo>
                    <a:pt x="55764" y="67406"/>
                  </a:lnTo>
                  <a:lnTo>
                    <a:pt x="58776" y="75773"/>
                  </a:lnTo>
                  <a:lnTo>
                    <a:pt x="61257" y="84312"/>
                  </a:lnTo>
                  <a:lnTo>
                    <a:pt x="63196" y="92990"/>
                  </a:lnTo>
                  <a:lnTo>
                    <a:pt x="64587" y="101773"/>
                  </a:lnTo>
                  <a:lnTo>
                    <a:pt x="65424" y="110626"/>
                  </a:lnTo>
                  <a:lnTo>
                    <a:pt x="65704" y="119514"/>
                  </a:lnTo>
                  <a:lnTo>
                    <a:pt x="65424" y="128402"/>
                  </a:lnTo>
                  <a:lnTo>
                    <a:pt x="64587" y="137254"/>
                  </a:lnTo>
                  <a:lnTo>
                    <a:pt x="63196" y="146037"/>
                  </a:lnTo>
                  <a:lnTo>
                    <a:pt x="61257" y="154715"/>
                  </a:lnTo>
                  <a:lnTo>
                    <a:pt x="58776" y="163255"/>
                  </a:lnTo>
                  <a:lnTo>
                    <a:pt x="55764" y="171621"/>
                  </a:lnTo>
                  <a:lnTo>
                    <a:pt x="52232" y="179782"/>
                  </a:lnTo>
                  <a:lnTo>
                    <a:pt x="48195" y="187705"/>
                  </a:lnTo>
                  <a:lnTo>
                    <a:pt x="43668" y="195359"/>
                  </a:lnTo>
                  <a:lnTo>
                    <a:pt x="38670" y="202714"/>
                  </a:lnTo>
                  <a:lnTo>
                    <a:pt x="33220" y="209740"/>
                  </a:lnTo>
                  <a:lnTo>
                    <a:pt x="27339" y="216411"/>
                  </a:lnTo>
                  <a:lnTo>
                    <a:pt x="21052" y="222699"/>
                  </a:lnTo>
                  <a:lnTo>
                    <a:pt x="14381" y="228579"/>
                  </a:lnTo>
                  <a:lnTo>
                    <a:pt x="7355" y="234029"/>
                  </a:lnTo>
                  <a:lnTo>
                    <a:pt x="0" y="239028"/>
                  </a:lnTo>
                </a:path>
              </a:pathLst>
            </a:custGeom>
            <a:noFill/>
            <a:ln w="1905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104" name="圆弧_0493"/>
            <p:cNvSpPr/>
            <p:nvPr/>
          </p:nvSpPr>
          <p:spPr>
            <a:xfrm>
              <a:off x="9212762" y="2670686"/>
              <a:ext cx="65704" cy="239028"/>
            </a:xfrm>
            <a:custGeom>
              <a:avLst/>
              <a:gdLst/>
              <a:ahLst/>
              <a:cxnLst/>
              <a:rect l="l" t="t" r="r" b="b"/>
              <a:pathLst>
                <a:path w="65704" h="239028">
                  <a:moveTo>
                    <a:pt x="65704" y="239028"/>
                  </a:moveTo>
                  <a:lnTo>
                    <a:pt x="58349" y="234029"/>
                  </a:lnTo>
                  <a:lnTo>
                    <a:pt x="51323" y="228579"/>
                  </a:lnTo>
                  <a:lnTo>
                    <a:pt x="44652" y="222699"/>
                  </a:lnTo>
                  <a:lnTo>
                    <a:pt x="38365" y="216411"/>
                  </a:lnTo>
                  <a:lnTo>
                    <a:pt x="32484" y="209740"/>
                  </a:lnTo>
                  <a:lnTo>
                    <a:pt x="27034" y="202714"/>
                  </a:lnTo>
                  <a:lnTo>
                    <a:pt x="22036" y="195359"/>
                  </a:lnTo>
                  <a:lnTo>
                    <a:pt x="17509" y="187705"/>
                  </a:lnTo>
                  <a:lnTo>
                    <a:pt x="13472" y="179782"/>
                  </a:lnTo>
                  <a:lnTo>
                    <a:pt x="9940" y="171621"/>
                  </a:lnTo>
                  <a:lnTo>
                    <a:pt x="6928" y="163255"/>
                  </a:lnTo>
                  <a:lnTo>
                    <a:pt x="4447" y="154715"/>
                  </a:lnTo>
                  <a:lnTo>
                    <a:pt x="2508" y="146037"/>
                  </a:lnTo>
                  <a:lnTo>
                    <a:pt x="1117" y="137254"/>
                  </a:lnTo>
                  <a:lnTo>
                    <a:pt x="280" y="128402"/>
                  </a:lnTo>
                  <a:lnTo>
                    <a:pt x="0" y="119514"/>
                  </a:lnTo>
                  <a:lnTo>
                    <a:pt x="280" y="110626"/>
                  </a:lnTo>
                  <a:lnTo>
                    <a:pt x="1117" y="101773"/>
                  </a:lnTo>
                  <a:lnTo>
                    <a:pt x="2508" y="92990"/>
                  </a:lnTo>
                  <a:lnTo>
                    <a:pt x="4447" y="84312"/>
                  </a:lnTo>
                  <a:lnTo>
                    <a:pt x="6928" y="75773"/>
                  </a:lnTo>
                  <a:lnTo>
                    <a:pt x="9940" y="67406"/>
                  </a:lnTo>
                  <a:lnTo>
                    <a:pt x="13472" y="59245"/>
                  </a:lnTo>
                  <a:lnTo>
                    <a:pt x="17509" y="51322"/>
                  </a:lnTo>
                  <a:lnTo>
                    <a:pt x="22036" y="43668"/>
                  </a:lnTo>
                  <a:lnTo>
                    <a:pt x="27034" y="36313"/>
                  </a:lnTo>
                  <a:lnTo>
                    <a:pt x="32484" y="29287"/>
                  </a:lnTo>
                  <a:lnTo>
                    <a:pt x="38365" y="22617"/>
                  </a:lnTo>
                  <a:lnTo>
                    <a:pt x="44652" y="16329"/>
                  </a:lnTo>
                  <a:lnTo>
                    <a:pt x="51323" y="10448"/>
                  </a:lnTo>
                  <a:lnTo>
                    <a:pt x="58349" y="4998"/>
                  </a:lnTo>
                  <a:lnTo>
                    <a:pt x="65704" y="0"/>
                  </a:lnTo>
                </a:path>
              </a:pathLst>
            </a:custGeom>
            <a:noFill/>
            <a:ln w="1905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105" name="图标线_0494"/>
            <p:cNvCxnSpPr/>
            <p:nvPr/>
          </p:nvCxnSpPr>
          <p:spPr>
            <a:xfrm>
              <a:off x="9354312" y="2823118"/>
              <a:ext cx="0" cy="85588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图标线_0495"/>
            <p:cNvCxnSpPr/>
            <p:nvPr/>
          </p:nvCxnSpPr>
          <p:spPr>
            <a:xfrm>
              <a:off x="9285183" y="2918581"/>
              <a:ext cx="138257" cy="0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" name="文字_超声波雷达_（右前）_0496"/>
          <p:cNvSpPr txBox="1"/>
          <p:nvPr/>
        </p:nvSpPr>
        <p:spPr>
          <a:xfrm>
            <a:off x="7924387" y="2141287"/>
            <a:ext cx="693384" cy="411459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5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超声波雷达</a:t>
            </a:r>
            <a:endParaRPr sz="935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5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（右前）</a:t>
            </a:r>
            <a:endParaRPr sz="935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08" name="图标_camera_0497"/>
          <p:cNvGrpSpPr/>
          <p:nvPr/>
        </p:nvGrpSpPr>
        <p:grpSpPr>
          <a:xfrm>
            <a:off x="7685131" y="3181972"/>
            <a:ext cx="205729" cy="131666"/>
            <a:chOff x="9222638" y="3818351"/>
            <a:chExt cx="246888" cy="158008"/>
          </a:xfrm>
        </p:grpSpPr>
        <p:sp>
          <p:nvSpPr>
            <p:cNvPr id="109" name="图标部件_0498"/>
            <p:cNvSpPr/>
            <p:nvPr/>
          </p:nvSpPr>
          <p:spPr>
            <a:xfrm>
              <a:off x="9222638" y="3818351"/>
              <a:ext cx="246888" cy="158008"/>
            </a:xfrm>
            <a:prstGeom prst="roundRect">
              <a:avLst>
                <a:gd name="adj" fmla="val 10000"/>
              </a:avLst>
            </a:prstGeom>
            <a:solidFill>
              <a:srgbClr val="166AB1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110" name="图标部件_0499"/>
            <p:cNvSpPr/>
            <p:nvPr/>
          </p:nvSpPr>
          <p:spPr>
            <a:xfrm>
              <a:off x="9304934" y="3844686"/>
              <a:ext cx="82296" cy="82296"/>
            </a:xfrm>
            <a:prstGeom prst="ellipse">
              <a:avLst/>
            </a:prstGeom>
            <a:solidFill>
              <a:srgbClr val="FFFFFF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111" name="图标线_0500"/>
            <p:cNvSpPr/>
            <p:nvPr/>
          </p:nvSpPr>
          <p:spPr>
            <a:xfrm>
              <a:off x="9446483" y="3818351"/>
              <a:ext cx="65837" cy="158008"/>
            </a:xfrm>
            <a:custGeom>
              <a:avLst/>
              <a:gdLst/>
              <a:ahLst/>
              <a:cxnLst/>
              <a:rect l="l" t="t" r="r" b="b"/>
              <a:pathLst>
                <a:path w="65837" h="158008">
                  <a:moveTo>
                    <a:pt x="0" y="32918"/>
                  </a:moveTo>
                  <a:lnTo>
                    <a:pt x="65837" y="0"/>
                  </a:lnTo>
                  <a:lnTo>
                    <a:pt x="65837" y="158008"/>
                  </a:lnTo>
                  <a:lnTo>
                    <a:pt x="0" y="121798"/>
                  </a:lnTo>
                  <a:close/>
                </a:path>
              </a:pathLst>
            </a:custGeom>
            <a:solidFill>
              <a:srgbClr val="166AB1"/>
            </a:solidFill>
            <a:ln w="2032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</p:grpSp>
      <p:sp>
        <p:nvSpPr>
          <p:cNvPr id="112" name="文字_摄像头_（右侧）_0501"/>
          <p:cNvSpPr txBox="1"/>
          <p:nvPr/>
        </p:nvSpPr>
        <p:spPr>
          <a:xfrm>
            <a:off x="7924387" y="3055639"/>
            <a:ext cx="693384" cy="411459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5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摄像头</a:t>
            </a:r>
            <a:endParaRPr sz="935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5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（右侧）</a:t>
            </a:r>
            <a:endParaRPr sz="935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13" name="图标_camera_0502"/>
          <p:cNvGrpSpPr/>
          <p:nvPr/>
        </p:nvGrpSpPr>
        <p:grpSpPr>
          <a:xfrm>
            <a:off x="7685131" y="4523022"/>
            <a:ext cx="205729" cy="131666"/>
            <a:chOff x="9222638" y="5427695"/>
            <a:chExt cx="246888" cy="158008"/>
          </a:xfrm>
        </p:grpSpPr>
        <p:sp>
          <p:nvSpPr>
            <p:cNvPr id="114" name="图标部件_0503"/>
            <p:cNvSpPr/>
            <p:nvPr/>
          </p:nvSpPr>
          <p:spPr>
            <a:xfrm>
              <a:off x="9222638" y="5427695"/>
              <a:ext cx="246888" cy="158008"/>
            </a:xfrm>
            <a:prstGeom prst="roundRect">
              <a:avLst>
                <a:gd name="adj" fmla="val 10000"/>
              </a:avLst>
            </a:prstGeom>
            <a:solidFill>
              <a:srgbClr val="166AB1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115" name="图标部件_0504"/>
            <p:cNvSpPr/>
            <p:nvPr/>
          </p:nvSpPr>
          <p:spPr>
            <a:xfrm>
              <a:off x="9304934" y="5454030"/>
              <a:ext cx="82296" cy="82296"/>
            </a:xfrm>
            <a:prstGeom prst="ellipse">
              <a:avLst/>
            </a:prstGeom>
            <a:solidFill>
              <a:srgbClr val="FFFFFF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116" name="图标线_0505"/>
            <p:cNvSpPr/>
            <p:nvPr/>
          </p:nvSpPr>
          <p:spPr>
            <a:xfrm>
              <a:off x="9446483" y="5427695"/>
              <a:ext cx="65837" cy="158008"/>
            </a:xfrm>
            <a:custGeom>
              <a:avLst/>
              <a:gdLst/>
              <a:ahLst/>
              <a:cxnLst/>
              <a:rect l="l" t="t" r="r" b="b"/>
              <a:pathLst>
                <a:path w="65837" h="158008">
                  <a:moveTo>
                    <a:pt x="0" y="32918"/>
                  </a:moveTo>
                  <a:lnTo>
                    <a:pt x="65837" y="0"/>
                  </a:lnTo>
                  <a:lnTo>
                    <a:pt x="65837" y="158008"/>
                  </a:lnTo>
                  <a:lnTo>
                    <a:pt x="0" y="121798"/>
                  </a:lnTo>
                  <a:close/>
                </a:path>
              </a:pathLst>
            </a:custGeom>
            <a:solidFill>
              <a:srgbClr val="166AB1"/>
            </a:solidFill>
            <a:ln w="2032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</p:grpSp>
      <p:sp>
        <p:nvSpPr>
          <p:cNvPr id="117" name="文字_摄像头_（右后）_0506"/>
          <p:cNvSpPr txBox="1"/>
          <p:nvPr/>
        </p:nvSpPr>
        <p:spPr>
          <a:xfrm>
            <a:off x="7924387" y="4396690"/>
            <a:ext cx="693384" cy="411459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5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摄像头</a:t>
            </a:r>
            <a:endParaRPr sz="935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5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（右后）</a:t>
            </a:r>
            <a:endParaRPr sz="935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18" name="图标_radar_0507"/>
          <p:cNvGrpSpPr/>
          <p:nvPr/>
        </p:nvGrpSpPr>
        <p:grpSpPr>
          <a:xfrm>
            <a:off x="7676902" y="5387770"/>
            <a:ext cx="235904" cy="206568"/>
            <a:chOff x="9212762" y="6465446"/>
            <a:chExt cx="283099" cy="247895"/>
          </a:xfrm>
        </p:grpSpPr>
        <p:sp>
          <p:nvSpPr>
            <p:cNvPr id="119" name="图标部件_0508"/>
            <p:cNvSpPr/>
            <p:nvPr/>
          </p:nvSpPr>
          <p:spPr>
            <a:xfrm>
              <a:off x="9324685" y="6555333"/>
              <a:ext cx="59253" cy="59253"/>
            </a:xfrm>
            <a:prstGeom prst="ellipse">
              <a:avLst/>
            </a:prstGeom>
            <a:solidFill>
              <a:srgbClr val="166AB1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120" name="圆弧_0509"/>
            <p:cNvSpPr/>
            <p:nvPr/>
          </p:nvSpPr>
          <p:spPr>
            <a:xfrm>
              <a:off x="9401936" y="6509916"/>
              <a:ext cx="41255" cy="150087"/>
            </a:xfrm>
            <a:custGeom>
              <a:avLst/>
              <a:gdLst/>
              <a:ahLst/>
              <a:cxnLst/>
              <a:rect l="l" t="t" r="r" b="b"/>
              <a:pathLst>
                <a:path w="41255" h="150087">
                  <a:moveTo>
                    <a:pt x="0" y="0"/>
                  </a:moveTo>
                  <a:lnTo>
                    <a:pt x="4618" y="3138"/>
                  </a:lnTo>
                  <a:lnTo>
                    <a:pt x="9030" y="6561"/>
                  </a:lnTo>
                  <a:lnTo>
                    <a:pt x="13218" y="10253"/>
                  </a:lnTo>
                  <a:lnTo>
                    <a:pt x="17166" y="14201"/>
                  </a:lnTo>
                  <a:lnTo>
                    <a:pt x="20858" y="18390"/>
                  </a:lnTo>
                  <a:lnTo>
                    <a:pt x="24281" y="22801"/>
                  </a:lnTo>
                  <a:lnTo>
                    <a:pt x="27419" y="27420"/>
                  </a:lnTo>
                  <a:lnTo>
                    <a:pt x="30261" y="32226"/>
                  </a:lnTo>
                  <a:lnTo>
                    <a:pt x="32796" y="37201"/>
                  </a:lnTo>
                  <a:lnTo>
                    <a:pt x="35014" y="42325"/>
                  </a:lnTo>
                  <a:lnTo>
                    <a:pt x="36905" y="47578"/>
                  </a:lnTo>
                  <a:lnTo>
                    <a:pt x="38463" y="52940"/>
                  </a:lnTo>
                  <a:lnTo>
                    <a:pt x="39681" y="58389"/>
                  </a:lnTo>
                  <a:lnTo>
                    <a:pt x="40554" y="63904"/>
                  </a:lnTo>
                  <a:lnTo>
                    <a:pt x="41080" y="69463"/>
                  </a:lnTo>
                  <a:lnTo>
                    <a:pt x="41255" y="75044"/>
                  </a:lnTo>
                  <a:lnTo>
                    <a:pt x="41080" y="80624"/>
                  </a:lnTo>
                  <a:lnTo>
                    <a:pt x="40554" y="86183"/>
                  </a:lnTo>
                  <a:lnTo>
                    <a:pt x="39681" y="91698"/>
                  </a:lnTo>
                  <a:lnTo>
                    <a:pt x="38463" y="97147"/>
                  </a:lnTo>
                  <a:lnTo>
                    <a:pt x="36905" y="102509"/>
                  </a:lnTo>
                  <a:lnTo>
                    <a:pt x="35014" y="107762"/>
                  </a:lnTo>
                  <a:lnTo>
                    <a:pt x="32796" y="112887"/>
                  </a:lnTo>
                  <a:lnTo>
                    <a:pt x="30261" y="117862"/>
                  </a:lnTo>
                  <a:lnTo>
                    <a:pt x="27419" y="122668"/>
                  </a:lnTo>
                  <a:lnTo>
                    <a:pt x="24281" y="127286"/>
                  </a:lnTo>
                  <a:lnTo>
                    <a:pt x="20858" y="131698"/>
                  </a:lnTo>
                  <a:lnTo>
                    <a:pt x="17166" y="135886"/>
                  </a:lnTo>
                  <a:lnTo>
                    <a:pt x="13218" y="139834"/>
                  </a:lnTo>
                  <a:lnTo>
                    <a:pt x="9030" y="143527"/>
                  </a:lnTo>
                  <a:lnTo>
                    <a:pt x="4618" y="146949"/>
                  </a:lnTo>
                  <a:lnTo>
                    <a:pt x="0" y="150087"/>
                  </a:lnTo>
                </a:path>
              </a:pathLst>
            </a:custGeom>
            <a:noFill/>
            <a:ln w="1905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121" name="圆弧_0510"/>
            <p:cNvSpPr/>
            <p:nvPr/>
          </p:nvSpPr>
          <p:spPr>
            <a:xfrm>
              <a:off x="9265432" y="6509916"/>
              <a:ext cx="41255" cy="150087"/>
            </a:xfrm>
            <a:custGeom>
              <a:avLst/>
              <a:gdLst/>
              <a:ahLst/>
              <a:cxnLst/>
              <a:rect l="l" t="t" r="r" b="b"/>
              <a:pathLst>
                <a:path w="41255" h="150087">
                  <a:moveTo>
                    <a:pt x="41255" y="150087"/>
                  </a:moveTo>
                  <a:lnTo>
                    <a:pt x="36637" y="146949"/>
                  </a:lnTo>
                  <a:lnTo>
                    <a:pt x="32225" y="143527"/>
                  </a:lnTo>
                  <a:lnTo>
                    <a:pt x="28037" y="139834"/>
                  </a:lnTo>
                  <a:lnTo>
                    <a:pt x="24089" y="135886"/>
                  </a:lnTo>
                  <a:lnTo>
                    <a:pt x="20397" y="131698"/>
                  </a:lnTo>
                  <a:lnTo>
                    <a:pt x="16974" y="127286"/>
                  </a:lnTo>
                  <a:lnTo>
                    <a:pt x="13836" y="122668"/>
                  </a:lnTo>
                  <a:lnTo>
                    <a:pt x="10994" y="117862"/>
                  </a:lnTo>
                  <a:lnTo>
                    <a:pt x="8459" y="112887"/>
                  </a:lnTo>
                  <a:lnTo>
                    <a:pt x="6241" y="107762"/>
                  </a:lnTo>
                  <a:lnTo>
                    <a:pt x="4350" y="102509"/>
                  </a:lnTo>
                  <a:lnTo>
                    <a:pt x="2792" y="97147"/>
                  </a:lnTo>
                  <a:lnTo>
                    <a:pt x="1574" y="91698"/>
                  </a:lnTo>
                  <a:lnTo>
                    <a:pt x="701" y="86183"/>
                  </a:lnTo>
                  <a:lnTo>
                    <a:pt x="175" y="80624"/>
                  </a:lnTo>
                  <a:lnTo>
                    <a:pt x="0" y="75044"/>
                  </a:lnTo>
                  <a:lnTo>
                    <a:pt x="175" y="69463"/>
                  </a:lnTo>
                  <a:lnTo>
                    <a:pt x="701" y="63904"/>
                  </a:lnTo>
                  <a:lnTo>
                    <a:pt x="1574" y="58389"/>
                  </a:lnTo>
                  <a:lnTo>
                    <a:pt x="2792" y="52940"/>
                  </a:lnTo>
                  <a:lnTo>
                    <a:pt x="4350" y="47578"/>
                  </a:lnTo>
                  <a:lnTo>
                    <a:pt x="6241" y="42325"/>
                  </a:lnTo>
                  <a:lnTo>
                    <a:pt x="8459" y="37201"/>
                  </a:lnTo>
                  <a:lnTo>
                    <a:pt x="10994" y="32226"/>
                  </a:lnTo>
                  <a:lnTo>
                    <a:pt x="13836" y="27420"/>
                  </a:lnTo>
                  <a:lnTo>
                    <a:pt x="16974" y="22801"/>
                  </a:lnTo>
                  <a:lnTo>
                    <a:pt x="20397" y="18390"/>
                  </a:lnTo>
                  <a:lnTo>
                    <a:pt x="24089" y="14201"/>
                  </a:lnTo>
                  <a:lnTo>
                    <a:pt x="28037" y="10253"/>
                  </a:lnTo>
                  <a:lnTo>
                    <a:pt x="32225" y="6561"/>
                  </a:lnTo>
                  <a:lnTo>
                    <a:pt x="36637" y="3138"/>
                  </a:lnTo>
                  <a:lnTo>
                    <a:pt x="41255" y="0"/>
                  </a:lnTo>
                </a:path>
              </a:pathLst>
            </a:custGeom>
            <a:noFill/>
            <a:ln w="1905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122" name="圆弧_0511"/>
            <p:cNvSpPr/>
            <p:nvPr/>
          </p:nvSpPr>
          <p:spPr>
            <a:xfrm>
              <a:off x="9430157" y="6465446"/>
              <a:ext cx="65704" cy="239028"/>
            </a:xfrm>
            <a:custGeom>
              <a:avLst/>
              <a:gdLst/>
              <a:ahLst/>
              <a:cxnLst/>
              <a:rect l="l" t="t" r="r" b="b"/>
              <a:pathLst>
                <a:path w="65704" h="239028">
                  <a:moveTo>
                    <a:pt x="0" y="0"/>
                  </a:moveTo>
                  <a:lnTo>
                    <a:pt x="7355" y="4998"/>
                  </a:lnTo>
                  <a:lnTo>
                    <a:pt x="14381" y="10448"/>
                  </a:lnTo>
                  <a:lnTo>
                    <a:pt x="21052" y="16329"/>
                  </a:lnTo>
                  <a:lnTo>
                    <a:pt x="27339" y="22617"/>
                  </a:lnTo>
                  <a:lnTo>
                    <a:pt x="33220" y="29287"/>
                  </a:lnTo>
                  <a:lnTo>
                    <a:pt x="38670" y="36313"/>
                  </a:lnTo>
                  <a:lnTo>
                    <a:pt x="43668" y="43668"/>
                  </a:lnTo>
                  <a:lnTo>
                    <a:pt x="48195" y="51322"/>
                  </a:lnTo>
                  <a:lnTo>
                    <a:pt x="52232" y="59245"/>
                  </a:lnTo>
                  <a:lnTo>
                    <a:pt x="55764" y="67406"/>
                  </a:lnTo>
                  <a:lnTo>
                    <a:pt x="58776" y="75773"/>
                  </a:lnTo>
                  <a:lnTo>
                    <a:pt x="61257" y="84312"/>
                  </a:lnTo>
                  <a:lnTo>
                    <a:pt x="63196" y="92990"/>
                  </a:lnTo>
                  <a:lnTo>
                    <a:pt x="64587" y="101773"/>
                  </a:lnTo>
                  <a:lnTo>
                    <a:pt x="65424" y="110626"/>
                  </a:lnTo>
                  <a:lnTo>
                    <a:pt x="65704" y="119514"/>
                  </a:lnTo>
                  <a:lnTo>
                    <a:pt x="65424" y="128402"/>
                  </a:lnTo>
                  <a:lnTo>
                    <a:pt x="64587" y="137254"/>
                  </a:lnTo>
                  <a:lnTo>
                    <a:pt x="63196" y="146037"/>
                  </a:lnTo>
                  <a:lnTo>
                    <a:pt x="61257" y="154715"/>
                  </a:lnTo>
                  <a:lnTo>
                    <a:pt x="58776" y="163255"/>
                  </a:lnTo>
                  <a:lnTo>
                    <a:pt x="55764" y="171621"/>
                  </a:lnTo>
                  <a:lnTo>
                    <a:pt x="52232" y="179782"/>
                  </a:lnTo>
                  <a:lnTo>
                    <a:pt x="48195" y="187705"/>
                  </a:lnTo>
                  <a:lnTo>
                    <a:pt x="43668" y="195359"/>
                  </a:lnTo>
                  <a:lnTo>
                    <a:pt x="38670" y="202714"/>
                  </a:lnTo>
                  <a:lnTo>
                    <a:pt x="33220" y="209740"/>
                  </a:lnTo>
                  <a:lnTo>
                    <a:pt x="27339" y="216411"/>
                  </a:lnTo>
                  <a:lnTo>
                    <a:pt x="21052" y="222699"/>
                  </a:lnTo>
                  <a:lnTo>
                    <a:pt x="14381" y="228579"/>
                  </a:lnTo>
                  <a:lnTo>
                    <a:pt x="7355" y="234029"/>
                  </a:lnTo>
                  <a:lnTo>
                    <a:pt x="0" y="239028"/>
                  </a:lnTo>
                </a:path>
              </a:pathLst>
            </a:custGeom>
            <a:noFill/>
            <a:ln w="1905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123" name="圆弧_0512"/>
            <p:cNvSpPr/>
            <p:nvPr/>
          </p:nvSpPr>
          <p:spPr>
            <a:xfrm>
              <a:off x="9212762" y="6465446"/>
              <a:ext cx="65704" cy="239028"/>
            </a:xfrm>
            <a:custGeom>
              <a:avLst/>
              <a:gdLst/>
              <a:ahLst/>
              <a:cxnLst/>
              <a:rect l="l" t="t" r="r" b="b"/>
              <a:pathLst>
                <a:path w="65704" h="239028">
                  <a:moveTo>
                    <a:pt x="65704" y="239028"/>
                  </a:moveTo>
                  <a:lnTo>
                    <a:pt x="58349" y="234029"/>
                  </a:lnTo>
                  <a:lnTo>
                    <a:pt x="51323" y="228579"/>
                  </a:lnTo>
                  <a:lnTo>
                    <a:pt x="44652" y="222699"/>
                  </a:lnTo>
                  <a:lnTo>
                    <a:pt x="38365" y="216411"/>
                  </a:lnTo>
                  <a:lnTo>
                    <a:pt x="32484" y="209740"/>
                  </a:lnTo>
                  <a:lnTo>
                    <a:pt x="27034" y="202714"/>
                  </a:lnTo>
                  <a:lnTo>
                    <a:pt x="22036" y="195359"/>
                  </a:lnTo>
                  <a:lnTo>
                    <a:pt x="17509" y="187705"/>
                  </a:lnTo>
                  <a:lnTo>
                    <a:pt x="13472" y="179782"/>
                  </a:lnTo>
                  <a:lnTo>
                    <a:pt x="9940" y="171621"/>
                  </a:lnTo>
                  <a:lnTo>
                    <a:pt x="6928" y="163255"/>
                  </a:lnTo>
                  <a:lnTo>
                    <a:pt x="4447" y="154715"/>
                  </a:lnTo>
                  <a:lnTo>
                    <a:pt x="2508" y="146037"/>
                  </a:lnTo>
                  <a:lnTo>
                    <a:pt x="1117" y="137254"/>
                  </a:lnTo>
                  <a:lnTo>
                    <a:pt x="280" y="128402"/>
                  </a:lnTo>
                  <a:lnTo>
                    <a:pt x="0" y="119514"/>
                  </a:lnTo>
                  <a:lnTo>
                    <a:pt x="280" y="110626"/>
                  </a:lnTo>
                  <a:lnTo>
                    <a:pt x="1117" y="101773"/>
                  </a:lnTo>
                  <a:lnTo>
                    <a:pt x="2508" y="92990"/>
                  </a:lnTo>
                  <a:lnTo>
                    <a:pt x="4447" y="84312"/>
                  </a:lnTo>
                  <a:lnTo>
                    <a:pt x="6928" y="75773"/>
                  </a:lnTo>
                  <a:lnTo>
                    <a:pt x="9940" y="67406"/>
                  </a:lnTo>
                  <a:lnTo>
                    <a:pt x="13472" y="59245"/>
                  </a:lnTo>
                  <a:lnTo>
                    <a:pt x="17509" y="51322"/>
                  </a:lnTo>
                  <a:lnTo>
                    <a:pt x="22036" y="43668"/>
                  </a:lnTo>
                  <a:lnTo>
                    <a:pt x="27034" y="36313"/>
                  </a:lnTo>
                  <a:lnTo>
                    <a:pt x="32484" y="29287"/>
                  </a:lnTo>
                  <a:lnTo>
                    <a:pt x="38365" y="22617"/>
                  </a:lnTo>
                  <a:lnTo>
                    <a:pt x="44652" y="16329"/>
                  </a:lnTo>
                  <a:lnTo>
                    <a:pt x="51323" y="10448"/>
                  </a:lnTo>
                  <a:lnTo>
                    <a:pt x="58349" y="4998"/>
                  </a:lnTo>
                  <a:lnTo>
                    <a:pt x="65704" y="0"/>
                  </a:lnTo>
                </a:path>
              </a:pathLst>
            </a:custGeom>
            <a:noFill/>
            <a:ln w="1905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124" name="图标线_0513"/>
            <p:cNvCxnSpPr/>
            <p:nvPr/>
          </p:nvCxnSpPr>
          <p:spPr>
            <a:xfrm>
              <a:off x="9354312" y="6617878"/>
              <a:ext cx="0" cy="85588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图标线_0514"/>
            <p:cNvCxnSpPr/>
            <p:nvPr/>
          </p:nvCxnSpPr>
          <p:spPr>
            <a:xfrm>
              <a:off x="9285183" y="6713341"/>
              <a:ext cx="138257" cy="0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6" name="文字_超声波雷达_（右后）_0515"/>
          <p:cNvSpPr txBox="1"/>
          <p:nvPr/>
        </p:nvSpPr>
        <p:spPr>
          <a:xfrm>
            <a:off x="7924387" y="5303422"/>
            <a:ext cx="693384" cy="411459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5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超声波雷达</a:t>
            </a:r>
            <a:endParaRPr sz="935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5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（右后）</a:t>
            </a:r>
            <a:endParaRPr sz="935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7" name="以太网_TSN连接_0516"/>
          <p:cNvSpPr/>
          <p:nvPr/>
        </p:nvSpPr>
        <p:spPr>
          <a:xfrm>
            <a:off x="2811634" y="3230890"/>
            <a:ext cx="1181038" cy="624807"/>
          </a:xfrm>
          <a:custGeom>
            <a:avLst/>
            <a:gdLst/>
            <a:ahLst/>
            <a:cxnLst/>
            <a:rect l="l" t="t" r="r" b="b"/>
            <a:pathLst>
              <a:path w="1417320" h="749808">
                <a:moveTo>
                  <a:pt x="1417320" y="749808"/>
                </a:moveTo>
                <a:lnTo>
                  <a:pt x="1078992" y="749808"/>
                </a:lnTo>
                <a:lnTo>
                  <a:pt x="1078992" y="283464"/>
                </a:lnTo>
                <a:lnTo>
                  <a:pt x="0" y="283464"/>
                </a:lnTo>
                <a:lnTo>
                  <a:pt x="0" y="0"/>
                </a:lnTo>
              </a:path>
            </a:pathLst>
          </a:custGeom>
          <a:noFill/>
          <a:ln w="23495" cap="rnd">
            <a:solidFill>
              <a:srgbClr val="754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28" name="以太网_TSN连接_0517"/>
          <p:cNvSpPr/>
          <p:nvPr/>
        </p:nvSpPr>
        <p:spPr>
          <a:xfrm>
            <a:off x="3124036" y="3985231"/>
            <a:ext cx="868636" cy="0"/>
          </a:xfrm>
          <a:custGeom>
            <a:avLst/>
            <a:gdLst/>
            <a:ahLst/>
            <a:cxnLst/>
            <a:rect l="l" t="t" r="r" b="b"/>
            <a:pathLst>
              <a:path w="1042417">
                <a:moveTo>
                  <a:pt x="1042417" y="0"/>
                </a:moveTo>
                <a:lnTo>
                  <a:pt x="0" y="0"/>
                </a:lnTo>
              </a:path>
            </a:pathLst>
          </a:custGeom>
          <a:noFill/>
          <a:ln w="23495" cap="rnd">
            <a:solidFill>
              <a:srgbClr val="754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29" name="以太网_TSN连接_0518"/>
          <p:cNvSpPr/>
          <p:nvPr/>
        </p:nvSpPr>
        <p:spPr>
          <a:xfrm>
            <a:off x="3764084" y="3230890"/>
            <a:ext cx="1127701" cy="411459"/>
          </a:xfrm>
          <a:custGeom>
            <a:avLst/>
            <a:gdLst/>
            <a:ahLst/>
            <a:cxnLst/>
            <a:rect l="l" t="t" r="r" b="b"/>
            <a:pathLst>
              <a:path w="1353312" h="493776">
                <a:moveTo>
                  <a:pt x="1353312" y="493776"/>
                </a:moveTo>
                <a:lnTo>
                  <a:pt x="1353312" y="274320"/>
                </a:lnTo>
                <a:lnTo>
                  <a:pt x="0" y="274320"/>
                </a:lnTo>
                <a:lnTo>
                  <a:pt x="0" y="0"/>
                </a:lnTo>
              </a:path>
            </a:pathLst>
          </a:custGeom>
          <a:noFill/>
          <a:ln w="23495" cap="rnd">
            <a:solidFill>
              <a:srgbClr val="754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30" name="以太网_TSN连接_0519"/>
          <p:cNvSpPr/>
          <p:nvPr/>
        </p:nvSpPr>
        <p:spPr>
          <a:xfrm>
            <a:off x="4891785" y="3230890"/>
            <a:ext cx="480035" cy="411459"/>
          </a:xfrm>
          <a:custGeom>
            <a:avLst/>
            <a:gdLst/>
            <a:ahLst/>
            <a:cxnLst/>
            <a:rect l="l" t="t" r="r" b="b"/>
            <a:pathLst>
              <a:path w="576072" h="493776">
                <a:moveTo>
                  <a:pt x="0" y="493776"/>
                </a:moveTo>
                <a:lnTo>
                  <a:pt x="0" y="256031"/>
                </a:lnTo>
                <a:lnTo>
                  <a:pt x="576072" y="256031"/>
                </a:lnTo>
                <a:lnTo>
                  <a:pt x="576072" y="0"/>
                </a:lnTo>
              </a:path>
            </a:pathLst>
          </a:custGeom>
          <a:noFill/>
          <a:ln w="23495" cap="rnd">
            <a:solidFill>
              <a:srgbClr val="754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31" name="以太网_TSN连接_0520"/>
          <p:cNvSpPr/>
          <p:nvPr/>
        </p:nvSpPr>
        <p:spPr>
          <a:xfrm>
            <a:off x="5806138" y="3223271"/>
            <a:ext cx="632426" cy="640047"/>
          </a:xfrm>
          <a:custGeom>
            <a:avLst/>
            <a:gdLst/>
            <a:ahLst/>
            <a:cxnLst/>
            <a:rect l="l" t="t" r="r" b="b"/>
            <a:pathLst>
              <a:path w="758951" h="768096">
                <a:moveTo>
                  <a:pt x="0" y="768096"/>
                </a:moveTo>
                <a:lnTo>
                  <a:pt x="466344" y="768096"/>
                </a:lnTo>
                <a:lnTo>
                  <a:pt x="466344" y="0"/>
                </a:lnTo>
                <a:lnTo>
                  <a:pt x="758951" y="0"/>
                </a:lnTo>
              </a:path>
            </a:pathLst>
          </a:custGeom>
          <a:noFill/>
          <a:ln w="23495" cap="rnd">
            <a:solidFill>
              <a:srgbClr val="754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32" name="以太网_TSN连接_0521"/>
          <p:cNvSpPr/>
          <p:nvPr/>
        </p:nvSpPr>
        <p:spPr>
          <a:xfrm>
            <a:off x="5806138" y="4046188"/>
            <a:ext cx="632426" cy="632427"/>
          </a:xfrm>
          <a:custGeom>
            <a:avLst/>
            <a:gdLst/>
            <a:ahLst/>
            <a:cxnLst/>
            <a:rect l="l" t="t" r="r" b="b"/>
            <a:pathLst>
              <a:path w="758951" h="758952">
                <a:moveTo>
                  <a:pt x="0" y="0"/>
                </a:moveTo>
                <a:lnTo>
                  <a:pt x="493776" y="0"/>
                </a:lnTo>
                <a:lnTo>
                  <a:pt x="493776" y="758952"/>
                </a:lnTo>
                <a:lnTo>
                  <a:pt x="758951" y="758952"/>
                </a:lnTo>
              </a:path>
            </a:pathLst>
          </a:custGeom>
          <a:noFill/>
          <a:ln w="23495" cap="rnd">
            <a:solidFill>
              <a:srgbClr val="754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33" name="以太网_TSN连接_0522"/>
          <p:cNvSpPr/>
          <p:nvPr/>
        </p:nvSpPr>
        <p:spPr>
          <a:xfrm>
            <a:off x="3969813" y="4282396"/>
            <a:ext cx="921972" cy="213349"/>
          </a:xfrm>
          <a:custGeom>
            <a:avLst/>
            <a:gdLst/>
            <a:ahLst/>
            <a:cxnLst/>
            <a:rect l="l" t="t" r="r" b="b"/>
            <a:pathLst>
              <a:path w="1106424" h="256032">
                <a:moveTo>
                  <a:pt x="1106424" y="0"/>
                </a:moveTo>
                <a:lnTo>
                  <a:pt x="1106424" y="146304"/>
                </a:lnTo>
                <a:lnTo>
                  <a:pt x="0" y="146304"/>
                </a:lnTo>
                <a:lnTo>
                  <a:pt x="0" y="256032"/>
                </a:lnTo>
              </a:path>
            </a:pathLst>
          </a:custGeom>
          <a:noFill/>
          <a:ln w="23495" cap="rnd">
            <a:solidFill>
              <a:srgbClr val="754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34" name="以太网_TSN连接_0523"/>
          <p:cNvSpPr/>
          <p:nvPr/>
        </p:nvSpPr>
        <p:spPr>
          <a:xfrm>
            <a:off x="4891785" y="4282396"/>
            <a:ext cx="571470" cy="213349"/>
          </a:xfrm>
          <a:custGeom>
            <a:avLst/>
            <a:gdLst/>
            <a:ahLst/>
            <a:cxnLst/>
            <a:rect l="l" t="t" r="r" b="b"/>
            <a:pathLst>
              <a:path w="685800" h="256032">
                <a:moveTo>
                  <a:pt x="0" y="0"/>
                </a:moveTo>
                <a:lnTo>
                  <a:pt x="0" y="155448"/>
                </a:lnTo>
                <a:lnTo>
                  <a:pt x="685800" y="155448"/>
                </a:lnTo>
                <a:lnTo>
                  <a:pt x="685800" y="256032"/>
                </a:lnTo>
              </a:path>
            </a:pathLst>
          </a:custGeom>
          <a:noFill/>
          <a:ln w="23495" cap="rnd">
            <a:solidFill>
              <a:srgbClr val="754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35" name="以太网_TSN连接_0524"/>
          <p:cNvSpPr/>
          <p:nvPr/>
        </p:nvSpPr>
        <p:spPr>
          <a:xfrm>
            <a:off x="2804014" y="4160482"/>
            <a:ext cx="1188658" cy="563851"/>
          </a:xfrm>
          <a:custGeom>
            <a:avLst/>
            <a:gdLst/>
            <a:ahLst/>
            <a:cxnLst/>
            <a:rect l="l" t="t" r="r" b="b"/>
            <a:pathLst>
              <a:path w="1426464" h="676656">
                <a:moveTo>
                  <a:pt x="1426464" y="0"/>
                </a:moveTo>
                <a:lnTo>
                  <a:pt x="1133856" y="0"/>
                </a:lnTo>
                <a:lnTo>
                  <a:pt x="1133856" y="219456"/>
                </a:lnTo>
                <a:lnTo>
                  <a:pt x="0" y="219456"/>
                </a:lnTo>
                <a:lnTo>
                  <a:pt x="0" y="676656"/>
                </a:lnTo>
              </a:path>
            </a:pathLst>
          </a:custGeom>
          <a:noFill/>
          <a:ln w="23495" cap="rnd">
            <a:solidFill>
              <a:srgbClr val="754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36" name="左侧CAN连接_0525"/>
          <p:cNvSpPr/>
          <p:nvPr/>
        </p:nvSpPr>
        <p:spPr>
          <a:xfrm>
            <a:off x="2278261" y="3474717"/>
            <a:ext cx="373361" cy="510514"/>
          </a:xfrm>
          <a:custGeom>
            <a:avLst/>
            <a:gdLst/>
            <a:ahLst/>
            <a:cxnLst/>
            <a:rect l="l" t="t" r="r" b="b"/>
            <a:pathLst>
              <a:path w="448056" h="612649">
                <a:moveTo>
                  <a:pt x="0" y="0"/>
                </a:moveTo>
                <a:lnTo>
                  <a:pt x="0" y="612649"/>
                </a:lnTo>
                <a:lnTo>
                  <a:pt x="448056" y="612649"/>
                </a:lnTo>
              </a:path>
            </a:pathLst>
          </a:custGeom>
          <a:noFill/>
          <a:ln w="27940" cap="rnd">
            <a:solidFill>
              <a:srgbClr val="087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37" name="左后CAN连接_0526"/>
          <p:cNvSpPr/>
          <p:nvPr/>
        </p:nvSpPr>
        <p:spPr>
          <a:xfrm>
            <a:off x="2278261" y="3985231"/>
            <a:ext cx="0" cy="525753"/>
          </a:xfrm>
          <a:custGeom>
            <a:avLst/>
            <a:gdLst/>
            <a:ahLst/>
            <a:cxnLst/>
            <a:rect l="l" t="t" r="r" b="b"/>
            <a:pathLst>
              <a:path h="630936">
                <a:moveTo>
                  <a:pt x="0" y="0"/>
                </a:moveTo>
                <a:lnTo>
                  <a:pt x="0" y="630936"/>
                </a:lnTo>
              </a:path>
            </a:pathLst>
          </a:custGeom>
          <a:noFill/>
          <a:ln w="27940" cap="rnd">
            <a:solidFill>
              <a:srgbClr val="087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38" name="右侧CAN连接_0527"/>
          <p:cNvSpPr/>
          <p:nvPr/>
        </p:nvSpPr>
        <p:spPr>
          <a:xfrm>
            <a:off x="5806138" y="3467098"/>
            <a:ext cx="1165799" cy="510513"/>
          </a:xfrm>
          <a:custGeom>
            <a:avLst/>
            <a:gdLst/>
            <a:ahLst/>
            <a:cxnLst/>
            <a:rect l="l" t="t" r="r" b="b"/>
            <a:pathLst>
              <a:path w="1399032" h="612648">
                <a:moveTo>
                  <a:pt x="1399032" y="0"/>
                </a:moveTo>
                <a:lnTo>
                  <a:pt x="1399032" y="612648"/>
                </a:lnTo>
                <a:lnTo>
                  <a:pt x="0" y="612648"/>
                </a:lnTo>
              </a:path>
            </a:pathLst>
          </a:custGeom>
          <a:noFill/>
          <a:ln w="27940" cap="rnd">
            <a:solidFill>
              <a:srgbClr val="087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39" name="右后CAN连接_0528"/>
          <p:cNvSpPr/>
          <p:nvPr/>
        </p:nvSpPr>
        <p:spPr>
          <a:xfrm>
            <a:off x="6971937" y="3977611"/>
            <a:ext cx="0" cy="533372"/>
          </a:xfrm>
          <a:custGeom>
            <a:avLst/>
            <a:gdLst/>
            <a:ahLst/>
            <a:cxnLst/>
            <a:rect l="l" t="t" r="r" b="b"/>
            <a:pathLst>
              <a:path h="640080">
                <a:moveTo>
                  <a:pt x="0" y="0"/>
                </a:moveTo>
                <a:lnTo>
                  <a:pt x="0" y="640080"/>
                </a:lnTo>
              </a:path>
            </a:pathLst>
          </a:custGeom>
          <a:noFill/>
          <a:ln w="27940" cap="rnd">
            <a:solidFill>
              <a:srgbClr val="087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40" name="网络连接点_0529"/>
          <p:cNvSpPr/>
          <p:nvPr/>
        </p:nvSpPr>
        <p:spPr>
          <a:xfrm>
            <a:off x="2253498" y="3960467"/>
            <a:ext cx="49527" cy="49527"/>
          </a:xfrm>
          <a:prstGeom prst="ellipse">
            <a:avLst/>
          </a:prstGeom>
          <a:solidFill>
            <a:srgbClr val="087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41" name="网络连接点_0530"/>
          <p:cNvSpPr/>
          <p:nvPr/>
        </p:nvSpPr>
        <p:spPr>
          <a:xfrm>
            <a:off x="6947173" y="3952848"/>
            <a:ext cx="49527" cy="49527"/>
          </a:xfrm>
          <a:prstGeom prst="ellipse">
            <a:avLst/>
          </a:prstGeom>
          <a:solidFill>
            <a:srgbClr val="087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42" name="局部终端通信连接_0531"/>
          <p:cNvSpPr/>
          <p:nvPr/>
        </p:nvSpPr>
        <p:spPr>
          <a:xfrm>
            <a:off x="2285881" y="2514648"/>
            <a:ext cx="0" cy="449557"/>
          </a:xfrm>
          <a:custGeom>
            <a:avLst/>
            <a:gdLst/>
            <a:ahLst/>
            <a:cxnLst/>
            <a:rect l="l" t="t" r="r" b="b"/>
            <a:pathLst>
              <a:path h="539496">
                <a:moveTo>
                  <a:pt x="0" y="0"/>
                </a:moveTo>
                <a:lnTo>
                  <a:pt x="0" y="539496"/>
                </a:lnTo>
              </a:path>
            </a:pathLst>
          </a:custGeom>
          <a:noFill/>
          <a:ln w="19050" cap="rnd">
            <a:solidFill>
              <a:srgbClr val="087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43" name="局部终端通信连接_0532"/>
          <p:cNvSpPr/>
          <p:nvPr/>
        </p:nvSpPr>
        <p:spPr>
          <a:xfrm>
            <a:off x="2918308" y="2514648"/>
            <a:ext cx="815298" cy="251447"/>
          </a:xfrm>
          <a:custGeom>
            <a:avLst/>
            <a:gdLst/>
            <a:ahLst/>
            <a:cxnLst/>
            <a:rect l="l" t="t" r="r" b="b"/>
            <a:pathLst>
              <a:path w="978408" h="301752">
                <a:moveTo>
                  <a:pt x="0" y="0"/>
                </a:moveTo>
                <a:lnTo>
                  <a:pt x="0" y="192024"/>
                </a:lnTo>
                <a:lnTo>
                  <a:pt x="978408" y="192024"/>
                </a:lnTo>
                <a:lnTo>
                  <a:pt x="978408" y="301752"/>
                </a:lnTo>
              </a:path>
            </a:pathLst>
          </a:custGeom>
          <a:noFill/>
          <a:ln w="19050" cap="rnd">
            <a:solidFill>
              <a:srgbClr val="2A9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44" name="局部终端通信连接_0533"/>
          <p:cNvSpPr/>
          <p:nvPr/>
        </p:nvSpPr>
        <p:spPr>
          <a:xfrm>
            <a:off x="3550735" y="2514648"/>
            <a:ext cx="0" cy="251447"/>
          </a:xfrm>
          <a:custGeom>
            <a:avLst/>
            <a:gdLst/>
            <a:ahLst/>
            <a:cxnLst/>
            <a:rect l="l" t="t" r="r" b="b"/>
            <a:pathLst>
              <a:path h="301752">
                <a:moveTo>
                  <a:pt x="0" y="0"/>
                </a:moveTo>
                <a:lnTo>
                  <a:pt x="0" y="301752"/>
                </a:lnTo>
              </a:path>
            </a:pathLst>
          </a:custGeom>
          <a:noFill/>
          <a:ln w="19050" cap="rnd">
            <a:solidFill>
              <a:srgbClr val="2A9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45" name="局部终端通信连接_0534"/>
          <p:cNvSpPr/>
          <p:nvPr/>
        </p:nvSpPr>
        <p:spPr>
          <a:xfrm>
            <a:off x="4183162" y="2514648"/>
            <a:ext cx="998168" cy="251447"/>
          </a:xfrm>
          <a:custGeom>
            <a:avLst/>
            <a:gdLst/>
            <a:ahLst/>
            <a:cxnLst/>
            <a:rect l="l" t="t" r="r" b="b"/>
            <a:pathLst>
              <a:path w="1197864" h="301752">
                <a:moveTo>
                  <a:pt x="0" y="0"/>
                </a:moveTo>
                <a:lnTo>
                  <a:pt x="0" y="164592"/>
                </a:lnTo>
                <a:lnTo>
                  <a:pt x="1197864" y="164592"/>
                </a:lnTo>
                <a:lnTo>
                  <a:pt x="1197864" y="301752"/>
                </a:lnTo>
              </a:path>
            </a:pathLst>
          </a:custGeom>
          <a:noFill/>
          <a:ln w="19050" cap="rnd">
            <a:solidFill>
              <a:srgbClr val="2A9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46" name="局部终端通信连接_0535"/>
          <p:cNvSpPr/>
          <p:nvPr/>
        </p:nvSpPr>
        <p:spPr>
          <a:xfrm>
            <a:off x="4815589" y="2514648"/>
            <a:ext cx="365741" cy="137153"/>
          </a:xfrm>
          <a:custGeom>
            <a:avLst/>
            <a:gdLst/>
            <a:ahLst/>
            <a:cxnLst/>
            <a:rect l="l" t="t" r="r" b="b"/>
            <a:pathLst>
              <a:path w="438912" h="164592">
                <a:moveTo>
                  <a:pt x="0" y="0"/>
                </a:moveTo>
                <a:lnTo>
                  <a:pt x="0" y="164592"/>
                </a:lnTo>
                <a:lnTo>
                  <a:pt x="438912" y="164592"/>
                </a:lnTo>
              </a:path>
            </a:pathLst>
          </a:custGeom>
          <a:noFill/>
          <a:ln w="19050" cap="rnd">
            <a:solidFill>
              <a:srgbClr val="2A9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47" name="局部终端通信连接_0536"/>
          <p:cNvSpPr/>
          <p:nvPr/>
        </p:nvSpPr>
        <p:spPr>
          <a:xfrm>
            <a:off x="5448016" y="2514648"/>
            <a:ext cx="0" cy="251447"/>
          </a:xfrm>
          <a:custGeom>
            <a:avLst/>
            <a:gdLst/>
            <a:ahLst/>
            <a:cxnLst/>
            <a:rect l="l" t="t" r="r" b="b"/>
            <a:pathLst>
              <a:path h="301752">
                <a:moveTo>
                  <a:pt x="0" y="0"/>
                </a:moveTo>
                <a:lnTo>
                  <a:pt x="0" y="301752"/>
                </a:lnTo>
              </a:path>
            </a:pathLst>
          </a:custGeom>
          <a:noFill/>
          <a:ln w="19050" cap="rnd">
            <a:solidFill>
              <a:srgbClr val="2A9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48" name="局部终端通信连接_0537"/>
          <p:cNvSpPr/>
          <p:nvPr/>
        </p:nvSpPr>
        <p:spPr>
          <a:xfrm>
            <a:off x="5775659" y="2514648"/>
            <a:ext cx="304784" cy="251447"/>
          </a:xfrm>
          <a:custGeom>
            <a:avLst/>
            <a:gdLst/>
            <a:ahLst/>
            <a:cxnLst/>
            <a:rect l="l" t="t" r="r" b="b"/>
            <a:pathLst>
              <a:path w="365760" h="301752">
                <a:moveTo>
                  <a:pt x="365760" y="0"/>
                </a:moveTo>
                <a:lnTo>
                  <a:pt x="365760" y="210312"/>
                </a:lnTo>
                <a:lnTo>
                  <a:pt x="0" y="210312"/>
                </a:lnTo>
                <a:lnTo>
                  <a:pt x="0" y="301752"/>
                </a:lnTo>
              </a:path>
            </a:pathLst>
          </a:custGeom>
          <a:noFill/>
          <a:ln w="19050" cap="rnd">
            <a:solidFill>
              <a:srgbClr val="2A9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49" name="FlexRay补充示意连接_0538"/>
          <p:cNvSpPr/>
          <p:nvPr/>
        </p:nvSpPr>
        <p:spPr>
          <a:xfrm>
            <a:off x="3124036" y="3230890"/>
            <a:ext cx="655287" cy="563851"/>
          </a:xfrm>
          <a:custGeom>
            <a:avLst/>
            <a:gdLst/>
            <a:ahLst/>
            <a:cxnLst/>
            <a:rect l="l" t="t" r="r" b="b"/>
            <a:pathLst>
              <a:path w="786385" h="676656">
                <a:moveTo>
                  <a:pt x="786385" y="0"/>
                </a:moveTo>
                <a:lnTo>
                  <a:pt x="786385" y="493776"/>
                </a:lnTo>
                <a:lnTo>
                  <a:pt x="0" y="493776"/>
                </a:lnTo>
                <a:lnTo>
                  <a:pt x="0" y="676656"/>
                </a:lnTo>
              </a:path>
            </a:pathLst>
          </a:custGeom>
          <a:noFill/>
          <a:ln w="17145" cap="rnd">
            <a:solidFill>
              <a:srgbClr val="E98B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50" name="FlexRay补充示意连接_0539"/>
          <p:cNvSpPr/>
          <p:nvPr/>
        </p:nvSpPr>
        <p:spPr>
          <a:xfrm>
            <a:off x="3124036" y="4175721"/>
            <a:ext cx="845777" cy="320023"/>
          </a:xfrm>
          <a:custGeom>
            <a:avLst/>
            <a:gdLst/>
            <a:ahLst/>
            <a:cxnLst/>
            <a:rect l="l" t="t" r="r" b="b"/>
            <a:pathLst>
              <a:path w="1014985" h="384048">
                <a:moveTo>
                  <a:pt x="0" y="0"/>
                </a:moveTo>
                <a:lnTo>
                  <a:pt x="0" y="182880"/>
                </a:lnTo>
                <a:lnTo>
                  <a:pt x="1014985" y="182880"/>
                </a:lnTo>
                <a:lnTo>
                  <a:pt x="1014985" y="384048"/>
                </a:lnTo>
              </a:path>
            </a:pathLst>
          </a:custGeom>
          <a:noFill/>
          <a:ln w="17145" cap="rnd">
            <a:solidFill>
              <a:srgbClr val="E98B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51" name="FlexRay补充示意连接_0540"/>
          <p:cNvSpPr/>
          <p:nvPr/>
        </p:nvSpPr>
        <p:spPr>
          <a:xfrm>
            <a:off x="5288005" y="3230890"/>
            <a:ext cx="160012" cy="411459"/>
          </a:xfrm>
          <a:custGeom>
            <a:avLst/>
            <a:gdLst/>
            <a:ahLst/>
            <a:cxnLst/>
            <a:rect l="l" t="t" r="r" b="b"/>
            <a:pathLst>
              <a:path w="192024" h="493776">
                <a:moveTo>
                  <a:pt x="192024" y="0"/>
                </a:moveTo>
                <a:lnTo>
                  <a:pt x="192024" y="374904"/>
                </a:lnTo>
                <a:lnTo>
                  <a:pt x="0" y="374904"/>
                </a:lnTo>
                <a:lnTo>
                  <a:pt x="0" y="493776"/>
                </a:lnTo>
              </a:path>
            </a:pathLst>
          </a:custGeom>
          <a:noFill/>
          <a:ln w="17145" cap="rnd">
            <a:solidFill>
              <a:srgbClr val="E98B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52" name="FlexRay补充示意连接_0541"/>
          <p:cNvSpPr/>
          <p:nvPr/>
        </p:nvSpPr>
        <p:spPr>
          <a:xfrm>
            <a:off x="6971937" y="3474717"/>
            <a:ext cx="0" cy="1036267"/>
          </a:xfrm>
          <a:custGeom>
            <a:avLst/>
            <a:gdLst/>
            <a:ahLst/>
            <a:cxnLst/>
            <a:rect l="l" t="t" r="r" b="b"/>
            <a:pathLst>
              <a:path h="1243585">
                <a:moveTo>
                  <a:pt x="0" y="0"/>
                </a:moveTo>
                <a:lnTo>
                  <a:pt x="0" y="1243585"/>
                </a:lnTo>
              </a:path>
            </a:pathLst>
          </a:custGeom>
          <a:noFill/>
          <a:ln w="17145" cap="rnd">
            <a:solidFill>
              <a:srgbClr val="E98B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53" name="执行终端通信关系_0542"/>
          <p:cNvSpPr/>
          <p:nvPr/>
        </p:nvSpPr>
        <p:spPr>
          <a:xfrm>
            <a:off x="2278261" y="5006258"/>
            <a:ext cx="156202" cy="320023"/>
          </a:xfrm>
          <a:custGeom>
            <a:avLst/>
            <a:gdLst/>
            <a:ahLst/>
            <a:cxnLst/>
            <a:rect l="l" t="t" r="r" b="b"/>
            <a:pathLst>
              <a:path w="187452" h="384048">
                <a:moveTo>
                  <a:pt x="0" y="0"/>
                </a:moveTo>
                <a:lnTo>
                  <a:pt x="0" y="192024"/>
                </a:lnTo>
                <a:lnTo>
                  <a:pt x="187452" y="192024"/>
                </a:lnTo>
                <a:lnTo>
                  <a:pt x="187452" y="384048"/>
                </a:lnTo>
              </a:path>
            </a:pathLst>
          </a:custGeom>
          <a:noFill/>
          <a:ln w="19050" cap="rnd">
            <a:solidFill>
              <a:srgbClr val="2A9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54" name="执行终端通信关系_0543"/>
          <p:cNvSpPr/>
          <p:nvPr/>
        </p:nvSpPr>
        <p:spPr>
          <a:xfrm>
            <a:off x="3425012" y="4991019"/>
            <a:ext cx="544802" cy="335263"/>
          </a:xfrm>
          <a:custGeom>
            <a:avLst/>
            <a:gdLst/>
            <a:ahLst/>
            <a:cxnLst/>
            <a:rect l="l" t="t" r="r" b="b"/>
            <a:pathLst>
              <a:path w="653796" h="402336">
                <a:moveTo>
                  <a:pt x="653796" y="0"/>
                </a:moveTo>
                <a:lnTo>
                  <a:pt x="653796" y="210312"/>
                </a:lnTo>
                <a:lnTo>
                  <a:pt x="0" y="210312"/>
                </a:lnTo>
                <a:lnTo>
                  <a:pt x="0" y="402336"/>
                </a:lnTo>
              </a:path>
            </a:pathLst>
          </a:custGeom>
          <a:noFill/>
          <a:ln w="19050" cap="rnd">
            <a:solidFill>
              <a:srgbClr val="2A9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55" name="执行终端通信关系_0544"/>
          <p:cNvSpPr/>
          <p:nvPr/>
        </p:nvSpPr>
        <p:spPr>
          <a:xfrm>
            <a:off x="4343174" y="4991019"/>
            <a:ext cx="72386" cy="335263"/>
          </a:xfrm>
          <a:custGeom>
            <a:avLst/>
            <a:gdLst/>
            <a:ahLst/>
            <a:cxnLst/>
            <a:rect l="l" t="t" r="r" b="b"/>
            <a:pathLst>
              <a:path w="86868" h="402336">
                <a:moveTo>
                  <a:pt x="0" y="0"/>
                </a:moveTo>
                <a:lnTo>
                  <a:pt x="0" y="210312"/>
                </a:lnTo>
                <a:lnTo>
                  <a:pt x="86868" y="210312"/>
                </a:lnTo>
                <a:lnTo>
                  <a:pt x="86868" y="402336"/>
                </a:lnTo>
              </a:path>
            </a:pathLst>
          </a:custGeom>
          <a:noFill/>
          <a:ln w="19050" cap="rnd">
            <a:solidFill>
              <a:srgbClr val="2A9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56" name="执行终端通信关系_0545"/>
          <p:cNvSpPr/>
          <p:nvPr/>
        </p:nvSpPr>
        <p:spPr>
          <a:xfrm>
            <a:off x="5406108" y="4991019"/>
            <a:ext cx="49527" cy="335263"/>
          </a:xfrm>
          <a:custGeom>
            <a:avLst/>
            <a:gdLst/>
            <a:ahLst/>
            <a:cxnLst/>
            <a:rect l="l" t="t" r="r" b="b"/>
            <a:pathLst>
              <a:path w="59436" h="402336">
                <a:moveTo>
                  <a:pt x="59436" y="0"/>
                </a:moveTo>
                <a:lnTo>
                  <a:pt x="59436" y="210312"/>
                </a:lnTo>
                <a:lnTo>
                  <a:pt x="0" y="210312"/>
                </a:lnTo>
                <a:lnTo>
                  <a:pt x="0" y="402336"/>
                </a:lnTo>
              </a:path>
            </a:pathLst>
          </a:custGeom>
          <a:noFill/>
          <a:ln w="19050" cap="rnd">
            <a:solidFill>
              <a:srgbClr val="2A9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57" name="执行终端通信关系_0546"/>
          <p:cNvSpPr/>
          <p:nvPr/>
        </p:nvSpPr>
        <p:spPr>
          <a:xfrm>
            <a:off x="6396657" y="5006258"/>
            <a:ext cx="575280" cy="320023"/>
          </a:xfrm>
          <a:custGeom>
            <a:avLst/>
            <a:gdLst/>
            <a:ahLst/>
            <a:cxnLst/>
            <a:rect l="l" t="t" r="r" b="b"/>
            <a:pathLst>
              <a:path w="690372" h="384048">
                <a:moveTo>
                  <a:pt x="690372" y="0"/>
                </a:moveTo>
                <a:lnTo>
                  <a:pt x="690372" y="192024"/>
                </a:lnTo>
                <a:lnTo>
                  <a:pt x="0" y="192024"/>
                </a:lnTo>
                <a:lnTo>
                  <a:pt x="0" y="384048"/>
                </a:lnTo>
              </a:path>
            </a:pathLst>
          </a:custGeom>
          <a:noFill/>
          <a:ln w="19050" cap="rnd">
            <a:solidFill>
              <a:srgbClr val="2A9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58" name="终端_车灯_0547"/>
          <p:cNvSpPr/>
          <p:nvPr/>
        </p:nvSpPr>
        <p:spPr>
          <a:xfrm>
            <a:off x="2011575" y="2011754"/>
            <a:ext cx="548611" cy="50289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 cap="rnd">
            <a:solidFill>
              <a:srgbClr val="3C9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grpSp>
        <p:nvGrpSpPr>
          <p:cNvPr id="159" name="图标_headlight_0548"/>
          <p:cNvGrpSpPr/>
          <p:nvPr/>
        </p:nvGrpSpPr>
        <p:grpSpPr>
          <a:xfrm>
            <a:off x="2192312" y="2104179"/>
            <a:ext cx="203139" cy="129914"/>
            <a:chOff x="2630911" y="2524932"/>
            <a:chExt cx="243779" cy="155905"/>
          </a:xfrm>
        </p:grpSpPr>
        <p:sp>
          <p:nvSpPr>
            <p:cNvPr id="160" name="图标线_0549"/>
            <p:cNvSpPr/>
            <p:nvPr/>
          </p:nvSpPr>
          <p:spPr>
            <a:xfrm>
              <a:off x="2630911" y="2524932"/>
              <a:ext cx="127559" cy="155905"/>
            </a:xfrm>
            <a:custGeom>
              <a:avLst/>
              <a:gdLst/>
              <a:ahLst/>
              <a:cxnLst/>
              <a:rect l="l" t="t" r="r" b="b"/>
              <a:pathLst>
                <a:path w="127559" h="155905">
                  <a:moveTo>
                    <a:pt x="0" y="17008"/>
                  </a:moveTo>
                  <a:lnTo>
                    <a:pt x="93543" y="0"/>
                  </a:lnTo>
                  <a:lnTo>
                    <a:pt x="127559" y="34016"/>
                  </a:lnTo>
                  <a:lnTo>
                    <a:pt x="127559" y="121890"/>
                  </a:lnTo>
                  <a:lnTo>
                    <a:pt x="93543" y="155905"/>
                  </a:lnTo>
                  <a:lnTo>
                    <a:pt x="0" y="136063"/>
                  </a:lnTo>
                  <a:lnTo>
                    <a:pt x="0" y="17008"/>
                  </a:lnTo>
                  <a:close/>
                </a:path>
              </a:pathLst>
            </a:custGeom>
            <a:noFill/>
            <a:ln w="2032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161" name="图标线_0550"/>
            <p:cNvCxnSpPr/>
            <p:nvPr/>
          </p:nvCxnSpPr>
          <p:spPr>
            <a:xfrm>
              <a:off x="2786816" y="2544775"/>
              <a:ext cx="87874" cy="0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图标线_0551"/>
            <p:cNvCxnSpPr/>
            <p:nvPr/>
          </p:nvCxnSpPr>
          <p:spPr>
            <a:xfrm>
              <a:off x="2786816" y="2581625"/>
              <a:ext cx="87874" cy="0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图标线_0552"/>
            <p:cNvCxnSpPr/>
            <p:nvPr/>
          </p:nvCxnSpPr>
          <p:spPr>
            <a:xfrm>
              <a:off x="2786816" y="2618475"/>
              <a:ext cx="87874" cy="0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图标线_0553"/>
            <p:cNvCxnSpPr/>
            <p:nvPr/>
          </p:nvCxnSpPr>
          <p:spPr>
            <a:xfrm>
              <a:off x="2786816" y="2655326"/>
              <a:ext cx="87874" cy="0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文字_车灯_0554"/>
          <p:cNvSpPr txBox="1"/>
          <p:nvPr/>
        </p:nvSpPr>
        <p:spPr>
          <a:xfrm>
            <a:off x="2042054" y="2324158"/>
            <a:ext cx="487655" cy="167631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车灯</a:t>
            </a:r>
            <a:endParaRPr sz="1090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6" name="终端_车窗_0555"/>
          <p:cNvSpPr/>
          <p:nvPr/>
        </p:nvSpPr>
        <p:spPr>
          <a:xfrm>
            <a:off x="2644002" y="2011754"/>
            <a:ext cx="548611" cy="50289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 cap="rnd">
            <a:solidFill>
              <a:srgbClr val="3C9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grpSp>
        <p:nvGrpSpPr>
          <p:cNvPr id="167" name="图标_window_0556"/>
          <p:cNvGrpSpPr/>
          <p:nvPr/>
        </p:nvGrpSpPr>
        <p:grpSpPr>
          <a:xfrm>
            <a:off x="2829463" y="2090006"/>
            <a:ext cx="170070" cy="153535"/>
            <a:chOff x="3395532" y="2507924"/>
            <a:chExt cx="204095" cy="184252"/>
          </a:xfrm>
        </p:grpSpPr>
        <p:sp>
          <p:nvSpPr>
            <p:cNvPr id="168" name="图标线_0557"/>
            <p:cNvSpPr/>
            <p:nvPr/>
          </p:nvSpPr>
          <p:spPr>
            <a:xfrm>
              <a:off x="3395532" y="2507924"/>
              <a:ext cx="204095" cy="184252"/>
            </a:xfrm>
            <a:custGeom>
              <a:avLst/>
              <a:gdLst/>
              <a:ahLst/>
              <a:cxnLst/>
              <a:rect l="l" t="t" r="r" b="b"/>
              <a:pathLst>
                <a:path w="204095" h="184252">
                  <a:moveTo>
                    <a:pt x="17008" y="0"/>
                  </a:moveTo>
                  <a:lnTo>
                    <a:pt x="204095" y="0"/>
                  </a:lnTo>
                  <a:lnTo>
                    <a:pt x="204095" y="184252"/>
                  </a:lnTo>
                  <a:lnTo>
                    <a:pt x="0" y="184252"/>
                  </a:lnTo>
                  <a:lnTo>
                    <a:pt x="0" y="85040"/>
                  </a:lnTo>
                  <a:lnTo>
                    <a:pt x="17008" y="0"/>
                  </a:lnTo>
                  <a:close/>
                </a:path>
              </a:pathLst>
            </a:custGeom>
            <a:noFill/>
            <a:ln w="2032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169" name="图标线_0558"/>
            <p:cNvSpPr/>
            <p:nvPr/>
          </p:nvSpPr>
          <p:spPr>
            <a:xfrm>
              <a:off x="3421044" y="2533436"/>
              <a:ext cx="141732" cy="90709"/>
            </a:xfrm>
            <a:custGeom>
              <a:avLst/>
              <a:gdLst/>
              <a:ahLst/>
              <a:cxnLst/>
              <a:rect l="l" t="t" r="r" b="b"/>
              <a:pathLst>
                <a:path w="141732" h="90709">
                  <a:moveTo>
                    <a:pt x="19843" y="0"/>
                  </a:moveTo>
                  <a:lnTo>
                    <a:pt x="141732" y="0"/>
                  </a:lnTo>
                  <a:lnTo>
                    <a:pt x="141732" y="90709"/>
                  </a:lnTo>
                  <a:lnTo>
                    <a:pt x="0" y="90709"/>
                  </a:lnTo>
                  <a:lnTo>
                    <a:pt x="19843" y="0"/>
                  </a:lnTo>
                  <a:close/>
                </a:path>
              </a:pathLst>
            </a:custGeom>
            <a:noFill/>
            <a:ln w="2032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170" name="图标线_0559"/>
            <p:cNvCxnSpPr/>
            <p:nvPr/>
          </p:nvCxnSpPr>
          <p:spPr>
            <a:xfrm>
              <a:off x="3542934" y="2660995"/>
              <a:ext cx="34015" cy="0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1" name="文字_车窗_0560"/>
          <p:cNvSpPr txBox="1"/>
          <p:nvPr/>
        </p:nvSpPr>
        <p:spPr>
          <a:xfrm>
            <a:off x="2674481" y="2324158"/>
            <a:ext cx="487655" cy="167631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车窗</a:t>
            </a:r>
            <a:endParaRPr sz="1090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2" name="终端_门锁_0561"/>
          <p:cNvSpPr/>
          <p:nvPr/>
        </p:nvSpPr>
        <p:spPr>
          <a:xfrm>
            <a:off x="3276429" y="2011754"/>
            <a:ext cx="548611" cy="50289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 cap="rnd">
            <a:solidFill>
              <a:srgbClr val="3C9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grpSp>
        <p:nvGrpSpPr>
          <p:cNvPr id="173" name="图标_lock_0562"/>
          <p:cNvGrpSpPr/>
          <p:nvPr/>
        </p:nvGrpSpPr>
        <p:grpSpPr>
          <a:xfrm>
            <a:off x="3483149" y="2099455"/>
            <a:ext cx="127552" cy="153535"/>
            <a:chOff x="4179996" y="2519263"/>
            <a:chExt cx="153070" cy="184251"/>
          </a:xfrm>
        </p:grpSpPr>
        <p:sp>
          <p:nvSpPr>
            <p:cNvPr id="174" name="图标部件_0563"/>
            <p:cNvSpPr/>
            <p:nvPr/>
          </p:nvSpPr>
          <p:spPr>
            <a:xfrm>
              <a:off x="4179996" y="2584460"/>
              <a:ext cx="153070" cy="119054"/>
            </a:xfrm>
            <a:prstGeom prst="roundRect">
              <a:avLst>
                <a:gd name="adj" fmla="val 10000"/>
              </a:avLst>
            </a:prstGeom>
            <a:solidFill>
              <a:srgbClr val="166AB1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175" name="圆弧_0564"/>
            <p:cNvSpPr/>
            <p:nvPr/>
          </p:nvSpPr>
          <p:spPr>
            <a:xfrm>
              <a:off x="4202673" y="2519263"/>
              <a:ext cx="107717" cy="53858"/>
            </a:xfrm>
            <a:custGeom>
              <a:avLst/>
              <a:gdLst/>
              <a:ahLst/>
              <a:cxnLst/>
              <a:rect l="l" t="t" r="r" b="b"/>
              <a:pathLst>
                <a:path w="107717" h="53858">
                  <a:moveTo>
                    <a:pt x="0" y="53858"/>
                  </a:moveTo>
                  <a:lnTo>
                    <a:pt x="260" y="48579"/>
                  </a:lnTo>
                  <a:lnTo>
                    <a:pt x="1035" y="43351"/>
                  </a:lnTo>
                  <a:lnTo>
                    <a:pt x="2319" y="38224"/>
                  </a:lnTo>
                  <a:lnTo>
                    <a:pt x="4100" y="33247"/>
                  </a:lnTo>
                  <a:lnTo>
                    <a:pt x="6360" y="28470"/>
                  </a:lnTo>
                  <a:lnTo>
                    <a:pt x="9077" y="23936"/>
                  </a:lnTo>
                  <a:lnTo>
                    <a:pt x="12226" y="19691"/>
                  </a:lnTo>
                  <a:lnTo>
                    <a:pt x="15775" y="15775"/>
                  </a:lnTo>
                  <a:lnTo>
                    <a:pt x="19691" y="12225"/>
                  </a:lnTo>
                  <a:lnTo>
                    <a:pt x="23937" y="9077"/>
                  </a:lnTo>
                  <a:lnTo>
                    <a:pt x="28470" y="6359"/>
                  </a:lnTo>
                  <a:lnTo>
                    <a:pt x="33248" y="4100"/>
                  </a:lnTo>
                  <a:lnTo>
                    <a:pt x="38224" y="2319"/>
                  </a:lnTo>
                  <a:lnTo>
                    <a:pt x="43351" y="1035"/>
                  </a:lnTo>
                  <a:lnTo>
                    <a:pt x="48579" y="259"/>
                  </a:lnTo>
                  <a:lnTo>
                    <a:pt x="53859" y="0"/>
                  </a:lnTo>
                  <a:lnTo>
                    <a:pt x="59138" y="259"/>
                  </a:lnTo>
                  <a:lnTo>
                    <a:pt x="64366" y="1035"/>
                  </a:lnTo>
                  <a:lnTo>
                    <a:pt x="69493" y="2319"/>
                  </a:lnTo>
                  <a:lnTo>
                    <a:pt x="74469" y="4100"/>
                  </a:lnTo>
                  <a:lnTo>
                    <a:pt x="79247" y="6359"/>
                  </a:lnTo>
                  <a:lnTo>
                    <a:pt x="83780" y="9077"/>
                  </a:lnTo>
                  <a:lnTo>
                    <a:pt x="88026" y="12225"/>
                  </a:lnTo>
                  <a:lnTo>
                    <a:pt x="91942" y="15775"/>
                  </a:lnTo>
                  <a:lnTo>
                    <a:pt x="95491" y="19691"/>
                  </a:lnTo>
                  <a:lnTo>
                    <a:pt x="98640" y="23936"/>
                  </a:lnTo>
                  <a:lnTo>
                    <a:pt x="101357" y="28470"/>
                  </a:lnTo>
                  <a:lnTo>
                    <a:pt x="103617" y="33247"/>
                  </a:lnTo>
                  <a:lnTo>
                    <a:pt x="105398" y="38224"/>
                  </a:lnTo>
                  <a:lnTo>
                    <a:pt x="106682" y="43351"/>
                  </a:lnTo>
                  <a:lnTo>
                    <a:pt x="107457" y="48579"/>
                  </a:lnTo>
                  <a:lnTo>
                    <a:pt x="107717" y="53858"/>
                  </a:lnTo>
                </a:path>
              </a:pathLst>
            </a:custGeom>
            <a:noFill/>
            <a:ln w="2540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176" name="图标线_0565"/>
            <p:cNvCxnSpPr/>
            <p:nvPr/>
          </p:nvCxnSpPr>
          <p:spPr>
            <a:xfrm>
              <a:off x="4202673" y="2570286"/>
              <a:ext cx="0" cy="31182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图标线_0566"/>
            <p:cNvCxnSpPr/>
            <p:nvPr/>
          </p:nvCxnSpPr>
          <p:spPr>
            <a:xfrm>
              <a:off x="4310390" y="2570286"/>
              <a:ext cx="0" cy="31182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图标部件_0567"/>
            <p:cNvSpPr/>
            <p:nvPr/>
          </p:nvSpPr>
          <p:spPr>
            <a:xfrm>
              <a:off x="4242358" y="2621310"/>
              <a:ext cx="28346" cy="28346"/>
            </a:xfrm>
            <a:prstGeom prst="ellipse">
              <a:avLst/>
            </a:prstGeom>
            <a:solidFill>
              <a:srgbClr val="FFFFFF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179" name="图标线_0568"/>
            <p:cNvCxnSpPr/>
            <p:nvPr/>
          </p:nvCxnSpPr>
          <p:spPr>
            <a:xfrm>
              <a:off x="4256532" y="2635483"/>
              <a:ext cx="0" cy="28347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0" name="文字_门锁_0569"/>
          <p:cNvSpPr txBox="1"/>
          <p:nvPr/>
        </p:nvSpPr>
        <p:spPr>
          <a:xfrm>
            <a:off x="3306908" y="2324158"/>
            <a:ext cx="487655" cy="167631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门锁</a:t>
            </a:r>
            <a:endParaRPr sz="1090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1" name="终端_座椅_0570"/>
          <p:cNvSpPr/>
          <p:nvPr/>
        </p:nvSpPr>
        <p:spPr>
          <a:xfrm>
            <a:off x="3908856" y="2011754"/>
            <a:ext cx="548611" cy="50289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 cap="rnd">
            <a:solidFill>
              <a:srgbClr val="3C9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grpSp>
        <p:nvGrpSpPr>
          <p:cNvPr id="182" name="图标_seat_0571"/>
          <p:cNvGrpSpPr/>
          <p:nvPr/>
        </p:nvGrpSpPr>
        <p:grpSpPr>
          <a:xfrm>
            <a:off x="4172266" y="2064024"/>
            <a:ext cx="56690" cy="51966"/>
            <a:chOff x="5006980" y="2476743"/>
            <a:chExt cx="68031" cy="62362"/>
          </a:xfrm>
        </p:grpSpPr>
        <p:sp>
          <p:nvSpPr>
            <p:cNvPr id="183" name="图标部件_0572"/>
            <p:cNvSpPr/>
            <p:nvPr/>
          </p:nvSpPr>
          <p:spPr>
            <a:xfrm>
              <a:off x="5006980" y="2476743"/>
              <a:ext cx="68031" cy="62362"/>
            </a:xfrm>
            <a:prstGeom prst="ellipse">
              <a:avLst/>
            </a:prstGeom>
            <a:solidFill>
              <a:srgbClr val="166AB1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184" name="图标线_0573"/>
            <p:cNvSpPr/>
            <p:nvPr/>
          </p:nvSpPr>
          <p:spPr>
            <a:xfrm>
              <a:off x="4907767" y="2553279"/>
              <a:ext cx="150236" cy="144566"/>
            </a:xfrm>
            <a:custGeom>
              <a:avLst/>
              <a:gdLst/>
              <a:ahLst/>
              <a:cxnLst/>
              <a:rect l="l" t="t" r="r" b="b"/>
              <a:pathLst>
                <a:path w="150236" h="144566">
                  <a:moveTo>
                    <a:pt x="87874" y="0"/>
                  </a:moveTo>
                  <a:lnTo>
                    <a:pt x="150236" y="5669"/>
                  </a:lnTo>
                  <a:lnTo>
                    <a:pt x="127559" y="82204"/>
                  </a:lnTo>
                  <a:lnTo>
                    <a:pt x="65197" y="90708"/>
                  </a:lnTo>
                  <a:lnTo>
                    <a:pt x="53858" y="144566"/>
                  </a:lnTo>
                  <a:lnTo>
                    <a:pt x="0" y="144566"/>
                  </a:lnTo>
                  <a:lnTo>
                    <a:pt x="17008" y="56692"/>
                  </a:lnTo>
                  <a:lnTo>
                    <a:pt x="79370" y="45354"/>
                  </a:lnTo>
                  <a:lnTo>
                    <a:pt x="87874" y="0"/>
                  </a:lnTo>
                  <a:close/>
                </a:path>
              </a:pathLst>
            </a:custGeom>
            <a:solidFill>
              <a:srgbClr val="166AB1"/>
            </a:solidFill>
            <a:ln w="2032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185" name="图标线_0574"/>
            <p:cNvSpPr/>
            <p:nvPr/>
          </p:nvSpPr>
          <p:spPr>
            <a:xfrm>
              <a:off x="4984302" y="2655326"/>
              <a:ext cx="124725" cy="62362"/>
            </a:xfrm>
            <a:custGeom>
              <a:avLst/>
              <a:gdLst/>
              <a:ahLst/>
              <a:cxnLst/>
              <a:rect l="l" t="t" r="r" b="b"/>
              <a:pathLst>
                <a:path w="124725" h="62362">
                  <a:moveTo>
                    <a:pt x="59528" y="0"/>
                  </a:moveTo>
                  <a:lnTo>
                    <a:pt x="110551" y="8504"/>
                  </a:lnTo>
                  <a:lnTo>
                    <a:pt x="124725" y="62362"/>
                  </a:lnTo>
                  <a:lnTo>
                    <a:pt x="0" y="62362"/>
                  </a:lnTo>
                </a:path>
              </a:pathLst>
            </a:custGeom>
            <a:noFill/>
            <a:ln w="2032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</p:grpSp>
      <p:sp>
        <p:nvSpPr>
          <p:cNvPr id="186" name="文字_座椅_0575"/>
          <p:cNvSpPr txBox="1"/>
          <p:nvPr/>
        </p:nvSpPr>
        <p:spPr>
          <a:xfrm>
            <a:off x="3939335" y="2324158"/>
            <a:ext cx="487655" cy="167631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座椅</a:t>
            </a:r>
            <a:endParaRPr sz="1090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7" name="终端_空调_0576"/>
          <p:cNvSpPr/>
          <p:nvPr/>
        </p:nvSpPr>
        <p:spPr>
          <a:xfrm>
            <a:off x="4541283" y="2011754"/>
            <a:ext cx="548611" cy="50289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 cap="rnd">
            <a:solidFill>
              <a:srgbClr val="3C9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grpSp>
        <p:nvGrpSpPr>
          <p:cNvPr id="188" name="图标_fan_0577"/>
          <p:cNvGrpSpPr/>
          <p:nvPr/>
        </p:nvGrpSpPr>
        <p:grpSpPr>
          <a:xfrm>
            <a:off x="4712572" y="2087645"/>
            <a:ext cx="198414" cy="162982"/>
            <a:chOff x="5655381" y="2505090"/>
            <a:chExt cx="238109" cy="195589"/>
          </a:xfrm>
        </p:grpSpPr>
        <p:sp>
          <p:nvSpPr>
            <p:cNvPr id="189" name="图标部件_0578"/>
            <p:cNvSpPr/>
            <p:nvPr/>
          </p:nvSpPr>
          <p:spPr>
            <a:xfrm>
              <a:off x="5746089" y="2573121"/>
              <a:ext cx="56692" cy="56692"/>
            </a:xfrm>
            <a:prstGeom prst="ellipse">
              <a:avLst/>
            </a:prstGeom>
            <a:solidFill>
              <a:srgbClr val="166AB1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190" name="圆_0579"/>
            <p:cNvSpPr/>
            <p:nvPr/>
          </p:nvSpPr>
          <p:spPr>
            <a:xfrm rot="1920000">
              <a:off x="5791443" y="2573121"/>
              <a:ext cx="102047" cy="59527"/>
            </a:xfrm>
            <a:prstGeom prst="ellipse">
              <a:avLst/>
            </a:prstGeom>
            <a:solidFill>
              <a:srgbClr val="166A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191" name="圆_0580"/>
            <p:cNvSpPr/>
            <p:nvPr/>
          </p:nvSpPr>
          <p:spPr>
            <a:xfrm rot="7320000">
              <a:off x="5723412" y="2641152"/>
              <a:ext cx="102047" cy="59527"/>
            </a:xfrm>
            <a:prstGeom prst="ellipse">
              <a:avLst/>
            </a:prstGeom>
            <a:solidFill>
              <a:srgbClr val="166A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192" name="圆_0581"/>
            <p:cNvSpPr/>
            <p:nvPr/>
          </p:nvSpPr>
          <p:spPr>
            <a:xfrm rot="12720000">
              <a:off x="5655381" y="2573121"/>
              <a:ext cx="102047" cy="59527"/>
            </a:xfrm>
            <a:prstGeom prst="ellipse">
              <a:avLst/>
            </a:prstGeom>
            <a:solidFill>
              <a:srgbClr val="166A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193" name="圆_0582"/>
            <p:cNvSpPr/>
            <p:nvPr/>
          </p:nvSpPr>
          <p:spPr>
            <a:xfrm rot="18120000">
              <a:off x="5723412" y="2505090"/>
              <a:ext cx="102047" cy="59527"/>
            </a:xfrm>
            <a:prstGeom prst="ellipse">
              <a:avLst/>
            </a:prstGeom>
            <a:solidFill>
              <a:srgbClr val="166A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</p:grpSp>
      <p:sp>
        <p:nvSpPr>
          <p:cNvPr id="194" name="文字_空调_0583"/>
          <p:cNvSpPr txBox="1"/>
          <p:nvPr/>
        </p:nvSpPr>
        <p:spPr>
          <a:xfrm>
            <a:off x="4571762" y="2324158"/>
            <a:ext cx="487655" cy="167631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空调</a:t>
            </a:r>
            <a:endParaRPr sz="1090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5" name="终端_仪表_0584"/>
          <p:cNvSpPr/>
          <p:nvPr/>
        </p:nvSpPr>
        <p:spPr>
          <a:xfrm>
            <a:off x="5173710" y="2011754"/>
            <a:ext cx="548611" cy="50289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 cap="rnd">
            <a:solidFill>
              <a:srgbClr val="3C9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grpSp>
        <p:nvGrpSpPr>
          <p:cNvPr id="196" name="图标_gauge_0585"/>
          <p:cNvGrpSpPr/>
          <p:nvPr/>
        </p:nvGrpSpPr>
        <p:grpSpPr>
          <a:xfrm>
            <a:off x="5354447" y="2106541"/>
            <a:ext cx="179518" cy="101569"/>
            <a:chOff x="6425671" y="2527767"/>
            <a:chExt cx="215433" cy="121889"/>
          </a:xfrm>
        </p:grpSpPr>
        <p:sp>
          <p:nvSpPr>
            <p:cNvPr id="197" name="圆弧_0586"/>
            <p:cNvSpPr/>
            <p:nvPr/>
          </p:nvSpPr>
          <p:spPr>
            <a:xfrm>
              <a:off x="6425671" y="2527767"/>
              <a:ext cx="215433" cy="107716"/>
            </a:xfrm>
            <a:custGeom>
              <a:avLst/>
              <a:gdLst/>
              <a:ahLst/>
              <a:cxnLst/>
              <a:rect l="l" t="t" r="r" b="b"/>
              <a:pathLst>
                <a:path w="215433" h="107716">
                  <a:moveTo>
                    <a:pt x="0" y="107716"/>
                  </a:moveTo>
                  <a:lnTo>
                    <a:pt x="519" y="97158"/>
                  </a:lnTo>
                  <a:lnTo>
                    <a:pt x="2070" y="86702"/>
                  </a:lnTo>
                  <a:lnTo>
                    <a:pt x="4638" y="76448"/>
                  </a:lnTo>
                  <a:lnTo>
                    <a:pt x="8200" y="66495"/>
                  </a:lnTo>
                  <a:lnTo>
                    <a:pt x="12719" y="56939"/>
                  </a:lnTo>
                  <a:lnTo>
                    <a:pt x="18154" y="47872"/>
                  </a:lnTo>
                  <a:lnTo>
                    <a:pt x="24451" y="39382"/>
                  </a:lnTo>
                  <a:lnTo>
                    <a:pt x="31550" y="31549"/>
                  </a:lnTo>
                  <a:lnTo>
                    <a:pt x="39382" y="24450"/>
                  </a:lnTo>
                  <a:lnTo>
                    <a:pt x="47873" y="18153"/>
                  </a:lnTo>
                  <a:lnTo>
                    <a:pt x="56939" y="12719"/>
                  </a:lnTo>
                  <a:lnTo>
                    <a:pt x="66495" y="8199"/>
                  </a:lnTo>
                  <a:lnTo>
                    <a:pt x="76448" y="4638"/>
                  </a:lnTo>
                  <a:lnTo>
                    <a:pt x="86702" y="2070"/>
                  </a:lnTo>
                  <a:lnTo>
                    <a:pt x="97158" y="519"/>
                  </a:lnTo>
                  <a:lnTo>
                    <a:pt x="107717" y="0"/>
                  </a:lnTo>
                  <a:lnTo>
                    <a:pt x="118275" y="519"/>
                  </a:lnTo>
                  <a:lnTo>
                    <a:pt x="128731" y="2070"/>
                  </a:lnTo>
                  <a:lnTo>
                    <a:pt x="138985" y="4638"/>
                  </a:lnTo>
                  <a:lnTo>
                    <a:pt x="148938" y="8199"/>
                  </a:lnTo>
                  <a:lnTo>
                    <a:pt x="158494" y="12719"/>
                  </a:lnTo>
                  <a:lnTo>
                    <a:pt x="167560" y="18153"/>
                  </a:lnTo>
                  <a:lnTo>
                    <a:pt x="176051" y="24450"/>
                  </a:lnTo>
                  <a:lnTo>
                    <a:pt x="183883" y="31549"/>
                  </a:lnTo>
                  <a:lnTo>
                    <a:pt x="190982" y="39382"/>
                  </a:lnTo>
                  <a:lnTo>
                    <a:pt x="197279" y="47872"/>
                  </a:lnTo>
                  <a:lnTo>
                    <a:pt x="202714" y="56939"/>
                  </a:lnTo>
                  <a:lnTo>
                    <a:pt x="207233" y="66495"/>
                  </a:lnTo>
                  <a:lnTo>
                    <a:pt x="210795" y="76448"/>
                  </a:lnTo>
                  <a:lnTo>
                    <a:pt x="213363" y="86702"/>
                  </a:lnTo>
                  <a:lnTo>
                    <a:pt x="214914" y="97158"/>
                  </a:lnTo>
                  <a:lnTo>
                    <a:pt x="215433" y="107716"/>
                  </a:lnTo>
                </a:path>
              </a:pathLst>
            </a:custGeom>
            <a:noFill/>
            <a:ln w="2413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198" name="图标线_0587"/>
            <p:cNvCxnSpPr/>
            <p:nvPr/>
          </p:nvCxnSpPr>
          <p:spPr>
            <a:xfrm>
              <a:off x="6425671" y="2638318"/>
              <a:ext cx="215433" cy="0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图标线_0588"/>
            <p:cNvCxnSpPr/>
            <p:nvPr/>
          </p:nvCxnSpPr>
          <p:spPr>
            <a:xfrm flipV="1">
              <a:off x="6533388" y="2558948"/>
              <a:ext cx="62362" cy="70866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图标部件_0589"/>
            <p:cNvSpPr/>
            <p:nvPr/>
          </p:nvSpPr>
          <p:spPr>
            <a:xfrm>
              <a:off x="6516380" y="2615641"/>
              <a:ext cx="34015" cy="34015"/>
            </a:xfrm>
            <a:prstGeom prst="ellipse">
              <a:avLst/>
            </a:prstGeom>
            <a:solidFill>
              <a:srgbClr val="166AB1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201" name="图标线_0590"/>
            <p:cNvCxnSpPr/>
            <p:nvPr/>
          </p:nvCxnSpPr>
          <p:spPr>
            <a:xfrm flipH="1">
              <a:off x="6437010" y="2635483"/>
              <a:ext cx="17008" cy="0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图标线_0591"/>
            <p:cNvCxnSpPr/>
            <p:nvPr/>
          </p:nvCxnSpPr>
          <p:spPr>
            <a:xfrm flipH="1" flipV="1">
              <a:off x="6465238" y="2567334"/>
              <a:ext cx="12026" cy="12026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图标线_0592"/>
            <p:cNvCxnSpPr/>
            <p:nvPr/>
          </p:nvCxnSpPr>
          <p:spPr>
            <a:xfrm flipV="1">
              <a:off x="6533388" y="2539105"/>
              <a:ext cx="0" cy="17008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图标线_0593"/>
            <p:cNvCxnSpPr/>
            <p:nvPr/>
          </p:nvCxnSpPr>
          <p:spPr>
            <a:xfrm flipV="1">
              <a:off x="6589511" y="2567334"/>
              <a:ext cx="12026" cy="12026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图标线_0594"/>
            <p:cNvCxnSpPr/>
            <p:nvPr/>
          </p:nvCxnSpPr>
          <p:spPr>
            <a:xfrm>
              <a:off x="6612757" y="2635483"/>
              <a:ext cx="17008" cy="0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6" name="文字_仪表_0595"/>
          <p:cNvSpPr txBox="1"/>
          <p:nvPr/>
        </p:nvSpPr>
        <p:spPr>
          <a:xfrm>
            <a:off x="5204188" y="2324158"/>
            <a:ext cx="487655" cy="167631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仪表</a:t>
            </a:r>
            <a:endParaRPr sz="1090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7" name="终端_中控_0596"/>
          <p:cNvSpPr/>
          <p:nvPr/>
        </p:nvSpPr>
        <p:spPr>
          <a:xfrm>
            <a:off x="5806137" y="2011754"/>
            <a:ext cx="548611" cy="50289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 cap="rnd">
            <a:solidFill>
              <a:srgbClr val="3C9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grpSp>
        <p:nvGrpSpPr>
          <p:cNvPr id="208" name="图标_screen_0597"/>
          <p:cNvGrpSpPr/>
          <p:nvPr/>
        </p:nvGrpSpPr>
        <p:grpSpPr>
          <a:xfrm>
            <a:off x="5982150" y="2085282"/>
            <a:ext cx="188966" cy="174793"/>
            <a:chOff x="7178954" y="2502255"/>
            <a:chExt cx="226771" cy="209763"/>
          </a:xfrm>
        </p:grpSpPr>
        <p:sp>
          <p:nvSpPr>
            <p:cNvPr id="209" name="图标部件_0598"/>
            <p:cNvSpPr/>
            <p:nvPr/>
          </p:nvSpPr>
          <p:spPr>
            <a:xfrm>
              <a:off x="7178954" y="2502255"/>
              <a:ext cx="226771" cy="155905"/>
            </a:xfrm>
            <a:prstGeom prst="roundRect">
              <a:avLst>
                <a:gd name="adj" fmla="val 10000"/>
              </a:avLst>
            </a:prstGeom>
            <a:noFill/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210" name="图标部件_0599"/>
            <p:cNvSpPr/>
            <p:nvPr/>
          </p:nvSpPr>
          <p:spPr>
            <a:xfrm>
              <a:off x="7201631" y="2524932"/>
              <a:ext cx="181416" cy="102047"/>
            </a:xfrm>
            <a:prstGeom prst="rect">
              <a:avLst/>
            </a:prstGeom>
            <a:noFill/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211" name="图标线_0600"/>
            <p:cNvCxnSpPr/>
            <p:nvPr/>
          </p:nvCxnSpPr>
          <p:spPr>
            <a:xfrm>
              <a:off x="7292340" y="2663830"/>
              <a:ext cx="0" cy="36850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图标线_0601"/>
            <p:cNvCxnSpPr/>
            <p:nvPr/>
          </p:nvCxnSpPr>
          <p:spPr>
            <a:xfrm>
              <a:off x="7229977" y="2712018"/>
              <a:ext cx="124725" cy="0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3" name="文字_中控_0602"/>
          <p:cNvSpPr txBox="1"/>
          <p:nvPr/>
        </p:nvSpPr>
        <p:spPr>
          <a:xfrm>
            <a:off x="5836615" y="2324158"/>
            <a:ext cx="487655" cy="167631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中控</a:t>
            </a:r>
            <a:endParaRPr sz="1090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4" name="控制器_0603"/>
          <p:cNvSpPr/>
          <p:nvPr/>
        </p:nvSpPr>
        <p:spPr>
          <a:xfrm>
            <a:off x="1744889" y="2964204"/>
            <a:ext cx="1066744" cy="518133"/>
          </a:xfrm>
          <a:prstGeom prst="roundRect">
            <a:avLst>
              <a:gd name="adj" fmla="val 10000"/>
            </a:avLst>
          </a:prstGeom>
          <a:solidFill>
            <a:srgbClr val="118DD8"/>
          </a:solidFill>
          <a:ln w="11430" cap="rnd">
            <a:solidFill>
              <a:srgbClr val="66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15" name="控制器文字_前左_区域控制器_0604"/>
          <p:cNvSpPr txBox="1"/>
          <p:nvPr/>
        </p:nvSpPr>
        <p:spPr>
          <a:xfrm>
            <a:off x="1767748" y="2979443"/>
            <a:ext cx="1021026" cy="487655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前左</a:t>
            </a:r>
            <a:endParaRPr sz="131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区域控制器</a:t>
            </a:r>
            <a:endParaRPr sz="131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6" name="控制器_0605"/>
          <p:cNvSpPr/>
          <p:nvPr/>
        </p:nvSpPr>
        <p:spPr>
          <a:xfrm>
            <a:off x="3261190" y="2766095"/>
            <a:ext cx="1097223" cy="464796"/>
          </a:xfrm>
          <a:prstGeom prst="roundRect">
            <a:avLst>
              <a:gd name="adj" fmla="val 10000"/>
            </a:avLst>
          </a:prstGeom>
          <a:solidFill>
            <a:srgbClr val="198BD1"/>
          </a:solidFill>
          <a:ln w="11430" cap="rnd">
            <a:solidFill>
              <a:srgbClr val="66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17" name="控制器文字_车身控制器_（BCM）_0606"/>
          <p:cNvSpPr txBox="1"/>
          <p:nvPr/>
        </p:nvSpPr>
        <p:spPr>
          <a:xfrm>
            <a:off x="3284049" y="2781334"/>
            <a:ext cx="1051505" cy="434317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6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车身控制器</a:t>
            </a:r>
            <a:endParaRPr sz="126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6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（BCM）</a:t>
            </a:r>
            <a:endParaRPr sz="126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8" name="控制器_0607"/>
          <p:cNvSpPr/>
          <p:nvPr/>
        </p:nvSpPr>
        <p:spPr>
          <a:xfrm>
            <a:off x="4693676" y="2766095"/>
            <a:ext cx="1386768" cy="464796"/>
          </a:xfrm>
          <a:prstGeom prst="roundRect">
            <a:avLst>
              <a:gd name="adj" fmla="val 10000"/>
            </a:avLst>
          </a:prstGeom>
          <a:solidFill>
            <a:srgbClr val="1884C5"/>
          </a:solidFill>
          <a:ln w="11430" cap="rnd">
            <a:solidFill>
              <a:srgbClr val="66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19" name="控制器文字_座舱计算平台_（智能座舱）_0608"/>
          <p:cNvSpPr txBox="1"/>
          <p:nvPr/>
        </p:nvSpPr>
        <p:spPr>
          <a:xfrm>
            <a:off x="4716534" y="2781334"/>
            <a:ext cx="1341050" cy="434317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座舱计算平台</a:t>
            </a:r>
            <a:endParaRPr sz="131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（智能座舱）</a:t>
            </a:r>
            <a:endParaRPr sz="131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0" name="控制器_0609"/>
          <p:cNvSpPr/>
          <p:nvPr/>
        </p:nvSpPr>
        <p:spPr>
          <a:xfrm>
            <a:off x="6438564" y="2964204"/>
            <a:ext cx="1081984" cy="518133"/>
          </a:xfrm>
          <a:prstGeom prst="roundRect">
            <a:avLst>
              <a:gd name="adj" fmla="val 10000"/>
            </a:avLst>
          </a:prstGeom>
          <a:solidFill>
            <a:srgbClr val="118DD8"/>
          </a:solidFill>
          <a:ln w="11430" cap="rnd">
            <a:solidFill>
              <a:srgbClr val="66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21" name="控制器文字_前右_区域控制器_0610"/>
          <p:cNvSpPr txBox="1"/>
          <p:nvPr/>
        </p:nvSpPr>
        <p:spPr>
          <a:xfrm>
            <a:off x="6461423" y="2979443"/>
            <a:ext cx="1036266" cy="487655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前右</a:t>
            </a:r>
            <a:endParaRPr sz="131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区域控制器</a:t>
            </a:r>
            <a:endParaRPr sz="131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2" name="控制器_0611"/>
          <p:cNvSpPr/>
          <p:nvPr/>
        </p:nvSpPr>
        <p:spPr>
          <a:xfrm>
            <a:off x="2651622" y="3794741"/>
            <a:ext cx="876254" cy="388600"/>
          </a:xfrm>
          <a:prstGeom prst="roundRect">
            <a:avLst>
              <a:gd name="adj" fmla="val 10000"/>
            </a:avLst>
          </a:prstGeom>
          <a:solidFill>
            <a:srgbClr val="276D9E"/>
          </a:solidFill>
          <a:ln w="11430" cap="rnd">
            <a:solidFill>
              <a:srgbClr val="66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23" name="控制器文字_网关_0612"/>
          <p:cNvSpPr txBox="1"/>
          <p:nvPr/>
        </p:nvSpPr>
        <p:spPr>
          <a:xfrm>
            <a:off x="2674481" y="3809980"/>
            <a:ext cx="830536" cy="358121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1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网关</a:t>
            </a:r>
            <a:endParaRPr sz="141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4" name="控制器_0613"/>
          <p:cNvSpPr/>
          <p:nvPr/>
        </p:nvSpPr>
        <p:spPr>
          <a:xfrm>
            <a:off x="3992672" y="3642349"/>
            <a:ext cx="1813466" cy="640047"/>
          </a:xfrm>
          <a:prstGeom prst="roundRect">
            <a:avLst>
              <a:gd name="adj" fmla="val 10000"/>
            </a:avLst>
          </a:prstGeom>
          <a:solidFill>
            <a:srgbClr val="7545D9"/>
          </a:solidFill>
          <a:ln w="11430" cap="rnd">
            <a:solidFill>
              <a:srgbClr val="66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25" name="控制器文字__0614"/>
          <p:cNvSpPr txBox="1"/>
          <p:nvPr/>
        </p:nvSpPr>
        <p:spPr>
          <a:xfrm>
            <a:off x="4015531" y="3657588"/>
            <a:ext cx="1767748" cy="609567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endParaRPr sz="1500"/>
          </a:p>
        </p:txBody>
      </p:sp>
      <p:sp>
        <p:nvSpPr>
          <p:cNvPr id="226" name="文字_中央计算平台_0615"/>
          <p:cNvSpPr txBox="1"/>
          <p:nvPr/>
        </p:nvSpPr>
        <p:spPr>
          <a:xfrm>
            <a:off x="4038390" y="3718545"/>
            <a:ext cx="1722029" cy="213349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中央计算平台</a:t>
            </a:r>
            <a:endParaRPr sz="144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7" name="文字_（智能驾驶/整车计算）_0616"/>
          <p:cNvSpPr txBox="1"/>
          <p:nvPr/>
        </p:nvSpPr>
        <p:spPr>
          <a:xfrm>
            <a:off x="4038390" y="3977611"/>
            <a:ext cx="1722029" cy="182870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（智能驾驶/整车计算）</a:t>
            </a:r>
            <a:endParaRPr sz="11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8" name="控制器_0617"/>
          <p:cNvSpPr/>
          <p:nvPr/>
        </p:nvSpPr>
        <p:spPr>
          <a:xfrm>
            <a:off x="1744889" y="4503364"/>
            <a:ext cx="1066744" cy="518133"/>
          </a:xfrm>
          <a:prstGeom prst="roundRect">
            <a:avLst>
              <a:gd name="adj" fmla="val 10000"/>
            </a:avLst>
          </a:prstGeom>
          <a:solidFill>
            <a:srgbClr val="118DD8"/>
          </a:solidFill>
          <a:ln w="11430" cap="rnd">
            <a:solidFill>
              <a:srgbClr val="66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29" name="控制器文字_后左_区域控制器_0618"/>
          <p:cNvSpPr txBox="1"/>
          <p:nvPr/>
        </p:nvSpPr>
        <p:spPr>
          <a:xfrm>
            <a:off x="1767748" y="4518603"/>
            <a:ext cx="1021026" cy="487655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后左</a:t>
            </a:r>
            <a:endParaRPr sz="131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区域控制器</a:t>
            </a:r>
            <a:endParaRPr sz="131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0" name="控制器_0619"/>
          <p:cNvSpPr/>
          <p:nvPr/>
        </p:nvSpPr>
        <p:spPr>
          <a:xfrm>
            <a:off x="3413582" y="4495744"/>
            <a:ext cx="1120082" cy="495274"/>
          </a:xfrm>
          <a:prstGeom prst="roundRect">
            <a:avLst>
              <a:gd name="adj" fmla="val 10000"/>
            </a:avLst>
          </a:prstGeom>
          <a:solidFill>
            <a:srgbClr val="1688CA"/>
          </a:solidFill>
          <a:ln w="11430" cap="rnd">
            <a:solidFill>
              <a:srgbClr val="66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31" name="控制器文字__0620"/>
          <p:cNvSpPr txBox="1"/>
          <p:nvPr/>
        </p:nvSpPr>
        <p:spPr>
          <a:xfrm>
            <a:off x="3436441" y="4510984"/>
            <a:ext cx="1074364" cy="464796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endParaRPr sz="1500"/>
          </a:p>
        </p:txBody>
      </p:sp>
      <p:sp>
        <p:nvSpPr>
          <p:cNvPr id="232" name="文字_动力控制器_0621"/>
          <p:cNvSpPr txBox="1"/>
          <p:nvPr/>
        </p:nvSpPr>
        <p:spPr>
          <a:xfrm>
            <a:off x="3451680" y="4545272"/>
            <a:ext cx="1043886" cy="167631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1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动力控制器</a:t>
            </a:r>
            <a:endParaRPr sz="111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3" name="文字_（电驱/发动机）_0622"/>
          <p:cNvSpPr txBox="1"/>
          <p:nvPr/>
        </p:nvSpPr>
        <p:spPr>
          <a:xfrm>
            <a:off x="3451680" y="4762431"/>
            <a:ext cx="1043886" cy="144772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（电驱/发动机）</a:t>
            </a:r>
            <a:endParaRPr sz="9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4" name="控制器_0623"/>
          <p:cNvSpPr/>
          <p:nvPr/>
        </p:nvSpPr>
        <p:spPr>
          <a:xfrm>
            <a:off x="4891785" y="4495744"/>
            <a:ext cx="1142940" cy="495274"/>
          </a:xfrm>
          <a:prstGeom prst="roundRect">
            <a:avLst>
              <a:gd name="adj" fmla="val 10000"/>
            </a:avLst>
          </a:prstGeom>
          <a:solidFill>
            <a:srgbClr val="1688CA"/>
          </a:solidFill>
          <a:ln w="11430" cap="rnd">
            <a:solidFill>
              <a:srgbClr val="66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35" name="控制器文字__0624"/>
          <p:cNvSpPr txBox="1"/>
          <p:nvPr/>
        </p:nvSpPr>
        <p:spPr>
          <a:xfrm>
            <a:off x="4914644" y="4510984"/>
            <a:ext cx="1097223" cy="464796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endParaRPr sz="1500"/>
          </a:p>
        </p:txBody>
      </p:sp>
      <p:sp>
        <p:nvSpPr>
          <p:cNvPr id="236" name="文字_底盘控制器_0625"/>
          <p:cNvSpPr txBox="1"/>
          <p:nvPr/>
        </p:nvSpPr>
        <p:spPr>
          <a:xfrm>
            <a:off x="4929883" y="4545272"/>
            <a:ext cx="1066744" cy="167631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1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底盘控制器</a:t>
            </a:r>
            <a:endParaRPr sz="111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7" name="文字_（制动/转向）_0626"/>
          <p:cNvSpPr txBox="1"/>
          <p:nvPr/>
        </p:nvSpPr>
        <p:spPr>
          <a:xfrm>
            <a:off x="4929883" y="4762431"/>
            <a:ext cx="1066744" cy="144772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（制动/转向）</a:t>
            </a:r>
            <a:endParaRPr sz="91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8" name="控制器_0627"/>
          <p:cNvSpPr/>
          <p:nvPr/>
        </p:nvSpPr>
        <p:spPr>
          <a:xfrm>
            <a:off x="6438564" y="4503364"/>
            <a:ext cx="1081984" cy="518133"/>
          </a:xfrm>
          <a:prstGeom prst="roundRect">
            <a:avLst>
              <a:gd name="adj" fmla="val 10000"/>
            </a:avLst>
          </a:prstGeom>
          <a:solidFill>
            <a:srgbClr val="118DD8"/>
          </a:solidFill>
          <a:ln w="11430" cap="rnd">
            <a:solidFill>
              <a:srgbClr val="66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39" name="控制器文字_后右_区域控制器_0628"/>
          <p:cNvSpPr txBox="1"/>
          <p:nvPr/>
        </p:nvSpPr>
        <p:spPr>
          <a:xfrm>
            <a:off x="6461423" y="4518603"/>
            <a:ext cx="1036266" cy="487655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后右</a:t>
            </a:r>
            <a:endParaRPr sz="131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区域控制器</a:t>
            </a:r>
            <a:endParaRPr sz="131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0" name="执行终端_制动_0629"/>
          <p:cNvSpPr/>
          <p:nvPr/>
        </p:nvSpPr>
        <p:spPr>
          <a:xfrm>
            <a:off x="2026814" y="5326281"/>
            <a:ext cx="815298" cy="55623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 cap="rnd">
            <a:solidFill>
              <a:srgbClr val="3C9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grpSp>
        <p:nvGrpSpPr>
          <p:cNvPr id="241" name="图标_brake_0630"/>
          <p:cNvGrpSpPr/>
          <p:nvPr/>
        </p:nvGrpSpPr>
        <p:grpSpPr>
          <a:xfrm>
            <a:off x="2332208" y="5384037"/>
            <a:ext cx="204662" cy="196890"/>
            <a:chOff x="2798795" y="6460967"/>
            <a:chExt cx="245607" cy="236280"/>
          </a:xfrm>
        </p:grpSpPr>
        <p:sp>
          <p:nvSpPr>
            <p:cNvPr id="242" name="图标部件_0631"/>
            <p:cNvSpPr/>
            <p:nvPr/>
          </p:nvSpPr>
          <p:spPr>
            <a:xfrm>
              <a:off x="2798795" y="6460967"/>
              <a:ext cx="236280" cy="236280"/>
            </a:xfrm>
            <a:prstGeom prst="ellipse">
              <a:avLst/>
            </a:prstGeom>
            <a:noFill/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243" name="图标部件_0632"/>
            <p:cNvSpPr/>
            <p:nvPr/>
          </p:nvSpPr>
          <p:spPr>
            <a:xfrm>
              <a:off x="2854756" y="6516928"/>
              <a:ext cx="124358" cy="124358"/>
            </a:xfrm>
            <a:prstGeom prst="ellipse">
              <a:avLst/>
            </a:prstGeom>
            <a:noFill/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244" name="图标部件_0633"/>
            <p:cNvSpPr/>
            <p:nvPr/>
          </p:nvSpPr>
          <p:spPr>
            <a:xfrm>
              <a:off x="2901391" y="6563563"/>
              <a:ext cx="31089" cy="31089"/>
            </a:xfrm>
            <a:prstGeom prst="ellipse">
              <a:avLst/>
            </a:prstGeom>
            <a:solidFill>
              <a:srgbClr val="166AB1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245" name="图标部件_0634"/>
            <p:cNvSpPr/>
            <p:nvPr/>
          </p:nvSpPr>
          <p:spPr>
            <a:xfrm>
              <a:off x="2988442" y="6569781"/>
              <a:ext cx="21762" cy="21762"/>
            </a:xfrm>
            <a:prstGeom prst="ellipse">
              <a:avLst/>
            </a:prstGeom>
            <a:solidFill>
              <a:srgbClr val="166AB1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246" name="图标部件_0635"/>
            <p:cNvSpPr/>
            <p:nvPr/>
          </p:nvSpPr>
          <p:spPr>
            <a:xfrm>
              <a:off x="2907609" y="6650614"/>
              <a:ext cx="21762" cy="21762"/>
            </a:xfrm>
            <a:prstGeom prst="ellipse">
              <a:avLst/>
            </a:prstGeom>
            <a:solidFill>
              <a:srgbClr val="166AB1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247" name="图标部件_0636"/>
            <p:cNvSpPr/>
            <p:nvPr/>
          </p:nvSpPr>
          <p:spPr>
            <a:xfrm>
              <a:off x="2826776" y="6569781"/>
              <a:ext cx="21762" cy="21762"/>
            </a:xfrm>
            <a:prstGeom prst="ellipse">
              <a:avLst/>
            </a:prstGeom>
            <a:solidFill>
              <a:srgbClr val="166AB1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248" name="图标部件_0637"/>
            <p:cNvSpPr/>
            <p:nvPr/>
          </p:nvSpPr>
          <p:spPr>
            <a:xfrm>
              <a:off x="2907609" y="6488948"/>
              <a:ext cx="21762" cy="21762"/>
            </a:xfrm>
            <a:prstGeom prst="ellipse">
              <a:avLst/>
            </a:prstGeom>
            <a:solidFill>
              <a:srgbClr val="166AB1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249" name="图标部件_0638"/>
            <p:cNvSpPr/>
            <p:nvPr/>
          </p:nvSpPr>
          <p:spPr>
            <a:xfrm>
              <a:off x="2997768" y="6501384"/>
              <a:ext cx="46634" cy="152339"/>
            </a:xfrm>
            <a:prstGeom prst="roundRect">
              <a:avLst>
                <a:gd name="adj" fmla="val 10000"/>
              </a:avLst>
            </a:prstGeom>
            <a:solidFill>
              <a:srgbClr val="166AB1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</p:grpSp>
      <p:sp>
        <p:nvSpPr>
          <p:cNvPr id="250" name="文字_制动_0639"/>
          <p:cNvSpPr txBox="1"/>
          <p:nvPr/>
        </p:nvSpPr>
        <p:spPr>
          <a:xfrm>
            <a:off x="2053483" y="5627256"/>
            <a:ext cx="761960" cy="228588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制动</a:t>
            </a:r>
            <a:endParaRPr sz="950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1" name="执行终端_转向_0640"/>
          <p:cNvSpPr/>
          <p:nvPr/>
        </p:nvSpPr>
        <p:spPr>
          <a:xfrm>
            <a:off x="3017363" y="5326281"/>
            <a:ext cx="815298" cy="55623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 cap="rnd">
            <a:solidFill>
              <a:srgbClr val="3C9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grpSp>
        <p:nvGrpSpPr>
          <p:cNvPr id="252" name="图标_steering_0641"/>
          <p:cNvGrpSpPr/>
          <p:nvPr/>
        </p:nvGrpSpPr>
        <p:grpSpPr>
          <a:xfrm>
            <a:off x="3322756" y="5384037"/>
            <a:ext cx="196890" cy="196890"/>
            <a:chOff x="3987515" y="6460967"/>
            <a:chExt cx="236280" cy="236280"/>
          </a:xfrm>
        </p:grpSpPr>
        <p:sp>
          <p:nvSpPr>
            <p:cNvPr id="253" name="图标部件_0642"/>
            <p:cNvSpPr/>
            <p:nvPr/>
          </p:nvSpPr>
          <p:spPr>
            <a:xfrm>
              <a:off x="3987515" y="6460967"/>
              <a:ext cx="236280" cy="236280"/>
            </a:xfrm>
            <a:prstGeom prst="ellipse">
              <a:avLst/>
            </a:prstGeom>
            <a:noFill/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254" name="图标部件_0643"/>
            <p:cNvSpPr/>
            <p:nvPr/>
          </p:nvSpPr>
          <p:spPr>
            <a:xfrm>
              <a:off x="4083893" y="6557345"/>
              <a:ext cx="43525" cy="43525"/>
            </a:xfrm>
            <a:prstGeom prst="ellipse">
              <a:avLst/>
            </a:prstGeom>
            <a:solidFill>
              <a:srgbClr val="166AB1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255" name="图标线_0644"/>
            <p:cNvCxnSpPr/>
            <p:nvPr/>
          </p:nvCxnSpPr>
          <p:spPr>
            <a:xfrm flipH="1" flipV="1">
              <a:off x="4018605" y="6551127"/>
              <a:ext cx="80833" cy="31089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图标线_0645"/>
            <p:cNvCxnSpPr/>
            <p:nvPr/>
          </p:nvCxnSpPr>
          <p:spPr>
            <a:xfrm flipV="1">
              <a:off x="4111873" y="6551127"/>
              <a:ext cx="80833" cy="31089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图标线_0646"/>
            <p:cNvCxnSpPr/>
            <p:nvPr/>
          </p:nvCxnSpPr>
          <p:spPr>
            <a:xfrm>
              <a:off x="4105656" y="6597761"/>
              <a:ext cx="0" cy="93269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8" name="文字_转向_0647"/>
          <p:cNvSpPr txBox="1"/>
          <p:nvPr/>
        </p:nvSpPr>
        <p:spPr>
          <a:xfrm>
            <a:off x="3044031" y="5627256"/>
            <a:ext cx="761960" cy="228588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转向</a:t>
            </a:r>
            <a:endParaRPr sz="950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9" name="执行终端_BMS&#10;（电池管理）_0648"/>
          <p:cNvSpPr/>
          <p:nvPr/>
        </p:nvSpPr>
        <p:spPr>
          <a:xfrm>
            <a:off x="4007911" y="5326281"/>
            <a:ext cx="815298" cy="55623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 cap="rnd">
            <a:solidFill>
              <a:srgbClr val="3C9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grpSp>
        <p:nvGrpSpPr>
          <p:cNvPr id="260" name="图标_battery_0649"/>
          <p:cNvGrpSpPr/>
          <p:nvPr/>
        </p:nvGrpSpPr>
        <p:grpSpPr>
          <a:xfrm>
            <a:off x="4302942" y="5402172"/>
            <a:ext cx="217615" cy="155439"/>
            <a:chOff x="5163799" y="6482730"/>
            <a:chExt cx="261152" cy="186536"/>
          </a:xfrm>
        </p:grpSpPr>
        <p:sp>
          <p:nvSpPr>
            <p:cNvPr id="261" name="图标部件_0650"/>
            <p:cNvSpPr/>
            <p:nvPr/>
          </p:nvSpPr>
          <p:spPr>
            <a:xfrm>
              <a:off x="5163799" y="6510710"/>
              <a:ext cx="261152" cy="158556"/>
            </a:xfrm>
            <a:prstGeom prst="roundRect">
              <a:avLst>
                <a:gd name="adj" fmla="val 10000"/>
              </a:avLst>
            </a:prstGeom>
            <a:noFill/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262" name="图标部件_0651"/>
            <p:cNvSpPr/>
            <p:nvPr/>
          </p:nvSpPr>
          <p:spPr>
            <a:xfrm>
              <a:off x="5194889" y="6482730"/>
              <a:ext cx="49743" cy="24871"/>
            </a:xfrm>
            <a:prstGeom prst="rect">
              <a:avLst/>
            </a:prstGeom>
            <a:solidFill>
              <a:srgbClr val="166AB1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263" name="图标部件_0652"/>
            <p:cNvSpPr/>
            <p:nvPr/>
          </p:nvSpPr>
          <p:spPr>
            <a:xfrm>
              <a:off x="5344119" y="6482730"/>
              <a:ext cx="49743" cy="24871"/>
            </a:xfrm>
            <a:prstGeom prst="rect">
              <a:avLst/>
            </a:prstGeom>
            <a:solidFill>
              <a:srgbClr val="166AB1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264" name="图标线_0653"/>
            <p:cNvCxnSpPr/>
            <p:nvPr/>
          </p:nvCxnSpPr>
          <p:spPr>
            <a:xfrm>
              <a:off x="5197998" y="6566672"/>
              <a:ext cx="46634" cy="0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图标线_0654"/>
            <p:cNvCxnSpPr/>
            <p:nvPr/>
          </p:nvCxnSpPr>
          <p:spPr>
            <a:xfrm>
              <a:off x="5219760" y="6544909"/>
              <a:ext cx="0" cy="46634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图标线_0655"/>
            <p:cNvCxnSpPr/>
            <p:nvPr/>
          </p:nvCxnSpPr>
          <p:spPr>
            <a:xfrm>
              <a:off x="5337901" y="6566672"/>
              <a:ext cx="46634" cy="0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7" name="文字_BMS_（电池管理）_0656"/>
          <p:cNvSpPr txBox="1"/>
          <p:nvPr/>
        </p:nvSpPr>
        <p:spPr>
          <a:xfrm>
            <a:off x="4034580" y="5627256"/>
            <a:ext cx="761960" cy="236208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BMS</a:t>
            </a:r>
            <a:endParaRPr sz="875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（电池管理）</a:t>
            </a:r>
            <a:endParaRPr sz="875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8" name="执行终端_电驱&#10;（电机控制）_0657"/>
          <p:cNvSpPr/>
          <p:nvPr/>
        </p:nvSpPr>
        <p:spPr>
          <a:xfrm>
            <a:off x="4998460" y="5326281"/>
            <a:ext cx="815298" cy="55623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 cap="rnd">
            <a:solidFill>
              <a:srgbClr val="3C9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grpSp>
        <p:nvGrpSpPr>
          <p:cNvPr id="269" name="图标_motor_0658"/>
          <p:cNvGrpSpPr/>
          <p:nvPr/>
        </p:nvGrpSpPr>
        <p:grpSpPr>
          <a:xfrm>
            <a:off x="5290899" y="5394400"/>
            <a:ext cx="230569" cy="191709"/>
            <a:chOff x="6349410" y="6473403"/>
            <a:chExt cx="276697" cy="230063"/>
          </a:xfrm>
        </p:grpSpPr>
        <p:sp>
          <p:nvSpPr>
            <p:cNvPr id="270" name="图标部件_0659"/>
            <p:cNvSpPr/>
            <p:nvPr/>
          </p:nvSpPr>
          <p:spPr>
            <a:xfrm>
              <a:off x="6389827" y="6504492"/>
              <a:ext cx="180319" cy="152339"/>
            </a:xfrm>
            <a:prstGeom prst="roundRect">
              <a:avLst>
                <a:gd name="adj" fmla="val 10000"/>
              </a:avLst>
            </a:prstGeom>
            <a:solidFill>
              <a:srgbClr val="166AB1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271" name="图标部件_0660"/>
            <p:cNvSpPr/>
            <p:nvPr/>
          </p:nvSpPr>
          <p:spPr>
            <a:xfrm>
              <a:off x="6349410" y="6551127"/>
              <a:ext cx="37307" cy="71506"/>
            </a:xfrm>
            <a:prstGeom prst="rect">
              <a:avLst/>
            </a:prstGeom>
            <a:solidFill>
              <a:srgbClr val="166AB1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272" name="图标部件_0661"/>
            <p:cNvSpPr/>
            <p:nvPr/>
          </p:nvSpPr>
          <p:spPr>
            <a:xfrm>
              <a:off x="6570146" y="6548018"/>
              <a:ext cx="55961" cy="62179"/>
            </a:xfrm>
            <a:prstGeom prst="rect">
              <a:avLst/>
            </a:prstGeom>
            <a:solidFill>
              <a:srgbClr val="166AB1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273" name="图标线_0662"/>
            <p:cNvCxnSpPr/>
            <p:nvPr/>
          </p:nvCxnSpPr>
          <p:spPr>
            <a:xfrm>
              <a:off x="6420916" y="6473403"/>
              <a:ext cx="121250" cy="0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图标线_0663"/>
            <p:cNvCxnSpPr/>
            <p:nvPr/>
          </p:nvCxnSpPr>
          <p:spPr>
            <a:xfrm>
              <a:off x="6445788" y="6666158"/>
              <a:ext cx="0" cy="27981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图标线_0664"/>
            <p:cNvCxnSpPr/>
            <p:nvPr/>
          </p:nvCxnSpPr>
          <p:spPr>
            <a:xfrm>
              <a:off x="6529730" y="6666158"/>
              <a:ext cx="0" cy="27981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图标线_0665"/>
            <p:cNvCxnSpPr/>
            <p:nvPr/>
          </p:nvCxnSpPr>
          <p:spPr>
            <a:xfrm>
              <a:off x="6396045" y="6703466"/>
              <a:ext cx="177210" cy="0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连接线_0666"/>
            <p:cNvCxnSpPr/>
            <p:nvPr/>
          </p:nvCxnSpPr>
          <p:spPr>
            <a:xfrm>
              <a:off x="6430243" y="6541800"/>
              <a:ext cx="99487" cy="0"/>
            </a:xfrm>
            <a:prstGeom prst="line">
              <a:avLst/>
            </a:prstGeom>
            <a:ln w="15240" cap="rnd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连接线_0667"/>
            <p:cNvCxnSpPr/>
            <p:nvPr/>
          </p:nvCxnSpPr>
          <p:spPr>
            <a:xfrm>
              <a:off x="6430243" y="6575999"/>
              <a:ext cx="99487" cy="0"/>
            </a:xfrm>
            <a:prstGeom prst="line">
              <a:avLst/>
            </a:prstGeom>
            <a:ln w="15240" cap="rnd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连接线_0668"/>
            <p:cNvCxnSpPr/>
            <p:nvPr/>
          </p:nvCxnSpPr>
          <p:spPr>
            <a:xfrm>
              <a:off x="6430243" y="6610197"/>
              <a:ext cx="99487" cy="0"/>
            </a:xfrm>
            <a:prstGeom prst="line">
              <a:avLst/>
            </a:prstGeom>
            <a:ln w="15240" cap="rnd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0" name="文字_电驱_（电机控制）_0669"/>
          <p:cNvSpPr txBox="1"/>
          <p:nvPr/>
        </p:nvSpPr>
        <p:spPr>
          <a:xfrm>
            <a:off x="5025128" y="5627256"/>
            <a:ext cx="761960" cy="236208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电驱</a:t>
            </a:r>
            <a:endParaRPr sz="875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（电机控制）</a:t>
            </a:r>
            <a:endParaRPr sz="875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1" name="执行终端_电池_0670"/>
          <p:cNvSpPr/>
          <p:nvPr/>
        </p:nvSpPr>
        <p:spPr>
          <a:xfrm>
            <a:off x="5989008" y="5326281"/>
            <a:ext cx="815298" cy="55623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 cap="rnd">
            <a:solidFill>
              <a:srgbClr val="3C9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grpSp>
        <p:nvGrpSpPr>
          <p:cNvPr id="282" name="图标_battery_0671"/>
          <p:cNvGrpSpPr/>
          <p:nvPr/>
        </p:nvGrpSpPr>
        <p:grpSpPr>
          <a:xfrm>
            <a:off x="6284039" y="5402172"/>
            <a:ext cx="217615" cy="155439"/>
            <a:chOff x="7541239" y="6482730"/>
            <a:chExt cx="261152" cy="186536"/>
          </a:xfrm>
        </p:grpSpPr>
        <p:sp>
          <p:nvSpPr>
            <p:cNvPr id="283" name="图标部件_0672"/>
            <p:cNvSpPr/>
            <p:nvPr/>
          </p:nvSpPr>
          <p:spPr>
            <a:xfrm>
              <a:off x="7541239" y="6510710"/>
              <a:ext cx="261152" cy="158556"/>
            </a:xfrm>
            <a:prstGeom prst="roundRect">
              <a:avLst>
                <a:gd name="adj" fmla="val 10000"/>
              </a:avLst>
            </a:prstGeom>
            <a:noFill/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284" name="图标部件_0673"/>
            <p:cNvSpPr/>
            <p:nvPr/>
          </p:nvSpPr>
          <p:spPr>
            <a:xfrm>
              <a:off x="7572329" y="6482730"/>
              <a:ext cx="49743" cy="24871"/>
            </a:xfrm>
            <a:prstGeom prst="rect">
              <a:avLst/>
            </a:prstGeom>
            <a:solidFill>
              <a:srgbClr val="166AB1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285" name="图标部件_0674"/>
            <p:cNvSpPr/>
            <p:nvPr/>
          </p:nvSpPr>
          <p:spPr>
            <a:xfrm>
              <a:off x="7721559" y="6482730"/>
              <a:ext cx="49743" cy="24871"/>
            </a:xfrm>
            <a:prstGeom prst="rect">
              <a:avLst/>
            </a:prstGeom>
            <a:solidFill>
              <a:srgbClr val="166AB1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286" name="图标线_0675"/>
            <p:cNvCxnSpPr/>
            <p:nvPr/>
          </p:nvCxnSpPr>
          <p:spPr>
            <a:xfrm>
              <a:off x="7575438" y="6566672"/>
              <a:ext cx="46634" cy="0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图标线_0676"/>
            <p:cNvCxnSpPr/>
            <p:nvPr/>
          </p:nvCxnSpPr>
          <p:spPr>
            <a:xfrm>
              <a:off x="7597200" y="6544909"/>
              <a:ext cx="0" cy="46634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图标线_0677"/>
            <p:cNvCxnSpPr/>
            <p:nvPr/>
          </p:nvCxnSpPr>
          <p:spPr>
            <a:xfrm>
              <a:off x="7715341" y="6566672"/>
              <a:ext cx="46634" cy="0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9" name="文字_电池_0678"/>
          <p:cNvSpPr txBox="1"/>
          <p:nvPr/>
        </p:nvSpPr>
        <p:spPr>
          <a:xfrm>
            <a:off x="6015677" y="5627256"/>
            <a:ext cx="761960" cy="228588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电池</a:t>
            </a:r>
            <a:endParaRPr sz="950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0" name="图例线_CAN / CAN FD_0679"/>
          <p:cNvCxnSpPr/>
          <p:nvPr/>
        </p:nvCxnSpPr>
        <p:spPr>
          <a:xfrm>
            <a:off x="9074947" y="1638393"/>
            <a:ext cx="601949" cy="0"/>
          </a:xfrm>
          <a:prstGeom prst="line">
            <a:avLst/>
          </a:prstGeom>
          <a:ln w="38100" cap="rnd">
            <a:solidFill>
              <a:srgbClr val="087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1" name="文字_CAN / CAN FD_0680"/>
          <p:cNvSpPr txBox="1"/>
          <p:nvPr/>
        </p:nvSpPr>
        <p:spPr>
          <a:xfrm>
            <a:off x="9836908" y="1512670"/>
            <a:ext cx="1965858" cy="213349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CAN / CAN FD</a:t>
            </a:r>
            <a:endParaRPr sz="1315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2" name="文字_（车身控制、底盘控制等）_0681"/>
          <p:cNvSpPr txBox="1"/>
          <p:nvPr/>
        </p:nvSpPr>
        <p:spPr>
          <a:xfrm>
            <a:off x="9814049" y="1737448"/>
            <a:ext cx="2064912" cy="175251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（车身控制、底盘控制等）</a:t>
            </a:r>
            <a:endParaRPr sz="900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3" name="图例线_LIN_0682"/>
          <p:cNvCxnSpPr/>
          <p:nvPr/>
        </p:nvCxnSpPr>
        <p:spPr>
          <a:xfrm>
            <a:off x="9074947" y="2042231"/>
            <a:ext cx="601949" cy="0"/>
          </a:xfrm>
          <a:prstGeom prst="line">
            <a:avLst/>
          </a:prstGeom>
          <a:ln w="38100" cap="rnd">
            <a:solidFill>
              <a:srgbClr val="2A9B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4" name="文字_LIN_0683"/>
          <p:cNvSpPr txBox="1"/>
          <p:nvPr/>
        </p:nvSpPr>
        <p:spPr>
          <a:xfrm>
            <a:off x="9836908" y="1916508"/>
            <a:ext cx="1965858" cy="213349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LIN</a:t>
            </a:r>
            <a:endParaRPr sz="1315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5" name="文字_（车身小节点、执行器等）_0684"/>
          <p:cNvSpPr txBox="1"/>
          <p:nvPr/>
        </p:nvSpPr>
        <p:spPr>
          <a:xfrm>
            <a:off x="9814049" y="2141287"/>
            <a:ext cx="2064912" cy="175251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（车身小节点、执行器等）</a:t>
            </a:r>
            <a:endParaRPr sz="900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6" name="图例线_车载以太网 / TSN_0685"/>
          <p:cNvCxnSpPr/>
          <p:nvPr/>
        </p:nvCxnSpPr>
        <p:spPr>
          <a:xfrm>
            <a:off x="9074947" y="2446071"/>
            <a:ext cx="601949" cy="0"/>
          </a:xfrm>
          <a:prstGeom prst="line">
            <a:avLst/>
          </a:prstGeom>
          <a:ln w="38100" cap="rnd">
            <a:solidFill>
              <a:srgbClr val="7545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文字_车载以太网 / TSN_0686"/>
          <p:cNvSpPr txBox="1"/>
          <p:nvPr/>
        </p:nvSpPr>
        <p:spPr>
          <a:xfrm>
            <a:off x="9836908" y="2320348"/>
            <a:ext cx="1965858" cy="213349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车载以太网 / TSN</a:t>
            </a:r>
            <a:endParaRPr sz="1315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8" name="文字_（中央计算、域控制器、高清传感器等）_0687"/>
          <p:cNvSpPr txBox="1"/>
          <p:nvPr/>
        </p:nvSpPr>
        <p:spPr>
          <a:xfrm>
            <a:off x="9814049" y="2545126"/>
            <a:ext cx="2064912" cy="175251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（中央计算、域控制器、高清传感器等）</a:t>
            </a:r>
            <a:endParaRPr sz="875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9" name="图例线_FlexRay_0688"/>
          <p:cNvCxnSpPr/>
          <p:nvPr/>
        </p:nvCxnSpPr>
        <p:spPr>
          <a:xfrm>
            <a:off x="9074947" y="2849910"/>
            <a:ext cx="601949" cy="0"/>
          </a:xfrm>
          <a:prstGeom prst="line">
            <a:avLst/>
          </a:prstGeom>
          <a:ln w="38100" cap="rnd">
            <a:solidFill>
              <a:srgbClr val="E98B2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文字_FlexRay_0689"/>
          <p:cNvSpPr txBox="1"/>
          <p:nvPr/>
        </p:nvSpPr>
        <p:spPr>
          <a:xfrm>
            <a:off x="9836908" y="2724187"/>
            <a:ext cx="1965858" cy="213349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FlexRay</a:t>
            </a:r>
            <a:endParaRPr sz="1315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1" name="文字_（底盘安全控制、冗余系统等）_0690"/>
          <p:cNvSpPr txBox="1"/>
          <p:nvPr/>
        </p:nvSpPr>
        <p:spPr>
          <a:xfrm>
            <a:off x="9814049" y="2948965"/>
            <a:ext cx="2064912" cy="175251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（底盘安全控制、冗余系统等）</a:t>
            </a:r>
            <a:endParaRPr sz="900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2" name="圆_0691"/>
          <p:cNvSpPr/>
          <p:nvPr/>
        </p:nvSpPr>
        <p:spPr>
          <a:xfrm>
            <a:off x="9006371" y="3924273"/>
            <a:ext cx="388600" cy="388600"/>
          </a:xfrm>
          <a:prstGeom prst="ellipse">
            <a:avLst/>
          </a:prstGeom>
          <a:solidFill>
            <a:srgbClr val="146B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03" name="文字_1_0692"/>
          <p:cNvSpPr txBox="1"/>
          <p:nvPr/>
        </p:nvSpPr>
        <p:spPr>
          <a:xfrm>
            <a:off x="9021610" y="3939513"/>
            <a:ext cx="358121" cy="320023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4" name="文字_节点数量多_0693"/>
          <p:cNvSpPr txBox="1"/>
          <p:nvPr/>
        </p:nvSpPr>
        <p:spPr>
          <a:xfrm>
            <a:off x="9539743" y="3901415"/>
            <a:ext cx="2285881" cy="213349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节点数量多</a:t>
            </a:r>
            <a:endParaRPr sz="1435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5" name="文字_传感器、控制器、执行器等节点众多，分_0694"/>
          <p:cNvSpPr txBox="1"/>
          <p:nvPr/>
        </p:nvSpPr>
        <p:spPr>
          <a:xfrm>
            <a:off x="9539743" y="4130003"/>
            <a:ext cx="2285881" cy="289545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5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传感器、控制器、执行器等节点众多，分布在全车各个位置。</a:t>
            </a:r>
            <a:endParaRPr sz="935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06" name="连接线_0695"/>
          <p:cNvCxnSpPr/>
          <p:nvPr/>
        </p:nvCxnSpPr>
        <p:spPr>
          <a:xfrm>
            <a:off x="8975892" y="4438597"/>
            <a:ext cx="2872590" cy="0"/>
          </a:xfrm>
          <a:prstGeom prst="line">
            <a:avLst/>
          </a:prstGeom>
          <a:ln w="8890" cap="rnd">
            <a:solidFill>
              <a:srgbClr val="B9DDF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" name="圆_0696"/>
          <p:cNvSpPr/>
          <p:nvPr/>
        </p:nvSpPr>
        <p:spPr>
          <a:xfrm>
            <a:off x="9006371" y="4480504"/>
            <a:ext cx="388600" cy="388600"/>
          </a:xfrm>
          <a:prstGeom prst="ellipse">
            <a:avLst/>
          </a:prstGeom>
          <a:solidFill>
            <a:srgbClr val="146B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08" name="文字_2_0697"/>
          <p:cNvSpPr txBox="1"/>
          <p:nvPr/>
        </p:nvSpPr>
        <p:spPr>
          <a:xfrm>
            <a:off x="9021610" y="4495744"/>
            <a:ext cx="358121" cy="320023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9" name="文字_网络类型多_0698"/>
          <p:cNvSpPr txBox="1"/>
          <p:nvPr/>
        </p:nvSpPr>
        <p:spPr>
          <a:xfrm>
            <a:off x="9539743" y="4457646"/>
            <a:ext cx="2285881" cy="213349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网络类型多</a:t>
            </a:r>
            <a:endParaRPr sz="1435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0" name="文字_CAN、LIN、车载以太网、Flex_0699"/>
          <p:cNvSpPr txBox="1"/>
          <p:nvPr/>
        </p:nvSpPr>
        <p:spPr>
          <a:xfrm>
            <a:off x="9539743" y="4686234"/>
            <a:ext cx="2285881" cy="289545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5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CAN、LIN、车载以太网、FlexRay等多种总线并存，协议和速率各不相同。</a:t>
            </a:r>
            <a:endParaRPr sz="935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1" name="连接线_0700"/>
          <p:cNvCxnSpPr/>
          <p:nvPr/>
        </p:nvCxnSpPr>
        <p:spPr>
          <a:xfrm>
            <a:off x="8975892" y="4994828"/>
            <a:ext cx="2872590" cy="0"/>
          </a:xfrm>
          <a:prstGeom prst="line">
            <a:avLst/>
          </a:prstGeom>
          <a:ln w="8890" cap="rnd">
            <a:solidFill>
              <a:srgbClr val="B9DDF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2" name="圆_0701"/>
          <p:cNvSpPr/>
          <p:nvPr/>
        </p:nvSpPr>
        <p:spPr>
          <a:xfrm>
            <a:off x="9006371" y="5036735"/>
            <a:ext cx="388600" cy="388600"/>
          </a:xfrm>
          <a:prstGeom prst="ellipse">
            <a:avLst/>
          </a:prstGeom>
          <a:solidFill>
            <a:srgbClr val="146B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13" name="文字_3_0702"/>
          <p:cNvSpPr txBox="1"/>
          <p:nvPr/>
        </p:nvSpPr>
        <p:spPr>
          <a:xfrm>
            <a:off x="9021610" y="5051975"/>
            <a:ext cx="358121" cy="320023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4" name="文字_跨域协同强_0703"/>
          <p:cNvSpPr txBox="1"/>
          <p:nvPr/>
        </p:nvSpPr>
        <p:spPr>
          <a:xfrm>
            <a:off x="9539743" y="5013877"/>
            <a:ext cx="2285881" cy="213349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跨域协同强</a:t>
            </a:r>
            <a:endParaRPr sz="1435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5" name="文字_动力、底盘、车身、座舱、智驾等多域深_0704"/>
          <p:cNvSpPr txBox="1"/>
          <p:nvPr/>
        </p:nvSpPr>
        <p:spPr>
          <a:xfrm>
            <a:off x="9539743" y="5242466"/>
            <a:ext cx="2285881" cy="289545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5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动力、底盘、车身、座舱、智驾等多域深度协同，数据交互频繁。</a:t>
            </a:r>
            <a:endParaRPr sz="935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6" name="连接线_0705"/>
          <p:cNvCxnSpPr/>
          <p:nvPr/>
        </p:nvCxnSpPr>
        <p:spPr>
          <a:xfrm>
            <a:off x="8975892" y="5551059"/>
            <a:ext cx="2872590" cy="0"/>
          </a:xfrm>
          <a:prstGeom prst="line">
            <a:avLst/>
          </a:prstGeom>
          <a:ln w="8890" cap="rnd">
            <a:solidFill>
              <a:srgbClr val="B9DDF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" name="圆_0706"/>
          <p:cNvSpPr/>
          <p:nvPr/>
        </p:nvSpPr>
        <p:spPr>
          <a:xfrm>
            <a:off x="9006371" y="5592967"/>
            <a:ext cx="388600" cy="388600"/>
          </a:xfrm>
          <a:prstGeom prst="ellipse">
            <a:avLst/>
          </a:prstGeom>
          <a:solidFill>
            <a:srgbClr val="146B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18" name="文字_4_0707"/>
          <p:cNvSpPr txBox="1"/>
          <p:nvPr/>
        </p:nvSpPr>
        <p:spPr>
          <a:xfrm>
            <a:off x="9021610" y="5608206"/>
            <a:ext cx="358121" cy="320023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9" name="文字_软件依赖深_0708"/>
          <p:cNvSpPr txBox="1"/>
          <p:nvPr/>
        </p:nvSpPr>
        <p:spPr>
          <a:xfrm>
            <a:off x="9539743" y="5570108"/>
            <a:ext cx="2285881" cy="213349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软件依赖深</a:t>
            </a:r>
            <a:endParaRPr sz="1435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0" name="文字_从底层驱动到中间件再到应用软件，软件_0709"/>
          <p:cNvSpPr txBox="1"/>
          <p:nvPr/>
        </p:nvSpPr>
        <p:spPr>
          <a:xfrm>
            <a:off x="9539743" y="5798697"/>
            <a:ext cx="2285881" cy="289545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5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从底层驱动到中间件再到应用软件，软件规模庞大，持续迭代升级。</a:t>
            </a:r>
            <a:endParaRPr sz="935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1" name="0.035_0710"/>
          <p:cNvSpPr/>
          <p:nvPr/>
        </p:nvSpPr>
        <p:spPr>
          <a:xfrm>
            <a:off x="205729" y="6278732"/>
            <a:ext cx="11795146" cy="388600"/>
          </a:xfrm>
          <a:prstGeom prst="roundRect">
            <a:avLst>
              <a:gd name="adj" fmla="val 100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22" name="总结标题箭头_0711"/>
          <p:cNvSpPr/>
          <p:nvPr/>
        </p:nvSpPr>
        <p:spPr>
          <a:xfrm>
            <a:off x="205729" y="6278732"/>
            <a:ext cx="1196278" cy="388600"/>
          </a:xfrm>
          <a:prstGeom prst="chevron">
            <a:avLst/>
          </a:prstGeom>
          <a:solidFill>
            <a:srgbClr val="0C4F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23" name="文字_总结_0712"/>
          <p:cNvSpPr txBox="1"/>
          <p:nvPr/>
        </p:nvSpPr>
        <p:spPr>
          <a:xfrm>
            <a:off x="388600" y="6301590"/>
            <a:ext cx="685764" cy="281925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1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endParaRPr sz="191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4" name="文字_现代汽车不是单一网络，而是“多控制器_0713"/>
          <p:cNvSpPr txBox="1"/>
          <p:nvPr/>
        </p:nvSpPr>
        <p:spPr>
          <a:xfrm>
            <a:off x="1562018" y="6309209"/>
            <a:ext cx="10035017" cy="266686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90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现代汽车不是单一网络，而是“多控制器 + 多总线 + 多软件层”共同协作的系统。</a:t>
            </a:r>
            <a:endParaRPr sz="1790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25" name="Picture 31" descr="tongji_wordm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4" y="172212"/>
            <a:ext cx="1554480" cy="385298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面标题_电子电气架构复杂度的8个来源_0714"/>
          <p:cNvSpPr txBox="1"/>
          <p:nvPr/>
        </p:nvSpPr>
        <p:spPr>
          <a:xfrm>
            <a:off x="274306" y="106853"/>
            <a:ext cx="9646418" cy="457176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65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电子电气架构复杂度的8个来源</a:t>
            </a:r>
            <a:endParaRPr sz="2665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" name="标题分隔线_0716"/>
          <p:cNvCxnSpPr/>
          <p:nvPr/>
        </p:nvCxnSpPr>
        <p:spPr>
          <a:xfrm>
            <a:off x="259067" y="655464"/>
            <a:ext cx="11680852" cy="0"/>
          </a:xfrm>
          <a:prstGeom prst="line">
            <a:avLst/>
          </a:prstGeom>
          <a:ln w="15875" cap="rnd">
            <a:solidFill>
              <a:srgbClr val="69AE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中心外圆_0717"/>
          <p:cNvSpPr/>
          <p:nvPr/>
        </p:nvSpPr>
        <p:spPr>
          <a:xfrm>
            <a:off x="4266978" y="1866981"/>
            <a:ext cx="3505017" cy="3505017"/>
          </a:xfrm>
          <a:prstGeom prst="ellipse">
            <a:avLst/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6" name="中心环_0718"/>
          <p:cNvSpPr/>
          <p:nvPr/>
        </p:nvSpPr>
        <p:spPr>
          <a:xfrm>
            <a:off x="4518425" y="2118428"/>
            <a:ext cx="3002124" cy="3002124"/>
          </a:xfrm>
          <a:prstGeom prst="ellipse">
            <a:avLst/>
          </a:prstGeom>
          <a:solidFill>
            <a:srgbClr val="FFFFFF"/>
          </a:solidFill>
          <a:ln w="63500" cap="rnd">
            <a:solidFill>
              <a:srgbClr val="B5D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7" name="中心内圆_0719"/>
          <p:cNvSpPr/>
          <p:nvPr/>
        </p:nvSpPr>
        <p:spPr>
          <a:xfrm>
            <a:off x="4693676" y="2293679"/>
            <a:ext cx="2651622" cy="2651622"/>
          </a:xfrm>
          <a:prstGeom prst="ellipse">
            <a:avLst/>
          </a:prstGeom>
          <a:solidFill>
            <a:srgbClr val="F8FCFF"/>
          </a:solidFill>
          <a:ln w="17780" cap="rnd">
            <a:solidFill>
              <a:srgbClr val="E1F0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8" name="外侧虚线环_0720"/>
          <p:cNvSpPr/>
          <p:nvPr/>
        </p:nvSpPr>
        <p:spPr>
          <a:xfrm>
            <a:off x="4388891" y="1988895"/>
            <a:ext cx="3261190" cy="3261190"/>
          </a:xfrm>
          <a:prstGeom prst="ellipse">
            <a:avLst/>
          </a:prstGeom>
          <a:noFill/>
          <a:ln w="15240" cap="rnd">
            <a:solidFill>
              <a:srgbClr val="8CC5F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9" name="复杂度来源引导线_0721"/>
          <p:cNvSpPr/>
          <p:nvPr/>
        </p:nvSpPr>
        <p:spPr>
          <a:xfrm>
            <a:off x="4167923" y="1737447"/>
            <a:ext cx="510513" cy="403840"/>
          </a:xfrm>
          <a:custGeom>
            <a:avLst/>
            <a:gdLst/>
            <a:ahLst/>
            <a:cxnLst/>
            <a:rect l="l" t="t" r="r" b="b"/>
            <a:pathLst>
              <a:path w="612648" h="484633">
                <a:moveTo>
                  <a:pt x="612648" y="484633"/>
                </a:moveTo>
                <a:lnTo>
                  <a:pt x="502920" y="0"/>
                </a:lnTo>
                <a:lnTo>
                  <a:pt x="0" y="0"/>
                </a:lnTo>
              </a:path>
            </a:pathLst>
          </a:custGeom>
          <a:noFill/>
          <a:ln w="15240" cap="rnd">
            <a:solidFill>
              <a:srgbClr val="087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0" name="网络连接点_0722"/>
          <p:cNvSpPr/>
          <p:nvPr/>
        </p:nvSpPr>
        <p:spPr>
          <a:xfrm>
            <a:off x="4617479" y="2080330"/>
            <a:ext cx="121914" cy="121914"/>
          </a:xfrm>
          <a:prstGeom prst="ellipse">
            <a:avLst/>
          </a:prstGeom>
          <a:solidFill>
            <a:srgbClr val="3B9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1" name="复杂度来源引导线_0723"/>
          <p:cNvSpPr/>
          <p:nvPr/>
        </p:nvSpPr>
        <p:spPr>
          <a:xfrm>
            <a:off x="7154807" y="1767927"/>
            <a:ext cx="868635" cy="434317"/>
          </a:xfrm>
          <a:custGeom>
            <a:avLst/>
            <a:gdLst/>
            <a:ahLst/>
            <a:cxnLst/>
            <a:rect l="l" t="t" r="r" b="b"/>
            <a:pathLst>
              <a:path w="1042416" h="521208">
                <a:moveTo>
                  <a:pt x="0" y="521208"/>
                </a:moveTo>
                <a:lnTo>
                  <a:pt x="109728" y="0"/>
                </a:lnTo>
                <a:lnTo>
                  <a:pt x="1042416" y="0"/>
                </a:lnTo>
              </a:path>
            </a:pathLst>
          </a:custGeom>
          <a:noFill/>
          <a:ln w="15240" cap="rnd">
            <a:solidFill>
              <a:srgbClr val="087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2" name="网络连接点_0724"/>
          <p:cNvSpPr/>
          <p:nvPr/>
        </p:nvSpPr>
        <p:spPr>
          <a:xfrm>
            <a:off x="7093851" y="2141287"/>
            <a:ext cx="121914" cy="121914"/>
          </a:xfrm>
          <a:prstGeom prst="ellipse">
            <a:avLst/>
          </a:prstGeom>
          <a:solidFill>
            <a:srgbClr val="3B9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3" name="复杂度来源引导线_0725"/>
          <p:cNvSpPr/>
          <p:nvPr/>
        </p:nvSpPr>
        <p:spPr>
          <a:xfrm>
            <a:off x="7604364" y="2514648"/>
            <a:ext cx="868635" cy="335263"/>
          </a:xfrm>
          <a:custGeom>
            <a:avLst/>
            <a:gdLst/>
            <a:ahLst/>
            <a:cxnLst/>
            <a:rect l="l" t="t" r="r" b="b"/>
            <a:pathLst>
              <a:path w="1042416" h="402336">
                <a:moveTo>
                  <a:pt x="0" y="402336"/>
                </a:moveTo>
                <a:lnTo>
                  <a:pt x="384048" y="0"/>
                </a:lnTo>
                <a:lnTo>
                  <a:pt x="1042416" y="0"/>
                </a:lnTo>
              </a:path>
            </a:pathLst>
          </a:custGeom>
          <a:noFill/>
          <a:ln w="15240" cap="rnd">
            <a:solidFill>
              <a:srgbClr val="087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4" name="网络连接点_0726"/>
          <p:cNvSpPr/>
          <p:nvPr/>
        </p:nvSpPr>
        <p:spPr>
          <a:xfrm>
            <a:off x="7543407" y="2788953"/>
            <a:ext cx="121914" cy="121914"/>
          </a:xfrm>
          <a:prstGeom prst="ellipse">
            <a:avLst/>
          </a:prstGeom>
          <a:solidFill>
            <a:srgbClr val="3B9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5" name="复杂度来源引导线_0727"/>
          <p:cNvSpPr/>
          <p:nvPr/>
        </p:nvSpPr>
        <p:spPr>
          <a:xfrm>
            <a:off x="7680560" y="3909035"/>
            <a:ext cx="731482" cy="304784"/>
          </a:xfrm>
          <a:custGeom>
            <a:avLst/>
            <a:gdLst/>
            <a:ahLst/>
            <a:cxnLst/>
            <a:rect l="l" t="t" r="r" b="b"/>
            <a:pathLst>
              <a:path w="877824" h="365760">
                <a:moveTo>
                  <a:pt x="0" y="0"/>
                </a:moveTo>
                <a:lnTo>
                  <a:pt x="320040" y="365760"/>
                </a:lnTo>
                <a:lnTo>
                  <a:pt x="877824" y="365760"/>
                </a:lnTo>
              </a:path>
            </a:pathLst>
          </a:custGeom>
          <a:noFill/>
          <a:ln w="15240" cap="rnd">
            <a:solidFill>
              <a:srgbClr val="087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6" name="网络连接点_0728"/>
          <p:cNvSpPr/>
          <p:nvPr/>
        </p:nvSpPr>
        <p:spPr>
          <a:xfrm>
            <a:off x="7619603" y="3848078"/>
            <a:ext cx="121914" cy="121914"/>
          </a:xfrm>
          <a:prstGeom prst="ellipse">
            <a:avLst/>
          </a:prstGeom>
          <a:solidFill>
            <a:srgbClr val="3B9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7" name="复杂度来源引导线_0729"/>
          <p:cNvSpPr/>
          <p:nvPr/>
        </p:nvSpPr>
        <p:spPr>
          <a:xfrm>
            <a:off x="7185286" y="4815768"/>
            <a:ext cx="579090" cy="274306"/>
          </a:xfrm>
          <a:custGeom>
            <a:avLst/>
            <a:gdLst/>
            <a:ahLst/>
            <a:cxnLst/>
            <a:rect l="l" t="t" r="r" b="b"/>
            <a:pathLst>
              <a:path w="694944" h="329184">
                <a:moveTo>
                  <a:pt x="0" y="0"/>
                </a:moveTo>
                <a:lnTo>
                  <a:pt x="329184" y="329184"/>
                </a:lnTo>
                <a:lnTo>
                  <a:pt x="694944" y="329184"/>
                </a:lnTo>
              </a:path>
            </a:pathLst>
          </a:custGeom>
          <a:noFill/>
          <a:ln w="15240" cap="rnd">
            <a:solidFill>
              <a:srgbClr val="087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8" name="网络连接点_0730"/>
          <p:cNvSpPr/>
          <p:nvPr/>
        </p:nvSpPr>
        <p:spPr>
          <a:xfrm>
            <a:off x="7124329" y="4754811"/>
            <a:ext cx="121914" cy="121914"/>
          </a:xfrm>
          <a:prstGeom prst="ellipse">
            <a:avLst/>
          </a:prstGeom>
          <a:solidFill>
            <a:srgbClr val="3B9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9" name="复杂度来源引导线_0731"/>
          <p:cNvSpPr/>
          <p:nvPr/>
        </p:nvSpPr>
        <p:spPr>
          <a:xfrm>
            <a:off x="4190782" y="4731952"/>
            <a:ext cx="579090" cy="327643"/>
          </a:xfrm>
          <a:custGeom>
            <a:avLst/>
            <a:gdLst/>
            <a:ahLst/>
            <a:cxnLst/>
            <a:rect l="l" t="t" r="r" b="b"/>
            <a:pathLst>
              <a:path w="694944" h="393192">
                <a:moveTo>
                  <a:pt x="694944" y="0"/>
                </a:moveTo>
                <a:lnTo>
                  <a:pt x="374904" y="393192"/>
                </a:lnTo>
                <a:lnTo>
                  <a:pt x="0" y="393192"/>
                </a:lnTo>
              </a:path>
            </a:pathLst>
          </a:custGeom>
          <a:noFill/>
          <a:ln w="15240" cap="rnd">
            <a:solidFill>
              <a:srgbClr val="087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0" name="网络连接点_0732"/>
          <p:cNvSpPr/>
          <p:nvPr/>
        </p:nvSpPr>
        <p:spPr>
          <a:xfrm>
            <a:off x="4708915" y="4670995"/>
            <a:ext cx="121914" cy="121914"/>
          </a:xfrm>
          <a:prstGeom prst="ellipse">
            <a:avLst/>
          </a:prstGeom>
          <a:solidFill>
            <a:srgbClr val="3B9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1" name="复杂度来源引导线_0733"/>
          <p:cNvSpPr/>
          <p:nvPr/>
        </p:nvSpPr>
        <p:spPr>
          <a:xfrm>
            <a:off x="3741225" y="3962372"/>
            <a:ext cx="624807" cy="205729"/>
          </a:xfrm>
          <a:custGeom>
            <a:avLst/>
            <a:gdLst/>
            <a:ahLst/>
            <a:cxnLst/>
            <a:rect l="l" t="t" r="r" b="b"/>
            <a:pathLst>
              <a:path w="749808" h="246888">
                <a:moveTo>
                  <a:pt x="749808" y="0"/>
                </a:moveTo>
                <a:lnTo>
                  <a:pt x="347472" y="246888"/>
                </a:lnTo>
                <a:lnTo>
                  <a:pt x="0" y="246888"/>
                </a:lnTo>
              </a:path>
            </a:pathLst>
          </a:custGeom>
          <a:noFill/>
          <a:ln w="15240" cap="rnd">
            <a:solidFill>
              <a:srgbClr val="087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2" name="网络连接点_0734"/>
          <p:cNvSpPr/>
          <p:nvPr/>
        </p:nvSpPr>
        <p:spPr>
          <a:xfrm>
            <a:off x="4305076" y="3901415"/>
            <a:ext cx="121914" cy="121914"/>
          </a:xfrm>
          <a:prstGeom prst="ellipse">
            <a:avLst/>
          </a:prstGeom>
          <a:solidFill>
            <a:srgbClr val="3B9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3" name="复杂度来源引导线_0735"/>
          <p:cNvSpPr/>
          <p:nvPr/>
        </p:nvSpPr>
        <p:spPr>
          <a:xfrm>
            <a:off x="3741225" y="2529887"/>
            <a:ext cx="693384" cy="312404"/>
          </a:xfrm>
          <a:custGeom>
            <a:avLst/>
            <a:gdLst/>
            <a:ahLst/>
            <a:cxnLst/>
            <a:rect l="l" t="t" r="r" b="b"/>
            <a:pathLst>
              <a:path w="832104" h="374904">
                <a:moveTo>
                  <a:pt x="832104" y="374904"/>
                </a:moveTo>
                <a:lnTo>
                  <a:pt x="420624" y="0"/>
                </a:lnTo>
                <a:lnTo>
                  <a:pt x="0" y="0"/>
                </a:lnTo>
              </a:path>
            </a:pathLst>
          </a:custGeom>
          <a:noFill/>
          <a:ln w="15240" cap="rnd">
            <a:solidFill>
              <a:srgbClr val="087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4" name="网络连接点_0736"/>
          <p:cNvSpPr/>
          <p:nvPr/>
        </p:nvSpPr>
        <p:spPr>
          <a:xfrm>
            <a:off x="4373652" y="2781334"/>
            <a:ext cx="121914" cy="121914"/>
          </a:xfrm>
          <a:prstGeom prst="ellipse">
            <a:avLst/>
          </a:prstGeom>
          <a:solidFill>
            <a:srgbClr val="3B9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grpSp>
        <p:nvGrpSpPr>
          <p:cNvPr id="25" name="中心汽车侧视_可编辑_0737"/>
          <p:cNvGrpSpPr/>
          <p:nvPr/>
        </p:nvGrpSpPr>
        <p:grpSpPr>
          <a:xfrm>
            <a:off x="4670817" y="2750855"/>
            <a:ext cx="2704959" cy="992757"/>
            <a:chOff x="5605272" y="3300984"/>
            <a:chExt cx="3246120" cy="1191370"/>
          </a:xfrm>
        </p:grpSpPr>
        <p:sp>
          <p:nvSpPr>
            <p:cNvPr id="26" name="车身轮廓_0738"/>
            <p:cNvSpPr/>
            <p:nvPr/>
          </p:nvSpPr>
          <p:spPr>
            <a:xfrm>
              <a:off x="5605272" y="3300984"/>
              <a:ext cx="3246120" cy="1179576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20" y="630"/>
                  </a:moveTo>
                  <a:lnTo>
                    <a:pt x="60" y="490"/>
                  </a:lnTo>
                  <a:cubicBezTo>
                    <a:pt x="80" y="435"/>
                    <a:pt x="170" y="400"/>
                    <a:pt x="270" y="385"/>
                  </a:cubicBezTo>
                  <a:cubicBezTo>
                    <a:pt x="340" y="215"/>
                    <a:pt x="460" y="140"/>
                    <a:pt x="610" y="195"/>
                  </a:cubicBezTo>
                  <a:cubicBezTo>
                    <a:pt x="720" y="190"/>
                    <a:pt x="800" y="300"/>
                    <a:pt x="855" y="390"/>
                  </a:cubicBezTo>
                  <a:lnTo>
                    <a:pt x="950" y="440"/>
                  </a:lnTo>
                  <a:cubicBezTo>
                    <a:pt x="990" y="470"/>
                    <a:pt x="994" y="650"/>
                    <a:pt x="977" y="710"/>
                  </a:cubicBezTo>
                  <a:lnTo>
                    <a:pt x="927" y="735"/>
                  </a:lnTo>
                  <a:lnTo>
                    <a:pt x="73" y="735"/>
                  </a:lnTo>
                  <a:cubicBezTo>
                    <a:pt x="10" y="735"/>
                    <a:pt x="8" y="683"/>
                    <a:pt x="20" y="630"/>
                  </a:cubicBezTo>
                  <a:close/>
                </a:path>
              </a:pathLst>
            </a:custGeom>
            <a:solidFill>
              <a:srgbClr val="F1F8FD"/>
            </a:solidFill>
            <a:ln w="15240" cap="rnd">
              <a:solidFill>
                <a:srgbClr val="BDD8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27" name="前风窗_0739"/>
            <p:cNvSpPr/>
            <p:nvPr/>
          </p:nvSpPr>
          <p:spPr>
            <a:xfrm>
              <a:off x="5605272" y="3300984"/>
              <a:ext cx="3246120" cy="1179576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299" y="376"/>
                  </a:moveTo>
                  <a:cubicBezTo>
                    <a:pt x="365" y="230"/>
                    <a:pt x="451" y="195"/>
                    <a:pt x="543" y="213"/>
                  </a:cubicBezTo>
                  <a:lnTo>
                    <a:pt x="546" y="373"/>
                  </a:lnTo>
                  <a:lnTo>
                    <a:pt x="299" y="376"/>
                  </a:lnTo>
                  <a:close/>
                </a:path>
              </a:pathLst>
            </a:custGeom>
            <a:solidFill>
              <a:srgbClr val="E5F1FB"/>
            </a:solidFill>
            <a:ln w="10160" cap="rnd">
              <a:solidFill>
                <a:srgbClr val="C4DDE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28" name="后风窗_0740"/>
            <p:cNvSpPr/>
            <p:nvPr/>
          </p:nvSpPr>
          <p:spPr>
            <a:xfrm>
              <a:off x="5605272" y="3300984"/>
              <a:ext cx="3246120" cy="1179576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566" y="214"/>
                  </a:moveTo>
                  <a:cubicBezTo>
                    <a:pt x="679" y="205"/>
                    <a:pt x="761" y="284"/>
                    <a:pt x="810" y="382"/>
                  </a:cubicBezTo>
                  <a:lnTo>
                    <a:pt x="565" y="375"/>
                  </a:lnTo>
                  <a:close/>
                </a:path>
              </a:pathLst>
            </a:custGeom>
            <a:solidFill>
              <a:srgbClr val="E5F1FB"/>
            </a:solidFill>
            <a:ln w="10160" cap="rnd">
              <a:solidFill>
                <a:srgbClr val="C4DDE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29" name="连接线_0741"/>
            <p:cNvCxnSpPr/>
            <p:nvPr/>
          </p:nvCxnSpPr>
          <p:spPr>
            <a:xfrm>
              <a:off x="5994806" y="3890772"/>
              <a:ext cx="2467051" cy="0"/>
            </a:xfrm>
            <a:prstGeom prst="line">
              <a:avLst/>
            </a:prstGeom>
            <a:ln w="10160" cap="rnd">
              <a:solidFill>
                <a:srgbClr val="D1E5F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连接线_0742"/>
            <p:cNvCxnSpPr/>
            <p:nvPr/>
          </p:nvCxnSpPr>
          <p:spPr>
            <a:xfrm>
              <a:off x="7423099" y="3772814"/>
              <a:ext cx="0" cy="365668"/>
            </a:xfrm>
            <a:prstGeom prst="line">
              <a:avLst/>
            </a:prstGeom>
            <a:ln w="8890" cap="rnd">
              <a:solidFill>
                <a:srgbClr val="BED9E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连接线_0743"/>
            <p:cNvCxnSpPr/>
            <p:nvPr/>
          </p:nvCxnSpPr>
          <p:spPr>
            <a:xfrm flipH="1">
              <a:off x="6579108" y="3784610"/>
              <a:ext cx="97383" cy="342077"/>
            </a:xfrm>
            <a:prstGeom prst="line">
              <a:avLst/>
            </a:prstGeom>
            <a:ln w="8890" cap="rnd">
              <a:solidFill>
                <a:srgbClr val="BED9E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车轮_0744"/>
            <p:cNvSpPr/>
            <p:nvPr/>
          </p:nvSpPr>
          <p:spPr>
            <a:xfrm>
              <a:off x="6080577" y="3949750"/>
              <a:ext cx="542604" cy="542604"/>
            </a:xfrm>
            <a:prstGeom prst="ellipse">
              <a:avLst/>
            </a:prstGeom>
            <a:solidFill>
              <a:srgbClr val="E8F2FA"/>
            </a:solidFill>
            <a:ln w="13970" cap="rnd">
              <a:solidFill>
                <a:srgbClr val="BDD8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33" name="轮毂_0745"/>
            <p:cNvSpPr/>
            <p:nvPr/>
          </p:nvSpPr>
          <p:spPr>
            <a:xfrm>
              <a:off x="6205376" y="4074549"/>
              <a:ext cx="293006" cy="293006"/>
            </a:xfrm>
            <a:prstGeom prst="ellipse">
              <a:avLst/>
            </a:prstGeom>
            <a:solidFill>
              <a:srgbClr val="F9FCFF"/>
            </a:solidFill>
            <a:ln w="10160" cap="rnd">
              <a:solidFill>
                <a:srgbClr val="C7DEE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34" name="连接线_0746"/>
            <p:cNvCxnSpPr/>
            <p:nvPr/>
          </p:nvCxnSpPr>
          <p:spPr>
            <a:xfrm>
              <a:off x="6351879" y="4221053"/>
              <a:ext cx="212324" cy="0"/>
            </a:xfrm>
            <a:prstGeom prst="line">
              <a:avLst/>
            </a:prstGeom>
            <a:ln w="7620" cap="rnd">
              <a:solidFill>
                <a:srgbClr val="C6DCE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连接线_0747"/>
            <p:cNvCxnSpPr/>
            <p:nvPr/>
          </p:nvCxnSpPr>
          <p:spPr>
            <a:xfrm>
              <a:off x="6351879" y="4221053"/>
              <a:ext cx="65612" cy="201932"/>
            </a:xfrm>
            <a:prstGeom prst="line">
              <a:avLst/>
            </a:prstGeom>
            <a:ln w="7620" cap="rnd">
              <a:solidFill>
                <a:srgbClr val="C6DCE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连接线_0748"/>
            <p:cNvCxnSpPr/>
            <p:nvPr/>
          </p:nvCxnSpPr>
          <p:spPr>
            <a:xfrm flipH="1">
              <a:off x="6180106" y="4221053"/>
              <a:ext cx="171773" cy="124801"/>
            </a:xfrm>
            <a:prstGeom prst="line">
              <a:avLst/>
            </a:prstGeom>
            <a:ln w="7620" cap="rnd">
              <a:solidFill>
                <a:srgbClr val="C6DCE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连接线_0749"/>
            <p:cNvCxnSpPr/>
            <p:nvPr/>
          </p:nvCxnSpPr>
          <p:spPr>
            <a:xfrm flipH="1" flipV="1">
              <a:off x="6180106" y="4096252"/>
              <a:ext cx="171773" cy="124801"/>
            </a:xfrm>
            <a:prstGeom prst="line">
              <a:avLst/>
            </a:prstGeom>
            <a:ln w="7620" cap="rnd">
              <a:solidFill>
                <a:srgbClr val="C6DCE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连接线_0750"/>
            <p:cNvCxnSpPr/>
            <p:nvPr/>
          </p:nvCxnSpPr>
          <p:spPr>
            <a:xfrm flipV="1">
              <a:off x="6351879" y="4019121"/>
              <a:ext cx="65612" cy="201932"/>
            </a:xfrm>
            <a:prstGeom prst="line">
              <a:avLst/>
            </a:prstGeom>
            <a:ln w="7620" cap="rnd">
              <a:solidFill>
                <a:srgbClr val="C6DCE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车轮_0751"/>
            <p:cNvSpPr/>
            <p:nvPr/>
          </p:nvSpPr>
          <p:spPr>
            <a:xfrm>
              <a:off x="7930865" y="3949750"/>
              <a:ext cx="542604" cy="542604"/>
            </a:xfrm>
            <a:prstGeom prst="ellipse">
              <a:avLst/>
            </a:prstGeom>
            <a:solidFill>
              <a:srgbClr val="E8F2FA"/>
            </a:solidFill>
            <a:ln w="13970" cap="rnd">
              <a:solidFill>
                <a:srgbClr val="BDD8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40" name="轮毂_0752"/>
            <p:cNvSpPr/>
            <p:nvPr/>
          </p:nvSpPr>
          <p:spPr>
            <a:xfrm>
              <a:off x="8055664" y="4074549"/>
              <a:ext cx="293006" cy="293006"/>
            </a:xfrm>
            <a:prstGeom prst="ellipse">
              <a:avLst/>
            </a:prstGeom>
            <a:solidFill>
              <a:srgbClr val="F9FCFF"/>
            </a:solidFill>
            <a:ln w="10160" cap="rnd">
              <a:solidFill>
                <a:srgbClr val="C7DEE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41" name="连接线_0753"/>
            <p:cNvCxnSpPr/>
            <p:nvPr/>
          </p:nvCxnSpPr>
          <p:spPr>
            <a:xfrm>
              <a:off x="8202167" y="4221053"/>
              <a:ext cx="212324" cy="0"/>
            </a:xfrm>
            <a:prstGeom prst="line">
              <a:avLst/>
            </a:prstGeom>
            <a:ln w="7620" cap="rnd">
              <a:solidFill>
                <a:srgbClr val="C6DCE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连接线_0754"/>
            <p:cNvCxnSpPr/>
            <p:nvPr/>
          </p:nvCxnSpPr>
          <p:spPr>
            <a:xfrm>
              <a:off x="8202167" y="4221053"/>
              <a:ext cx="65612" cy="201932"/>
            </a:xfrm>
            <a:prstGeom prst="line">
              <a:avLst/>
            </a:prstGeom>
            <a:ln w="7620" cap="rnd">
              <a:solidFill>
                <a:srgbClr val="C6DCE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连接线_0755"/>
            <p:cNvCxnSpPr/>
            <p:nvPr/>
          </p:nvCxnSpPr>
          <p:spPr>
            <a:xfrm flipH="1">
              <a:off x="8030394" y="4221053"/>
              <a:ext cx="171773" cy="124801"/>
            </a:xfrm>
            <a:prstGeom prst="line">
              <a:avLst/>
            </a:prstGeom>
            <a:ln w="7620" cap="rnd">
              <a:solidFill>
                <a:srgbClr val="C6DCE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连接线_0756"/>
            <p:cNvCxnSpPr/>
            <p:nvPr/>
          </p:nvCxnSpPr>
          <p:spPr>
            <a:xfrm flipH="1" flipV="1">
              <a:off x="8030394" y="4096252"/>
              <a:ext cx="171773" cy="124801"/>
            </a:xfrm>
            <a:prstGeom prst="line">
              <a:avLst/>
            </a:prstGeom>
            <a:ln w="7620" cap="rnd">
              <a:solidFill>
                <a:srgbClr val="C6DCE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连接线_0757"/>
            <p:cNvCxnSpPr/>
            <p:nvPr/>
          </p:nvCxnSpPr>
          <p:spPr>
            <a:xfrm flipV="1">
              <a:off x="8202167" y="4019121"/>
              <a:ext cx="65612" cy="201932"/>
            </a:xfrm>
            <a:prstGeom prst="line">
              <a:avLst/>
            </a:prstGeom>
            <a:ln w="7620" cap="rnd">
              <a:solidFill>
                <a:srgbClr val="C6DCE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中心车内连接_0758"/>
          <p:cNvSpPr/>
          <p:nvPr/>
        </p:nvSpPr>
        <p:spPr>
          <a:xfrm>
            <a:off x="5204189" y="3108977"/>
            <a:ext cx="1592497" cy="396219"/>
          </a:xfrm>
          <a:custGeom>
            <a:avLst/>
            <a:gdLst/>
            <a:ahLst/>
            <a:cxnLst/>
            <a:rect l="l" t="t" r="r" b="b"/>
            <a:pathLst>
              <a:path w="1911096" h="475488">
                <a:moveTo>
                  <a:pt x="0" y="0"/>
                </a:moveTo>
                <a:lnTo>
                  <a:pt x="0" y="475488"/>
                </a:lnTo>
                <a:lnTo>
                  <a:pt x="1911096" y="475488"/>
                </a:lnTo>
                <a:lnTo>
                  <a:pt x="1911096" y="0"/>
                </a:lnTo>
              </a:path>
            </a:pathLst>
          </a:custGeom>
          <a:noFill/>
          <a:ln w="12700" cap="rnd">
            <a:solidFill>
              <a:srgbClr val="6FA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cxnSp>
        <p:nvCxnSpPr>
          <p:cNvPr id="47" name="连接线_0759"/>
          <p:cNvCxnSpPr/>
          <p:nvPr/>
        </p:nvCxnSpPr>
        <p:spPr>
          <a:xfrm>
            <a:off x="5257525" y="3139454"/>
            <a:ext cx="0" cy="365742"/>
          </a:xfrm>
          <a:prstGeom prst="line">
            <a:avLst/>
          </a:prstGeom>
          <a:ln w="10160" cap="rnd">
            <a:solidFill>
              <a:srgbClr val="6FAE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框_0760"/>
          <p:cNvSpPr/>
          <p:nvPr/>
        </p:nvSpPr>
        <p:spPr>
          <a:xfrm>
            <a:off x="5181330" y="3093737"/>
            <a:ext cx="182870" cy="99055"/>
          </a:xfrm>
          <a:prstGeom prst="roundRect">
            <a:avLst>
              <a:gd name="adj" fmla="val 10000"/>
            </a:avLst>
          </a:prstGeom>
          <a:solidFill>
            <a:srgbClr val="6FA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cxnSp>
        <p:nvCxnSpPr>
          <p:cNvPr id="49" name="连接线_0761"/>
          <p:cNvCxnSpPr/>
          <p:nvPr/>
        </p:nvCxnSpPr>
        <p:spPr>
          <a:xfrm>
            <a:off x="5524212" y="3307086"/>
            <a:ext cx="0" cy="198110"/>
          </a:xfrm>
          <a:prstGeom prst="line">
            <a:avLst/>
          </a:prstGeom>
          <a:ln w="10160" cap="rnd">
            <a:solidFill>
              <a:srgbClr val="6FAE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框_0762"/>
          <p:cNvSpPr/>
          <p:nvPr/>
        </p:nvSpPr>
        <p:spPr>
          <a:xfrm>
            <a:off x="5448016" y="3261369"/>
            <a:ext cx="182870" cy="99055"/>
          </a:xfrm>
          <a:prstGeom prst="roundRect">
            <a:avLst>
              <a:gd name="adj" fmla="val 10000"/>
            </a:avLst>
          </a:prstGeom>
          <a:solidFill>
            <a:srgbClr val="6FA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cxnSp>
        <p:nvCxnSpPr>
          <p:cNvPr id="51" name="连接线_0763"/>
          <p:cNvCxnSpPr/>
          <p:nvPr/>
        </p:nvCxnSpPr>
        <p:spPr>
          <a:xfrm>
            <a:off x="5828996" y="3025161"/>
            <a:ext cx="0" cy="480035"/>
          </a:xfrm>
          <a:prstGeom prst="line">
            <a:avLst/>
          </a:prstGeom>
          <a:ln w="10160" cap="rnd">
            <a:solidFill>
              <a:srgbClr val="6FAE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框_0764"/>
          <p:cNvSpPr/>
          <p:nvPr/>
        </p:nvSpPr>
        <p:spPr>
          <a:xfrm>
            <a:off x="5752800" y="2979443"/>
            <a:ext cx="182870" cy="99055"/>
          </a:xfrm>
          <a:prstGeom prst="roundRect">
            <a:avLst>
              <a:gd name="adj" fmla="val 10000"/>
            </a:avLst>
          </a:prstGeom>
          <a:solidFill>
            <a:srgbClr val="6FA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cxnSp>
        <p:nvCxnSpPr>
          <p:cNvPr id="53" name="连接线_0765"/>
          <p:cNvCxnSpPr/>
          <p:nvPr/>
        </p:nvCxnSpPr>
        <p:spPr>
          <a:xfrm>
            <a:off x="6194737" y="3299466"/>
            <a:ext cx="0" cy="205730"/>
          </a:xfrm>
          <a:prstGeom prst="line">
            <a:avLst/>
          </a:prstGeom>
          <a:ln w="10160" cap="rnd">
            <a:solidFill>
              <a:srgbClr val="6FAE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框_0766"/>
          <p:cNvSpPr/>
          <p:nvPr/>
        </p:nvSpPr>
        <p:spPr>
          <a:xfrm>
            <a:off x="6118540" y="3253748"/>
            <a:ext cx="182870" cy="99055"/>
          </a:xfrm>
          <a:prstGeom prst="roundRect">
            <a:avLst>
              <a:gd name="adj" fmla="val 10000"/>
            </a:avLst>
          </a:prstGeom>
          <a:solidFill>
            <a:srgbClr val="6FA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cxnSp>
        <p:nvCxnSpPr>
          <p:cNvPr id="55" name="连接线_0767"/>
          <p:cNvCxnSpPr/>
          <p:nvPr/>
        </p:nvCxnSpPr>
        <p:spPr>
          <a:xfrm>
            <a:off x="6537619" y="3185172"/>
            <a:ext cx="0" cy="320024"/>
          </a:xfrm>
          <a:prstGeom prst="line">
            <a:avLst/>
          </a:prstGeom>
          <a:ln w="10160" cap="rnd">
            <a:solidFill>
              <a:srgbClr val="6FAE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框_0768"/>
          <p:cNvSpPr/>
          <p:nvPr/>
        </p:nvSpPr>
        <p:spPr>
          <a:xfrm>
            <a:off x="6461423" y="3139455"/>
            <a:ext cx="182870" cy="99055"/>
          </a:xfrm>
          <a:prstGeom prst="roundRect">
            <a:avLst>
              <a:gd name="adj" fmla="val 10000"/>
            </a:avLst>
          </a:prstGeom>
          <a:solidFill>
            <a:srgbClr val="6FA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cxnSp>
        <p:nvCxnSpPr>
          <p:cNvPr id="57" name="连接线_0769"/>
          <p:cNvCxnSpPr/>
          <p:nvPr/>
        </p:nvCxnSpPr>
        <p:spPr>
          <a:xfrm>
            <a:off x="6850023" y="3467098"/>
            <a:ext cx="0" cy="38098"/>
          </a:xfrm>
          <a:prstGeom prst="line">
            <a:avLst/>
          </a:prstGeom>
          <a:ln w="10160" cap="rnd">
            <a:solidFill>
              <a:srgbClr val="6FAE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框_0770"/>
          <p:cNvSpPr/>
          <p:nvPr/>
        </p:nvSpPr>
        <p:spPr>
          <a:xfrm>
            <a:off x="6773827" y="3421380"/>
            <a:ext cx="182870" cy="99055"/>
          </a:xfrm>
          <a:prstGeom prst="roundRect">
            <a:avLst>
              <a:gd name="adj" fmla="val 10000"/>
            </a:avLst>
          </a:prstGeom>
          <a:solidFill>
            <a:srgbClr val="6FA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59" name="文字_电子电气架构_复杂度_0771"/>
          <p:cNvSpPr txBox="1"/>
          <p:nvPr/>
        </p:nvSpPr>
        <p:spPr>
          <a:xfrm>
            <a:off x="4670817" y="3794741"/>
            <a:ext cx="2704959" cy="624807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85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电子电气架构</a:t>
            </a:r>
            <a:endParaRPr sz="2085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85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复杂度</a:t>
            </a:r>
            <a:endParaRPr sz="2085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文字_— 多系统 · 多数据 · 多约束 _0772"/>
          <p:cNvSpPr txBox="1"/>
          <p:nvPr/>
        </p:nvSpPr>
        <p:spPr>
          <a:xfrm>
            <a:off x="4617479" y="4526223"/>
            <a:ext cx="2811634" cy="213349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90" b="0">
                <a:solidFill>
                  <a:srgbClr val="166A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多系统 · 多数据 · 多约束 —</a:t>
            </a:r>
            <a:endParaRPr sz="1190" b="0">
              <a:solidFill>
                <a:srgbClr val="166AB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来源卡片_1_0773"/>
          <p:cNvSpPr/>
          <p:nvPr/>
        </p:nvSpPr>
        <p:spPr>
          <a:xfrm>
            <a:off x="2575426" y="853574"/>
            <a:ext cx="2979265" cy="1043886"/>
          </a:xfrm>
          <a:prstGeom prst="roundRect">
            <a:avLst>
              <a:gd name="adj" fmla="val 7000"/>
            </a:avLst>
          </a:prstGeom>
          <a:solidFill>
            <a:srgbClr val="F5FAFF"/>
          </a:solidFill>
          <a:ln w="11430" cap="rnd">
            <a:solidFill>
              <a:srgbClr val="68B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62" name="框_0774"/>
          <p:cNvSpPr/>
          <p:nvPr/>
        </p:nvSpPr>
        <p:spPr>
          <a:xfrm>
            <a:off x="2598284" y="876433"/>
            <a:ext cx="2933547" cy="274306"/>
          </a:xfrm>
          <a:prstGeom prst="roundRect">
            <a:avLst>
              <a:gd name="adj" fmla="val 10000"/>
            </a:avLst>
          </a:prstGeom>
          <a:solidFill>
            <a:srgbClr val="EC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63" name="来源编号_0775"/>
          <p:cNvSpPr/>
          <p:nvPr/>
        </p:nvSpPr>
        <p:spPr>
          <a:xfrm>
            <a:off x="2499230" y="796427"/>
            <a:ext cx="441937" cy="441937"/>
          </a:xfrm>
          <a:prstGeom prst="ellipse">
            <a:avLst/>
          </a:prstGeom>
          <a:solidFill>
            <a:srgbClr val="0B6DBD"/>
          </a:solidFill>
          <a:ln w="21590" cap="rnd">
            <a:solidFill>
              <a:srgbClr val="B7DD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64" name="文字_1_0776"/>
          <p:cNvSpPr txBox="1"/>
          <p:nvPr/>
        </p:nvSpPr>
        <p:spPr>
          <a:xfrm>
            <a:off x="2518278" y="811666"/>
            <a:ext cx="403839" cy="373361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8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08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圆_0777"/>
          <p:cNvSpPr/>
          <p:nvPr/>
        </p:nvSpPr>
        <p:spPr>
          <a:xfrm>
            <a:off x="2735438" y="1219315"/>
            <a:ext cx="594329" cy="594329"/>
          </a:xfrm>
          <a:prstGeom prst="ellipse">
            <a:avLst/>
          </a:prstGeom>
          <a:solidFill>
            <a:srgbClr val="E1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grpSp>
        <p:nvGrpSpPr>
          <p:cNvPr id="66" name="图标_apps_0778"/>
          <p:cNvGrpSpPr/>
          <p:nvPr/>
        </p:nvGrpSpPr>
        <p:grpSpPr>
          <a:xfrm>
            <a:off x="2899411" y="1383288"/>
            <a:ext cx="262876" cy="262876"/>
            <a:chOff x="3479474" y="1659818"/>
            <a:chExt cx="315468" cy="315468"/>
          </a:xfrm>
        </p:grpSpPr>
        <p:sp>
          <p:nvSpPr>
            <p:cNvPr id="67" name="图标部件_0779"/>
            <p:cNvSpPr/>
            <p:nvPr/>
          </p:nvSpPr>
          <p:spPr>
            <a:xfrm>
              <a:off x="3479474" y="1659818"/>
              <a:ext cx="126187" cy="126187"/>
            </a:xfrm>
            <a:prstGeom prst="roundRect">
              <a:avLst>
                <a:gd name="adj" fmla="val 10000"/>
              </a:avLst>
            </a:prstGeom>
            <a:noFill/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68" name="图标部件_0780"/>
            <p:cNvSpPr/>
            <p:nvPr/>
          </p:nvSpPr>
          <p:spPr>
            <a:xfrm>
              <a:off x="3668755" y="1659818"/>
              <a:ext cx="126187" cy="126187"/>
            </a:xfrm>
            <a:prstGeom prst="roundRect">
              <a:avLst>
                <a:gd name="adj" fmla="val 10000"/>
              </a:avLst>
            </a:prstGeom>
            <a:noFill/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69" name="图标部件_0781"/>
            <p:cNvSpPr/>
            <p:nvPr/>
          </p:nvSpPr>
          <p:spPr>
            <a:xfrm>
              <a:off x="3479474" y="1849099"/>
              <a:ext cx="126187" cy="126187"/>
            </a:xfrm>
            <a:prstGeom prst="roundRect">
              <a:avLst>
                <a:gd name="adj" fmla="val 10000"/>
              </a:avLst>
            </a:prstGeom>
            <a:noFill/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70" name="图标部件_0782"/>
            <p:cNvSpPr/>
            <p:nvPr/>
          </p:nvSpPr>
          <p:spPr>
            <a:xfrm>
              <a:off x="3668755" y="1849099"/>
              <a:ext cx="126187" cy="126187"/>
            </a:xfrm>
            <a:prstGeom prst="roundRect">
              <a:avLst>
                <a:gd name="adj" fmla="val 10000"/>
              </a:avLst>
            </a:prstGeom>
            <a:noFill/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</p:grpSp>
      <p:sp>
        <p:nvSpPr>
          <p:cNvPr id="71" name="复杂度来源标题_功能数量增加_0783"/>
          <p:cNvSpPr txBox="1"/>
          <p:nvPr/>
        </p:nvSpPr>
        <p:spPr>
          <a:xfrm>
            <a:off x="3459300" y="929770"/>
            <a:ext cx="1973477" cy="228588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25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功能数量增加</a:t>
            </a:r>
            <a:endParaRPr sz="1525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复杂度来源说明_从基础控制到ADAS、_智能座舱、能_0784"/>
          <p:cNvSpPr txBox="1"/>
          <p:nvPr/>
        </p:nvSpPr>
        <p:spPr>
          <a:xfrm>
            <a:off x="3466919" y="1249794"/>
            <a:ext cx="1981097" cy="586709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25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从基础控制到ADAS、</a:t>
            </a:r>
            <a:endParaRPr sz="1225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25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智能座舱、能量管理等，</a:t>
            </a:r>
            <a:endParaRPr sz="1225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25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车辆功能不断丰富。</a:t>
            </a:r>
            <a:endParaRPr sz="1225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来源卡片_2_0785"/>
          <p:cNvSpPr/>
          <p:nvPr/>
        </p:nvSpPr>
        <p:spPr>
          <a:xfrm>
            <a:off x="6438564" y="853574"/>
            <a:ext cx="3253570" cy="1043886"/>
          </a:xfrm>
          <a:prstGeom prst="roundRect">
            <a:avLst>
              <a:gd name="adj" fmla="val 7000"/>
            </a:avLst>
          </a:prstGeom>
          <a:solidFill>
            <a:srgbClr val="F5FAFF"/>
          </a:solidFill>
          <a:ln w="11430" cap="rnd">
            <a:solidFill>
              <a:srgbClr val="68B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74" name="框_0786"/>
          <p:cNvSpPr/>
          <p:nvPr/>
        </p:nvSpPr>
        <p:spPr>
          <a:xfrm>
            <a:off x="6461423" y="876433"/>
            <a:ext cx="3207853" cy="274306"/>
          </a:xfrm>
          <a:prstGeom prst="roundRect">
            <a:avLst>
              <a:gd name="adj" fmla="val 10000"/>
            </a:avLst>
          </a:prstGeom>
          <a:solidFill>
            <a:srgbClr val="EC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75" name="来源编号_0787"/>
          <p:cNvSpPr/>
          <p:nvPr/>
        </p:nvSpPr>
        <p:spPr>
          <a:xfrm>
            <a:off x="6362369" y="796427"/>
            <a:ext cx="441937" cy="441937"/>
          </a:xfrm>
          <a:prstGeom prst="ellipse">
            <a:avLst/>
          </a:prstGeom>
          <a:solidFill>
            <a:srgbClr val="0B6DBD"/>
          </a:solidFill>
          <a:ln w="21590" cap="rnd">
            <a:solidFill>
              <a:srgbClr val="B7DD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76" name="文字_2_0788"/>
          <p:cNvSpPr txBox="1"/>
          <p:nvPr/>
        </p:nvSpPr>
        <p:spPr>
          <a:xfrm>
            <a:off x="6381418" y="811666"/>
            <a:ext cx="403839" cy="373361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8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08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圆_0789"/>
          <p:cNvSpPr/>
          <p:nvPr/>
        </p:nvSpPr>
        <p:spPr>
          <a:xfrm>
            <a:off x="6598576" y="1219315"/>
            <a:ext cx="594329" cy="594329"/>
          </a:xfrm>
          <a:prstGeom prst="ellipse">
            <a:avLst/>
          </a:prstGeom>
          <a:solidFill>
            <a:srgbClr val="E1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grpSp>
        <p:nvGrpSpPr>
          <p:cNvPr id="78" name="图标_chip_0790"/>
          <p:cNvGrpSpPr/>
          <p:nvPr/>
        </p:nvGrpSpPr>
        <p:grpSpPr>
          <a:xfrm>
            <a:off x="6741520" y="1362258"/>
            <a:ext cx="308441" cy="308441"/>
            <a:chOff x="8090245" y="1634581"/>
            <a:chExt cx="370149" cy="370149"/>
          </a:xfrm>
        </p:grpSpPr>
        <p:sp>
          <p:nvSpPr>
            <p:cNvPr id="79" name="图标部件_0791"/>
            <p:cNvSpPr/>
            <p:nvPr/>
          </p:nvSpPr>
          <p:spPr>
            <a:xfrm>
              <a:off x="8157545" y="1701881"/>
              <a:ext cx="235549" cy="235549"/>
            </a:xfrm>
            <a:prstGeom prst="roundRect">
              <a:avLst>
                <a:gd name="adj" fmla="val 10000"/>
              </a:avLst>
            </a:prstGeom>
            <a:solidFill>
              <a:srgbClr val="166AB1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80" name="图标部件_0792"/>
            <p:cNvSpPr/>
            <p:nvPr/>
          </p:nvSpPr>
          <p:spPr>
            <a:xfrm>
              <a:off x="8220638" y="1764974"/>
              <a:ext cx="109362" cy="109362"/>
            </a:xfrm>
            <a:prstGeom prst="rect">
              <a:avLst/>
            </a:prstGeom>
            <a:solidFill>
              <a:srgbClr val="FFFFFF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81" name="图标线_0793"/>
            <p:cNvCxnSpPr/>
            <p:nvPr/>
          </p:nvCxnSpPr>
          <p:spPr>
            <a:xfrm>
              <a:off x="8191195" y="1634581"/>
              <a:ext cx="0" cy="54681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图标线_0794"/>
            <p:cNvCxnSpPr/>
            <p:nvPr/>
          </p:nvCxnSpPr>
          <p:spPr>
            <a:xfrm>
              <a:off x="8191195" y="1950049"/>
              <a:ext cx="0" cy="54681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图标线_0795"/>
            <p:cNvCxnSpPr/>
            <p:nvPr/>
          </p:nvCxnSpPr>
          <p:spPr>
            <a:xfrm>
              <a:off x="8090245" y="1735531"/>
              <a:ext cx="54681" cy="0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图标线_0796"/>
            <p:cNvCxnSpPr/>
            <p:nvPr/>
          </p:nvCxnSpPr>
          <p:spPr>
            <a:xfrm>
              <a:off x="8405713" y="1735531"/>
              <a:ext cx="54681" cy="0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图标线_0797"/>
            <p:cNvCxnSpPr/>
            <p:nvPr/>
          </p:nvCxnSpPr>
          <p:spPr>
            <a:xfrm>
              <a:off x="8245876" y="1634581"/>
              <a:ext cx="0" cy="54681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图标线_0798"/>
            <p:cNvCxnSpPr/>
            <p:nvPr/>
          </p:nvCxnSpPr>
          <p:spPr>
            <a:xfrm>
              <a:off x="8245876" y="1950049"/>
              <a:ext cx="0" cy="54681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图标线_0799"/>
            <p:cNvCxnSpPr/>
            <p:nvPr/>
          </p:nvCxnSpPr>
          <p:spPr>
            <a:xfrm>
              <a:off x="8090245" y="1790212"/>
              <a:ext cx="54681" cy="0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图标线_0800"/>
            <p:cNvCxnSpPr/>
            <p:nvPr/>
          </p:nvCxnSpPr>
          <p:spPr>
            <a:xfrm>
              <a:off x="8405713" y="1790212"/>
              <a:ext cx="54681" cy="0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图标线_0801"/>
            <p:cNvCxnSpPr/>
            <p:nvPr/>
          </p:nvCxnSpPr>
          <p:spPr>
            <a:xfrm>
              <a:off x="8304763" y="1634581"/>
              <a:ext cx="0" cy="54681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图标线_0802"/>
            <p:cNvCxnSpPr/>
            <p:nvPr/>
          </p:nvCxnSpPr>
          <p:spPr>
            <a:xfrm>
              <a:off x="8304763" y="1950049"/>
              <a:ext cx="0" cy="54681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图标线_0803"/>
            <p:cNvCxnSpPr/>
            <p:nvPr/>
          </p:nvCxnSpPr>
          <p:spPr>
            <a:xfrm>
              <a:off x="8090245" y="1849099"/>
              <a:ext cx="54681" cy="0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图标线_0804"/>
            <p:cNvCxnSpPr/>
            <p:nvPr/>
          </p:nvCxnSpPr>
          <p:spPr>
            <a:xfrm>
              <a:off x="8405713" y="1849099"/>
              <a:ext cx="54681" cy="0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图标线_0805"/>
            <p:cNvCxnSpPr/>
            <p:nvPr/>
          </p:nvCxnSpPr>
          <p:spPr>
            <a:xfrm>
              <a:off x="8359444" y="1634581"/>
              <a:ext cx="0" cy="54681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图标线_0806"/>
            <p:cNvCxnSpPr/>
            <p:nvPr/>
          </p:nvCxnSpPr>
          <p:spPr>
            <a:xfrm>
              <a:off x="8359444" y="1950049"/>
              <a:ext cx="0" cy="54681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图标线_0807"/>
            <p:cNvCxnSpPr/>
            <p:nvPr/>
          </p:nvCxnSpPr>
          <p:spPr>
            <a:xfrm>
              <a:off x="8090245" y="1903780"/>
              <a:ext cx="54681" cy="0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图标线_0808"/>
            <p:cNvCxnSpPr/>
            <p:nvPr/>
          </p:nvCxnSpPr>
          <p:spPr>
            <a:xfrm>
              <a:off x="8405713" y="1903780"/>
              <a:ext cx="54681" cy="0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7" name="复杂度来源标题_控制器与节点增多_0809"/>
          <p:cNvSpPr txBox="1"/>
          <p:nvPr/>
        </p:nvSpPr>
        <p:spPr>
          <a:xfrm>
            <a:off x="7322439" y="929770"/>
            <a:ext cx="2247782" cy="228588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25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控制器与节点增多</a:t>
            </a:r>
            <a:endParaRPr sz="1525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复杂度来源说明_ECU、域控制器、_区域控制器并存，_0810"/>
          <p:cNvSpPr txBox="1"/>
          <p:nvPr/>
        </p:nvSpPr>
        <p:spPr>
          <a:xfrm>
            <a:off x="7330058" y="1249794"/>
            <a:ext cx="2255402" cy="586709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25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ECU、域控制器、</a:t>
            </a:r>
            <a:endParaRPr sz="1225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25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区域控制器并存，</a:t>
            </a:r>
            <a:endParaRPr sz="1225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25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控制节点数量持续增加。</a:t>
            </a:r>
            <a:endParaRPr sz="1225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来源卡片_3_0811"/>
          <p:cNvSpPr/>
          <p:nvPr/>
        </p:nvSpPr>
        <p:spPr>
          <a:xfrm>
            <a:off x="8351085" y="2141287"/>
            <a:ext cx="3512637" cy="1089603"/>
          </a:xfrm>
          <a:prstGeom prst="roundRect">
            <a:avLst>
              <a:gd name="adj" fmla="val 7000"/>
            </a:avLst>
          </a:prstGeom>
          <a:solidFill>
            <a:srgbClr val="F5FAFF"/>
          </a:solidFill>
          <a:ln w="11430" cap="rnd">
            <a:solidFill>
              <a:srgbClr val="68B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00" name="框_0812"/>
          <p:cNvSpPr/>
          <p:nvPr/>
        </p:nvSpPr>
        <p:spPr>
          <a:xfrm>
            <a:off x="8373944" y="2164146"/>
            <a:ext cx="3466919" cy="274306"/>
          </a:xfrm>
          <a:prstGeom prst="roundRect">
            <a:avLst>
              <a:gd name="adj" fmla="val 10000"/>
            </a:avLst>
          </a:prstGeom>
          <a:solidFill>
            <a:srgbClr val="EC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01" name="来源编号_0813"/>
          <p:cNvSpPr/>
          <p:nvPr/>
        </p:nvSpPr>
        <p:spPr>
          <a:xfrm>
            <a:off x="8274889" y="2084140"/>
            <a:ext cx="441937" cy="441937"/>
          </a:xfrm>
          <a:prstGeom prst="ellipse">
            <a:avLst/>
          </a:prstGeom>
          <a:solidFill>
            <a:srgbClr val="0B6DBD"/>
          </a:solidFill>
          <a:ln w="21590" cap="rnd">
            <a:solidFill>
              <a:srgbClr val="B7DD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02" name="文字_3_0814"/>
          <p:cNvSpPr txBox="1"/>
          <p:nvPr/>
        </p:nvSpPr>
        <p:spPr>
          <a:xfrm>
            <a:off x="8293938" y="2099379"/>
            <a:ext cx="403839" cy="373361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8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08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圆_0815"/>
          <p:cNvSpPr/>
          <p:nvPr/>
        </p:nvSpPr>
        <p:spPr>
          <a:xfrm>
            <a:off x="8511097" y="2507028"/>
            <a:ext cx="594329" cy="594329"/>
          </a:xfrm>
          <a:prstGeom prst="ellipse">
            <a:avLst/>
          </a:prstGeom>
          <a:solidFill>
            <a:srgbClr val="E1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grpSp>
        <p:nvGrpSpPr>
          <p:cNvPr id="104" name="图标_camera_0816"/>
          <p:cNvGrpSpPr/>
          <p:nvPr/>
        </p:nvGrpSpPr>
        <p:grpSpPr>
          <a:xfrm>
            <a:off x="8668060" y="2727082"/>
            <a:ext cx="262876" cy="168240"/>
            <a:chOff x="10402214" y="3272454"/>
            <a:chExt cx="315468" cy="201899"/>
          </a:xfrm>
        </p:grpSpPr>
        <p:sp>
          <p:nvSpPr>
            <p:cNvPr id="105" name="图标部件_0817"/>
            <p:cNvSpPr/>
            <p:nvPr/>
          </p:nvSpPr>
          <p:spPr>
            <a:xfrm>
              <a:off x="10402214" y="3272454"/>
              <a:ext cx="315468" cy="201899"/>
            </a:xfrm>
            <a:prstGeom prst="roundRect">
              <a:avLst>
                <a:gd name="adj" fmla="val 10000"/>
              </a:avLst>
            </a:prstGeom>
            <a:solidFill>
              <a:srgbClr val="166AB1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106" name="图标部件_0818"/>
            <p:cNvSpPr/>
            <p:nvPr/>
          </p:nvSpPr>
          <p:spPr>
            <a:xfrm>
              <a:off x="10507370" y="3306104"/>
              <a:ext cx="105156" cy="105156"/>
            </a:xfrm>
            <a:prstGeom prst="ellipse">
              <a:avLst/>
            </a:prstGeom>
            <a:solidFill>
              <a:srgbClr val="FFFFFF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107" name="图标线_0819"/>
            <p:cNvSpPr/>
            <p:nvPr/>
          </p:nvSpPr>
          <p:spPr>
            <a:xfrm>
              <a:off x="10688238" y="3272454"/>
              <a:ext cx="84125" cy="201900"/>
            </a:xfrm>
            <a:custGeom>
              <a:avLst/>
              <a:gdLst/>
              <a:ahLst/>
              <a:cxnLst/>
              <a:rect l="l" t="t" r="r" b="b"/>
              <a:pathLst>
                <a:path w="84125" h="201900">
                  <a:moveTo>
                    <a:pt x="0" y="42063"/>
                  </a:moveTo>
                  <a:lnTo>
                    <a:pt x="84125" y="0"/>
                  </a:lnTo>
                  <a:lnTo>
                    <a:pt x="84125" y="201900"/>
                  </a:lnTo>
                  <a:lnTo>
                    <a:pt x="0" y="155631"/>
                  </a:lnTo>
                  <a:close/>
                </a:path>
              </a:pathLst>
            </a:custGeom>
            <a:solidFill>
              <a:srgbClr val="166AB1"/>
            </a:solidFill>
            <a:ln w="2032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</p:grpSp>
      <p:sp>
        <p:nvSpPr>
          <p:cNvPr id="108" name="复杂度来源标题_传感器规模扩大_0820"/>
          <p:cNvSpPr txBox="1"/>
          <p:nvPr/>
        </p:nvSpPr>
        <p:spPr>
          <a:xfrm>
            <a:off x="9234959" y="2217483"/>
            <a:ext cx="2506849" cy="228588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25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传感器规模扩大</a:t>
            </a:r>
            <a:endParaRPr sz="1525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复杂度来源说明_摄像头、雷达、超声波、_惯导等大量接_0821"/>
          <p:cNvSpPr txBox="1"/>
          <p:nvPr/>
        </p:nvSpPr>
        <p:spPr>
          <a:xfrm>
            <a:off x="9242579" y="2537506"/>
            <a:ext cx="2514469" cy="586709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25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摄像头、雷达、超声波、</a:t>
            </a:r>
            <a:endParaRPr sz="1225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25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惯导等大量接入，</a:t>
            </a:r>
            <a:endParaRPr sz="1225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25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感知数据类型和数量激增。</a:t>
            </a:r>
            <a:endParaRPr sz="1225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0" name="来源卡片_4_0822"/>
          <p:cNvSpPr/>
          <p:nvPr/>
        </p:nvSpPr>
        <p:spPr>
          <a:xfrm>
            <a:off x="8351085" y="3512816"/>
            <a:ext cx="3512637" cy="1089603"/>
          </a:xfrm>
          <a:prstGeom prst="roundRect">
            <a:avLst>
              <a:gd name="adj" fmla="val 7000"/>
            </a:avLst>
          </a:prstGeom>
          <a:solidFill>
            <a:srgbClr val="F5FAFF"/>
          </a:solidFill>
          <a:ln w="11430" cap="rnd">
            <a:solidFill>
              <a:srgbClr val="68B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11" name="框_0823"/>
          <p:cNvSpPr/>
          <p:nvPr/>
        </p:nvSpPr>
        <p:spPr>
          <a:xfrm>
            <a:off x="8373944" y="3535674"/>
            <a:ext cx="3466919" cy="274306"/>
          </a:xfrm>
          <a:prstGeom prst="roundRect">
            <a:avLst>
              <a:gd name="adj" fmla="val 10000"/>
            </a:avLst>
          </a:prstGeom>
          <a:solidFill>
            <a:srgbClr val="EC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12" name="来源编号_0824"/>
          <p:cNvSpPr/>
          <p:nvPr/>
        </p:nvSpPr>
        <p:spPr>
          <a:xfrm>
            <a:off x="8274889" y="3455669"/>
            <a:ext cx="441937" cy="441937"/>
          </a:xfrm>
          <a:prstGeom prst="ellipse">
            <a:avLst/>
          </a:prstGeom>
          <a:solidFill>
            <a:srgbClr val="0B6DBD"/>
          </a:solidFill>
          <a:ln w="21590" cap="rnd">
            <a:solidFill>
              <a:srgbClr val="B7DD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13" name="文字_4_0825"/>
          <p:cNvSpPr txBox="1"/>
          <p:nvPr/>
        </p:nvSpPr>
        <p:spPr>
          <a:xfrm>
            <a:off x="8293938" y="3470908"/>
            <a:ext cx="403839" cy="373361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8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208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4" name="圆_0826"/>
          <p:cNvSpPr/>
          <p:nvPr/>
        </p:nvSpPr>
        <p:spPr>
          <a:xfrm>
            <a:off x="8511097" y="3878557"/>
            <a:ext cx="594329" cy="594329"/>
          </a:xfrm>
          <a:prstGeom prst="ellipse">
            <a:avLst/>
          </a:prstGeom>
          <a:solidFill>
            <a:srgbClr val="E1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grpSp>
        <p:nvGrpSpPr>
          <p:cNvPr id="115" name="图标_motor_0827"/>
          <p:cNvGrpSpPr/>
          <p:nvPr/>
        </p:nvGrpSpPr>
        <p:grpSpPr>
          <a:xfrm>
            <a:off x="8657545" y="4056550"/>
            <a:ext cx="311946" cy="259371"/>
            <a:chOff x="10389595" y="4867899"/>
            <a:chExt cx="374355" cy="311262"/>
          </a:xfrm>
        </p:grpSpPr>
        <p:sp>
          <p:nvSpPr>
            <p:cNvPr id="116" name="图标部件_0828"/>
            <p:cNvSpPr/>
            <p:nvPr/>
          </p:nvSpPr>
          <p:spPr>
            <a:xfrm>
              <a:off x="10444276" y="4909962"/>
              <a:ext cx="243961" cy="206105"/>
            </a:xfrm>
            <a:prstGeom prst="roundRect">
              <a:avLst>
                <a:gd name="adj" fmla="val 10000"/>
              </a:avLst>
            </a:prstGeom>
            <a:solidFill>
              <a:srgbClr val="166AB1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117" name="图标部件_0829"/>
            <p:cNvSpPr/>
            <p:nvPr/>
          </p:nvSpPr>
          <p:spPr>
            <a:xfrm>
              <a:off x="10389595" y="4973055"/>
              <a:ext cx="50474" cy="96743"/>
            </a:xfrm>
            <a:prstGeom prst="rect">
              <a:avLst/>
            </a:prstGeom>
            <a:solidFill>
              <a:srgbClr val="166AB1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118" name="图标部件_0830"/>
            <p:cNvSpPr/>
            <p:nvPr/>
          </p:nvSpPr>
          <p:spPr>
            <a:xfrm>
              <a:off x="10688238" y="4968849"/>
              <a:ext cx="75712" cy="84124"/>
            </a:xfrm>
            <a:prstGeom prst="rect">
              <a:avLst/>
            </a:prstGeom>
            <a:solidFill>
              <a:srgbClr val="166AB1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119" name="图标线_0831"/>
            <p:cNvCxnSpPr/>
            <p:nvPr/>
          </p:nvCxnSpPr>
          <p:spPr>
            <a:xfrm>
              <a:off x="10486339" y="4867899"/>
              <a:ext cx="164043" cy="0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图标线_0832"/>
            <p:cNvCxnSpPr/>
            <p:nvPr/>
          </p:nvCxnSpPr>
          <p:spPr>
            <a:xfrm>
              <a:off x="10519989" y="5128686"/>
              <a:ext cx="0" cy="37856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图标线_0833"/>
            <p:cNvCxnSpPr/>
            <p:nvPr/>
          </p:nvCxnSpPr>
          <p:spPr>
            <a:xfrm>
              <a:off x="10633557" y="5128686"/>
              <a:ext cx="0" cy="37856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图标线_0834"/>
            <p:cNvCxnSpPr/>
            <p:nvPr/>
          </p:nvCxnSpPr>
          <p:spPr>
            <a:xfrm>
              <a:off x="10452689" y="5179161"/>
              <a:ext cx="239755" cy="0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连接线_0835"/>
            <p:cNvCxnSpPr/>
            <p:nvPr/>
          </p:nvCxnSpPr>
          <p:spPr>
            <a:xfrm>
              <a:off x="10498957" y="4960437"/>
              <a:ext cx="134600" cy="0"/>
            </a:xfrm>
            <a:prstGeom prst="line">
              <a:avLst/>
            </a:prstGeom>
            <a:ln w="15240" cap="rnd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连接线_0836"/>
            <p:cNvCxnSpPr/>
            <p:nvPr/>
          </p:nvCxnSpPr>
          <p:spPr>
            <a:xfrm>
              <a:off x="10498957" y="5006705"/>
              <a:ext cx="134600" cy="0"/>
            </a:xfrm>
            <a:prstGeom prst="line">
              <a:avLst/>
            </a:prstGeom>
            <a:ln w="15240" cap="rnd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连接线_0837"/>
            <p:cNvCxnSpPr/>
            <p:nvPr/>
          </p:nvCxnSpPr>
          <p:spPr>
            <a:xfrm>
              <a:off x="10498957" y="5052974"/>
              <a:ext cx="134600" cy="0"/>
            </a:xfrm>
            <a:prstGeom prst="line">
              <a:avLst/>
            </a:prstGeom>
            <a:ln w="15240" cap="rnd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6" name="复杂度来源标题_执行器与负载更多_0838"/>
          <p:cNvSpPr txBox="1"/>
          <p:nvPr/>
        </p:nvSpPr>
        <p:spPr>
          <a:xfrm>
            <a:off x="9234959" y="3589012"/>
            <a:ext cx="2506849" cy="228588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25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执行器与负载更多</a:t>
            </a:r>
            <a:endParaRPr sz="1525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7" name="复杂度来源说明_制动、转向、车灯、门窗、_座椅等都要_0839"/>
          <p:cNvSpPr txBox="1"/>
          <p:nvPr/>
        </p:nvSpPr>
        <p:spPr>
          <a:xfrm>
            <a:off x="9242579" y="3909035"/>
            <a:ext cx="2514469" cy="586709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75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制动、转向、车灯、门窗、</a:t>
            </a:r>
            <a:endParaRPr sz="1175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75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座椅等都要受控，</a:t>
            </a:r>
            <a:endParaRPr sz="1175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75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执行器种类和数量不断增加。</a:t>
            </a:r>
            <a:endParaRPr sz="1175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8" name="来源卡片_5_0840"/>
          <p:cNvSpPr/>
          <p:nvPr/>
        </p:nvSpPr>
        <p:spPr>
          <a:xfrm>
            <a:off x="6857643" y="4937681"/>
            <a:ext cx="3809802" cy="1097223"/>
          </a:xfrm>
          <a:prstGeom prst="roundRect">
            <a:avLst>
              <a:gd name="adj" fmla="val 7000"/>
            </a:avLst>
          </a:prstGeom>
          <a:solidFill>
            <a:srgbClr val="F5FAFF"/>
          </a:solidFill>
          <a:ln w="11430" cap="rnd">
            <a:solidFill>
              <a:srgbClr val="68B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29" name="框_0841"/>
          <p:cNvSpPr/>
          <p:nvPr/>
        </p:nvSpPr>
        <p:spPr>
          <a:xfrm>
            <a:off x="6880501" y="4960540"/>
            <a:ext cx="3764084" cy="274306"/>
          </a:xfrm>
          <a:prstGeom prst="roundRect">
            <a:avLst>
              <a:gd name="adj" fmla="val 10000"/>
            </a:avLst>
          </a:prstGeom>
          <a:solidFill>
            <a:srgbClr val="EC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30" name="来源编号_0842"/>
          <p:cNvSpPr/>
          <p:nvPr/>
        </p:nvSpPr>
        <p:spPr>
          <a:xfrm>
            <a:off x="6781447" y="4880534"/>
            <a:ext cx="441937" cy="441937"/>
          </a:xfrm>
          <a:prstGeom prst="ellipse">
            <a:avLst/>
          </a:prstGeom>
          <a:solidFill>
            <a:srgbClr val="0B6DBD"/>
          </a:solidFill>
          <a:ln w="21590" cap="rnd">
            <a:solidFill>
              <a:srgbClr val="B7DD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31" name="文字_5_0843"/>
          <p:cNvSpPr txBox="1"/>
          <p:nvPr/>
        </p:nvSpPr>
        <p:spPr>
          <a:xfrm>
            <a:off x="6800496" y="4895774"/>
            <a:ext cx="403839" cy="373361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8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208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2" name="圆_0844"/>
          <p:cNvSpPr/>
          <p:nvPr/>
        </p:nvSpPr>
        <p:spPr>
          <a:xfrm>
            <a:off x="7017654" y="5303422"/>
            <a:ext cx="594329" cy="594329"/>
          </a:xfrm>
          <a:prstGeom prst="ellipse">
            <a:avLst/>
          </a:prstGeom>
          <a:solidFill>
            <a:srgbClr val="E1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grpSp>
        <p:nvGrpSpPr>
          <p:cNvPr id="133" name="图标_bars_0845"/>
          <p:cNvGrpSpPr/>
          <p:nvPr/>
        </p:nvGrpSpPr>
        <p:grpSpPr>
          <a:xfrm>
            <a:off x="7192143" y="5474406"/>
            <a:ext cx="238341" cy="255866"/>
            <a:chOff x="8631021" y="6569415"/>
            <a:chExt cx="286024" cy="307055"/>
          </a:xfrm>
        </p:grpSpPr>
        <p:sp>
          <p:nvSpPr>
            <p:cNvPr id="134" name="图标部件_0846"/>
            <p:cNvSpPr/>
            <p:nvPr/>
          </p:nvSpPr>
          <p:spPr>
            <a:xfrm>
              <a:off x="8631021" y="6750283"/>
              <a:ext cx="67299" cy="126187"/>
            </a:xfrm>
            <a:prstGeom prst="rect">
              <a:avLst/>
            </a:prstGeom>
            <a:solidFill>
              <a:srgbClr val="166AB1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135" name="图标部件_0847"/>
            <p:cNvSpPr/>
            <p:nvPr/>
          </p:nvSpPr>
          <p:spPr>
            <a:xfrm>
              <a:off x="8740383" y="6670365"/>
              <a:ext cx="67299" cy="206105"/>
            </a:xfrm>
            <a:prstGeom prst="rect">
              <a:avLst/>
            </a:prstGeom>
            <a:solidFill>
              <a:srgbClr val="166AB1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136" name="图标部件_0848"/>
            <p:cNvSpPr/>
            <p:nvPr/>
          </p:nvSpPr>
          <p:spPr>
            <a:xfrm>
              <a:off x="8849746" y="6569415"/>
              <a:ext cx="67299" cy="307055"/>
            </a:xfrm>
            <a:prstGeom prst="rect">
              <a:avLst/>
            </a:prstGeom>
            <a:solidFill>
              <a:srgbClr val="166AB1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</p:grpSp>
      <p:sp>
        <p:nvSpPr>
          <p:cNvPr id="137" name="复杂度来源标题_数据带宽需求上升_0849"/>
          <p:cNvSpPr txBox="1"/>
          <p:nvPr/>
        </p:nvSpPr>
        <p:spPr>
          <a:xfrm>
            <a:off x="7741517" y="5013877"/>
            <a:ext cx="2804013" cy="228588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25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数据带宽需求上升</a:t>
            </a:r>
            <a:endParaRPr sz="1525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8" name="复杂度来源说明_高清视频、融合感知、_诊断与记录带来_0850"/>
          <p:cNvSpPr txBox="1"/>
          <p:nvPr/>
        </p:nvSpPr>
        <p:spPr>
          <a:xfrm>
            <a:off x="7749136" y="5333901"/>
            <a:ext cx="2811634" cy="586709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25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高清视频、融合感知、</a:t>
            </a:r>
            <a:endParaRPr sz="1225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25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诊断与记录带来更多数据，</a:t>
            </a:r>
            <a:endParaRPr sz="1225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25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对网络带宽提出更高要求。</a:t>
            </a:r>
            <a:endParaRPr sz="1225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9" name="来源卡片_6_0851"/>
          <p:cNvSpPr/>
          <p:nvPr/>
        </p:nvSpPr>
        <p:spPr>
          <a:xfrm>
            <a:off x="1737269" y="4937681"/>
            <a:ext cx="3832660" cy="1097223"/>
          </a:xfrm>
          <a:prstGeom prst="roundRect">
            <a:avLst>
              <a:gd name="adj" fmla="val 7000"/>
            </a:avLst>
          </a:prstGeom>
          <a:solidFill>
            <a:srgbClr val="F5FAFF"/>
          </a:solidFill>
          <a:ln w="11430" cap="rnd">
            <a:solidFill>
              <a:srgbClr val="68B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40" name="框_0852"/>
          <p:cNvSpPr/>
          <p:nvPr/>
        </p:nvSpPr>
        <p:spPr>
          <a:xfrm>
            <a:off x="1760127" y="4960540"/>
            <a:ext cx="3786943" cy="274306"/>
          </a:xfrm>
          <a:prstGeom prst="roundRect">
            <a:avLst>
              <a:gd name="adj" fmla="val 10000"/>
            </a:avLst>
          </a:prstGeom>
          <a:solidFill>
            <a:srgbClr val="EC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41" name="来源编号_0853"/>
          <p:cNvSpPr/>
          <p:nvPr/>
        </p:nvSpPr>
        <p:spPr>
          <a:xfrm>
            <a:off x="1661073" y="4880534"/>
            <a:ext cx="441937" cy="441937"/>
          </a:xfrm>
          <a:prstGeom prst="ellipse">
            <a:avLst/>
          </a:prstGeom>
          <a:solidFill>
            <a:srgbClr val="0B6DBD"/>
          </a:solidFill>
          <a:ln w="21590" cap="rnd">
            <a:solidFill>
              <a:srgbClr val="B7DD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42" name="文字_6_0854"/>
          <p:cNvSpPr txBox="1"/>
          <p:nvPr/>
        </p:nvSpPr>
        <p:spPr>
          <a:xfrm>
            <a:off x="1680122" y="4895774"/>
            <a:ext cx="403839" cy="373361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8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208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3" name="圆_0855"/>
          <p:cNvSpPr/>
          <p:nvPr/>
        </p:nvSpPr>
        <p:spPr>
          <a:xfrm>
            <a:off x="1897281" y="5303422"/>
            <a:ext cx="594329" cy="594329"/>
          </a:xfrm>
          <a:prstGeom prst="ellipse">
            <a:avLst/>
          </a:prstGeom>
          <a:solidFill>
            <a:srgbClr val="E1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47" name="复杂度来源标题_实时性与功能安全要求提高_0859"/>
          <p:cNvSpPr txBox="1"/>
          <p:nvPr/>
        </p:nvSpPr>
        <p:spPr>
          <a:xfrm>
            <a:off x="2621143" y="5013877"/>
            <a:ext cx="2826873" cy="228588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15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实时性与功能安全要求提高</a:t>
            </a:r>
            <a:endParaRPr sz="1415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8" name="复杂度来源说明_关键功能要求更低延迟、更高可靠性，__0860"/>
          <p:cNvSpPr txBox="1"/>
          <p:nvPr/>
        </p:nvSpPr>
        <p:spPr>
          <a:xfrm>
            <a:off x="2628762" y="5333901"/>
            <a:ext cx="2834492" cy="586709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75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关键功能要求更低延迟、更高可靠性，</a:t>
            </a:r>
            <a:endParaRPr sz="1175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75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满足功能安全（如ISO 26262）</a:t>
            </a:r>
            <a:endParaRPr sz="1175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75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的严格要求。</a:t>
            </a:r>
            <a:endParaRPr sz="1175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9" name="来源卡片_7_0861"/>
          <p:cNvSpPr/>
          <p:nvPr/>
        </p:nvSpPr>
        <p:spPr>
          <a:xfrm>
            <a:off x="320023" y="3512816"/>
            <a:ext cx="3565974" cy="1089603"/>
          </a:xfrm>
          <a:prstGeom prst="roundRect">
            <a:avLst>
              <a:gd name="adj" fmla="val 7000"/>
            </a:avLst>
          </a:prstGeom>
          <a:solidFill>
            <a:srgbClr val="F5FAFF"/>
          </a:solidFill>
          <a:ln w="11430" cap="rnd">
            <a:solidFill>
              <a:srgbClr val="68B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50" name="框_0862"/>
          <p:cNvSpPr/>
          <p:nvPr/>
        </p:nvSpPr>
        <p:spPr>
          <a:xfrm>
            <a:off x="342881" y="3535674"/>
            <a:ext cx="3520257" cy="274306"/>
          </a:xfrm>
          <a:prstGeom prst="roundRect">
            <a:avLst>
              <a:gd name="adj" fmla="val 10000"/>
            </a:avLst>
          </a:prstGeom>
          <a:solidFill>
            <a:srgbClr val="EC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51" name="来源编号_0863"/>
          <p:cNvSpPr/>
          <p:nvPr/>
        </p:nvSpPr>
        <p:spPr>
          <a:xfrm>
            <a:off x="243826" y="3455669"/>
            <a:ext cx="441937" cy="441937"/>
          </a:xfrm>
          <a:prstGeom prst="ellipse">
            <a:avLst/>
          </a:prstGeom>
          <a:solidFill>
            <a:srgbClr val="0B6DBD"/>
          </a:solidFill>
          <a:ln w="21590" cap="rnd">
            <a:solidFill>
              <a:srgbClr val="B7DD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52" name="文字_7_0864"/>
          <p:cNvSpPr txBox="1"/>
          <p:nvPr/>
        </p:nvSpPr>
        <p:spPr>
          <a:xfrm>
            <a:off x="262876" y="3470908"/>
            <a:ext cx="403839" cy="373361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8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sz="208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3" name="圆_0865"/>
          <p:cNvSpPr/>
          <p:nvPr/>
        </p:nvSpPr>
        <p:spPr>
          <a:xfrm>
            <a:off x="480035" y="3878557"/>
            <a:ext cx="594329" cy="594329"/>
          </a:xfrm>
          <a:prstGeom prst="ellipse">
            <a:avLst/>
          </a:prstGeom>
          <a:solidFill>
            <a:srgbClr val="E1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grpSp>
        <p:nvGrpSpPr>
          <p:cNvPr id="154" name="图标_network_0866"/>
          <p:cNvGrpSpPr/>
          <p:nvPr/>
        </p:nvGrpSpPr>
        <p:grpSpPr>
          <a:xfrm>
            <a:off x="629988" y="4021500"/>
            <a:ext cx="294421" cy="294420"/>
            <a:chOff x="756025" y="4825837"/>
            <a:chExt cx="353324" cy="353323"/>
          </a:xfrm>
        </p:grpSpPr>
        <p:cxnSp>
          <p:nvCxnSpPr>
            <p:cNvPr id="155" name="图标线_0867"/>
            <p:cNvCxnSpPr/>
            <p:nvPr/>
          </p:nvCxnSpPr>
          <p:spPr>
            <a:xfrm flipV="1">
              <a:off x="932688" y="4867899"/>
              <a:ext cx="0" cy="143013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图标部件_0868"/>
            <p:cNvSpPr/>
            <p:nvPr/>
          </p:nvSpPr>
          <p:spPr>
            <a:xfrm>
              <a:off x="890625" y="4825837"/>
              <a:ext cx="84124" cy="84124"/>
            </a:xfrm>
            <a:prstGeom prst="ellipse">
              <a:avLst/>
            </a:prstGeom>
            <a:noFill/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157" name="图标线_0869"/>
            <p:cNvCxnSpPr/>
            <p:nvPr/>
          </p:nvCxnSpPr>
          <p:spPr>
            <a:xfrm flipH="1">
              <a:off x="798088" y="5010912"/>
              <a:ext cx="134600" cy="126187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图标部件_0870"/>
            <p:cNvSpPr/>
            <p:nvPr/>
          </p:nvSpPr>
          <p:spPr>
            <a:xfrm>
              <a:off x="756025" y="5095036"/>
              <a:ext cx="84124" cy="84124"/>
            </a:xfrm>
            <a:prstGeom prst="ellipse">
              <a:avLst/>
            </a:prstGeom>
            <a:noFill/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159" name="图标线_0871"/>
            <p:cNvCxnSpPr/>
            <p:nvPr/>
          </p:nvCxnSpPr>
          <p:spPr>
            <a:xfrm>
              <a:off x="932688" y="5010912"/>
              <a:ext cx="134599" cy="126187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图标部件_0872"/>
            <p:cNvSpPr/>
            <p:nvPr/>
          </p:nvSpPr>
          <p:spPr>
            <a:xfrm>
              <a:off x="1025225" y="5095036"/>
              <a:ext cx="84124" cy="84124"/>
            </a:xfrm>
            <a:prstGeom prst="ellipse">
              <a:avLst/>
            </a:prstGeom>
            <a:noFill/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161" name="图标部件_0873"/>
            <p:cNvSpPr/>
            <p:nvPr/>
          </p:nvSpPr>
          <p:spPr>
            <a:xfrm>
              <a:off x="894831" y="4968849"/>
              <a:ext cx="75712" cy="75712"/>
            </a:xfrm>
            <a:prstGeom prst="ellipse">
              <a:avLst/>
            </a:prstGeom>
            <a:solidFill>
              <a:srgbClr val="166AB1"/>
            </a:solidFill>
            <a:ln w="1651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</p:grpSp>
      <p:sp>
        <p:nvSpPr>
          <p:cNvPr id="162" name="复杂度来源标题_多网络并存_0874"/>
          <p:cNvSpPr txBox="1"/>
          <p:nvPr/>
        </p:nvSpPr>
        <p:spPr>
          <a:xfrm>
            <a:off x="1203896" y="3589012"/>
            <a:ext cx="2560186" cy="228588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25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多网络并存</a:t>
            </a:r>
            <a:endParaRPr sz="1525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3" name="复杂度来源说明_CAN、LIN、FlexRay、_以_0875"/>
          <p:cNvSpPr txBox="1"/>
          <p:nvPr/>
        </p:nvSpPr>
        <p:spPr>
          <a:xfrm>
            <a:off x="1211516" y="3909035"/>
            <a:ext cx="2567805" cy="586709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25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CAN、LIN、FlexRay、</a:t>
            </a:r>
            <a:endParaRPr sz="1225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25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以太网、TSN等各有</a:t>
            </a:r>
            <a:endParaRPr sz="1225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25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适用场景，需要协同工作。</a:t>
            </a:r>
            <a:endParaRPr sz="1225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4" name="来源卡片_8_0876"/>
          <p:cNvSpPr/>
          <p:nvPr/>
        </p:nvSpPr>
        <p:spPr>
          <a:xfrm>
            <a:off x="533372" y="2141287"/>
            <a:ext cx="3352625" cy="1089603"/>
          </a:xfrm>
          <a:prstGeom prst="roundRect">
            <a:avLst>
              <a:gd name="adj" fmla="val 7000"/>
            </a:avLst>
          </a:prstGeom>
          <a:solidFill>
            <a:srgbClr val="F5FAFF"/>
          </a:solidFill>
          <a:ln w="11430" cap="rnd">
            <a:solidFill>
              <a:srgbClr val="68B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65" name="框_0877"/>
          <p:cNvSpPr/>
          <p:nvPr/>
        </p:nvSpPr>
        <p:spPr>
          <a:xfrm>
            <a:off x="556231" y="2164146"/>
            <a:ext cx="3306908" cy="274306"/>
          </a:xfrm>
          <a:prstGeom prst="roundRect">
            <a:avLst>
              <a:gd name="adj" fmla="val 10000"/>
            </a:avLst>
          </a:prstGeom>
          <a:solidFill>
            <a:srgbClr val="EC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66" name="来源编号_0878"/>
          <p:cNvSpPr/>
          <p:nvPr/>
        </p:nvSpPr>
        <p:spPr>
          <a:xfrm>
            <a:off x="457176" y="2084140"/>
            <a:ext cx="441937" cy="441937"/>
          </a:xfrm>
          <a:prstGeom prst="ellipse">
            <a:avLst/>
          </a:prstGeom>
          <a:solidFill>
            <a:srgbClr val="0B6DBD"/>
          </a:solidFill>
          <a:ln w="21590" cap="rnd">
            <a:solidFill>
              <a:srgbClr val="B7DD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67" name="文字_8_0879"/>
          <p:cNvSpPr txBox="1"/>
          <p:nvPr/>
        </p:nvSpPr>
        <p:spPr>
          <a:xfrm>
            <a:off x="476225" y="2099379"/>
            <a:ext cx="403839" cy="373361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8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208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8" name="圆_0880"/>
          <p:cNvSpPr/>
          <p:nvPr/>
        </p:nvSpPr>
        <p:spPr>
          <a:xfrm>
            <a:off x="693383" y="2507028"/>
            <a:ext cx="594329" cy="594329"/>
          </a:xfrm>
          <a:prstGeom prst="ellipse">
            <a:avLst/>
          </a:prstGeom>
          <a:solidFill>
            <a:srgbClr val="E1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grpSp>
        <p:nvGrpSpPr>
          <p:cNvPr id="169" name="图标_cloud_upload_0881"/>
          <p:cNvGrpSpPr/>
          <p:nvPr/>
        </p:nvGrpSpPr>
        <p:grpSpPr>
          <a:xfrm>
            <a:off x="829317" y="2663992"/>
            <a:ext cx="322462" cy="297926"/>
            <a:chOff x="995232" y="3196742"/>
            <a:chExt cx="386974" cy="357530"/>
          </a:xfrm>
        </p:grpSpPr>
        <p:sp>
          <p:nvSpPr>
            <p:cNvPr id="170" name="云轮廓_0882"/>
            <p:cNvSpPr/>
            <p:nvPr/>
          </p:nvSpPr>
          <p:spPr>
            <a:xfrm>
              <a:off x="995232" y="3196742"/>
              <a:ext cx="386974" cy="294436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210" y="900"/>
                  </a:moveTo>
                  <a:cubicBezTo>
                    <a:pt x="40" y="900"/>
                    <a:pt x="-25" y="690"/>
                    <a:pt x="105" y="550"/>
                  </a:cubicBezTo>
                  <a:cubicBezTo>
                    <a:pt x="30" y="260"/>
                    <a:pt x="320" y="190"/>
                    <a:pt x="420" y="390"/>
                  </a:cubicBezTo>
                  <a:cubicBezTo>
                    <a:pt x="530" y="-30"/>
                    <a:pt x="920" y="0"/>
                    <a:pt x="940" y="430"/>
                  </a:cubicBezTo>
                  <a:cubicBezTo>
                    <a:pt x="1100" y="590"/>
                    <a:pt x="1020" y="900"/>
                    <a:pt x="840" y="900"/>
                  </a:cubicBezTo>
                  <a:lnTo>
                    <a:pt x="210" y="900"/>
                  </a:lnTo>
                  <a:close/>
                </a:path>
              </a:pathLst>
            </a:custGeom>
            <a:noFill/>
            <a:ln w="2159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171" name="图标线_0883"/>
            <p:cNvCxnSpPr/>
            <p:nvPr/>
          </p:nvCxnSpPr>
          <p:spPr>
            <a:xfrm>
              <a:off x="1188719" y="3356579"/>
              <a:ext cx="0" cy="197693"/>
            </a:xfrm>
            <a:prstGeom prst="line">
              <a:avLst/>
            </a:prstGeom>
            <a:ln w="20320" cap="rnd">
              <a:solidFill>
                <a:srgbClr val="166AB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2" name="图标线_0884"/>
            <p:cNvSpPr/>
            <p:nvPr/>
          </p:nvSpPr>
          <p:spPr>
            <a:xfrm>
              <a:off x="1104595" y="3335548"/>
              <a:ext cx="168249" cy="92537"/>
            </a:xfrm>
            <a:custGeom>
              <a:avLst/>
              <a:gdLst/>
              <a:ahLst/>
              <a:cxnLst/>
              <a:rect l="l" t="t" r="r" b="b"/>
              <a:pathLst>
                <a:path w="168249" h="92537">
                  <a:moveTo>
                    <a:pt x="0" y="92537"/>
                  </a:moveTo>
                  <a:lnTo>
                    <a:pt x="84124" y="0"/>
                  </a:lnTo>
                  <a:lnTo>
                    <a:pt x="168249" y="92537"/>
                  </a:lnTo>
                </a:path>
              </a:pathLst>
            </a:custGeom>
            <a:noFill/>
            <a:ln w="20320" cap="rnd">
              <a:solidFill>
                <a:srgbClr val="166AB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</p:grpSp>
      <p:sp>
        <p:nvSpPr>
          <p:cNvPr id="173" name="复杂度来源标题_软件与OTA升级_0885"/>
          <p:cNvSpPr txBox="1"/>
          <p:nvPr/>
        </p:nvSpPr>
        <p:spPr>
          <a:xfrm>
            <a:off x="1417246" y="2217483"/>
            <a:ext cx="2346838" cy="228588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25" b="1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软件与OTA升级</a:t>
            </a:r>
            <a:endParaRPr sz="1525" b="1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4" name="复杂度来源说明_软件规模扩大，_接口管理、配置管理__0886"/>
          <p:cNvSpPr txBox="1"/>
          <p:nvPr/>
        </p:nvSpPr>
        <p:spPr>
          <a:xfrm>
            <a:off x="1424866" y="2537506"/>
            <a:ext cx="2354457" cy="586709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25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软件规模扩大，</a:t>
            </a:r>
            <a:endParaRPr sz="1225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25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接口管理、配置管理</a:t>
            </a:r>
            <a:endParaRPr sz="1225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25" b="0">
                <a:solidFill>
                  <a:srgbClr val="073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和远程升级更重要。</a:t>
            </a:r>
            <a:endParaRPr sz="1225" b="0">
              <a:solidFill>
                <a:srgbClr val="073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5" name="框_0887"/>
          <p:cNvSpPr/>
          <p:nvPr/>
        </p:nvSpPr>
        <p:spPr>
          <a:xfrm>
            <a:off x="220968" y="6316829"/>
            <a:ext cx="9280677" cy="373361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084D8E"/>
              </a:gs>
              <a:gs pos="100000">
                <a:srgbClr val="4DA2E7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76" name="总结前箭头_0888"/>
          <p:cNvSpPr/>
          <p:nvPr/>
        </p:nvSpPr>
        <p:spPr>
          <a:xfrm>
            <a:off x="297165" y="6354928"/>
            <a:ext cx="228588" cy="289545"/>
          </a:xfrm>
          <a:prstGeom prst="chevron">
            <a:avLst/>
          </a:prstGeom>
          <a:solidFill>
            <a:srgbClr val="BED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77" name="文字_复杂度的本质：从“硬件连接复杂”发展_0889"/>
          <p:cNvSpPr txBox="1"/>
          <p:nvPr/>
        </p:nvSpPr>
        <p:spPr>
          <a:xfrm>
            <a:off x="601949" y="6370166"/>
            <a:ext cx="8739685" cy="236208"/>
          </a:xfrm>
          <a:prstGeom prst="rect">
            <a:avLst/>
          </a:prstGeom>
          <a:noFill/>
          <a:effectLst/>
        </p:spPr>
        <p:txBody>
          <a:bodyPr wrap="square" lIns="15239" tIns="3809" rIns="15239" bIns="3809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复杂度的本质：从“硬件连接复杂”发展为“计算、通信、软件、时序与安全共同复杂”。</a:t>
            </a:r>
            <a:endParaRPr sz="143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90" name="Picture 31" descr="tongji_wordm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4" y="172212"/>
            <a:ext cx="1554480" cy="385298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" name="白色背景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右下角淡蓝装饰"/>
          <p:cNvSpPr/>
          <p:nvPr/>
        </p:nvSpPr>
        <p:spPr>
          <a:xfrm>
            <a:off x="10774679" y="5440680"/>
            <a:ext cx="1417320" cy="1417320"/>
          </a:xfrm>
          <a:custGeom>
            <a:avLst/>
            <a:gdLst/>
            <a:ahLst/>
            <a:cxnLst/>
            <a:rect l="l" t="t" r="r" b="b"/>
            <a:pathLst>
              <a:path w="1417320" h="1417320">
                <a:moveTo>
                  <a:pt x="1417320" y="1417320"/>
                </a:moveTo>
                <a:lnTo>
                  <a:pt x="0" y="1417320"/>
                </a:lnTo>
                <a:lnTo>
                  <a:pt x="700" y="1372800"/>
                </a:lnTo>
                <a:lnTo>
                  <a:pt x="2797" y="1328325"/>
                </a:lnTo>
                <a:lnTo>
                  <a:pt x="6290" y="1283938"/>
                </a:lnTo>
                <a:lnTo>
                  <a:pt x="11176" y="1239682"/>
                </a:lnTo>
                <a:lnTo>
                  <a:pt x="17450" y="1195602"/>
                </a:lnTo>
                <a:lnTo>
                  <a:pt x="25105" y="1151740"/>
                </a:lnTo>
                <a:lnTo>
                  <a:pt x="34134" y="1108141"/>
                </a:lnTo>
                <a:lnTo>
                  <a:pt x="44528" y="1064846"/>
                </a:lnTo>
                <a:lnTo>
                  <a:pt x="56277" y="1021900"/>
                </a:lnTo>
                <a:lnTo>
                  <a:pt x="69369" y="979344"/>
                </a:lnTo>
                <a:lnTo>
                  <a:pt x="83791" y="937219"/>
                </a:lnTo>
                <a:lnTo>
                  <a:pt x="99529" y="895569"/>
                </a:lnTo>
                <a:lnTo>
                  <a:pt x="116568" y="854434"/>
                </a:lnTo>
                <a:lnTo>
                  <a:pt x="134891" y="813854"/>
                </a:lnTo>
                <a:lnTo>
                  <a:pt x="154479" y="773870"/>
                </a:lnTo>
                <a:lnTo>
                  <a:pt x="175313" y="734520"/>
                </a:lnTo>
                <a:lnTo>
                  <a:pt x="197373" y="695845"/>
                </a:lnTo>
                <a:lnTo>
                  <a:pt x="220637" y="657881"/>
                </a:lnTo>
                <a:lnTo>
                  <a:pt x="245082" y="620667"/>
                </a:lnTo>
                <a:lnTo>
                  <a:pt x="270684" y="584240"/>
                </a:lnTo>
                <a:lnTo>
                  <a:pt x="297418" y="548634"/>
                </a:lnTo>
                <a:lnTo>
                  <a:pt x="325256" y="513886"/>
                </a:lnTo>
                <a:lnTo>
                  <a:pt x="354173" y="480029"/>
                </a:lnTo>
                <a:lnTo>
                  <a:pt x="384138" y="447097"/>
                </a:lnTo>
                <a:lnTo>
                  <a:pt x="415124" y="415123"/>
                </a:lnTo>
                <a:lnTo>
                  <a:pt x="447098" y="384138"/>
                </a:lnTo>
                <a:lnTo>
                  <a:pt x="480030" y="354172"/>
                </a:lnTo>
                <a:lnTo>
                  <a:pt x="513886" y="325256"/>
                </a:lnTo>
                <a:lnTo>
                  <a:pt x="548635" y="297417"/>
                </a:lnTo>
                <a:lnTo>
                  <a:pt x="584240" y="270684"/>
                </a:lnTo>
                <a:lnTo>
                  <a:pt x="620668" y="245082"/>
                </a:lnTo>
                <a:lnTo>
                  <a:pt x="657882" y="220637"/>
                </a:lnTo>
                <a:lnTo>
                  <a:pt x="695846" y="197373"/>
                </a:lnTo>
                <a:lnTo>
                  <a:pt x="734521" y="175313"/>
                </a:lnTo>
                <a:lnTo>
                  <a:pt x="773870" y="154478"/>
                </a:lnTo>
                <a:lnTo>
                  <a:pt x="813855" y="134890"/>
                </a:lnTo>
                <a:lnTo>
                  <a:pt x="854435" y="116568"/>
                </a:lnTo>
                <a:lnTo>
                  <a:pt x="895570" y="99529"/>
                </a:lnTo>
                <a:lnTo>
                  <a:pt x="937220" y="83790"/>
                </a:lnTo>
                <a:lnTo>
                  <a:pt x="979344" y="69368"/>
                </a:lnTo>
                <a:lnTo>
                  <a:pt x="1021901" y="56276"/>
                </a:lnTo>
                <a:lnTo>
                  <a:pt x="1064847" y="44527"/>
                </a:lnTo>
                <a:lnTo>
                  <a:pt x="1108141" y="34133"/>
                </a:lnTo>
                <a:lnTo>
                  <a:pt x="1151741" y="25104"/>
                </a:lnTo>
                <a:lnTo>
                  <a:pt x="1195602" y="17449"/>
                </a:lnTo>
                <a:lnTo>
                  <a:pt x="1239683" y="11175"/>
                </a:lnTo>
                <a:lnTo>
                  <a:pt x="1283939" y="6290"/>
                </a:lnTo>
                <a:lnTo>
                  <a:pt x="1328326" y="2796"/>
                </a:lnTo>
                <a:lnTo>
                  <a:pt x="1372801" y="699"/>
                </a:lnTo>
                <a:lnTo>
                  <a:pt x="1417320" y="0"/>
                </a:lnTo>
                <a:lnTo>
                  <a:pt x="1417320" y="1417320"/>
                </a:lnTo>
                <a:close/>
              </a:path>
            </a:pathLst>
          </a:custGeom>
          <a:solidFill>
            <a:srgbClr val="F4F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右下角淡蓝装饰"/>
          <p:cNvSpPr/>
          <p:nvPr/>
        </p:nvSpPr>
        <p:spPr>
          <a:xfrm>
            <a:off x="11076431" y="5742432"/>
            <a:ext cx="1115568" cy="1115568"/>
          </a:xfrm>
          <a:custGeom>
            <a:avLst/>
            <a:gdLst/>
            <a:ahLst/>
            <a:cxnLst/>
            <a:rect l="l" t="t" r="r" b="b"/>
            <a:pathLst>
              <a:path w="1115568" h="1115568">
                <a:moveTo>
                  <a:pt x="1115568" y="1115568"/>
                </a:moveTo>
                <a:lnTo>
                  <a:pt x="0" y="1115568"/>
                </a:lnTo>
                <a:lnTo>
                  <a:pt x="551" y="1080527"/>
                </a:lnTo>
                <a:lnTo>
                  <a:pt x="2202" y="1045520"/>
                </a:lnTo>
                <a:lnTo>
                  <a:pt x="4951" y="1010583"/>
                </a:lnTo>
                <a:lnTo>
                  <a:pt x="8797" y="975750"/>
                </a:lnTo>
                <a:lnTo>
                  <a:pt x="13735" y="941054"/>
                </a:lnTo>
                <a:lnTo>
                  <a:pt x="19760" y="906531"/>
                </a:lnTo>
                <a:lnTo>
                  <a:pt x="26867" y="872214"/>
                </a:lnTo>
                <a:lnTo>
                  <a:pt x="35048" y="838137"/>
                </a:lnTo>
                <a:lnTo>
                  <a:pt x="44295" y="804334"/>
                </a:lnTo>
                <a:lnTo>
                  <a:pt x="54600" y="770838"/>
                </a:lnTo>
                <a:lnTo>
                  <a:pt x="65952" y="737682"/>
                </a:lnTo>
                <a:lnTo>
                  <a:pt x="78339" y="704900"/>
                </a:lnTo>
                <a:lnTo>
                  <a:pt x="91751" y="672522"/>
                </a:lnTo>
                <a:lnTo>
                  <a:pt x="106172" y="640582"/>
                </a:lnTo>
                <a:lnTo>
                  <a:pt x="121590" y="609110"/>
                </a:lnTo>
                <a:lnTo>
                  <a:pt x="137989" y="578139"/>
                </a:lnTo>
                <a:lnTo>
                  <a:pt x="155352" y="547697"/>
                </a:lnTo>
                <a:lnTo>
                  <a:pt x="173663" y="517816"/>
                </a:lnTo>
                <a:lnTo>
                  <a:pt x="192904" y="488525"/>
                </a:lnTo>
                <a:lnTo>
                  <a:pt x="213055" y="459853"/>
                </a:lnTo>
                <a:lnTo>
                  <a:pt x="234097" y="431828"/>
                </a:lnTo>
                <a:lnTo>
                  <a:pt x="256008" y="404478"/>
                </a:lnTo>
                <a:lnTo>
                  <a:pt x="278768" y="377829"/>
                </a:lnTo>
                <a:lnTo>
                  <a:pt x="302354" y="351909"/>
                </a:lnTo>
                <a:lnTo>
                  <a:pt x="326742" y="326742"/>
                </a:lnTo>
                <a:lnTo>
                  <a:pt x="351909" y="302353"/>
                </a:lnTo>
                <a:lnTo>
                  <a:pt x="377830" y="278768"/>
                </a:lnTo>
                <a:lnTo>
                  <a:pt x="404478" y="256008"/>
                </a:lnTo>
                <a:lnTo>
                  <a:pt x="431829" y="234096"/>
                </a:lnTo>
                <a:lnTo>
                  <a:pt x="459854" y="213054"/>
                </a:lnTo>
                <a:lnTo>
                  <a:pt x="488526" y="192903"/>
                </a:lnTo>
                <a:lnTo>
                  <a:pt x="517817" y="173662"/>
                </a:lnTo>
                <a:lnTo>
                  <a:pt x="547698" y="155351"/>
                </a:lnTo>
                <a:lnTo>
                  <a:pt x="578139" y="137988"/>
                </a:lnTo>
                <a:lnTo>
                  <a:pt x="609111" y="121589"/>
                </a:lnTo>
                <a:lnTo>
                  <a:pt x="640582" y="106171"/>
                </a:lnTo>
                <a:lnTo>
                  <a:pt x="672523" y="91750"/>
                </a:lnTo>
                <a:lnTo>
                  <a:pt x="704900" y="78339"/>
                </a:lnTo>
                <a:lnTo>
                  <a:pt x="737683" y="65951"/>
                </a:lnTo>
                <a:lnTo>
                  <a:pt x="770839" y="54599"/>
                </a:lnTo>
                <a:lnTo>
                  <a:pt x="804335" y="44295"/>
                </a:lnTo>
                <a:lnTo>
                  <a:pt x="838138" y="35047"/>
                </a:lnTo>
                <a:lnTo>
                  <a:pt x="872215" y="26866"/>
                </a:lnTo>
                <a:lnTo>
                  <a:pt x="906532" y="19759"/>
                </a:lnTo>
                <a:lnTo>
                  <a:pt x="941055" y="13734"/>
                </a:lnTo>
                <a:lnTo>
                  <a:pt x="975750" y="8796"/>
                </a:lnTo>
                <a:lnTo>
                  <a:pt x="1010584" y="4950"/>
                </a:lnTo>
                <a:lnTo>
                  <a:pt x="1045521" y="2201"/>
                </a:lnTo>
                <a:lnTo>
                  <a:pt x="1080527" y="550"/>
                </a:lnTo>
                <a:lnTo>
                  <a:pt x="1115568" y="0"/>
                </a:lnTo>
                <a:lnTo>
                  <a:pt x="1115568" y="1115568"/>
                </a:lnTo>
                <a:close/>
              </a:path>
            </a:pathLst>
          </a:custGeom>
          <a:solidFill>
            <a:srgbClr val="F8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圆形"/>
          <p:cNvSpPr/>
          <p:nvPr/>
        </p:nvSpPr>
        <p:spPr>
          <a:xfrm>
            <a:off x="1038758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圆形"/>
          <p:cNvSpPr/>
          <p:nvPr/>
        </p:nvSpPr>
        <p:spPr>
          <a:xfrm>
            <a:off x="1038758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圆形"/>
          <p:cNvSpPr/>
          <p:nvPr/>
        </p:nvSpPr>
        <p:spPr>
          <a:xfrm>
            <a:off x="1038758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圆形"/>
          <p:cNvSpPr/>
          <p:nvPr/>
        </p:nvSpPr>
        <p:spPr>
          <a:xfrm>
            <a:off x="1055217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圆形"/>
          <p:cNvSpPr/>
          <p:nvPr/>
        </p:nvSpPr>
        <p:spPr>
          <a:xfrm>
            <a:off x="1055217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圆形"/>
          <p:cNvSpPr/>
          <p:nvPr/>
        </p:nvSpPr>
        <p:spPr>
          <a:xfrm>
            <a:off x="1055217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圆形"/>
          <p:cNvSpPr/>
          <p:nvPr/>
        </p:nvSpPr>
        <p:spPr>
          <a:xfrm>
            <a:off x="10716767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圆形"/>
          <p:cNvSpPr/>
          <p:nvPr/>
        </p:nvSpPr>
        <p:spPr>
          <a:xfrm>
            <a:off x="10716767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圆形"/>
          <p:cNvSpPr/>
          <p:nvPr/>
        </p:nvSpPr>
        <p:spPr>
          <a:xfrm>
            <a:off x="10716767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圆形"/>
          <p:cNvSpPr/>
          <p:nvPr/>
        </p:nvSpPr>
        <p:spPr>
          <a:xfrm>
            <a:off x="10881359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圆形"/>
          <p:cNvSpPr/>
          <p:nvPr/>
        </p:nvSpPr>
        <p:spPr>
          <a:xfrm>
            <a:off x="10881359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圆形"/>
          <p:cNvSpPr/>
          <p:nvPr/>
        </p:nvSpPr>
        <p:spPr>
          <a:xfrm>
            <a:off x="10881359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圆形"/>
          <p:cNvSpPr/>
          <p:nvPr/>
        </p:nvSpPr>
        <p:spPr>
          <a:xfrm>
            <a:off x="11045952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圆形"/>
          <p:cNvSpPr/>
          <p:nvPr/>
        </p:nvSpPr>
        <p:spPr>
          <a:xfrm>
            <a:off x="11045952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圆形"/>
          <p:cNvSpPr/>
          <p:nvPr/>
        </p:nvSpPr>
        <p:spPr>
          <a:xfrm>
            <a:off x="11045952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圆形"/>
          <p:cNvSpPr/>
          <p:nvPr/>
        </p:nvSpPr>
        <p:spPr>
          <a:xfrm>
            <a:off x="1121054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圆形"/>
          <p:cNvSpPr/>
          <p:nvPr/>
        </p:nvSpPr>
        <p:spPr>
          <a:xfrm>
            <a:off x="1121054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圆形"/>
          <p:cNvSpPr/>
          <p:nvPr/>
        </p:nvSpPr>
        <p:spPr>
          <a:xfrm>
            <a:off x="1121054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圆形"/>
          <p:cNvSpPr/>
          <p:nvPr/>
        </p:nvSpPr>
        <p:spPr>
          <a:xfrm>
            <a:off x="1137513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圆形"/>
          <p:cNvSpPr/>
          <p:nvPr/>
        </p:nvSpPr>
        <p:spPr>
          <a:xfrm>
            <a:off x="1137513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圆形"/>
          <p:cNvSpPr/>
          <p:nvPr/>
        </p:nvSpPr>
        <p:spPr>
          <a:xfrm>
            <a:off x="1137513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圆形"/>
          <p:cNvSpPr/>
          <p:nvPr/>
        </p:nvSpPr>
        <p:spPr>
          <a:xfrm>
            <a:off x="11539728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圆形"/>
          <p:cNvSpPr/>
          <p:nvPr/>
        </p:nvSpPr>
        <p:spPr>
          <a:xfrm>
            <a:off x="11539728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圆形"/>
          <p:cNvSpPr/>
          <p:nvPr/>
        </p:nvSpPr>
        <p:spPr>
          <a:xfrm>
            <a:off x="11539728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标题蓝色竖线"/>
          <p:cNvSpPr/>
          <p:nvPr/>
        </p:nvSpPr>
        <p:spPr>
          <a:xfrm>
            <a:off x="274320" y="356616"/>
            <a:ext cx="109728" cy="585216"/>
          </a:xfrm>
          <a:prstGeom prst="roundRect">
            <a:avLst>
              <a:gd name="adj" fmla="val 41666"/>
            </a:avLst>
          </a:prstGeom>
          <a:gradFill>
            <a:gsLst>
              <a:gs pos="0">
                <a:srgbClr val="3A92D5"/>
              </a:gs>
              <a:gs pos="100000">
                <a:srgbClr val="146FB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标题"/>
          <p:cNvSpPr txBox="1"/>
          <p:nvPr/>
        </p:nvSpPr>
        <p:spPr>
          <a:xfrm>
            <a:off x="621792" y="301752"/>
            <a:ext cx="9390888" cy="64922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架构为什么朝这个方向发展？</a:t>
            </a:r>
            <a:endParaRPr sz="35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标题分隔线"/>
          <p:cNvSpPr/>
          <p:nvPr/>
        </p:nvSpPr>
        <p:spPr>
          <a:xfrm>
            <a:off x="621792" y="1051560"/>
            <a:ext cx="11109960" cy="18288"/>
          </a:xfrm>
          <a:prstGeom prst="rect">
            <a:avLst/>
          </a:prstGeom>
          <a:gradFill>
            <a:gsLst>
              <a:gs pos="0">
                <a:srgbClr val="3A92D5"/>
              </a:gs>
              <a:gs pos="100000">
                <a:srgbClr val="E3EFF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tongji_wordm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4" y="256032"/>
            <a:ext cx="1554480" cy="385298"/>
          </a:xfrm>
          <a:prstGeom prst="rect">
            <a:avLst/>
          </a:prstGeom>
          <a:effectLst/>
        </p:spPr>
      </p:pic>
      <p:sp>
        <p:nvSpPr>
          <p:cNvPr id="33" name="导入句"/>
          <p:cNvSpPr txBox="1"/>
          <p:nvPr/>
        </p:nvSpPr>
        <p:spPr>
          <a:xfrm>
            <a:off x="621792" y="1271016"/>
            <a:ext cx="10972800" cy="57607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不是追求控制器越少越好，而是让计算、数据、软件和连接更容易协同。</a:t>
            </a:r>
            <a:endParaRPr sz="20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本页总结背景"/>
          <p:cNvSpPr/>
          <p:nvPr/>
        </p:nvSpPr>
        <p:spPr>
          <a:xfrm>
            <a:off x="585216" y="5852160"/>
            <a:ext cx="11064240" cy="594360"/>
          </a:xfrm>
          <a:prstGeom prst="roundRect">
            <a:avLst>
              <a:gd name="adj" fmla="val 23076"/>
            </a:avLst>
          </a:prstGeom>
          <a:gradFill>
            <a:gsLst>
              <a:gs pos="0">
                <a:srgbClr val="F0F7FE"/>
              </a:gs>
              <a:gs pos="100000">
                <a:srgbClr val="E9F3F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可编辑曲线"/>
          <p:cNvSpPr/>
          <p:nvPr/>
        </p:nvSpPr>
        <p:spPr>
          <a:xfrm>
            <a:off x="907999" y="5990783"/>
            <a:ext cx="310621" cy="133685"/>
          </a:xfrm>
          <a:custGeom>
            <a:avLst/>
            <a:gdLst/>
            <a:ahLst/>
            <a:cxnLst/>
            <a:rect l="l" t="t" r="r" b="b"/>
            <a:pathLst>
              <a:path w="310621" h="133685">
                <a:moveTo>
                  <a:pt x="0" y="133685"/>
                </a:moveTo>
                <a:lnTo>
                  <a:pt x="51115" y="0"/>
                </a:lnTo>
                <a:lnTo>
                  <a:pt x="251643" y="0"/>
                </a:lnTo>
                <a:lnTo>
                  <a:pt x="310621" y="133685"/>
                </a:lnTo>
              </a:path>
            </a:pathLst>
          </a:custGeom>
          <a:noFill/>
          <a:ln w="254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矩形"/>
          <p:cNvSpPr/>
          <p:nvPr/>
        </p:nvSpPr>
        <p:spPr>
          <a:xfrm>
            <a:off x="896203" y="6112672"/>
            <a:ext cx="338145" cy="165140"/>
          </a:xfrm>
          <a:prstGeom prst="roundRect">
            <a:avLst>
              <a:gd name="adj" fmla="val 19047"/>
            </a:avLst>
          </a:prstGeom>
          <a:noFill/>
          <a:ln w="254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连线"/>
          <p:cNvCxnSpPr/>
          <p:nvPr/>
        </p:nvCxnSpPr>
        <p:spPr>
          <a:xfrm>
            <a:off x="915863" y="6120536"/>
            <a:ext cx="302757" cy="0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圆形"/>
          <p:cNvSpPr/>
          <p:nvPr/>
        </p:nvSpPr>
        <p:spPr>
          <a:xfrm>
            <a:off x="935522" y="6171651"/>
            <a:ext cx="51114" cy="5111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圆形"/>
          <p:cNvSpPr/>
          <p:nvPr/>
        </p:nvSpPr>
        <p:spPr>
          <a:xfrm>
            <a:off x="1136050" y="6171651"/>
            <a:ext cx="51114" cy="5111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连线"/>
          <p:cNvCxnSpPr/>
          <p:nvPr/>
        </p:nvCxnSpPr>
        <p:spPr>
          <a:xfrm>
            <a:off x="943386" y="6273881"/>
            <a:ext cx="0" cy="51115"/>
          </a:xfrm>
          <a:prstGeom prst="line">
            <a:avLst/>
          </a:prstGeom>
          <a:ln w="381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连线"/>
          <p:cNvCxnSpPr/>
          <p:nvPr/>
        </p:nvCxnSpPr>
        <p:spPr>
          <a:xfrm>
            <a:off x="1183233" y="6273881"/>
            <a:ext cx="0" cy="51115"/>
          </a:xfrm>
          <a:prstGeom prst="line">
            <a:avLst/>
          </a:prstGeom>
          <a:ln w="381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连线"/>
          <p:cNvCxnSpPr/>
          <p:nvPr/>
        </p:nvCxnSpPr>
        <p:spPr>
          <a:xfrm>
            <a:off x="1435608" y="5943600"/>
            <a:ext cx="0" cy="411480"/>
          </a:xfrm>
          <a:prstGeom prst="line">
            <a:avLst/>
          </a:prstGeom>
          <a:ln w="15875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akeaway"/>
          <p:cNvSpPr txBox="1"/>
          <p:nvPr/>
        </p:nvSpPr>
        <p:spPr>
          <a:xfrm>
            <a:off x="1655064" y="5943600"/>
            <a:ext cx="9692640" cy="44805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收益与约束要一起考虑：合适的分工，比一味“更集中”更重要。</a:t>
            </a:r>
            <a:endParaRPr sz="21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731520" y="2011680"/>
            <a:ext cx="3227832" cy="393192"/>
          </a:xfrm>
          <a:prstGeom prst="roundRect">
            <a:avLst>
              <a:gd name="adj" fmla="val 11000"/>
            </a:avLst>
          </a:prstGeom>
          <a:solidFill>
            <a:srgbClr val="E6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77240" y="2043684"/>
            <a:ext cx="3136391" cy="32918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增长中的问题</a:t>
            </a:r>
            <a:endParaRPr sz="20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Rounded Rectangle 90"/>
          <p:cNvSpPr/>
          <p:nvPr/>
        </p:nvSpPr>
        <p:spPr>
          <a:xfrm>
            <a:off x="4544568" y="2011680"/>
            <a:ext cx="3227832" cy="393192"/>
          </a:xfrm>
          <a:prstGeom prst="roundRect">
            <a:avLst>
              <a:gd name="adj" fmla="val 11000"/>
            </a:avLst>
          </a:prstGeom>
          <a:solidFill>
            <a:srgbClr val="E6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590288" y="2043684"/>
            <a:ext cx="3136391" cy="32918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组织方式的调整</a:t>
            </a:r>
            <a:endParaRPr sz="20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8348472" y="2011680"/>
            <a:ext cx="3136392" cy="393192"/>
          </a:xfrm>
          <a:prstGeom prst="roundRect">
            <a:avLst>
              <a:gd name="adj" fmla="val 11000"/>
            </a:avLst>
          </a:prstGeom>
          <a:solidFill>
            <a:srgbClr val="E6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394192" y="2043684"/>
            <a:ext cx="3044952" cy="32918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希望获得的收益</a:t>
            </a:r>
            <a:endParaRPr sz="20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Rounded Rectangle 94"/>
          <p:cNvSpPr/>
          <p:nvPr/>
        </p:nvSpPr>
        <p:spPr>
          <a:xfrm>
            <a:off x="731520" y="2633472"/>
            <a:ext cx="3227832" cy="438912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77240" y="2665476"/>
            <a:ext cx="3136391" cy="37490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多功能依赖同一信息</a:t>
            </a:r>
            <a:endParaRPr sz="1900" b="0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Rounded Rectangle 96"/>
          <p:cNvSpPr/>
          <p:nvPr/>
        </p:nvSpPr>
        <p:spPr>
          <a:xfrm>
            <a:off x="4544568" y="2633472"/>
            <a:ext cx="3227832" cy="438912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590288" y="2665476"/>
            <a:ext cx="3136391" cy="37490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汇聚数据与相关计算</a:t>
            </a:r>
            <a:endParaRPr sz="1900" b="0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Rounded Rectangle 98"/>
          <p:cNvSpPr/>
          <p:nvPr/>
        </p:nvSpPr>
        <p:spPr>
          <a:xfrm>
            <a:off x="8348472" y="2633472"/>
            <a:ext cx="3136392" cy="438912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394192" y="2665476"/>
            <a:ext cx="3044952" cy="37490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减少重复处理，便于协同</a:t>
            </a:r>
            <a:endParaRPr sz="1900" b="0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1" name="Connector 100"/>
          <p:cNvCxnSpPr/>
          <p:nvPr/>
        </p:nvCxnSpPr>
        <p:spPr>
          <a:xfrm>
            <a:off x="4023360" y="2852928"/>
            <a:ext cx="457200" cy="0"/>
          </a:xfrm>
          <a:prstGeom prst="line">
            <a:avLst/>
          </a:prstGeom>
          <a:ln w="21590" cap="rnd">
            <a:solidFill>
              <a:srgbClr val="146FB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7836408" y="2852928"/>
            <a:ext cx="448056" cy="0"/>
          </a:xfrm>
          <a:prstGeom prst="line">
            <a:avLst/>
          </a:prstGeom>
          <a:ln w="21590" cap="rnd">
            <a:solidFill>
              <a:srgbClr val="146FB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ounded Rectangle 102"/>
          <p:cNvSpPr/>
          <p:nvPr/>
        </p:nvSpPr>
        <p:spPr>
          <a:xfrm>
            <a:off x="731520" y="3227832"/>
            <a:ext cx="3227832" cy="438912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77240" y="3259836"/>
            <a:ext cx="3136391" cy="37490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线束与接口越来越复杂</a:t>
            </a:r>
            <a:endParaRPr sz="1900" b="0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Rounded Rectangle 104"/>
          <p:cNvSpPr/>
          <p:nvPr/>
        </p:nvSpPr>
        <p:spPr>
          <a:xfrm>
            <a:off x="4544568" y="3227832"/>
            <a:ext cx="3227832" cy="438912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590288" y="3259836"/>
            <a:ext cx="3136391" cy="37490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区域节点就近接入</a:t>
            </a:r>
            <a:endParaRPr sz="1900" b="0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Rounded Rectangle 106"/>
          <p:cNvSpPr/>
          <p:nvPr/>
        </p:nvSpPr>
        <p:spPr>
          <a:xfrm>
            <a:off x="8348472" y="3227832"/>
            <a:ext cx="3136392" cy="438912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394192" y="3259836"/>
            <a:ext cx="3044952" cy="37490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简化布线与连接管理</a:t>
            </a:r>
            <a:endParaRPr sz="1900" b="0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9" name="Connector 108"/>
          <p:cNvCxnSpPr/>
          <p:nvPr/>
        </p:nvCxnSpPr>
        <p:spPr>
          <a:xfrm>
            <a:off x="4023360" y="3447287"/>
            <a:ext cx="457200" cy="0"/>
          </a:xfrm>
          <a:prstGeom prst="line">
            <a:avLst/>
          </a:prstGeom>
          <a:ln w="21590" cap="rnd">
            <a:solidFill>
              <a:srgbClr val="146FB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7836408" y="3447287"/>
            <a:ext cx="448056" cy="0"/>
          </a:xfrm>
          <a:prstGeom prst="line">
            <a:avLst/>
          </a:prstGeom>
          <a:ln w="21590" cap="rnd">
            <a:solidFill>
              <a:srgbClr val="146FB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ounded Rectangle 110"/>
          <p:cNvSpPr/>
          <p:nvPr/>
        </p:nvSpPr>
        <p:spPr>
          <a:xfrm>
            <a:off x="731520" y="3822191"/>
            <a:ext cx="3227832" cy="438912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77240" y="3854196"/>
            <a:ext cx="3136391" cy="37490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软件更新和集成更频繁</a:t>
            </a:r>
            <a:endParaRPr sz="1900" b="0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Rounded Rectangle 112"/>
          <p:cNvSpPr/>
          <p:nvPr/>
        </p:nvSpPr>
        <p:spPr>
          <a:xfrm>
            <a:off x="4544568" y="3822191"/>
            <a:ext cx="3227832" cy="438912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590288" y="3854196"/>
            <a:ext cx="3136391" cy="37490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统一平台、接口与配置</a:t>
            </a:r>
            <a:endParaRPr sz="1900" b="0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Rounded Rectangle 114"/>
          <p:cNvSpPr/>
          <p:nvPr/>
        </p:nvSpPr>
        <p:spPr>
          <a:xfrm>
            <a:off x="8348472" y="3822191"/>
            <a:ext cx="3136392" cy="438912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394192" y="3854196"/>
            <a:ext cx="3044952" cy="37490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提升复用与维护效率</a:t>
            </a:r>
            <a:endParaRPr sz="1900" b="0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7" name="Connector 116"/>
          <p:cNvCxnSpPr/>
          <p:nvPr/>
        </p:nvCxnSpPr>
        <p:spPr>
          <a:xfrm>
            <a:off x="4023360" y="4041648"/>
            <a:ext cx="457200" cy="0"/>
          </a:xfrm>
          <a:prstGeom prst="line">
            <a:avLst/>
          </a:prstGeom>
          <a:ln w="21590" cap="rnd">
            <a:solidFill>
              <a:srgbClr val="146FB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836408" y="4041648"/>
            <a:ext cx="448056" cy="0"/>
          </a:xfrm>
          <a:prstGeom prst="line">
            <a:avLst/>
          </a:prstGeom>
          <a:ln w="21590" cap="rnd">
            <a:solidFill>
              <a:srgbClr val="146FB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Rounded Rectangle 118"/>
          <p:cNvSpPr/>
          <p:nvPr/>
        </p:nvSpPr>
        <p:spPr>
          <a:xfrm>
            <a:off x="731520" y="4416552"/>
            <a:ext cx="3227832" cy="438912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77240" y="4448556"/>
            <a:ext cx="3136391" cy="37490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算力分散，功能持续增加</a:t>
            </a:r>
            <a:endParaRPr sz="1900" b="0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" name="Rounded Rectangle 120"/>
          <p:cNvSpPr/>
          <p:nvPr/>
        </p:nvSpPr>
        <p:spPr>
          <a:xfrm>
            <a:off x="4544568" y="4416552"/>
            <a:ext cx="3227832" cy="438912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590288" y="4448556"/>
            <a:ext cx="3136391" cy="37490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合理集中部分计算资源</a:t>
            </a:r>
            <a:endParaRPr sz="1900" b="0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" name="Rounded Rectangle 122"/>
          <p:cNvSpPr/>
          <p:nvPr/>
        </p:nvSpPr>
        <p:spPr>
          <a:xfrm>
            <a:off x="8348472" y="4416552"/>
            <a:ext cx="3136392" cy="438912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394192" y="4448556"/>
            <a:ext cx="3044952" cy="37490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更灵活地部署功能</a:t>
            </a:r>
            <a:endParaRPr sz="1900" b="0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25" name="Connector 124"/>
          <p:cNvCxnSpPr/>
          <p:nvPr/>
        </p:nvCxnSpPr>
        <p:spPr>
          <a:xfrm>
            <a:off x="4023360" y="4636008"/>
            <a:ext cx="457200" cy="0"/>
          </a:xfrm>
          <a:prstGeom prst="line">
            <a:avLst/>
          </a:prstGeom>
          <a:ln w="21590" cap="rnd">
            <a:solidFill>
              <a:srgbClr val="146FB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7836408" y="4636008"/>
            <a:ext cx="448056" cy="0"/>
          </a:xfrm>
          <a:prstGeom prst="line">
            <a:avLst/>
          </a:prstGeom>
          <a:ln w="21590" cap="rnd">
            <a:solidFill>
              <a:srgbClr val="146FB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Rounded Rectangle 126"/>
          <p:cNvSpPr/>
          <p:nvPr/>
        </p:nvSpPr>
        <p:spPr>
          <a:xfrm>
            <a:off x="777240" y="5166360"/>
            <a:ext cx="10725912" cy="365760"/>
          </a:xfrm>
          <a:prstGeom prst="roundRect">
            <a:avLst>
              <a:gd name="adj" fmla="val 11000"/>
            </a:avLst>
          </a:prstGeom>
          <a:solidFill>
            <a:srgbClr val="EA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41832" y="5193792"/>
            <a:ext cx="10378440" cy="2743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仍需设计的边界：实时响应  ·  故障隔离  ·  供电与唤醒  ·  网络资源与验证</a:t>
            </a:r>
            <a:endParaRPr sz="1900" b="1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" name="白色背景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右下角淡蓝装饰"/>
          <p:cNvSpPr/>
          <p:nvPr/>
        </p:nvSpPr>
        <p:spPr>
          <a:xfrm>
            <a:off x="10774679" y="5440680"/>
            <a:ext cx="1417320" cy="1417320"/>
          </a:xfrm>
          <a:custGeom>
            <a:avLst/>
            <a:gdLst/>
            <a:ahLst/>
            <a:cxnLst/>
            <a:rect l="l" t="t" r="r" b="b"/>
            <a:pathLst>
              <a:path w="1417320" h="1417320">
                <a:moveTo>
                  <a:pt x="1417320" y="1417320"/>
                </a:moveTo>
                <a:lnTo>
                  <a:pt x="0" y="1417320"/>
                </a:lnTo>
                <a:lnTo>
                  <a:pt x="700" y="1372800"/>
                </a:lnTo>
                <a:lnTo>
                  <a:pt x="2797" y="1328325"/>
                </a:lnTo>
                <a:lnTo>
                  <a:pt x="6290" y="1283938"/>
                </a:lnTo>
                <a:lnTo>
                  <a:pt x="11176" y="1239682"/>
                </a:lnTo>
                <a:lnTo>
                  <a:pt x="17450" y="1195602"/>
                </a:lnTo>
                <a:lnTo>
                  <a:pt x="25105" y="1151740"/>
                </a:lnTo>
                <a:lnTo>
                  <a:pt x="34134" y="1108141"/>
                </a:lnTo>
                <a:lnTo>
                  <a:pt x="44528" y="1064846"/>
                </a:lnTo>
                <a:lnTo>
                  <a:pt x="56277" y="1021900"/>
                </a:lnTo>
                <a:lnTo>
                  <a:pt x="69369" y="979344"/>
                </a:lnTo>
                <a:lnTo>
                  <a:pt x="83791" y="937219"/>
                </a:lnTo>
                <a:lnTo>
                  <a:pt x="99529" y="895569"/>
                </a:lnTo>
                <a:lnTo>
                  <a:pt x="116568" y="854434"/>
                </a:lnTo>
                <a:lnTo>
                  <a:pt x="134891" y="813854"/>
                </a:lnTo>
                <a:lnTo>
                  <a:pt x="154479" y="773870"/>
                </a:lnTo>
                <a:lnTo>
                  <a:pt x="175313" y="734520"/>
                </a:lnTo>
                <a:lnTo>
                  <a:pt x="197373" y="695845"/>
                </a:lnTo>
                <a:lnTo>
                  <a:pt x="220637" y="657881"/>
                </a:lnTo>
                <a:lnTo>
                  <a:pt x="245082" y="620667"/>
                </a:lnTo>
                <a:lnTo>
                  <a:pt x="270684" y="584240"/>
                </a:lnTo>
                <a:lnTo>
                  <a:pt x="297418" y="548634"/>
                </a:lnTo>
                <a:lnTo>
                  <a:pt x="325256" y="513886"/>
                </a:lnTo>
                <a:lnTo>
                  <a:pt x="354173" y="480029"/>
                </a:lnTo>
                <a:lnTo>
                  <a:pt x="384138" y="447097"/>
                </a:lnTo>
                <a:lnTo>
                  <a:pt x="415124" y="415123"/>
                </a:lnTo>
                <a:lnTo>
                  <a:pt x="447098" y="384138"/>
                </a:lnTo>
                <a:lnTo>
                  <a:pt x="480030" y="354172"/>
                </a:lnTo>
                <a:lnTo>
                  <a:pt x="513886" y="325256"/>
                </a:lnTo>
                <a:lnTo>
                  <a:pt x="548635" y="297417"/>
                </a:lnTo>
                <a:lnTo>
                  <a:pt x="584240" y="270684"/>
                </a:lnTo>
                <a:lnTo>
                  <a:pt x="620668" y="245082"/>
                </a:lnTo>
                <a:lnTo>
                  <a:pt x="657882" y="220637"/>
                </a:lnTo>
                <a:lnTo>
                  <a:pt x="695846" y="197373"/>
                </a:lnTo>
                <a:lnTo>
                  <a:pt x="734521" y="175313"/>
                </a:lnTo>
                <a:lnTo>
                  <a:pt x="773870" y="154478"/>
                </a:lnTo>
                <a:lnTo>
                  <a:pt x="813855" y="134890"/>
                </a:lnTo>
                <a:lnTo>
                  <a:pt x="854435" y="116568"/>
                </a:lnTo>
                <a:lnTo>
                  <a:pt x="895570" y="99529"/>
                </a:lnTo>
                <a:lnTo>
                  <a:pt x="937220" y="83790"/>
                </a:lnTo>
                <a:lnTo>
                  <a:pt x="979344" y="69368"/>
                </a:lnTo>
                <a:lnTo>
                  <a:pt x="1021901" y="56276"/>
                </a:lnTo>
                <a:lnTo>
                  <a:pt x="1064847" y="44527"/>
                </a:lnTo>
                <a:lnTo>
                  <a:pt x="1108141" y="34133"/>
                </a:lnTo>
                <a:lnTo>
                  <a:pt x="1151741" y="25104"/>
                </a:lnTo>
                <a:lnTo>
                  <a:pt x="1195602" y="17449"/>
                </a:lnTo>
                <a:lnTo>
                  <a:pt x="1239683" y="11175"/>
                </a:lnTo>
                <a:lnTo>
                  <a:pt x="1283939" y="6290"/>
                </a:lnTo>
                <a:lnTo>
                  <a:pt x="1328326" y="2796"/>
                </a:lnTo>
                <a:lnTo>
                  <a:pt x="1372801" y="699"/>
                </a:lnTo>
                <a:lnTo>
                  <a:pt x="1417320" y="0"/>
                </a:lnTo>
                <a:lnTo>
                  <a:pt x="1417320" y="1417320"/>
                </a:lnTo>
                <a:close/>
              </a:path>
            </a:pathLst>
          </a:custGeom>
          <a:solidFill>
            <a:srgbClr val="F4F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右下角淡蓝装饰"/>
          <p:cNvSpPr/>
          <p:nvPr/>
        </p:nvSpPr>
        <p:spPr>
          <a:xfrm>
            <a:off x="11076431" y="5742432"/>
            <a:ext cx="1115568" cy="1115568"/>
          </a:xfrm>
          <a:custGeom>
            <a:avLst/>
            <a:gdLst/>
            <a:ahLst/>
            <a:cxnLst/>
            <a:rect l="l" t="t" r="r" b="b"/>
            <a:pathLst>
              <a:path w="1115568" h="1115568">
                <a:moveTo>
                  <a:pt x="1115568" y="1115568"/>
                </a:moveTo>
                <a:lnTo>
                  <a:pt x="0" y="1115568"/>
                </a:lnTo>
                <a:lnTo>
                  <a:pt x="551" y="1080527"/>
                </a:lnTo>
                <a:lnTo>
                  <a:pt x="2202" y="1045520"/>
                </a:lnTo>
                <a:lnTo>
                  <a:pt x="4951" y="1010583"/>
                </a:lnTo>
                <a:lnTo>
                  <a:pt x="8797" y="975750"/>
                </a:lnTo>
                <a:lnTo>
                  <a:pt x="13735" y="941054"/>
                </a:lnTo>
                <a:lnTo>
                  <a:pt x="19760" y="906531"/>
                </a:lnTo>
                <a:lnTo>
                  <a:pt x="26867" y="872214"/>
                </a:lnTo>
                <a:lnTo>
                  <a:pt x="35048" y="838137"/>
                </a:lnTo>
                <a:lnTo>
                  <a:pt x="44295" y="804334"/>
                </a:lnTo>
                <a:lnTo>
                  <a:pt x="54600" y="770838"/>
                </a:lnTo>
                <a:lnTo>
                  <a:pt x="65952" y="737682"/>
                </a:lnTo>
                <a:lnTo>
                  <a:pt x="78339" y="704900"/>
                </a:lnTo>
                <a:lnTo>
                  <a:pt x="91751" y="672522"/>
                </a:lnTo>
                <a:lnTo>
                  <a:pt x="106172" y="640582"/>
                </a:lnTo>
                <a:lnTo>
                  <a:pt x="121590" y="609110"/>
                </a:lnTo>
                <a:lnTo>
                  <a:pt x="137989" y="578139"/>
                </a:lnTo>
                <a:lnTo>
                  <a:pt x="155352" y="547697"/>
                </a:lnTo>
                <a:lnTo>
                  <a:pt x="173663" y="517816"/>
                </a:lnTo>
                <a:lnTo>
                  <a:pt x="192904" y="488525"/>
                </a:lnTo>
                <a:lnTo>
                  <a:pt x="213055" y="459853"/>
                </a:lnTo>
                <a:lnTo>
                  <a:pt x="234097" y="431828"/>
                </a:lnTo>
                <a:lnTo>
                  <a:pt x="256008" y="404478"/>
                </a:lnTo>
                <a:lnTo>
                  <a:pt x="278768" y="377829"/>
                </a:lnTo>
                <a:lnTo>
                  <a:pt x="302354" y="351909"/>
                </a:lnTo>
                <a:lnTo>
                  <a:pt x="326742" y="326742"/>
                </a:lnTo>
                <a:lnTo>
                  <a:pt x="351909" y="302353"/>
                </a:lnTo>
                <a:lnTo>
                  <a:pt x="377830" y="278768"/>
                </a:lnTo>
                <a:lnTo>
                  <a:pt x="404478" y="256008"/>
                </a:lnTo>
                <a:lnTo>
                  <a:pt x="431829" y="234096"/>
                </a:lnTo>
                <a:lnTo>
                  <a:pt x="459854" y="213054"/>
                </a:lnTo>
                <a:lnTo>
                  <a:pt x="488526" y="192903"/>
                </a:lnTo>
                <a:lnTo>
                  <a:pt x="517817" y="173662"/>
                </a:lnTo>
                <a:lnTo>
                  <a:pt x="547698" y="155351"/>
                </a:lnTo>
                <a:lnTo>
                  <a:pt x="578139" y="137988"/>
                </a:lnTo>
                <a:lnTo>
                  <a:pt x="609111" y="121589"/>
                </a:lnTo>
                <a:lnTo>
                  <a:pt x="640582" y="106171"/>
                </a:lnTo>
                <a:lnTo>
                  <a:pt x="672523" y="91750"/>
                </a:lnTo>
                <a:lnTo>
                  <a:pt x="704900" y="78339"/>
                </a:lnTo>
                <a:lnTo>
                  <a:pt x="737683" y="65951"/>
                </a:lnTo>
                <a:lnTo>
                  <a:pt x="770839" y="54599"/>
                </a:lnTo>
                <a:lnTo>
                  <a:pt x="804335" y="44295"/>
                </a:lnTo>
                <a:lnTo>
                  <a:pt x="838138" y="35047"/>
                </a:lnTo>
                <a:lnTo>
                  <a:pt x="872215" y="26866"/>
                </a:lnTo>
                <a:lnTo>
                  <a:pt x="906532" y="19759"/>
                </a:lnTo>
                <a:lnTo>
                  <a:pt x="941055" y="13734"/>
                </a:lnTo>
                <a:lnTo>
                  <a:pt x="975750" y="8796"/>
                </a:lnTo>
                <a:lnTo>
                  <a:pt x="1010584" y="4950"/>
                </a:lnTo>
                <a:lnTo>
                  <a:pt x="1045521" y="2201"/>
                </a:lnTo>
                <a:lnTo>
                  <a:pt x="1080527" y="550"/>
                </a:lnTo>
                <a:lnTo>
                  <a:pt x="1115568" y="0"/>
                </a:lnTo>
                <a:lnTo>
                  <a:pt x="1115568" y="1115568"/>
                </a:lnTo>
                <a:close/>
              </a:path>
            </a:pathLst>
          </a:custGeom>
          <a:solidFill>
            <a:srgbClr val="F8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圆形"/>
          <p:cNvSpPr/>
          <p:nvPr/>
        </p:nvSpPr>
        <p:spPr>
          <a:xfrm>
            <a:off x="1038758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圆形"/>
          <p:cNvSpPr/>
          <p:nvPr/>
        </p:nvSpPr>
        <p:spPr>
          <a:xfrm>
            <a:off x="1038758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圆形"/>
          <p:cNvSpPr/>
          <p:nvPr/>
        </p:nvSpPr>
        <p:spPr>
          <a:xfrm>
            <a:off x="1038758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圆形"/>
          <p:cNvSpPr/>
          <p:nvPr/>
        </p:nvSpPr>
        <p:spPr>
          <a:xfrm>
            <a:off x="1055217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圆形"/>
          <p:cNvSpPr/>
          <p:nvPr/>
        </p:nvSpPr>
        <p:spPr>
          <a:xfrm>
            <a:off x="1055217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圆形"/>
          <p:cNvSpPr/>
          <p:nvPr/>
        </p:nvSpPr>
        <p:spPr>
          <a:xfrm>
            <a:off x="1055217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圆形"/>
          <p:cNvSpPr/>
          <p:nvPr/>
        </p:nvSpPr>
        <p:spPr>
          <a:xfrm>
            <a:off x="10716767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圆形"/>
          <p:cNvSpPr/>
          <p:nvPr/>
        </p:nvSpPr>
        <p:spPr>
          <a:xfrm>
            <a:off x="10716767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圆形"/>
          <p:cNvSpPr/>
          <p:nvPr/>
        </p:nvSpPr>
        <p:spPr>
          <a:xfrm>
            <a:off x="10716767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圆形"/>
          <p:cNvSpPr/>
          <p:nvPr/>
        </p:nvSpPr>
        <p:spPr>
          <a:xfrm>
            <a:off x="10881359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圆形"/>
          <p:cNvSpPr/>
          <p:nvPr/>
        </p:nvSpPr>
        <p:spPr>
          <a:xfrm>
            <a:off x="10881359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圆形"/>
          <p:cNvSpPr/>
          <p:nvPr/>
        </p:nvSpPr>
        <p:spPr>
          <a:xfrm>
            <a:off x="10881359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圆形"/>
          <p:cNvSpPr/>
          <p:nvPr/>
        </p:nvSpPr>
        <p:spPr>
          <a:xfrm>
            <a:off x="11045952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圆形"/>
          <p:cNvSpPr/>
          <p:nvPr/>
        </p:nvSpPr>
        <p:spPr>
          <a:xfrm>
            <a:off x="11045952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圆形"/>
          <p:cNvSpPr/>
          <p:nvPr/>
        </p:nvSpPr>
        <p:spPr>
          <a:xfrm>
            <a:off x="11045952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圆形"/>
          <p:cNvSpPr/>
          <p:nvPr/>
        </p:nvSpPr>
        <p:spPr>
          <a:xfrm>
            <a:off x="1121054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圆形"/>
          <p:cNvSpPr/>
          <p:nvPr/>
        </p:nvSpPr>
        <p:spPr>
          <a:xfrm>
            <a:off x="1121054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圆形"/>
          <p:cNvSpPr/>
          <p:nvPr/>
        </p:nvSpPr>
        <p:spPr>
          <a:xfrm>
            <a:off x="1121054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圆形"/>
          <p:cNvSpPr/>
          <p:nvPr/>
        </p:nvSpPr>
        <p:spPr>
          <a:xfrm>
            <a:off x="1137513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圆形"/>
          <p:cNvSpPr/>
          <p:nvPr/>
        </p:nvSpPr>
        <p:spPr>
          <a:xfrm>
            <a:off x="1137513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圆形"/>
          <p:cNvSpPr/>
          <p:nvPr/>
        </p:nvSpPr>
        <p:spPr>
          <a:xfrm>
            <a:off x="1137513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圆形"/>
          <p:cNvSpPr/>
          <p:nvPr/>
        </p:nvSpPr>
        <p:spPr>
          <a:xfrm>
            <a:off x="11539728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圆形"/>
          <p:cNvSpPr/>
          <p:nvPr/>
        </p:nvSpPr>
        <p:spPr>
          <a:xfrm>
            <a:off x="11539728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圆形"/>
          <p:cNvSpPr/>
          <p:nvPr/>
        </p:nvSpPr>
        <p:spPr>
          <a:xfrm>
            <a:off x="11539728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标题蓝色竖线"/>
          <p:cNvSpPr/>
          <p:nvPr/>
        </p:nvSpPr>
        <p:spPr>
          <a:xfrm>
            <a:off x="274320" y="356616"/>
            <a:ext cx="109728" cy="585216"/>
          </a:xfrm>
          <a:prstGeom prst="roundRect">
            <a:avLst>
              <a:gd name="adj" fmla="val 41666"/>
            </a:avLst>
          </a:prstGeom>
          <a:gradFill>
            <a:gsLst>
              <a:gs pos="0">
                <a:srgbClr val="3A92D5"/>
              </a:gs>
              <a:gs pos="100000">
                <a:srgbClr val="146FB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标题"/>
          <p:cNvSpPr txBox="1"/>
          <p:nvPr/>
        </p:nvSpPr>
        <p:spPr>
          <a:xfrm>
            <a:off x="621792" y="301752"/>
            <a:ext cx="9390888" cy="64922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整车网络总图：多种通信共存</a:t>
            </a:r>
            <a:endParaRPr sz="35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标题分隔线"/>
          <p:cNvSpPr/>
          <p:nvPr/>
        </p:nvSpPr>
        <p:spPr>
          <a:xfrm>
            <a:off x="621792" y="1051560"/>
            <a:ext cx="11109960" cy="18288"/>
          </a:xfrm>
          <a:prstGeom prst="rect">
            <a:avLst/>
          </a:prstGeom>
          <a:gradFill>
            <a:gsLst>
              <a:gs pos="0">
                <a:srgbClr val="3A92D5"/>
              </a:gs>
              <a:gs pos="100000">
                <a:srgbClr val="E3EFF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tongji_wordm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4" y="256032"/>
            <a:ext cx="1554480" cy="385298"/>
          </a:xfrm>
          <a:prstGeom prst="rect">
            <a:avLst/>
          </a:prstGeom>
          <a:effectLst/>
        </p:spPr>
      </p:pic>
      <p:sp>
        <p:nvSpPr>
          <p:cNvPr id="33" name="导入句"/>
          <p:cNvSpPr txBox="1"/>
          <p:nvPr/>
        </p:nvSpPr>
        <p:spPr>
          <a:xfrm>
            <a:off x="621792" y="1271016"/>
            <a:ext cx="10972800" cy="57607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计算与网络的组织变了，不同末端设备的数据量、时效、成本和接口需求仍然不同。</a:t>
            </a:r>
            <a:endParaRPr sz="20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容器"/>
          <p:cNvSpPr/>
          <p:nvPr/>
        </p:nvSpPr>
        <p:spPr>
          <a:xfrm>
            <a:off x="594360" y="1892807"/>
            <a:ext cx="7909560" cy="371246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AD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容器"/>
          <p:cNvSpPr/>
          <p:nvPr/>
        </p:nvSpPr>
        <p:spPr>
          <a:xfrm>
            <a:off x="594360" y="1892807"/>
            <a:ext cx="7909560" cy="493776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讲授内容｜计算与通信：节点怎样连接"/>
          <p:cNvSpPr txBox="1"/>
          <p:nvPr/>
        </p:nvSpPr>
        <p:spPr>
          <a:xfrm>
            <a:off x="749808" y="1961388"/>
            <a:ext cx="7598664" cy="32918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计算与通信：节点怎样连接</a:t>
            </a:r>
            <a:endParaRPr sz="21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容器"/>
          <p:cNvSpPr/>
          <p:nvPr/>
        </p:nvSpPr>
        <p:spPr>
          <a:xfrm>
            <a:off x="8705088" y="1892807"/>
            <a:ext cx="2898648" cy="371246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AD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容器"/>
          <p:cNvSpPr/>
          <p:nvPr/>
        </p:nvSpPr>
        <p:spPr>
          <a:xfrm>
            <a:off x="8705088" y="1892807"/>
            <a:ext cx="2898648" cy="493776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讲授内容｜软件：功能怎样组织"/>
          <p:cNvSpPr txBox="1"/>
          <p:nvPr/>
        </p:nvSpPr>
        <p:spPr>
          <a:xfrm>
            <a:off x="8860536" y="1961388"/>
            <a:ext cx="2587752" cy="32918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软件：功能怎样组织</a:t>
            </a:r>
            <a:endParaRPr sz="20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容器"/>
          <p:cNvSpPr/>
          <p:nvPr/>
        </p:nvSpPr>
        <p:spPr>
          <a:xfrm>
            <a:off x="2350008" y="2551176"/>
            <a:ext cx="4389120" cy="512064"/>
          </a:xfrm>
          <a:prstGeom prst="roundRect">
            <a:avLst>
              <a:gd name="adj" fmla="val 12000"/>
            </a:avLst>
          </a:prstGeom>
          <a:solidFill>
            <a:srgbClr val="DCEEFE"/>
          </a:solidFill>
          <a:ln w="10160">
            <a:solidFill>
              <a:srgbClr val="CAD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讲授内容｜高性能计算：功能协调 / 数据处理"/>
          <p:cNvSpPr txBox="1"/>
          <p:nvPr/>
        </p:nvSpPr>
        <p:spPr>
          <a:xfrm>
            <a:off x="2414015" y="2583180"/>
            <a:ext cx="4261104" cy="44805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高性能计算：功能协调 / 数据处理</a:t>
            </a:r>
            <a:endParaRPr sz="19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4" name="连线"/>
          <p:cNvCxnSpPr/>
          <p:nvPr/>
        </p:nvCxnSpPr>
        <p:spPr>
          <a:xfrm>
            <a:off x="4544568" y="3063240"/>
            <a:ext cx="0" cy="246888"/>
          </a:xfrm>
          <a:prstGeom prst="line">
            <a:avLst/>
          </a:prstGeom>
          <a:ln w="24130" cap="rnd">
            <a:solidFill>
              <a:srgbClr val="146FB5"/>
            </a:solidFill>
            <a:headEnd type="triangl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容器"/>
          <p:cNvSpPr/>
          <p:nvPr/>
        </p:nvSpPr>
        <p:spPr>
          <a:xfrm>
            <a:off x="3410712" y="333756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DCEEFE"/>
          </a:solidFill>
          <a:ln w="10160">
            <a:solidFill>
              <a:srgbClr val="CAD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讲授内容｜以太网交换互联"/>
          <p:cNvSpPr txBox="1"/>
          <p:nvPr/>
        </p:nvSpPr>
        <p:spPr>
          <a:xfrm>
            <a:off x="3474720" y="3369564"/>
            <a:ext cx="2157984" cy="39319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以太网交换互联</a:t>
            </a:r>
            <a:endParaRPr sz="19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7" name="连线"/>
          <p:cNvCxnSpPr/>
          <p:nvPr/>
        </p:nvCxnSpPr>
        <p:spPr>
          <a:xfrm flipH="1">
            <a:off x="1865376" y="3566160"/>
            <a:ext cx="1545336" cy="0"/>
          </a:xfrm>
          <a:prstGeom prst="line">
            <a:avLst/>
          </a:prstGeom>
          <a:ln w="2286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连线"/>
          <p:cNvCxnSpPr/>
          <p:nvPr/>
        </p:nvCxnSpPr>
        <p:spPr>
          <a:xfrm>
            <a:off x="1865376" y="3566160"/>
            <a:ext cx="0" cy="411479"/>
          </a:xfrm>
          <a:prstGeom prst="line">
            <a:avLst/>
          </a:prstGeom>
          <a:ln w="22860" cap="rnd">
            <a:solidFill>
              <a:srgbClr val="146FB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连线"/>
          <p:cNvCxnSpPr/>
          <p:nvPr/>
        </p:nvCxnSpPr>
        <p:spPr>
          <a:xfrm>
            <a:off x="4553712" y="3794760"/>
            <a:ext cx="0" cy="182879"/>
          </a:xfrm>
          <a:prstGeom prst="line">
            <a:avLst/>
          </a:prstGeom>
          <a:ln w="22860" cap="rnd">
            <a:solidFill>
              <a:srgbClr val="146FB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连线"/>
          <p:cNvCxnSpPr/>
          <p:nvPr/>
        </p:nvCxnSpPr>
        <p:spPr>
          <a:xfrm>
            <a:off x="5696712" y="3566160"/>
            <a:ext cx="1545336" cy="0"/>
          </a:xfrm>
          <a:prstGeom prst="line">
            <a:avLst/>
          </a:prstGeom>
          <a:ln w="2286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连线"/>
          <p:cNvCxnSpPr/>
          <p:nvPr/>
        </p:nvCxnSpPr>
        <p:spPr>
          <a:xfrm>
            <a:off x="7242048" y="3566160"/>
            <a:ext cx="0" cy="411479"/>
          </a:xfrm>
          <a:prstGeom prst="line">
            <a:avLst/>
          </a:prstGeom>
          <a:ln w="22860" cap="rnd">
            <a:solidFill>
              <a:srgbClr val="146FB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容器"/>
          <p:cNvSpPr/>
          <p:nvPr/>
        </p:nvSpPr>
        <p:spPr>
          <a:xfrm>
            <a:off x="786384" y="3986784"/>
            <a:ext cx="2157984" cy="438912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 w="10160">
            <a:solidFill>
              <a:srgbClr val="CAD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讲授内容｜区域 / 网关A"/>
          <p:cNvSpPr txBox="1"/>
          <p:nvPr/>
        </p:nvSpPr>
        <p:spPr>
          <a:xfrm>
            <a:off x="850392" y="4018788"/>
            <a:ext cx="2029967" cy="37490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区域 / 网关A</a:t>
            </a:r>
            <a:endParaRPr sz="18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4" name="连线"/>
          <p:cNvCxnSpPr/>
          <p:nvPr/>
        </p:nvCxnSpPr>
        <p:spPr>
          <a:xfrm>
            <a:off x="1865376" y="4425696"/>
            <a:ext cx="0" cy="484632"/>
          </a:xfrm>
          <a:prstGeom prst="line">
            <a:avLst/>
          </a:prstGeom>
          <a:ln w="20320" cap="rnd">
            <a:solidFill>
              <a:srgbClr val="146FB5"/>
            </a:solidFill>
            <a:headEnd type="triangl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容器"/>
          <p:cNvSpPr/>
          <p:nvPr/>
        </p:nvSpPr>
        <p:spPr>
          <a:xfrm>
            <a:off x="1207008" y="4544568"/>
            <a:ext cx="1316736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讲授内容｜CAN"/>
          <p:cNvSpPr txBox="1"/>
          <p:nvPr/>
        </p:nvSpPr>
        <p:spPr>
          <a:xfrm>
            <a:off x="1225296" y="4539996"/>
            <a:ext cx="1280160" cy="31089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CAN</a:t>
            </a:r>
            <a:endParaRPr sz="16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容器"/>
          <p:cNvSpPr/>
          <p:nvPr/>
        </p:nvSpPr>
        <p:spPr>
          <a:xfrm>
            <a:off x="786384" y="4946904"/>
            <a:ext cx="2157984" cy="429768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 w="10160">
            <a:solidFill>
              <a:srgbClr val="CAD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讲授内容｜控制ECU / 执行器"/>
          <p:cNvSpPr txBox="1"/>
          <p:nvPr/>
        </p:nvSpPr>
        <p:spPr>
          <a:xfrm>
            <a:off x="850392" y="4978908"/>
            <a:ext cx="2029967" cy="365759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控制ECU / 执行器</a:t>
            </a:r>
            <a:endParaRPr sz="17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容器"/>
          <p:cNvSpPr/>
          <p:nvPr/>
        </p:nvSpPr>
        <p:spPr>
          <a:xfrm>
            <a:off x="3474720" y="3986784"/>
            <a:ext cx="2157984" cy="438912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 w="10160">
            <a:solidFill>
              <a:srgbClr val="CAD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讲授内容｜区域 / 网关B"/>
          <p:cNvSpPr txBox="1"/>
          <p:nvPr/>
        </p:nvSpPr>
        <p:spPr>
          <a:xfrm>
            <a:off x="3538728" y="4018788"/>
            <a:ext cx="2029967" cy="37490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区域 / 网关B</a:t>
            </a:r>
            <a:endParaRPr sz="18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1" name="连线"/>
          <p:cNvCxnSpPr/>
          <p:nvPr/>
        </p:nvCxnSpPr>
        <p:spPr>
          <a:xfrm>
            <a:off x="4553712" y="4425696"/>
            <a:ext cx="0" cy="484632"/>
          </a:xfrm>
          <a:prstGeom prst="line">
            <a:avLst/>
          </a:prstGeom>
          <a:ln w="20320" cap="rnd">
            <a:solidFill>
              <a:srgbClr val="146FB5"/>
            </a:solidFill>
            <a:headEnd type="triangl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容器"/>
          <p:cNvSpPr/>
          <p:nvPr/>
        </p:nvSpPr>
        <p:spPr>
          <a:xfrm>
            <a:off x="3895344" y="4544568"/>
            <a:ext cx="1316736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讲授内容｜LIN"/>
          <p:cNvSpPr txBox="1"/>
          <p:nvPr/>
        </p:nvSpPr>
        <p:spPr>
          <a:xfrm>
            <a:off x="3913632" y="4539996"/>
            <a:ext cx="1280160" cy="31089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LIN</a:t>
            </a:r>
            <a:endParaRPr sz="16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容器"/>
          <p:cNvSpPr/>
          <p:nvPr/>
        </p:nvSpPr>
        <p:spPr>
          <a:xfrm>
            <a:off x="3474720" y="4946904"/>
            <a:ext cx="2157984" cy="429768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 w="10160">
            <a:solidFill>
              <a:srgbClr val="CAD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讲授内容｜门锁 / 风门模块"/>
          <p:cNvSpPr txBox="1"/>
          <p:nvPr/>
        </p:nvSpPr>
        <p:spPr>
          <a:xfrm>
            <a:off x="3538728" y="4978908"/>
            <a:ext cx="2029967" cy="365759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门锁 / 风门模块</a:t>
            </a:r>
            <a:endParaRPr sz="17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容器"/>
          <p:cNvSpPr/>
          <p:nvPr/>
        </p:nvSpPr>
        <p:spPr>
          <a:xfrm>
            <a:off x="6163056" y="3986784"/>
            <a:ext cx="2157984" cy="438912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 w="10160">
            <a:solidFill>
              <a:srgbClr val="CAD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讲授内容｜感知节点"/>
          <p:cNvSpPr txBox="1"/>
          <p:nvPr/>
        </p:nvSpPr>
        <p:spPr>
          <a:xfrm>
            <a:off x="6227064" y="4018788"/>
            <a:ext cx="2029967" cy="37490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感知节点</a:t>
            </a:r>
            <a:endParaRPr sz="18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8" name="连线"/>
          <p:cNvCxnSpPr/>
          <p:nvPr/>
        </p:nvCxnSpPr>
        <p:spPr>
          <a:xfrm>
            <a:off x="7242048" y="4425696"/>
            <a:ext cx="0" cy="484632"/>
          </a:xfrm>
          <a:prstGeom prst="line">
            <a:avLst/>
          </a:prstGeom>
          <a:ln w="20320" cap="rnd">
            <a:solidFill>
              <a:srgbClr val="146FB5"/>
            </a:solidFill>
            <a:headEnd type="triangl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容器"/>
          <p:cNvSpPr/>
          <p:nvPr/>
        </p:nvSpPr>
        <p:spPr>
          <a:xfrm>
            <a:off x="6583680" y="4544568"/>
            <a:ext cx="1316736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讲授内容｜以太网等"/>
          <p:cNvSpPr txBox="1"/>
          <p:nvPr/>
        </p:nvSpPr>
        <p:spPr>
          <a:xfrm>
            <a:off x="6601968" y="4539996"/>
            <a:ext cx="1280160" cy="31089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以太网等</a:t>
            </a:r>
            <a:endParaRPr sz="16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容器"/>
          <p:cNvSpPr/>
          <p:nvPr/>
        </p:nvSpPr>
        <p:spPr>
          <a:xfrm>
            <a:off x="6163056" y="4946904"/>
            <a:ext cx="2157984" cy="429768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 w="10160">
            <a:solidFill>
              <a:srgbClr val="CAD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讲授内容｜摄像头 / 感知数据"/>
          <p:cNvSpPr txBox="1"/>
          <p:nvPr/>
        </p:nvSpPr>
        <p:spPr>
          <a:xfrm>
            <a:off x="6227064" y="4978908"/>
            <a:ext cx="2029967" cy="365759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摄像头 / 感知数据</a:t>
            </a:r>
            <a:endParaRPr sz="17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容器"/>
          <p:cNvSpPr/>
          <p:nvPr/>
        </p:nvSpPr>
        <p:spPr>
          <a:xfrm>
            <a:off x="8933688" y="2679192"/>
            <a:ext cx="2441448" cy="484632"/>
          </a:xfrm>
          <a:prstGeom prst="roundRect">
            <a:avLst>
              <a:gd name="adj" fmla="val 12000"/>
            </a:avLst>
          </a:prstGeom>
          <a:solidFill>
            <a:srgbClr val="DCEEFE"/>
          </a:solidFill>
          <a:ln w="10160">
            <a:solidFill>
              <a:srgbClr val="CAD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讲授内容｜应用功能"/>
          <p:cNvSpPr txBox="1"/>
          <p:nvPr/>
        </p:nvSpPr>
        <p:spPr>
          <a:xfrm>
            <a:off x="8997696" y="2711196"/>
            <a:ext cx="2313432" cy="42062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应用功能</a:t>
            </a:r>
            <a:endParaRPr sz="18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5" name="连线"/>
          <p:cNvCxnSpPr/>
          <p:nvPr/>
        </p:nvCxnSpPr>
        <p:spPr>
          <a:xfrm>
            <a:off x="10149840" y="3163824"/>
            <a:ext cx="0" cy="201168"/>
          </a:xfrm>
          <a:prstGeom prst="line">
            <a:avLst/>
          </a:prstGeom>
          <a:ln w="22860" cap="rnd">
            <a:solidFill>
              <a:srgbClr val="146FB5"/>
            </a:solidFill>
            <a:headEnd type="triangl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容器"/>
          <p:cNvSpPr/>
          <p:nvPr/>
        </p:nvSpPr>
        <p:spPr>
          <a:xfrm>
            <a:off x="8933688" y="3383280"/>
            <a:ext cx="2441448" cy="484632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 w="10160">
            <a:solidFill>
              <a:srgbClr val="CAD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讲授内容｜共用接口 / 服务"/>
          <p:cNvSpPr txBox="1"/>
          <p:nvPr/>
        </p:nvSpPr>
        <p:spPr>
          <a:xfrm>
            <a:off x="8997696" y="3415284"/>
            <a:ext cx="2313432" cy="42062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共用接口 / 服务</a:t>
            </a:r>
            <a:endParaRPr sz="18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8" name="连线"/>
          <p:cNvCxnSpPr/>
          <p:nvPr/>
        </p:nvCxnSpPr>
        <p:spPr>
          <a:xfrm>
            <a:off x="10149840" y="3867912"/>
            <a:ext cx="0" cy="201168"/>
          </a:xfrm>
          <a:prstGeom prst="line">
            <a:avLst/>
          </a:prstGeom>
          <a:ln w="22860" cap="rnd">
            <a:solidFill>
              <a:srgbClr val="146FB5"/>
            </a:solidFill>
            <a:headEnd type="triangl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容器"/>
          <p:cNvSpPr/>
          <p:nvPr/>
        </p:nvSpPr>
        <p:spPr>
          <a:xfrm>
            <a:off x="8933688" y="4087368"/>
            <a:ext cx="2441448" cy="484632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 w="10160">
            <a:solidFill>
              <a:srgbClr val="CAD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讲授内容｜基础软件 / 驱动"/>
          <p:cNvSpPr txBox="1"/>
          <p:nvPr/>
        </p:nvSpPr>
        <p:spPr>
          <a:xfrm>
            <a:off x="8997696" y="4119372"/>
            <a:ext cx="2313432" cy="42062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基础软件 / 驱动</a:t>
            </a:r>
            <a:endParaRPr sz="18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讲授内容｜AUTOSAR是软件架构代表 不是额外一跳网络"/>
          <p:cNvSpPr txBox="1"/>
          <p:nvPr/>
        </p:nvSpPr>
        <p:spPr>
          <a:xfrm>
            <a:off x="8951976" y="4837176"/>
            <a:ext cx="2404872" cy="53949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AUTOSAR是软件架构代表</a:t>
            </a:r>
            <a:endParaRPr sz="155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不是额外一跳网络</a:t>
            </a:r>
            <a:endParaRPr sz="155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容器"/>
          <p:cNvSpPr/>
          <p:nvPr/>
        </p:nvSpPr>
        <p:spPr>
          <a:xfrm>
            <a:off x="594360" y="5925312"/>
            <a:ext cx="11018520" cy="576072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可编辑曲线"/>
          <p:cNvSpPr/>
          <p:nvPr/>
        </p:nvSpPr>
        <p:spPr>
          <a:xfrm>
            <a:off x="877824" y="6035040"/>
            <a:ext cx="320040" cy="146304"/>
          </a:xfrm>
          <a:custGeom>
            <a:avLst/>
            <a:gdLst/>
            <a:ahLst/>
            <a:cxnLst/>
            <a:rect l="l" t="t" r="r" b="b"/>
            <a:pathLst>
              <a:path w="350" h="160">
                <a:moveTo>
                  <a:pt x="0" y="160"/>
                </a:moveTo>
                <a:lnTo>
                  <a:pt x="50" y="0"/>
                </a:lnTo>
                <a:lnTo>
                  <a:pt x="290" y="0"/>
                </a:lnTo>
                <a:lnTo>
                  <a:pt x="350" y="160"/>
                </a:lnTo>
              </a:path>
            </a:pathLst>
          </a:custGeom>
          <a:noFill/>
          <a:ln w="22860" cap="rnd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容器"/>
          <p:cNvSpPr/>
          <p:nvPr/>
        </p:nvSpPr>
        <p:spPr>
          <a:xfrm>
            <a:off x="859536" y="6172200"/>
            <a:ext cx="356616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连接点"/>
          <p:cNvSpPr/>
          <p:nvPr/>
        </p:nvSpPr>
        <p:spPr>
          <a:xfrm>
            <a:off x="888796" y="6311188"/>
            <a:ext cx="69494" cy="6949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连接点"/>
          <p:cNvSpPr/>
          <p:nvPr/>
        </p:nvSpPr>
        <p:spPr>
          <a:xfrm>
            <a:off x="1117396" y="6311188"/>
            <a:ext cx="69494" cy="6949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连线"/>
          <p:cNvCxnSpPr/>
          <p:nvPr/>
        </p:nvCxnSpPr>
        <p:spPr>
          <a:xfrm>
            <a:off x="1444752" y="6044184"/>
            <a:ext cx="0" cy="347472"/>
          </a:xfrm>
          <a:prstGeom prst="line">
            <a:avLst/>
          </a:prstGeom>
          <a:ln w="12700" cap="rnd">
            <a:solidFill>
              <a:srgbClr val="CADD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讲授内容｜中央计算并不会消灭局部网络；不同通信方式通过节点与网关协同。"/>
          <p:cNvSpPr txBox="1"/>
          <p:nvPr/>
        </p:nvSpPr>
        <p:spPr>
          <a:xfrm>
            <a:off x="1636776" y="5989320"/>
            <a:ext cx="9646920" cy="45720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中央计算并不会消灭局部网络；不同通信方式通过节点与网关协同。</a:t>
            </a:r>
            <a:endParaRPr sz="20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" name="白色背景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右下角淡蓝装饰"/>
          <p:cNvSpPr/>
          <p:nvPr/>
        </p:nvSpPr>
        <p:spPr>
          <a:xfrm>
            <a:off x="10774679" y="5440680"/>
            <a:ext cx="1417320" cy="1417320"/>
          </a:xfrm>
          <a:custGeom>
            <a:avLst/>
            <a:gdLst/>
            <a:ahLst/>
            <a:cxnLst/>
            <a:rect l="l" t="t" r="r" b="b"/>
            <a:pathLst>
              <a:path w="1417320" h="1417320">
                <a:moveTo>
                  <a:pt x="1417320" y="1417320"/>
                </a:moveTo>
                <a:lnTo>
                  <a:pt x="0" y="1417320"/>
                </a:lnTo>
                <a:lnTo>
                  <a:pt x="700" y="1372800"/>
                </a:lnTo>
                <a:lnTo>
                  <a:pt x="2797" y="1328325"/>
                </a:lnTo>
                <a:lnTo>
                  <a:pt x="6290" y="1283938"/>
                </a:lnTo>
                <a:lnTo>
                  <a:pt x="11176" y="1239682"/>
                </a:lnTo>
                <a:lnTo>
                  <a:pt x="17450" y="1195602"/>
                </a:lnTo>
                <a:lnTo>
                  <a:pt x="25105" y="1151740"/>
                </a:lnTo>
                <a:lnTo>
                  <a:pt x="34134" y="1108141"/>
                </a:lnTo>
                <a:lnTo>
                  <a:pt x="44528" y="1064846"/>
                </a:lnTo>
                <a:lnTo>
                  <a:pt x="56277" y="1021900"/>
                </a:lnTo>
                <a:lnTo>
                  <a:pt x="69369" y="979344"/>
                </a:lnTo>
                <a:lnTo>
                  <a:pt x="83791" y="937219"/>
                </a:lnTo>
                <a:lnTo>
                  <a:pt x="99529" y="895569"/>
                </a:lnTo>
                <a:lnTo>
                  <a:pt x="116568" y="854434"/>
                </a:lnTo>
                <a:lnTo>
                  <a:pt x="134891" y="813854"/>
                </a:lnTo>
                <a:lnTo>
                  <a:pt x="154479" y="773870"/>
                </a:lnTo>
                <a:lnTo>
                  <a:pt x="175313" y="734520"/>
                </a:lnTo>
                <a:lnTo>
                  <a:pt x="197373" y="695845"/>
                </a:lnTo>
                <a:lnTo>
                  <a:pt x="220637" y="657881"/>
                </a:lnTo>
                <a:lnTo>
                  <a:pt x="245082" y="620667"/>
                </a:lnTo>
                <a:lnTo>
                  <a:pt x="270684" y="584240"/>
                </a:lnTo>
                <a:lnTo>
                  <a:pt x="297418" y="548634"/>
                </a:lnTo>
                <a:lnTo>
                  <a:pt x="325256" y="513886"/>
                </a:lnTo>
                <a:lnTo>
                  <a:pt x="354173" y="480029"/>
                </a:lnTo>
                <a:lnTo>
                  <a:pt x="384138" y="447097"/>
                </a:lnTo>
                <a:lnTo>
                  <a:pt x="415124" y="415123"/>
                </a:lnTo>
                <a:lnTo>
                  <a:pt x="447098" y="384138"/>
                </a:lnTo>
                <a:lnTo>
                  <a:pt x="480030" y="354172"/>
                </a:lnTo>
                <a:lnTo>
                  <a:pt x="513886" y="325256"/>
                </a:lnTo>
                <a:lnTo>
                  <a:pt x="548635" y="297417"/>
                </a:lnTo>
                <a:lnTo>
                  <a:pt x="584240" y="270684"/>
                </a:lnTo>
                <a:lnTo>
                  <a:pt x="620668" y="245082"/>
                </a:lnTo>
                <a:lnTo>
                  <a:pt x="657882" y="220637"/>
                </a:lnTo>
                <a:lnTo>
                  <a:pt x="695846" y="197373"/>
                </a:lnTo>
                <a:lnTo>
                  <a:pt x="734521" y="175313"/>
                </a:lnTo>
                <a:lnTo>
                  <a:pt x="773870" y="154478"/>
                </a:lnTo>
                <a:lnTo>
                  <a:pt x="813855" y="134890"/>
                </a:lnTo>
                <a:lnTo>
                  <a:pt x="854435" y="116568"/>
                </a:lnTo>
                <a:lnTo>
                  <a:pt x="895570" y="99529"/>
                </a:lnTo>
                <a:lnTo>
                  <a:pt x="937220" y="83790"/>
                </a:lnTo>
                <a:lnTo>
                  <a:pt x="979344" y="69368"/>
                </a:lnTo>
                <a:lnTo>
                  <a:pt x="1021901" y="56276"/>
                </a:lnTo>
                <a:lnTo>
                  <a:pt x="1064847" y="44527"/>
                </a:lnTo>
                <a:lnTo>
                  <a:pt x="1108141" y="34133"/>
                </a:lnTo>
                <a:lnTo>
                  <a:pt x="1151741" y="25104"/>
                </a:lnTo>
                <a:lnTo>
                  <a:pt x="1195602" y="17449"/>
                </a:lnTo>
                <a:lnTo>
                  <a:pt x="1239683" y="11175"/>
                </a:lnTo>
                <a:lnTo>
                  <a:pt x="1283939" y="6290"/>
                </a:lnTo>
                <a:lnTo>
                  <a:pt x="1328326" y="2796"/>
                </a:lnTo>
                <a:lnTo>
                  <a:pt x="1372801" y="699"/>
                </a:lnTo>
                <a:lnTo>
                  <a:pt x="1417320" y="0"/>
                </a:lnTo>
                <a:lnTo>
                  <a:pt x="1417320" y="1417320"/>
                </a:lnTo>
                <a:close/>
              </a:path>
            </a:pathLst>
          </a:custGeom>
          <a:solidFill>
            <a:srgbClr val="F4F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右下角淡蓝装饰"/>
          <p:cNvSpPr/>
          <p:nvPr/>
        </p:nvSpPr>
        <p:spPr>
          <a:xfrm>
            <a:off x="11076431" y="5742432"/>
            <a:ext cx="1115568" cy="1115568"/>
          </a:xfrm>
          <a:custGeom>
            <a:avLst/>
            <a:gdLst/>
            <a:ahLst/>
            <a:cxnLst/>
            <a:rect l="l" t="t" r="r" b="b"/>
            <a:pathLst>
              <a:path w="1115568" h="1115568">
                <a:moveTo>
                  <a:pt x="1115568" y="1115568"/>
                </a:moveTo>
                <a:lnTo>
                  <a:pt x="0" y="1115568"/>
                </a:lnTo>
                <a:lnTo>
                  <a:pt x="551" y="1080527"/>
                </a:lnTo>
                <a:lnTo>
                  <a:pt x="2202" y="1045520"/>
                </a:lnTo>
                <a:lnTo>
                  <a:pt x="4951" y="1010583"/>
                </a:lnTo>
                <a:lnTo>
                  <a:pt x="8797" y="975750"/>
                </a:lnTo>
                <a:lnTo>
                  <a:pt x="13735" y="941054"/>
                </a:lnTo>
                <a:lnTo>
                  <a:pt x="19760" y="906531"/>
                </a:lnTo>
                <a:lnTo>
                  <a:pt x="26867" y="872214"/>
                </a:lnTo>
                <a:lnTo>
                  <a:pt x="35048" y="838137"/>
                </a:lnTo>
                <a:lnTo>
                  <a:pt x="44295" y="804334"/>
                </a:lnTo>
                <a:lnTo>
                  <a:pt x="54600" y="770838"/>
                </a:lnTo>
                <a:lnTo>
                  <a:pt x="65952" y="737682"/>
                </a:lnTo>
                <a:lnTo>
                  <a:pt x="78339" y="704900"/>
                </a:lnTo>
                <a:lnTo>
                  <a:pt x="91751" y="672522"/>
                </a:lnTo>
                <a:lnTo>
                  <a:pt x="106172" y="640582"/>
                </a:lnTo>
                <a:lnTo>
                  <a:pt x="121590" y="609110"/>
                </a:lnTo>
                <a:lnTo>
                  <a:pt x="137989" y="578139"/>
                </a:lnTo>
                <a:lnTo>
                  <a:pt x="155352" y="547697"/>
                </a:lnTo>
                <a:lnTo>
                  <a:pt x="173663" y="517816"/>
                </a:lnTo>
                <a:lnTo>
                  <a:pt x="192904" y="488525"/>
                </a:lnTo>
                <a:lnTo>
                  <a:pt x="213055" y="459853"/>
                </a:lnTo>
                <a:lnTo>
                  <a:pt x="234097" y="431828"/>
                </a:lnTo>
                <a:lnTo>
                  <a:pt x="256008" y="404478"/>
                </a:lnTo>
                <a:lnTo>
                  <a:pt x="278768" y="377829"/>
                </a:lnTo>
                <a:lnTo>
                  <a:pt x="302354" y="351909"/>
                </a:lnTo>
                <a:lnTo>
                  <a:pt x="326742" y="326742"/>
                </a:lnTo>
                <a:lnTo>
                  <a:pt x="351909" y="302353"/>
                </a:lnTo>
                <a:lnTo>
                  <a:pt x="377830" y="278768"/>
                </a:lnTo>
                <a:lnTo>
                  <a:pt x="404478" y="256008"/>
                </a:lnTo>
                <a:lnTo>
                  <a:pt x="431829" y="234096"/>
                </a:lnTo>
                <a:lnTo>
                  <a:pt x="459854" y="213054"/>
                </a:lnTo>
                <a:lnTo>
                  <a:pt x="488526" y="192903"/>
                </a:lnTo>
                <a:lnTo>
                  <a:pt x="517817" y="173662"/>
                </a:lnTo>
                <a:lnTo>
                  <a:pt x="547698" y="155351"/>
                </a:lnTo>
                <a:lnTo>
                  <a:pt x="578139" y="137988"/>
                </a:lnTo>
                <a:lnTo>
                  <a:pt x="609111" y="121589"/>
                </a:lnTo>
                <a:lnTo>
                  <a:pt x="640582" y="106171"/>
                </a:lnTo>
                <a:lnTo>
                  <a:pt x="672523" y="91750"/>
                </a:lnTo>
                <a:lnTo>
                  <a:pt x="704900" y="78339"/>
                </a:lnTo>
                <a:lnTo>
                  <a:pt x="737683" y="65951"/>
                </a:lnTo>
                <a:lnTo>
                  <a:pt x="770839" y="54599"/>
                </a:lnTo>
                <a:lnTo>
                  <a:pt x="804335" y="44295"/>
                </a:lnTo>
                <a:lnTo>
                  <a:pt x="838138" y="35047"/>
                </a:lnTo>
                <a:lnTo>
                  <a:pt x="872215" y="26866"/>
                </a:lnTo>
                <a:lnTo>
                  <a:pt x="906532" y="19759"/>
                </a:lnTo>
                <a:lnTo>
                  <a:pt x="941055" y="13734"/>
                </a:lnTo>
                <a:lnTo>
                  <a:pt x="975750" y="8796"/>
                </a:lnTo>
                <a:lnTo>
                  <a:pt x="1010584" y="4950"/>
                </a:lnTo>
                <a:lnTo>
                  <a:pt x="1045521" y="2201"/>
                </a:lnTo>
                <a:lnTo>
                  <a:pt x="1080527" y="550"/>
                </a:lnTo>
                <a:lnTo>
                  <a:pt x="1115568" y="0"/>
                </a:lnTo>
                <a:lnTo>
                  <a:pt x="1115568" y="1115568"/>
                </a:lnTo>
                <a:close/>
              </a:path>
            </a:pathLst>
          </a:custGeom>
          <a:solidFill>
            <a:srgbClr val="F8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圆形"/>
          <p:cNvSpPr/>
          <p:nvPr/>
        </p:nvSpPr>
        <p:spPr>
          <a:xfrm>
            <a:off x="1038758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圆形"/>
          <p:cNvSpPr/>
          <p:nvPr/>
        </p:nvSpPr>
        <p:spPr>
          <a:xfrm>
            <a:off x="1038758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圆形"/>
          <p:cNvSpPr/>
          <p:nvPr/>
        </p:nvSpPr>
        <p:spPr>
          <a:xfrm>
            <a:off x="1038758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圆形"/>
          <p:cNvSpPr/>
          <p:nvPr/>
        </p:nvSpPr>
        <p:spPr>
          <a:xfrm>
            <a:off x="1055217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圆形"/>
          <p:cNvSpPr/>
          <p:nvPr/>
        </p:nvSpPr>
        <p:spPr>
          <a:xfrm>
            <a:off x="1055217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圆形"/>
          <p:cNvSpPr/>
          <p:nvPr/>
        </p:nvSpPr>
        <p:spPr>
          <a:xfrm>
            <a:off x="1055217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圆形"/>
          <p:cNvSpPr/>
          <p:nvPr/>
        </p:nvSpPr>
        <p:spPr>
          <a:xfrm>
            <a:off x="10716767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圆形"/>
          <p:cNvSpPr/>
          <p:nvPr/>
        </p:nvSpPr>
        <p:spPr>
          <a:xfrm>
            <a:off x="10716767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圆形"/>
          <p:cNvSpPr/>
          <p:nvPr/>
        </p:nvSpPr>
        <p:spPr>
          <a:xfrm>
            <a:off x="10716767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圆形"/>
          <p:cNvSpPr/>
          <p:nvPr/>
        </p:nvSpPr>
        <p:spPr>
          <a:xfrm>
            <a:off x="10881359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圆形"/>
          <p:cNvSpPr/>
          <p:nvPr/>
        </p:nvSpPr>
        <p:spPr>
          <a:xfrm>
            <a:off x="10881359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圆形"/>
          <p:cNvSpPr/>
          <p:nvPr/>
        </p:nvSpPr>
        <p:spPr>
          <a:xfrm>
            <a:off x="10881359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圆形"/>
          <p:cNvSpPr/>
          <p:nvPr/>
        </p:nvSpPr>
        <p:spPr>
          <a:xfrm>
            <a:off x="11045952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圆形"/>
          <p:cNvSpPr/>
          <p:nvPr/>
        </p:nvSpPr>
        <p:spPr>
          <a:xfrm>
            <a:off x="11045952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圆形"/>
          <p:cNvSpPr/>
          <p:nvPr/>
        </p:nvSpPr>
        <p:spPr>
          <a:xfrm>
            <a:off x="11045952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圆形"/>
          <p:cNvSpPr/>
          <p:nvPr/>
        </p:nvSpPr>
        <p:spPr>
          <a:xfrm>
            <a:off x="1121054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圆形"/>
          <p:cNvSpPr/>
          <p:nvPr/>
        </p:nvSpPr>
        <p:spPr>
          <a:xfrm>
            <a:off x="1121054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圆形"/>
          <p:cNvSpPr/>
          <p:nvPr/>
        </p:nvSpPr>
        <p:spPr>
          <a:xfrm>
            <a:off x="1121054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圆形"/>
          <p:cNvSpPr/>
          <p:nvPr/>
        </p:nvSpPr>
        <p:spPr>
          <a:xfrm>
            <a:off x="1137513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圆形"/>
          <p:cNvSpPr/>
          <p:nvPr/>
        </p:nvSpPr>
        <p:spPr>
          <a:xfrm>
            <a:off x="1137513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圆形"/>
          <p:cNvSpPr/>
          <p:nvPr/>
        </p:nvSpPr>
        <p:spPr>
          <a:xfrm>
            <a:off x="1137513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圆形"/>
          <p:cNvSpPr/>
          <p:nvPr/>
        </p:nvSpPr>
        <p:spPr>
          <a:xfrm>
            <a:off x="11539728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圆形"/>
          <p:cNvSpPr/>
          <p:nvPr/>
        </p:nvSpPr>
        <p:spPr>
          <a:xfrm>
            <a:off x="11539728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圆形"/>
          <p:cNvSpPr/>
          <p:nvPr/>
        </p:nvSpPr>
        <p:spPr>
          <a:xfrm>
            <a:off x="11539728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标题蓝色竖线"/>
          <p:cNvSpPr/>
          <p:nvPr/>
        </p:nvSpPr>
        <p:spPr>
          <a:xfrm>
            <a:off x="274320" y="356616"/>
            <a:ext cx="109728" cy="585216"/>
          </a:xfrm>
          <a:prstGeom prst="roundRect">
            <a:avLst>
              <a:gd name="adj" fmla="val 41666"/>
            </a:avLst>
          </a:prstGeom>
          <a:gradFill>
            <a:gsLst>
              <a:gs pos="0">
                <a:srgbClr val="3A92D5"/>
              </a:gs>
              <a:gs pos="100000">
                <a:srgbClr val="146FB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标题"/>
          <p:cNvSpPr txBox="1"/>
          <p:nvPr/>
        </p:nvSpPr>
        <p:spPr>
          <a:xfrm>
            <a:off x="621792" y="301752"/>
            <a:ext cx="9390888" cy="64922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通信技术家族</a:t>
            </a:r>
            <a:endParaRPr sz="35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标题分隔线"/>
          <p:cNvSpPr/>
          <p:nvPr/>
        </p:nvSpPr>
        <p:spPr>
          <a:xfrm>
            <a:off x="621792" y="1051560"/>
            <a:ext cx="11109960" cy="18288"/>
          </a:xfrm>
          <a:prstGeom prst="rect">
            <a:avLst/>
          </a:prstGeom>
          <a:gradFill>
            <a:gsLst>
              <a:gs pos="0">
                <a:srgbClr val="3A92D5"/>
              </a:gs>
              <a:gs pos="100000">
                <a:srgbClr val="E3EFF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tongji_wordm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4" y="256032"/>
            <a:ext cx="1554480" cy="385298"/>
          </a:xfrm>
          <a:prstGeom prst="rect">
            <a:avLst/>
          </a:prstGeom>
          <a:effectLst/>
        </p:spPr>
      </p:pic>
      <p:sp>
        <p:nvSpPr>
          <p:cNvPr id="33" name="导入句"/>
          <p:cNvSpPr txBox="1"/>
          <p:nvPr/>
        </p:nvSpPr>
        <p:spPr>
          <a:xfrm>
            <a:off x="621792" y="1271016"/>
            <a:ext cx="10972800" cy="57607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CAN、LIN与以太网不是全部；先认识不同选择的位置，再深入最经典的机制。</a:t>
            </a:r>
            <a:endParaRPr sz="20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本页总结背景"/>
          <p:cNvSpPr/>
          <p:nvPr/>
        </p:nvSpPr>
        <p:spPr>
          <a:xfrm>
            <a:off x="585216" y="5852160"/>
            <a:ext cx="11064240" cy="594360"/>
          </a:xfrm>
          <a:prstGeom prst="roundRect">
            <a:avLst>
              <a:gd name="adj" fmla="val 23076"/>
            </a:avLst>
          </a:prstGeom>
          <a:gradFill>
            <a:gsLst>
              <a:gs pos="0">
                <a:srgbClr val="F0F7FE"/>
              </a:gs>
              <a:gs pos="100000">
                <a:srgbClr val="E9F3F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可编辑曲线"/>
          <p:cNvSpPr/>
          <p:nvPr/>
        </p:nvSpPr>
        <p:spPr>
          <a:xfrm>
            <a:off x="907999" y="5990783"/>
            <a:ext cx="310621" cy="133685"/>
          </a:xfrm>
          <a:custGeom>
            <a:avLst/>
            <a:gdLst/>
            <a:ahLst/>
            <a:cxnLst/>
            <a:rect l="l" t="t" r="r" b="b"/>
            <a:pathLst>
              <a:path w="310621" h="133685">
                <a:moveTo>
                  <a:pt x="0" y="133685"/>
                </a:moveTo>
                <a:lnTo>
                  <a:pt x="51115" y="0"/>
                </a:lnTo>
                <a:lnTo>
                  <a:pt x="251643" y="0"/>
                </a:lnTo>
                <a:lnTo>
                  <a:pt x="310621" y="133685"/>
                </a:lnTo>
              </a:path>
            </a:pathLst>
          </a:custGeom>
          <a:noFill/>
          <a:ln w="254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矩形"/>
          <p:cNvSpPr/>
          <p:nvPr/>
        </p:nvSpPr>
        <p:spPr>
          <a:xfrm>
            <a:off x="896203" y="6112672"/>
            <a:ext cx="338145" cy="165140"/>
          </a:xfrm>
          <a:prstGeom prst="roundRect">
            <a:avLst>
              <a:gd name="adj" fmla="val 19047"/>
            </a:avLst>
          </a:prstGeom>
          <a:noFill/>
          <a:ln w="254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连线"/>
          <p:cNvCxnSpPr/>
          <p:nvPr/>
        </p:nvCxnSpPr>
        <p:spPr>
          <a:xfrm>
            <a:off x="915863" y="6120536"/>
            <a:ext cx="302757" cy="0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圆形"/>
          <p:cNvSpPr/>
          <p:nvPr/>
        </p:nvSpPr>
        <p:spPr>
          <a:xfrm>
            <a:off x="935522" y="6171651"/>
            <a:ext cx="51114" cy="5111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圆形"/>
          <p:cNvSpPr/>
          <p:nvPr/>
        </p:nvSpPr>
        <p:spPr>
          <a:xfrm>
            <a:off x="1136050" y="6171651"/>
            <a:ext cx="51114" cy="5111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连线"/>
          <p:cNvCxnSpPr/>
          <p:nvPr/>
        </p:nvCxnSpPr>
        <p:spPr>
          <a:xfrm>
            <a:off x="943386" y="6273881"/>
            <a:ext cx="0" cy="51115"/>
          </a:xfrm>
          <a:prstGeom prst="line">
            <a:avLst/>
          </a:prstGeom>
          <a:ln w="381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连线"/>
          <p:cNvCxnSpPr/>
          <p:nvPr/>
        </p:nvCxnSpPr>
        <p:spPr>
          <a:xfrm>
            <a:off x="1183233" y="6273881"/>
            <a:ext cx="0" cy="51115"/>
          </a:xfrm>
          <a:prstGeom prst="line">
            <a:avLst/>
          </a:prstGeom>
          <a:ln w="381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连线"/>
          <p:cNvCxnSpPr/>
          <p:nvPr/>
        </p:nvCxnSpPr>
        <p:spPr>
          <a:xfrm>
            <a:off x="1435608" y="5943600"/>
            <a:ext cx="0" cy="411480"/>
          </a:xfrm>
          <a:prstGeom prst="line">
            <a:avLst/>
          </a:prstGeom>
          <a:ln w="15875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akeaway"/>
          <p:cNvSpPr txBox="1"/>
          <p:nvPr/>
        </p:nvSpPr>
        <p:spPr>
          <a:xfrm>
            <a:off x="1655064" y="5943600"/>
            <a:ext cx="9692640" cy="44805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学习代表性技术，是为了形成工程判断，不是背完所有协议名称。</a:t>
            </a:r>
            <a:endParaRPr sz="21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601218" y="2236851"/>
            <a:ext cx="2048256" cy="265176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692658" y="2383155"/>
            <a:ext cx="1865376" cy="493776"/>
          </a:xfrm>
          <a:prstGeom prst="roundRect">
            <a:avLst>
              <a:gd name="adj" fmla="val 11000"/>
            </a:avLst>
          </a:prstGeom>
          <a:solidFill>
            <a:srgbClr val="E6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38378" y="2415159"/>
            <a:ext cx="1773936" cy="42976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CAN</a:t>
            </a:r>
            <a:endParaRPr sz="24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729234" y="3068955"/>
            <a:ext cx="1792224" cy="56692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控制命令与状态</a:t>
            </a:r>
            <a:endParaRPr sz="19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720090" y="3809619"/>
            <a:ext cx="1810512" cy="53035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学报文、共享通道</a:t>
            </a:r>
            <a:endParaRPr sz="17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与仲裁机制</a:t>
            </a:r>
            <a:endParaRPr sz="17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747522" y="4477131"/>
            <a:ext cx="1755648" cy="265176"/>
          </a:xfrm>
          <a:prstGeom prst="roundRect">
            <a:avLst>
              <a:gd name="adj" fmla="val 11000"/>
            </a:avLst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93242" y="4509135"/>
            <a:ext cx="1664207" cy="23799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本章重点</a:t>
            </a:r>
            <a:endParaRPr sz="15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2823210" y="2236851"/>
            <a:ext cx="2048256" cy="265176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2914650" y="2383155"/>
            <a:ext cx="1865376" cy="493776"/>
          </a:xfrm>
          <a:prstGeom prst="roundRect">
            <a:avLst>
              <a:gd name="adj" fmla="val 11000"/>
            </a:avLst>
          </a:prstGeom>
          <a:solidFill>
            <a:srgbClr val="EA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960370" y="2415159"/>
            <a:ext cx="1773936" cy="42976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CAN FD</a:t>
            </a:r>
            <a:endParaRPr sz="2400" b="1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2951226" y="3068955"/>
            <a:ext cx="1792224" cy="56692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CAN家族的扩展</a:t>
            </a:r>
            <a:endParaRPr sz="17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2942082" y="3809619"/>
            <a:ext cx="1810512" cy="53035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更高数据吞吐</a:t>
            </a:r>
            <a:endParaRPr sz="17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与经典CAN有别</a:t>
            </a:r>
            <a:endParaRPr sz="17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Rounded Rectangle 100"/>
          <p:cNvSpPr/>
          <p:nvPr/>
        </p:nvSpPr>
        <p:spPr>
          <a:xfrm>
            <a:off x="2969514" y="4477131"/>
            <a:ext cx="1755648" cy="265176"/>
          </a:xfrm>
          <a:prstGeom prst="roundRect">
            <a:avLst>
              <a:gd name="adj" fmla="val 11000"/>
            </a:avLst>
          </a:prstGeom>
          <a:solidFill>
            <a:srgbClr val="EA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015234" y="4509135"/>
            <a:ext cx="1664207" cy="23799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扩展认识</a:t>
            </a:r>
            <a:endParaRPr sz="1550" b="1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Rounded Rectangle 102"/>
          <p:cNvSpPr/>
          <p:nvPr/>
        </p:nvSpPr>
        <p:spPr>
          <a:xfrm>
            <a:off x="5045202" y="2236851"/>
            <a:ext cx="2048256" cy="265176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5136642" y="2383155"/>
            <a:ext cx="1865376" cy="493776"/>
          </a:xfrm>
          <a:prstGeom prst="roundRect">
            <a:avLst>
              <a:gd name="adj" fmla="val 11000"/>
            </a:avLst>
          </a:prstGeom>
          <a:solidFill>
            <a:srgbClr val="E6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182362" y="2415159"/>
            <a:ext cx="1773936" cy="42976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LIN</a:t>
            </a:r>
            <a:endParaRPr sz="24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5173218" y="3068955"/>
            <a:ext cx="1792224" cy="56692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低成本局部通信</a:t>
            </a:r>
            <a:endParaRPr sz="19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5164074" y="3809619"/>
            <a:ext cx="1810512" cy="53035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主节点组织通信</a:t>
            </a:r>
            <a:endParaRPr sz="17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连接较简单的模块</a:t>
            </a:r>
            <a:endParaRPr sz="17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Rounded Rectangle 107"/>
          <p:cNvSpPr/>
          <p:nvPr/>
        </p:nvSpPr>
        <p:spPr>
          <a:xfrm>
            <a:off x="5191506" y="4477131"/>
            <a:ext cx="1755648" cy="265176"/>
          </a:xfrm>
          <a:prstGeom prst="roundRect">
            <a:avLst>
              <a:gd name="adj" fmla="val 11000"/>
            </a:avLst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237226" y="4509135"/>
            <a:ext cx="1664207" cy="23799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本章重点</a:t>
            </a:r>
            <a:endParaRPr sz="15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" name="Rounded Rectangle 109"/>
          <p:cNvSpPr/>
          <p:nvPr/>
        </p:nvSpPr>
        <p:spPr>
          <a:xfrm>
            <a:off x="7267194" y="2236851"/>
            <a:ext cx="2048256" cy="265176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7358634" y="2383155"/>
            <a:ext cx="1865376" cy="493776"/>
          </a:xfrm>
          <a:prstGeom prst="roundRect">
            <a:avLst>
              <a:gd name="adj" fmla="val 11000"/>
            </a:avLst>
          </a:prstGeom>
          <a:solidFill>
            <a:srgbClr val="EA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404354" y="2415159"/>
            <a:ext cx="1773936" cy="42976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FlexRay</a:t>
            </a:r>
            <a:endParaRPr sz="2400" b="1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7395210" y="3068955"/>
            <a:ext cx="1792224" cy="56692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另一类车载网络</a:t>
            </a:r>
            <a:endParaRPr sz="19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7386066" y="3809619"/>
            <a:ext cx="1810512" cy="53035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另一种时间组织</a:t>
            </a:r>
            <a:endParaRPr sz="17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与通信实现选择</a:t>
            </a:r>
            <a:endParaRPr sz="17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Rounded Rectangle 114"/>
          <p:cNvSpPr/>
          <p:nvPr/>
        </p:nvSpPr>
        <p:spPr>
          <a:xfrm>
            <a:off x="7413498" y="4477131"/>
            <a:ext cx="1755648" cy="265176"/>
          </a:xfrm>
          <a:prstGeom prst="roundRect">
            <a:avLst>
              <a:gd name="adj" fmla="val 11000"/>
            </a:avLst>
          </a:prstGeom>
          <a:solidFill>
            <a:srgbClr val="EA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459218" y="4509135"/>
            <a:ext cx="1664207" cy="23799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了解位置</a:t>
            </a:r>
            <a:endParaRPr sz="1550" b="1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Rounded Rectangle 116"/>
          <p:cNvSpPr/>
          <p:nvPr/>
        </p:nvSpPr>
        <p:spPr>
          <a:xfrm>
            <a:off x="9489186" y="2236851"/>
            <a:ext cx="2048256" cy="265176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B5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9580626" y="2383155"/>
            <a:ext cx="1865376" cy="493776"/>
          </a:xfrm>
          <a:prstGeom prst="roundRect">
            <a:avLst>
              <a:gd name="adj" fmla="val 11000"/>
            </a:avLst>
          </a:prstGeom>
          <a:solidFill>
            <a:srgbClr val="E6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626346" y="2415159"/>
            <a:ext cx="1773936" cy="42976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车载以太网</a:t>
            </a:r>
            <a:endParaRPr sz="24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9617202" y="3068955"/>
            <a:ext cx="1792224" cy="56692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数据量与互联</a:t>
            </a:r>
            <a:endParaRPr sz="19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9608058" y="3809619"/>
            <a:ext cx="1810512" cy="53035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连接更多数据</a:t>
            </a:r>
            <a:endParaRPr sz="17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TSN关注传输时效</a:t>
            </a:r>
            <a:endParaRPr sz="17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" name="Rounded Rectangle 121"/>
          <p:cNvSpPr/>
          <p:nvPr/>
        </p:nvSpPr>
        <p:spPr>
          <a:xfrm>
            <a:off x="9635490" y="4477131"/>
            <a:ext cx="1755648" cy="265176"/>
          </a:xfrm>
          <a:prstGeom prst="roundRect">
            <a:avLst>
              <a:gd name="adj" fmla="val 11000"/>
            </a:avLst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9681210" y="4509135"/>
            <a:ext cx="1664207" cy="23799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本章重点</a:t>
            </a:r>
            <a:endParaRPr sz="15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白色背景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右下角淡蓝装饰"/>
          <p:cNvSpPr/>
          <p:nvPr/>
        </p:nvSpPr>
        <p:spPr>
          <a:xfrm>
            <a:off x="10774679" y="5440680"/>
            <a:ext cx="1417320" cy="1417320"/>
          </a:xfrm>
          <a:custGeom>
            <a:avLst/>
            <a:gdLst/>
            <a:ahLst/>
            <a:cxnLst/>
            <a:rect l="l" t="t" r="r" b="b"/>
            <a:pathLst>
              <a:path w="1417320" h="1417320">
                <a:moveTo>
                  <a:pt x="1417320" y="1417320"/>
                </a:moveTo>
                <a:lnTo>
                  <a:pt x="0" y="1417320"/>
                </a:lnTo>
                <a:lnTo>
                  <a:pt x="700" y="1372800"/>
                </a:lnTo>
                <a:lnTo>
                  <a:pt x="2797" y="1328325"/>
                </a:lnTo>
                <a:lnTo>
                  <a:pt x="6290" y="1283938"/>
                </a:lnTo>
                <a:lnTo>
                  <a:pt x="11176" y="1239682"/>
                </a:lnTo>
                <a:lnTo>
                  <a:pt x="17450" y="1195602"/>
                </a:lnTo>
                <a:lnTo>
                  <a:pt x="25105" y="1151740"/>
                </a:lnTo>
                <a:lnTo>
                  <a:pt x="34134" y="1108141"/>
                </a:lnTo>
                <a:lnTo>
                  <a:pt x="44528" y="1064846"/>
                </a:lnTo>
                <a:lnTo>
                  <a:pt x="56277" y="1021900"/>
                </a:lnTo>
                <a:lnTo>
                  <a:pt x="69369" y="979344"/>
                </a:lnTo>
                <a:lnTo>
                  <a:pt x="83791" y="937219"/>
                </a:lnTo>
                <a:lnTo>
                  <a:pt x="99529" y="895569"/>
                </a:lnTo>
                <a:lnTo>
                  <a:pt x="116568" y="854434"/>
                </a:lnTo>
                <a:lnTo>
                  <a:pt x="134891" y="813854"/>
                </a:lnTo>
                <a:lnTo>
                  <a:pt x="154479" y="773870"/>
                </a:lnTo>
                <a:lnTo>
                  <a:pt x="175313" y="734520"/>
                </a:lnTo>
                <a:lnTo>
                  <a:pt x="197373" y="695845"/>
                </a:lnTo>
                <a:lnTo>
                  <a:pt x="220637" y="657881"/>
                </a:lnTo>
                <a:lnTo>
                  <a:pt x="245082" y="620667"/>
                </a:lnTo>
                <a:lnTo>
                  <a:pt x="270684" y="584240"/>
                </a:lnTo>
                <a:lnTo>
                  <a:pt x="297418" y="548634"/>
                </a:lnTo>
                <a:lnTo>
                  <a:pt x="325256" y="513886"/>
                </a:lnTo>
                <a:lnTo>
                  <a:pt x="354173" y="480029"/>
                </a:lnTo>
                <a:lnTo>
                  <a:pt x="384138" y="447097"/>
                </a:lnTo>
                <a:lnTo>
                  <a:pt x="415124" y="415123"/>
                </a:lnTo>
                <a:lnTo>
                  <a:pt x="447098" y="384138"/>
                </a:lnTo>
                <a:lnTo>
                  <a:pt x="480030" y="354172"/>
                </a:lnTo>
                <a:lnTo>
                  <a:pt x="513886" y="325256"/>
                </a:lnTo>
                <a:lnTo>
                  <a:pt x="548635" y="297417"/>
                </a:lnTo>
                <a:lnTo>
                  <a:pt x="584240" y="270684"/>
                </a:lnTo>
                <a:lnTo>
                  <a:pt x="620668" y="245082"/>
                </a:lnTo>
                <a:lnTo>
                  <a:pt x="657882" y="220637"/>
                </a:lnTo>
                <a:lnTo>
                  <a:pt x="695846" y="197373"/>
                </a:lnTo>
                <a:lnTo>
                  <a:pt x="734521" y="175313"/>
                </a:lnTo>
                <a:lnTo>
                  <a:pt x="773870" y="154478"/>
                </a:lnTo>
                <a:lnTo>
                  <a:pt x="813855" y="134890"/>
                </a:lnTo>
                <a:lnTo>
                  <a:pt x="854435" y="116568"/>
                </a:lnTo>
                <a:lnTo>
                  <a:pt x="895570" y="99529"/>
                </a:lnTo>
                <a:lnTo>
                  <a:pt x="937220" y="83790"/>
                </a:lnTo>
                <a:lnTo>
                  <a:pt x="979344" y="69368"/>
                </a:lnTo>
                <a:lnTo>
                  <a:pt x="1021901" y="56276"/>
                </a:lnTo>
                <a:lnTo>
                  <a:pt x="1064847" y="44527"/>
                </a:lnTo>
                <a:lnTo>
                  <a:pt x="1108141" y="34133"/>
                </a:lnTo>
                <a:lnTo>
                  <a:pt x="1151741" y="25104"/>
                </a:lnTo>
                <a:lnTo>
                  <a:pt x="1195602" y="17449"/>
                </a:lnTo>
                <a:lnTo>
                  <a:pt x="1239683" y="11175"/>
                </a:lnTo>
                <a:lnTo>
                  <a:pt x="1283939" y="6290"/>
                </a:lnTo>
                <a:lnTo>
                  <a:pt x="1328326" y="2796"/>
                </a:lnTo>
                <a:lnTo>
                  <a:pt x="1372801" y="699"/>
                </a:lnTo>
                <a:lnTo>
                  <a:pt x="1417320" y="0"/>
                </a:lnTo>
                <a:lnTo>
                  <a:pt x="1417320" y="1417320"/>
                </a:lnTo>
                <a:close/>
              </a:path>
            </a:pathLst>
          </a:custGeom>
          <a:solidFill>
            <a:srgbClr val="F4F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右下角淡蓝装饰"/>
          <p:cNvSpPr/>
          <p:nvPr/>
        </p:nvSpPr>
        <p:spPr>
          <a:xfrm>
            <a:off x="11076431" y="5742432"/>
            <a:ext cx="1115568" cy="1115568"/>
          </a:xfrm>
          <a:custGeom>
            <a:avLst/>
            <a:gdLst/>
            <a:ahLst/>
            <a:cxnLst/>
            <a:rect l="l" t="t" r="r" b="b"/>
            <a:pathLst>
              <a:path w="1115568" h="1115568">
                <a:moveTo>
                  <a:pt x="1115568" y="1115568"/>
                </a:moveTo>
                <a:lnTo>
                  <a:pt x="0" y="1115568"/>
                </a:lnTo>
                <a:lnTo>
                  <a:pt x="551" y="1080527"/>
                </a:lnTo>
                <a:lnTo>
                  <a:pt x="2202" y="1045520"/>
                </a:lnTo>
                <a:lnTo>
                  <a:pt x="4951" y="1010583"/>
                </a:lnTo>
                <a:lnTo>
                  <a:pt x="8797" y="975750"/>
                </a:lnTo>
                <a:lnTo>
                  <a:pt x="13735" y="941054"/>
                </a:lnTo>
                <a:lnTo>
                  <a:pt x="19760" y="906531"/>
                </a:lnTo>
                <a:lnTo>
                  <a:pt x="26867" y="872214"/>
                </a:lnTo>
                <a:lnTo>
                  <a:pt x="35048" y="838137"/>
                </a:lnTo>
                <a:lnTo>
                  <a:pt x="44295" y="804334"/>
                </a:lnTo>
                <a:lnTo>
                  <a:pt x="54600" y="770838"/>
                </a:lnTo>
                <a:lnTo>
                  <a:pt x="65952" y="737682"/>
                </a:lnTo>
                <a:lnTo>
                  <a:pt x="78339" y="704900"/>
                </a:lnTo>
                <a:lnTo>
                  <a:pt x="91751" y="672522"/>
                </a:lnTo>
                <a:lnTo>
                  <a:pt x="106172" y="640582"/>
                </a:lnTo>
                <a:lnTo>
                  <a:pt x="121590" y="609110"/>
                </a:lnTo>
                <a:lnTo>
                  <a:pt x="137989" y="578139"/>
                </a:lnTo>
                <a:lnTo>
                  <a:pt x="155352" y="547697"/>
                </a:lnTo>
                <a:lnTo>
                  <a:pt x="173663" y="517816"/>
                </a:lnTo>
                <a:lnTo>
                  <a:pt x="192904" y="488525"/>
                </a:lnTo>
                <a:lnTo>
                  <a:pt x="213055" y="459853"/>
                </a:lnTo>
                <a:lnTo>
                  <a:pt x="234097" y="431828"/>
                </a:lnTo>
                <a:lnTo>
                  <a:pt x="256008" y="404478"/>
                </a:lnTo>
                <a:lnTo>
                  <a:pt x="278768" y="377829"/>
                </a:lnTo>
                <a:lnTo>
                  <a:pt x="302354" y="351909"/>
                </a:lnTo>
                <a:lnTo>
                  <a:pt x="326742" y="326742"/>
                </a:lnTo>
                <a:lnTo>
                  <a:pt x="351909" y="302353"/>
                </a:lnTo>
                <a:lnTo>
                  <a:pt x="377830" y="278768"/>
                </a:lnTo>
                <a:lnTo>
                  <a:pt x="404478" y="256008"/>
                </a:lnTo>
                <a:lnTo>
                  <a:pt x="431829" y="234096"/>
                </a:lnTo>
                <a:lnTo>
                  <a:pt x="459854" y="213054"/>
                </a:lnTo>
                <a:lnTo>
                  <a:pt x="488526" y="192903"/>
                </a:lnTo>
                <a:lnTo>
                  <a:pt x="517817" y="173662"/>
                </a:lnTo>
                <a:lnTo>
                  <a:pt x="547698" y="155351"/>
                </a:lnTo>
                <a:lnTo>
                  <a:pt x="578139" y="137988"/>
                </a:lnTo>
                <a:lnTo>
                  <a:pt x="609111" y="121589"/>
                </a:lnTo>
                <a:lnTo>
                  <a:pt x="640582" y="106171"/>
                </a:lnTo>
                <a:lnTo>
                  <a:pt x="672523" y="91750"/>
                </a:lnTo>
                <a:lnTo>
                  <a:pt x="704900" y="78339"/>
                </a:lnTo>
                <a:lnTo>
                  <a:pt x="737683" y="65951"/>
                </a:lnTo>
                <a:lnTo>
                  <a:pt x="770839" y="54599"/>
                </a:lnTo>
                <a:lnTo>
                  <a:pt x="804335" y="44295"/>
                </a:lnTo>
                <a:lnTo>
                  <a:pt x="838138" y="35047"/>
                </a:lnTo>
                <a:lnTo>
                  <a:pt x="872215" y="26866"/>
                </a:lnTo>
                <a:lnTo>
                  <a:pt x="906532" y="19759"/>
                </a:lnTo>
                <a:lnTo>
                  <a:pt x="941055" y="13734"/>
                </a:lnTo>
                <a:lnTo>
                  <a:pt x="975750" y="8796"/>
                </a:lnTo>
                <a:lnTo>
                  <a:pt x="1010584" y="4950"/>
                </a:lnTo>
                <a:lnTo>
                  <a:pt x="1045521" y="2201"/>
                </a:lnTo>
                <a:lnTo>
                  <a:pt x="1080527" y="550"/>
                </a:lnTo>
                <a:lnTo>
                  <a:pt x="1115568" y="0"/>
                </a:lnTo>
                <a:lnTo>
                  <a:pt x="1115568" y="1115568"/>
                </a:lnTo>
                <a:close/>
              </a:path>
            </a:pathLst>
          </a:custGeom>
          <a:solidFill>
            <a:srgbClr val="F8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圆形"/>
          <p:cNvSpPr/>
          <p:nvPr/>
        </p:nvSpPr>
        <p:spPr>
          <a:xfrm>
            <a:off x="1038758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圆形"/>
          <p:cNvSpPr/>
          <p:nvPr/>
        </p:nvSpPr>
        <p:spPr>
          <a:xfrm>
            <a:off x="1038758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圆形"/>
          <p:cNvSpPr/>
          <p:nvPr/>
        </p:nvSpPr>
        <p:spPr>
          <a:xfrm>
            <a:off x="1038758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圆形"/>
          <p:cNvSpPr/>
          <p:nvPr/>
        </p:nvSpPr>
        <p:spPr>
          <a:xfrm>
            <a:off x="1055217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圆形"/>
          <p:cNvSpPr/>
          <p:nvPr/>
        </p:nvSpPr>
        <p:spPr>
          <a:xfrm>
            <a:off x="1055217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圆形"/>
          <p:cNvSpPr/>
          <p:nvPr/>
        </p:nvSpPr>
        <p:spPr>
          <a:xfrm>
            <a:off x="1055217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圆形"/>
          <p:cNvSpPr/>
          <p:nvPr/>
        </p:nvSpPr>
        <p:spPr>
          <a:xfrm>
            <a:off x="10716767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圆形"/>
          <p:cNvSpPr/>
          <p:nvPr/>
        </p:nvSpPr>
        <p:spPr>
          <a:xfrm>
            <a:off x="10716767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圆形"/>
          <p:cNvSpPr/>
          <p:nvPr/>
        </p:nvSpPr>
        <p:spPr>
          <a:xfrm>
            <a:off x="10716767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圆形"/>
          <p:cNvSpPr/>
          <p:nvPr/>
        </p:nvSpPr>
        <p:spPr>
          <a:xfrm>
            <a:off x="10881359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圆形"/>
          <p:cNvSpPr/>
          <p:nvPr/>
        </p:nvSpPr>
        <p:spPr>
          <a:xfrm>
            <a:off x="10881359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圆形"/>
          <p:cNvSpPr/>
          <p:nvPr/>
        </p:nvSpPr>
        <p:spPr>
          <a:xfrm>
            <a:off x="10881359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圆形"/>
          <p:cNvSpPr/>
          <p:nvPr/>
        </p:nvSpPr>
        <p:spPr>
          <a:xfrm>
            <a:off x="11045952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圆形"/>
          <p:cNvSpPr/>
          <p:nvPr/>
        </p:nvSpPr>
        <p:spPr>
          <a:xfrm>
            <a:off x="11045952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圆形"/>
          <p:cNvSpPr/>
          <p:nvPr/>
        </p:nvSpPr>
        <p:spPr>
          <a:xfrm>
            <a:off x="11045952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圆形"/>
          <p:cNvSpPr/>
          <p:nvPr/>
        </p:nvSpPr>
        <p:spPr>
          <a:xfrm>
            <a:off x="1121054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圆形"/>
          <p:cNvSpPr/>
          <p:nvPr/>
        </p:nvSpPr>
        <p:spPr>
          <a:xfrm>
            <a:off x="1121054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圆形"/>
          <p:cNvSpPr/>
          <p:nvPr/>
        </p:nvSpPr>
        <p:spPr>
          <a:xfrm>
            <a:off x="1121054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圆形"/>
          <p:cNvSpPr/>
          <p:nvPr/>
        </p:nvSpPr>
        <p:spPr>
          <a:xfrm>
            <a:off x="1137513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圆形"/>
          <p:cNvSpPr/>
          <p:nvPr/>
        </p:nvSpPr>
        <p:spPr>
          <a:xfrm>
            <a:off x="1137513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圆形"/>
          <p:cNvSpPr/>
          <p:nvPr/>
        </p:nvSpPr>
        <p:spPr>
          <a:xfrm>
            <a:off x="1137513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圆形"/>
          <p:cNvSpPr/>
          <p:nvPr/>
        </p:nvSpPr>
        <p:spPr>
          <a:xfrm>
            <a:off x="11539728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圆形"/>
          <p:cNvSpPr/>
          <p:nvPr/>
        </p:nvSpPr>
        <p:spPr>
          <a:xfrm>
            <a:off x="11539728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圆形"/>
          <p:cNvSpPr/>
          <p:nvPr/>
        </p:nvSpPr>
        <p:spPr>
          <a:xfrm>
            <a:off x="11539728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标题蓝色竖线"/>
          <p:cNvSpPr/>
          <p:nvPr/>
        </p:nvSpPr>
        <p:spPr>
          <a:xfrm>
            <a:off x="274320" y="356616"/>
            <a:ext cx="109728" cy="585216"/>
          </a:xfrm>
          <a:prstGeom prst="roundRect">
            <a:avLst>
              <a:gd name="adj" fmla="val 41666"/>
            </a:avLst>
          </a:prstGeom>
          <a:gradFill>
            <a:gsLst>
              <a:gs pos="0">
                <a:srgbClr val="3A92D5"/>
              </a:gs>
              <a:gs pos="100000">
                <a:srgbClr val="146FB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标题"/>
          <p:cNvSpPr txBox="1"/>
          <p:nvPr/>
        </p:nvSpPr>
        <p:spPr>
          <a:xfrm>
            <a:off x="621792" y="301752"/>
            <a:ext cx="9390888" cy="64922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4000">
                <a:latin typeface="微软雅黑" panose="020B0503020204020204" charset="-122"/>
              </a:defRPr>
            </a:pPr>
            <a:r>
              <a:rPr sz="35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车载网络与协议</a:t>
            </a:r>
            <a:endParaRPr sz="35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标题分隔线"/>
          <p:cNvSpPr/>
          <p:nvPr/>
        </p:nvSpPr>
        <p:spPr>
          <a:xfrm>
            <a:off x="621792" y="1051560"/>
            <a:ext cx="11109960" cy="18288"/>
          </a:xfrm>
          <a:prstGeom prst="rect">
            <a:avLst/>
          </a:prstGeom>
          <a:gradFill>
            <a:gsLst>
              <a:gs pos="0">
                <a:srgbClr val="3A92D5"/>
              </a:gs>
              <a:gs pos="100000">
                <a:srgbClr val="E3EFF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tongji_wordm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4" y="256032"/>
            <a:ext cx="1554480" cy="385298"/>
          </a:xfrm>
          <a:prstGeom prst="rect">
            <a:avLst/>
          </a:prstGeom>
          <a:effectLst/>
        </p:spPr>
      </p:pic>
      <p:sp>
        <p:nvSpPr>
          <p:cNvPr id="33" name="导入句"/>
          <p:cNvSpPr txBox="1"/>
          <p:nvPr/>
        </p:nvSpPr>
        <p:spPr>
          <a:xfrm>
            <a:off x="621792" y="1271016"/>
            <a:ext cx="10972800" cy="57607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000">
                <a:latin typeface="微软雅黑" panose="020B0503020204020204" charset="-122"/>
              </a:defRPr>
            </a:pPr>
            <a:r>
              <a:rPr sz="20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本章要回答：怎么连、怎么传、怎么让软件配合起来。</a:t>
            </a:r>
            <a:endParaRPr sz="20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怎么连？卡片"/>
          <p:cNvSpPr/>
          <p:nvPr/>
        </p:nvSpPr>
        <p:spPr>
          <a:xfrm>
            <a:off x="435864" y="2148840"/>
            <a:ext cx="3648456" cy="2395728"/>
          </a:xfrm>
          <a:prstGeom prst="roundRect">
            <a:avLst>
              <a:gd name="adj" fmla="val 6106"/>
            </a:avLst>
          </a:prstGeom>
          <a:solidFill>
            <a:srgbClr val="F6FAFE"/>
          </a:solidFill>
          <a:ln w="10160">
            <a:solidFill>
              <a:srgbClr val="B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卡片标题条"/>
          <p:cNvSpPr/>
          <p:nvPr/>
        </p:nvSpPr>
        <p:spPr>
          <a:xfrm>
            <a:off x="435864" y="2148840"/>
            <a:ext cx="3648456" cy="585216"/>
          </a:xfrm>
          <a:prstGeom prst="roundRect">
            <a:avLst>
              <a:gd name="adj" fmla="val 20312"/>
            </a:avLst>
          </a:prstGeom>
          <a:gradFill>
            <a:gsLst>
              <a:gs pos="0">
                <a:srgbClr val="EDF5FD"/>
              </a:gs>
              <a:gs pos="100000">
                <a:srgbClr val="F7FBF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圆形"/>
          <p:cNvSpPr/>
          <p:nvPr/>
        </p:nvSpPr>
        <p:spPr>
          <a:xfrm>
            <a:off x="600456" y="2240280"/>
            <a:ext cx="374904" cy="37490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文字"/>
          <p:cNvSpPr txBox="1"/>
          <p:nvPr/>
        </p:nvSpPr>
        <p:spPr>
          <a:xfrm>
            <a:off x="600456" y="2240280"/>
            <a:ext cx="374904" cy="37490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000">
                <a:latin typeface="微软雅黑" panose="020B0503020204020204" charset="-122"/>
              </a:defRPr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字"/>
          <p:cNvSpPr txBox="1"/>
          <p:nvPr/>
        </p:nvSpPr>
        <p:spPr>
          <a:xfrm>
            <a:off x="1103376" y="2267712"/>
            <a:ext cx="2825496" cy="33832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200">
                <a:latin typeface="微软雅黑" panose="020B0503020204020204" charset="-122"/>
              </a:defRPr>
            </a:pPr>
            <a:r>
              <a:rPr sz="22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怎么连？</a:t>
            </a:r>
            <a:endParaRPr sz="22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字"/>
          <p:cNvSpPr txBox="1"/>
          <p:nvPr/>
        </p:nvSpPr>
        <p:spPr>
          <a:xfrm>
            <a:off x="637032" y="2953512"/>
            <a:ext cx="3246120" cy="146304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62B42"/>
                </a:solidFill>
                <a:latin typeface="微软雅黑" panose="020B0503020204020204" charset="-122"/>
              </a:rPr>
              <a:t>多个ECU之间的</a:t>
            </a:r>
            <a:endParaRPr sz="2100" b="0">
              <a:solidFill>
                <a:srgbClr val="162B42"/>
              </a:solidFill>
              <a:latin typeface="微软雅黑" panose="020B0503020204020204" charset="-122"/>
            </a:endParaRP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62B42"/>
                </a:solidFill>
                <a:latin typeface="微软雅黑" panose="020B0503020204020204" charset="-122"/>
              </a:rPr>
              <a:t>物理连接与网络组织。</a:t>
            </a:r>
            <a:endParaRPr sz="2100" b="0">
              <a:solidFill>
                <a:srgbClr val="162B42"/>
              </a:solidFill>
              <a:latin typeface="微软雅黑" panose="020B0503020204020204" charset="-122"/>
            </a:endParaRPr>
          </a:p>
        </p:txBody>
      </p:sp>
      <p:sp>
        <p:nvSpPr>
          <p:cNvPr id="42" name="矩形"/>
          <p:cNvSpPr/>
          <p:nvPr/>
        </p:nvSpPr>
        <p:spPr>
          <a:xfrm>
            <a:off x="2107387" y="3855110"/>
            <a:ext cx="95097" cy="95097"/>
          </a:xfrm>
          <a:prstGeom prst="roundRect">
            <a:avLst>
              <a:gd name="adj" fmla="val 19230"/>
            </a:avLst>
          </a:prstGeom>
          <a:noFill/>
          <a:ln w="1778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矩形"/>
          <p:cNvSpPr/>
          <p:nvPr/>
        </p:nvSpPr>
        <p:spPr>
          <a:xfrm>
            <a:off x="1950476" y="4154667"/>
            <a:ext cx="95097" cy="95097"/>
          </a:xfrm>
          <a:prstGeom prst="roundRect">
            <a:avLst>
              <a:gd name="adj" fmla="val 19230"/>
            </a:avLst>
          </a:prstGeom>
          <a:noFill/>
          <a:ln w="1778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矩形"/>
          <p:cNvSpPr/>
          <p:nvPr/>
        </p:nvSpPr>
        <p:spPr>
          <a:xfrm>
            <a:off x="2107387" y="4154667"/>
            <a:ext cx="95097" cy="95097"/>
          </a:xfrm>
          <a:prstGeom prst="roundRect">
            <a:avLst>
              <a:gd name="adj" fmla="val 19230"/>
            </a:avLst>
          </a:prstGeom>
          <a:noFill/>
          <a:ln w="1778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矩形"/>
          <p:cNvSpPr/>
          <p:nvPr/>
        </p:nvSpPr>
        <p:spPr>
          <a:xfrm>
            <a:off x="2269053" y="4154667"/>
            <a:ext cx="95097" cy="95097"/>
          </a:xfrm>
          <a:prstGeom prst="roundRect">
            <a:avLst>
              <a:gd name="adj" fmla="val 19230"/>
            </a:avLst>
          </a:prstGeom>
          <a:noFill/>
          <a:ln w="1778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连线"/>
          <p:cNvCxnSpPr/>
          <p:nvPr/>
        </p:nvCxnSpPr>
        <p:spPr>
          <a:xfrm>
            <a:off x="2154935" y="3950208"/>
            <a:ext cx="0" cy="118872"/>
          </a:xfrm>
          <a:prstGeom prst="line">
            <a:avLst/>
          </a:prstGeom>
          <a:ln w="1905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连线"/>
          <p:cNvCxnSpPr/>
          <p:nvPr/>
        </p:nvCxnSpPr>
        <p:spPr>
          <a:xfrm>
            <a:off x="1998024" y="4069080"/>
            <a:ext cx="318577" cy="0"/>
          </a:xfrm>
          <a:prstGeom prst="line">
            <a:avLst/>
          </a:prstGeom>
          <a:ln w="1905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连线"/>
          <p:cNvCxnSpPr/>
          <p:nvPr/>
        </p:nvCxnSpPr>
        <p:spPr>
          <a:xfrm>
            <a:off x="1998024" y="4069080"/>
            <a:ext cx="0" cy="85587"/>
          </a:xfrm>
          <a:prstGeom prst="line">
            <a:avLst/>
          </a:prstGeom>
          <a:ln w="1905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连线"/>
          <p:cNvCxnSpPr/>
          <p:nvPr/>
        </p:nvCxnSpPr>
        <p:spPr>
          <a:xfrm>
            <a:off x="2154935" y="4069080"/>
            <a:ext cx="0" cy="85587"/>
          </a:xfrm>
          <a:prstGeom prst="line">
            <a:avLst/>
          </a:prstGeom>
          <a:ln w="1905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连线"/>
          <p:cNvCxnSpPr/>
          <p:nvPr/>
        </p:nvCxnSpPr>
        <p:spPr>
          <a:xfrm>
            <a:off x="2316601" y="4069080"/>
            <a:ext cx="0" cy="85587"/>
          </a:xfrm>
          <a:prstGeom prst="line">
            <a:avLst/>
          </a:prstGeom>
          <a:ln w="1905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怎么传？卡片"/>
          <p:cNvSpPr/>
          <p:nvPr/>
        </p:nvSpPr>
        <p:spPr>
          <a:xfrm>
            <a:off x="4276344" y="2148840"/>
            <a:ext cx="3648456" cy="2395728"/>
          </a:xfrm>
          <a:prstGeom prst="roundRect">
            <a:avLst>
              <a:gd name="adj" fmla="val 6106"/>
            </a:avLst>
          </a:prstGeom>
          <a:solidFill>
            <a:srgbClr val="F6FAFE"/>
          </a:solidFill>
          <a:ln w="10160">
            <a:solidFill>
              <a:srgbClr val="B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卡片标题条"/>
          <p:cNvSpPr/>
          <p:nvPr/>
        </p:nvSpPr>
        <p:spPr>
          <a:xfrm>
            <a:off x="4276344" y="2148840"/>
            <a:ext cx="3648456" cy="585216"/>
          </a:xfrm>
          <a:prstGeom prst="roundRect">
            <a:avLst>
              <a:gd name="adj" fmla="val 20312"/>
            </a:avLst>
          </a:prstGeom>
          <a:gradFill>
            <a:gsLst>
              <a:gs pos="0">
                <a:srgbClr val="EDF5FD"/>
              </a:gs>
              <a:gs pos="100000">
                <a:srgbClr val="F7FBF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圆形"/>
          <p:cNvSpPr/>
          <p:nvPr/>
        </p:nvSpPr>
        <p:spPr>
          <a:xfrm>
            <a:off x="4440936" y="2240280"/>
            <a:ext cx="374904" cy="37490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文字"/>
          <p:cNvSpPr txBox="1"/>
          <p:nvPr/>
        </p:nvSpPr>
        <p:spPr>
          <a:xfrm>
            <a:off x="4440936" y="2240280"/>
            <a:ext cx="374904" cy="37490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000">
                <a:latin typeface="微软雅黑" panose="020B0503020204020204" charset="-122"/>
              </a:defRPr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字"/>
          <p:cNvSpPr txBox="1"/>
          <p:nvPr/>
        </p:nvSpPr>
        <p:spPr>
          <a:xfrm>
            <a:off x="4943856" y="2267712"/>
            <a:ext cx="2825496" cy="33832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200">
                <a:latin typeface="微软雅黑" panose="020B0503020204020204" charset="-122"/>
              </a:defRPr>
            </a:pPr>
            <a:r>
              <a:rPr sz="22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怎么传？</a:t>
            </a:r>
            <a:endParaRPr sz="22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字"/>
          <p:cNvSpPr txBox="1"/>
          <p:nvPr/>
        </p:nvSpPr>
        <p:spPr>
          <a:xfrm>
            <a:off x="4477512" y="2953512"/>
            <a:ext cx="3246120" cy="146304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62B42"/>
                </a:solidFill>
                <a:latin typeface="微软雅黑" panose="020B0503020204020204" charset="-122"/>
              </a:rPr>
              <a:t>消息格式、通信时序、</a:t>
            </a:r>
            <a:endParaRPr sz="2100" b="0">
              <a:solidFill>
                <a:srgbClr val="162B42"/>
              </a:solidFill>
              <a:latin typeface="微软雅黑" panose="020B0503020204020204" charset="-122"/>
            </a:endParaRP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62B42"/>
                </a:solidFill>
                <a:latin typeface="微软雅黑" panose="020B0503020204020204" charset="-122"/>
              </a:rPr>
              <a:t>仲裁与数据传递。</a:t>
            </a:r>
            <a:endParaRPr sz="2100" b="0">
              <a:solidFill>
                <a:srgbClr val="162B42"/>
              </a:solidFill>
              <a:latin typeface="微软雅黑" panose="020B0503020204020204" charset="-122"/>
            </a:endParaRPr>
          </a:p>
        </p:txBody>
      </p:sp>
      <p:cxnSp>
        <p:nvCxnSpPr>
          <p:cNvPr id="57" name="连线"/>
          <p:cNvCxnSpPr/>
          <p:nvPr/>
        </p:nvCxnSpPr>
        <p:spPr>
          <a:xfrm>
            <a:off x="5757672" y="3964472"/>
            <a:ext cx="427939" cy="0"/>
          </a:xfrm>
          <a:prstGeom prst="line">
            <a:avLst/>
          </a:prstGeom>
          <a:ln w="38100" cap="rnd">
            <a:solidFill>
              <a:srgbClr val="146FB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连线"/>
          <p:cNvCxnSpPr/>
          <p:nvPr/>
        </p:nvCxnSpPr>
        <p:spPr>
          <a:xfrm flipH="1">
            <a:off x="5781446" y="4173687"/>
            <a:ext cx="427939" cy="0"/>
          </a:xfrm>
          <a:prstGeom prst="line">
            <a:avLst/>
          </a:prstGeom>
          <a:ln w="38100" cap="rnd">
            <a:solidFill>
              <a:srgbClr val="146FB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怎么协同？卡片"/>
          <p:cNvSpPr/>
          <p:nvPr/>
        </p:nvSpPr>
        <p:spPr>
          <a:xfrm>
            <a:off x="8116824" y="2148840"/>
            <a:ext cx="3648456" cy="2395728"/>
          </a:xfrm>
          <a:prstGeom prst="roundRect">
            <a:avLst>
              <a:gd name="adj" fmla="val 6106"/>
            </a:avLst>
          </a:prstGeom>
          <a:solidFill>
            <a:srgbClr val="F6FAFE"/>
          </a:solidFill>
          <a:ln w="10160">
            <a:solidFill>
              <a:srgbClr val="B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卡片标题条"/>
          <p:cNvSpPr/>
          <p:nvPr/>
        </p:nvSpPr>
        <p:spPr>
          <a:xfrm>
            <a:off x="8116824" y="2148840"/>
            <a:ext cx="3648456" cy="585216"/>
          </a:xfrm>
          <a:prstGeom prst="roundRect">
            <a:avLst>
              <a:gd name="adj" fmla="val 20312"/>
            </a:avLst>
          </a:prstGeom>
          <a:gradFill>
            <a:gsLst>
              <a:gs pos="0">
                <a:srgbClr val="EDF5FD"/>
              </a:gs>
              <a:gs pos="100000">
                <a:srgbClr val="F7FBF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圆形"/>
          <p:cNvSpPr/>
          <p:nvPr/>
        </p:nvSpPr>
        <p:spPr>
          <a:xfrm>
            <a:off x="8281416" y="2240280"/>
            <a:ext cx="374904" cy="37490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文字"/>
          <p:cNvSpPr txBox="1"/>
          <p:nvPr/>
        </p:nvSpPr>
        <p:spPr>
          <a:xfrm>
            <a:off x="8281416" y="2240280"/>
            <a:ext cx="374904" cy="37490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000">
                <a:latin typeface="微软雅黑" panose="020B0503020204020204" charset="-122"/>
              </a:defRPr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文字"/>
          <p:cNvSpPr txBox="1"/>
          <p:nvPr/>
        </p:nvSpPr>
        <p:spPr>
          <a:xfrm>
            <a:off x="8784336" y="2267712"/>
            <a:ext cx="2825496" cy="33832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200">
                <a:latin typeface="微软雅黑" panose="020B0503020204020204" charset="-122"/>
              </a:defRPr>
            </a:pPr>
            <a:r>
              <a:rPr sz="22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怎么协同？</a:t>
            </a:r>
            <a:endParaRPr sz="22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文字"/>
          <p:cNvSpPr txBox="1"/>
          <p:nvPr/>
        </p:nvSpPr>
        <p:spPr>
          <a:xfrm>
            <a:off x="8317992" y="2953512"/>
            <a:ext cx="3246120" cy="146304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62B42"/>
                </a:solidFill>
                <a:latin typeface="微软雅黑" panose="020B0503020204020204" charset="-122"/>
              </a:rPr>
              <a:t>应用软件使用统一接口，</a:t>
            </a:r>
            <a:endParaRPr sz="2100" b="0">
              <a:solidFill>
                <a:srgbClr val="162B42"/>
              </a:solidFill>
              <a:latin typeface="微软雅黑" panose="020B0503020204020204" charset="-122"/>
            </a:endParaRP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62B42"/>
                </a:solidFill>
                <a:latin typeface="微软雅黑" panose="020B0503020204020204" charset="-122"/>
              </a:rPr>
              <a:t>驱动功能并返回状态。</a:t>
            </a:r>
            <a:endParaRPr sz="2100" b="0">
              <a:solidFill>
                <a:srgbClr val="162B42"/>
              </a:solidFill>
              <a:latin typeface="微软雅黑" panose="020B0503020204020204" charset="-122"/>
            </a:endParaRPr>
          </a:p>
        </p:txBody>
      </p:sp>
      <p:sp>
        <p:nvSpPr>
          <p:cNvPr id="65" name="矩形"/>
          <p:cNvSpPr/>
          <p:nvPr/>
        </p:nvSpPr>
        <p:spPr>
          <a:xfrm>
            <a:off x="9693249" y="3926433"/>
            <a:ext cx="285292" cy="285292"/>
          </a:xfrm>
          <a:prstGeom prst="rect">
            <a:avLst/>
          </a:prstGeom>
          <a:noFill/>
          <a:ln w="254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矩形"/>
          <p:cNvSpPr/>
          <p:nvPr/>
        </p:nvSpPr>
        <p:spPr>
          <a:xfrm>
            <a:off x="9759817" y="3993001"/>
            <a:ext cx="152156" cy="152156"/>
          </a:xfrm>
          <a:prstGeom prst="rect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连线"/>
          <p:cNvCxnSpPr/>
          <p:nvPr/>
        </p:nvCxnSpPr>
        <p:spPr>
          <a:xfrm>
            <a:off x="9731288" y="3831336"/>
            <a:ext cx="0" cy="66568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连线"/>
          <p:cNvCxnSpPr/>
          <p:nvPr/>
        </p:nvCxnSpPr>
        <p:spPr>
          <a:xfrm>
            <a:off x="9731288" y="4240255"/>
            <a:ext cx="0" cy="66569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连线"/>
          <p:cNvCxnSpPr/>
          <p:nvPr/>
        </p:nvCxnSpPr>
        <p:spPr>
          <a:xfrm>
            <a:off x="9598152" y="3964472"/>
            <a:ext cx="66568" cy="0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连线"/>
          <p:cNvCxnSpPr/>
          <p:nvPr/>
        </p:nvCxnSpPr>
        <p:spPr>
          <a:xfrm>
            <a:off x="10007071" y="3964472"/>
            <a:ext cx="66569" cy="0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连线"/>
          <p:cNvCxnSpPr/>
          <p:nvPr/>
        </p:nvCxnSpPr>
        <p:spPr>
          <a:xfrm>
            <a:off x="9802611" y="3831336"/>
            <a:ext cx="0" cy="66568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连线"/>
          <p:cNvCxnSpPr/>
          <p:nvPr/>
        </p:nvCxnSpPr>
        <p:spPr>
          <a:xfrm>
            <a:off x="9802611" y="4240255"/>
            <a:ext cx="0" cy="66569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连线"/>
          <p:cNvCxnSpPr/>
          <p:nvPr/>
        </p:nvCxnSpPr>
        <p:spPr>
          <a:xfrm>
            <a:off x="9598152" y="4035795"/>
            <a:ext cx="66568" cy="0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连线"/>
          <p:cNvCxnSpPr/>
          <p:nvPr/>
        </p:nvCxnSpPr>
        <p:spPr>
          <a:xfrm>
            <a:off x="10007071" y="4035795"/>
            <a:ext cx="66569" cy="0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连线"/>
          <p:cNvCxnSpPr/>
          <p:nvPr/>
        </p:nvCxnSpPr>
        <p:spPr>
          <a:xfrm>
            <a:off x="9873935" y="3831336"/>
            <a:ext cx="0" cy="66568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连线"/>
          <p:cNvCxnSpPr/>
          <p:nvPr/>
        </p:nvCxnSpPr>
        <p:spPr>
          <a:xfrm>
            <a:off x="9873935" y="4240255"/>
            <a:ext cx="0" cy="66569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连线"/>
          <p:cNvCxnSpPr/>
          <p:nvPr/>
        </p:nvCxnSpPr>
        <p:spPr>
          <a:xfrm>
            <a:off x="9598152" y="4107119"/>
            <a:ext cx="66568" cy="0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连线"/>
          <p:cNvCxnSpPr/>
          <p:nvPr/>
        </p:nvCxnSpPr>
        <p:spPr>
          <a:xfrm>
            <a:off x="10007071" y="4107119"/>
            <a:ext cx="66569" cy="0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连线"/>
          <p:cNvCxnSpPr/>
          <p:nvPr/>
        </p:nvCxnSpPr>
        <p:spPr>
          <a:xfrm>
            <a:off x="9945258" y="3831336"/>
            <a:ext cx="0" cy="66568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连线"/>
          <p:cNvCxnSpPr/>
          <p:nvPr/>
        </p:nvCxnSpPr>
        <p:spPr>
          <a:xfrm>
            <a:off x="9945258" y="4240255"/>
            <a:ext cx="0" cy="66569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连线"/>
          <p:cNvCxnSpPr/>
          <p:nvPr/>
        </p:nvCxnSpPr>
        <p:spPr>
          <a:xfrm>
            <a:off x="9598152" y="4178442"/>
            <a:ext cx="66568" cy="0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连线"/>
          <p:cNvCxnSpPr/>
          <p:nvPr/>
        </p:nvCxnSpPr>
        <p:spPr>
          <a:xfrm>
            <a:off x="10007071" y="4178442"/>
            <a:ext cx="66569" cy="0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文字"/>
          <p:cNvSpPr txBox="1"/>
          <p:nvPr/>
        </p:nvSpPr>
        <p:spPr>
          <a:xfrm>
            <a:off x="527304" y="4974336"/>
            <a:ext cx="10698480" cy="39319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200">
                <a:latin typeface="微软雅黑" panose="020B0503020204020204" charset="-122"/>
              </a:defRPr>
            </a:pPr>
            <a:r>
              <a:rPr sz="22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主线：</a:t>
            </a:r>
            <a:r>
              <a:rPr sz="22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CAN → LIN → 车载以太网 / TSN → AUTOSAR </a:t>
            </a:r>
            <a:endParaRPr sz="22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本页总结背景"/>
          <p:cNvSpPr/>
          <p:nvPr/>
        </p:nvSpPr>
        <p:spPr>
          <a:xfrm>
            <a:off x="585216" y="5861304"/>
            <a:ext cx="11064240" cy="603504"/>
          </a:xfrm>
          <a:prstGeom prst="roundRect">
            <a:avLst>
              <a:gd name="adj" fmla="val 22727"/>
            </a:avLst>
          </a:prstGeom>
          <a:gradFill>
            <a:gsLst>
              <a:gs pos="0">
                <a:srgbClr val="F0F7FE"/>
              </a:gs>
              <a:gs pos="100000">
                <a:srgbClr val="E9F3F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可编辑曲线"/>
          <p:cNvSpPr/>
          <p:nvPr/>
        </p:nvSpPr>
        <p:spPr>
          <a:xfrm>
            <a:off x="907999" y="5999927"/>
            <a:ext cx="310621" cy="133685"/>
          </a:xfrm>
          <a:custGeom>
            <a:avLst/>
            <a:gdLst/>
            <a:ahLst/>
            <a:cxnLst/>
            <a:rect l="l" t="t" r="r" b="b"/>
            <a:pathLst>
              <a:path w="310621" h="133685">
                <a:moveTo>
                  <a:pt x="0" y="133685"/>
                </a:moveTo>
                <a:lnTo>
                  <a:pt x="51115" y="0"/>
                </a:lnTo>
                <a:lnTo>
                  <a:pt x="251643" y="0"/>
                </a:lnTo>
                <a:lnTo>
                  <a:pt x="310621" y="133685"/>
                </a:lnTo>
              </a:path>
            </a:pathLst>
          </a:custGeom>
          <a:noFill/>
          <a:ln w="254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矩形"/>
          <p:cNvSpPr/>
          <p:nvPr/>
        </p:nvSpPr>
        <p:spPr>
          <a:xfrm>
            <a:off x="896203" y="6121816"/>
            <a:ext cx="338145" cy="165140"/>
          </a:xfrm>
          <a:prstGeom prst="roundRect">
            <a:avLst>
              <a:gd name="adj" fmla="val 19047"/>
            </a:avLst>
          </a:prstGeom>
          <a:noFill/>
          <a:ln w="254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连线"/>
          <p:cNvCxnSpPr/>
          <p:nvPr/>
        </p:nvCxnSpPr>
        <p:spPr>
          <a:xfrm>
            <a:off x="915863" y="6129680"/>
            <a:ext cx="302757" cy="0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圆形"/>
          <p:cNvSpPr/>
          <p:nvPr/>
        </p:nvSpPr>
        <p:spPr>
          <a:xfrm>
            <a:off x="935522" y="6180795"/>
            <a:ext cx="51114" cy="5111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圆形"/>
          <p:cNvSpPr/>
          <p:nvPr/>
        </p:nvSpPr>
        <p:spPr>
          <a:xfrm>
            <a:off x="1136050" y="6180795"/>
            <a:ext cx="51114" cy="5111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连线"/>
          <p:cNvCxnSpPr/>
          <p:nvPr/>
        </p:nvCxnSpPr>
        <p:spPr>
          <a:xfrm>
            <a:off x="943386" y="6283025"/>
            <a:ext cx="0" cy="51115"/>
          </a:xfrm>
          <a:prstGeom prst="line">
            <a:avLst/>
          </a:prstGeom>
          <a:ln w="381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连线"/>
          <p:cNvCxnSpPr/>
          <p:nvPr/>
        </p:nvCxnSpPr>
        <p:spPr>
          <a:xfrm>
            <a:off x="1183233" y="6283025"/>
            <a:ext cx="0" cy="51115"/>
          </a:xfrm>
          <a:prstGeom prst="line">
            <a:avLst/>
          </a:prstGeom>
          <a:ln w="381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连线"/>
          <p:cNvCxnSpPr/>
          <p:nvPr/>
        </p:nvCxnSpPr>
        <p:spPr>
          <a:xfrm>
            <a:off x="1435608" y="5952744"/>
            <a:ext cx="0" cy="420624"/>
          </a:xfrm>
          <a:prstGeom prst="line">
            <a:avLst/>
          </a:prstGeom>
          <a:ln w="15875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本页总结"/>
          <p:cNvSpPr txBox="1"/>
          <p:nvPr/>
        </p:nvSpPr>
        <p:spPr>
          <a:xfrm>
            <a:off x="1655064" y="5952744"/>
            <a:ext cx="9692640" cy="45720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000">
                <a:latin typeface="微软雅黑" panose="020B0503020204020204" charset="-122"/>
              </a:defRPr>
            </a:pPr>
            <a:r>
              <a:rPr sz="20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谁发送、传什么、谁处理、如何验证。</a:t>
            </a:r>
            <a:endParaRPr sz="20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白色背景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右下角淡蓝装饰"/>
          <p:cNvSpPr/>
          <p:nvPr/>
        </p:nvSpPr>
        <p:spPr>
          <a:xfrm>
            <a:off x="10774679" y="5440680"/>
            <a:ext cx="1417320" cy="1417320"/>
          </a:xfrm>
          <a:custGeom>
            <a:avLst/>
            <a:gdLst/>
            <a:ahLst/>
            <a:cxnLst/>
            <a:rect l="l" t="t" r="r" b="b"/>
            <a:pathLst>
              <a:path w="1417320" h="1417320">
                <a:moveTo>
                  <a:pt x="1417320" y="1417320"/>
                </a:moveTo>
                <a:lnTo>
                  <a:pt x="0" y="1417320"/>
                </a:lnTo>
                <a:lnTo>
                  <a:pt x="700" y="1372800"/>
                </a:lnTo>
                <a:lnTo>
                  <a:pt x="2797" y="1328325"/>
                </a:lnTo>
                <a:lnTo>
                  <a:pt x="6290" y="1283938"/>
                </a:lnTo>
                <a:lnTo>
                  <a:pt x="11176" y="1239682"/>
                </a:lnTo>
                <a:lnTo>
                  <a:pt x="17450" y="1195602"/>
                </a:lnTo>
                <a:lnTo>
                  <a:pt x="25105" y="1151740"/>
                </a:lnTo>
                <a:lnTo>
                  <a:pt x="34134" y="1108141"/>
                </a:lnTo>
                <a:lnTo>
                  <a:pt x="44528" y="1064846"/>
                </a:lnTo>
                <a:lnTo>
                  <a:pt x="56277" y="1021900"/>
                </a:lnTo>
                <a:lnTo>
                  <a:pt x="69369" y="979344"/>
                </a:lnTo>
                <a:lnTo>
                  <a:pt x="83791" y="937219"/>
                </a:lnTo>
                <a:lnTo>
                  <a:pt x="99529" y="895569"/>
                </a:lnTo>
                <a:lnTo>
                  <a:pt x="116568" y="854434"/>
                </a:lnTo>
                <a:lnTo>
                  <a:pt x="134891" y="813854"/>
                </a:lnTo>
                <a:lnTo>
                  <a:pt x="154479" y="773870"/>
                </a:lnTo>
                <a:lnTo>
                  <a:pt x="175313" y="734520"/>
                </a:lnTo>
                <a:lnTo>
                  <a:pt x="197373" y="695845"/>
                </a:lnTo>
                <a:lnTo>
                  <a:pt x="220637" y="657881"/>
                </a:lnTo>
                <a:lnTo>
                  <a:pt x="245082" y="620667"/>
                </a:lnTo>
                <a:lnTo>
                  <a:pt x="270684" y="584240"/>
                </a:lnTo>
                <a:lnTo>
                  <a:pt x="297418" y="548634"/>
                </a:lnTo>
                <a:lnTo>
                  <a:pt x="325256" y="513886"/>
                </a:lnTo>
                <a:lnTo>
                  <a:pt x="354173" y="480029"/>
                </a:lnTo>
                <a:lnTo>
                  <a:pt x="384138" y="447097"/>
                </a:lnTo>
                <a:lnTo>
                  <a:pt x="415124" y="415123"/>
                </a:lnTo>
                <a:lnTo>
                  <a:pt x="447098" y="384138"/>
                </a:lnTo>
                <a:lnTo>
                  <a:pt x="480030" y="354172"/>
                </a:lnTo>
                <a:lnTo>
                  <a:pt x="513886" y="325256"/>
                </a:lnTo>
                <a:lnTo>
                  <a:pt x="548635" y="297417"/>
                </a:lnTo>
                <a:lnTo>
                  <a:pt x="584240" y="270684"/>
                </a:lnTo>
                <a:lnTo>
                  <a:pt x="620668" y="245082"/>
                </a:lnTo>
                <a:lnTo>
                  <a:pt x="657882" y="220637"/>
                </a:lnTo>
                <a:lnTo>
                  <a:pt x="695846" y="197373"/>
                </a:lnTo>
                <a:lnTo>
                  <a:pt x="734521" y="175313"/>
                </a:lnTo>
                <a:lnTo>
                  <a:pt x="773870" y="154478"/>
                </a:lnTo>
                <a:lnTo>
                  <a:pt x="813855" y="134890"/>
                </a:lnTo>
                <a:lnTo>
                  <a:pt x="854435" y="116568"/>
                </a:lnTo>
                <a:lnTo>
                  <a:pt x="895570" y="99529"/>
                </a:lnTo>
                <a:lnTo>
                  <a:pt x="937220" y="83790"/>
                </a:lnTo>
                <a:lnTo>
                  <a:pt x="979344" y="69368"/>
                </a:lnTo>
                <a:lnTo>
                  <a:pt x="1021901" y="56276"/>
                </a:lnTo>
                <a:lnTo>
                  <a:pt x="1064847" y="44527"/>
                </a:lnTo>
                <a:lnTo>
                  <a:pt x="1108141" y="34133"/>
                </a:lnTo>
                <a:lnTo>
                  <a:pt x="1151741" y="25104"/>
                </a:lnTo>
                <a:lnTo>
                  <a:pt x="1195602" y="17449"/>
                </a:lnTo>
                <a:lnTo>
                  <a:pt x="1239683" y="11175"/>
                </a:lnTo>
                <a:lnTo>
                  <a:pt x="1283939" y="6290"/>
                </a:lnTo>
                <a:lnTo>
                  <a:pt x="1328326" y="2796"/>
                </a:lnTo>
                <a:lnTo>
                  <a:pt x="1372801" y="699"/>
                </a:lnTo>
                <a:lnTo>
                  <a:pt x="1417320" y="0"/>
                </a:lnTo>
                <a:lnTo>
                  <a:pt x="1417320" y="1417320"/>
                </a:lnTo>
                <a:close/>
              </a:path>
            </a:pathLst>
          </a:custGeom>
          <a:solidFill>
            <a:srgbClr val="F4F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右下角淡蓝装饰"/>
          <p:cNvSpPr/>
          <p:nvPr/>
        </p:nvSpPr>
        <p:spPr>
          <a:xfrm>
            <a:off x="11076431" y="5742432"/>
            <a:ext cx="1115568" cy="1115568"/>
          </a:xfrm>
          <a:custGeom>
            <a:avLst/>
            <a:gdLst/>
            <a:ahLst/>
            <a:cxnLst/>
            <a:rect l="l" t="t" r="r" b="b"/>
            <a:pathLst>
              <a:path w="1115568" h="1115568">
                <a:moveTo>
                  <a:pt x="1115568" y="1115568"/>
                </a:moveTo>
                <a:lnTo>
                  <a:pt x="0" y="1115568"/>
                </a:lnTo>
                <a:lnTo>
                  <a:pt x="551" y="1080527"/>
                </a:lnTo>
                <a:lnTo>
                  <a:pt x="2202" y="1045520"/>
                </a:lnTo>
                <a:lnTo>
                  <a:pt x="4951" y="1010583"/>
                </a:lnTo>
                <a:lnTo>
                  <a:pt x="8797" y="975750"/>
                </a:lnTo>
                <a:lnTo>
                  <a:pt x="13735" y="941054"/>
                </a:lnTo>
                <a:lnTo>
                  <a:pt x="19760" y="906531"/>
                </a:lnTo>
                <a:lnTo>
                  <a:pt x="26867" y="872214"/>
                </a:lnTo>
                <a:lnTo>
                  <a:pt x="35048" y="838137"/>
                </a:lnTo>
                <a:lnTo>
                  <a:pt x="44295" y="804334"/>
                </a:lnTo>
                <a:lnTo>
                  <a:pt x="54600" y="770838"/>
                </a:lnTo>
                <a:lnTo>
                  <a:pt x="65952" y="737682"/>
                </a:lnTo>
                <a:lnTo>
                  <a:pt x="78339" y="704900"/>
                </a:lnTo>
                <a:lnTo>
                  <a:pt x="91751" y="672522"/>
                </a:lnTo>
                <a:lnTo>
                  <a:pt x="106172" y="640582"/>
                </a:lnTo>
                <a:lnTo>
                  <a:pt x="121590" y="609110"/>
                </a:lnTo>
                <a:lnTo>
                  <a:pt x="137989" y="578139"/>
                </a:lnTo>
                <a:lnTo>
                  <a:pt x="155352" y="547697"/>
                </a:lnTo>
                <a:lnTo>
                  <a:pt x="173663" y="517816"/>
                </a:lnTo>
                <a:lnTo>
                  <a:pt x="192904" y="488525"/>
                </a:lnTo>
                <a:lnTo>
                  <a:pt x="213055" y="459853"/>
                </a:lnTo>
                <a:lnTo>
                  <a:pt x="234097" y="431828"/>
                </a:lnTo>
                <a:lnTo>
                  <a:pt x="256008" y="404478"/>
                </a:lnTo>
                <a:lnTo>
                  <a:pt x="278768" y="377829"/>
                </a:lnTo>
                <a:lnTo>
                  <a:pt x="302354" y="351909"/>
                </a:lnTo>
                <a:lnTo>
                  <a:pt x="326742" y="326742"/>
                </a:lnTo>
                <a:lnTo>
                  <a:pt x="351909" y="302353"/>
                </a:lnTo>
                <a:lnTo>
                  <a:pt x="377830" y="278768"/>
                </a:lnTo>
                <a:lnTo>
                  <a:pt x="404478" y="256008"/>
                </a:lnTo>
                <a:lnTo>
                  <a:pt x="431829" y="234096"/>
                </a:lnTo>
                <a:lnTo>
                  <a:pt x="459854" y="213054"/>
                </a:lnTo>
                <a:lnTo>
                  <a:pt x="488526" y="192903"/>
                </a:lnTo>
                <a:lnTo>
                  <a:pt x="517817" y="173662"/>
                </a:lnTo>
                <a:lnTo>
                  <a:pt x="547698" y="155351"/>
                </a:lnTo>
                <a:lnTo>
                  <a:pt x="578139" y="137988"/>
                </a:lnTo>
                <a:lnTo>
                  <a:pt x="609111" y="121589"/>
                </a:lnTo>
                <a:lnTo>
                  <a:pt x="640582" y="106171"/>
                </a:lnTo>
                <a:lnTo>
                  <a:pt x="672523" y="91750"/>
                </a:lnTo>
                <a:lnTo>
                  <a:pt x="704900" y="78339"/>
                </a:lnTo>
                <a:lnTo>
                  <a:pt x="737683" y="65951"/>
                </a:lnTo>
                <a:lnTo>
                  <a:pt x="770839" y="54599"/>
                </a:lnTo>
                <a:lnTo>
                  <a:pt x="804335" y="44295"/>
                </a:lnTo>
                <a:lnTo>
                  <a:pt x="838138" y="35047"/>
                </a:lnTo>
                <a:lnTo>
                  <a:pt x="872215" y="26866"/>
                </a:lnTo>
                <a:lnTo>
                  <a:pt x="906532" y="19759"/>
                </a:lnTo>
                <a:lnTo>
                  <a:pt x="941055" y="13734"/>
                </a:lnTo>
                <a:lnTo>
                  <a:pt x="975750" y="8796"/>
                </a:lnTo>
                <a:lnTo>
                  <a:pt x="1010584" y="4950"/>
                </a:lnTo>
                <a:lnTo>
                  <a:pt x="1045521" y="2201"/>
                </a:lnTo>
                <a:lnTo>
                  <a:pt x="1080527" y="550"/>
                </a:lnTo>
                <a:lnTo>
                  <a:pt x="1115568" y="0"/>
                </a:lnTo>
                <a:lnTo>
                  <a:pt x="1115568" y="1115568"/>
                </a:lnTo>
                <a:close/>
              </a:path>
            </a:pathLst>
          </a:custGeom>
          <a:solidFill>
            <a:srgbClr val="F8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圆形"/>
          <p:cNvSpPr/>
          <p:nvPr/>
        </p:nvSpPr>
        <p:spPr>
          <a:xfrm>
            <a:off x="1038758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圆形"/>
          <p:cNvSpPr/>
          <p:nvPr/>
        </p:nvSpPr>
        <p:spPr>
          <a:xfrm>
            <a:off x="1038758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圆形"/>
          <p:cNvSpPr/>
          <p:nvPr/>
        </p:nvSpPr>
        <p:spPr>
          <a:xfrm>
            <a:off x="1038758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圆形"/>
          <p:cNvSpPr/>
          <p:nvPr/>
        </p:nvSpPr>
        <p:spPr>
          <a:xfrm>
            <a:off x="1055217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圆形"/>
          <p:cNvSpPr/>
          <p:nvPr/>
        </p:nvSpPr>
        <p:spPr>
          <a:xfrm>
            <a:off x="1055217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圆形"/>
          <p:cNvSpPr/>
          <p:nvPr/>
        </p:nvSpPr>
        <p:spPr>
          <a:xfrm>
            <a:off x="1055217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圆形"/>
          <p:cNvSpPr/>
          <p:nvPr/>
        </p:nvSpPr>
        <p:spPr>
          <a:xfrm>
            <a:off x="10716767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圆形"/>
          <p:cNvSpPr/>
          <p:nvPr/>
        </p:nvSpPr>
        <p:spPr>
          <a:xfrm>
            <a:off x="10716767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圆形"/>
          <p:cNvSpPr/>
          <p:nvPr/>
        </p:nvSpPr>
        <p:spPr>
          <a:xfrm>
            <a:off x="10716767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圆形"/>
          <p:cNvSpPr/>
          <p:nvPr/>
        </p:nvSpPr>
        <p:spPr>
          <a:xfrm>
            <a:off x="10881359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圆形"/>
          <p:cNvSpPr/>
          <p:nvPr/>
        </p:nvSpPr>
        <p:spPr>
          <a:xfrm>
            <a:off x="10881359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圆形"/>
          <p:cNvSpPr/>
          <p:nvPr/>
        </p:nvSpPr>
        <p:spPr>
          <a:xfrm>
            <a:off x="10881359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圆形"/>
          <p:cNvSpPr/>
          <p:nvPr/>
        </p:nvSpPr>
        <p:spPr>
          <a:xfrm>
            <a:off x="11045952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圆形"/>
          <p:cNvSpPr/>
          <p:nvPr/>
        </p:nvSpPr>
        <p:spPr>
          <a:xfrm>
            <a:off x="11045952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圆形"/>
          <p:cNvSpPr/>
          <p:nvPr/>
        </p:nvSpPr>
        <p:spPr>
          <a:xfrm>
            <a:off x="11045952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圆形"/>
          <p:cNvSpPr/>
          <p:nvPr/>
        </p:nvSpPr>
        <p:spPr>
          <a:xfrm>
            <a:off x="1121054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圆形"/>
          <p:cNvSpPr/>
          <p:nvPr/>
        </p:nvSpPr>
        <p:spPr>
          <a:xfrm>
            <a:off x="1121054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圆形"/>
          <p:cNvSpPr/>
          <p:nvPr/>
        </p:nvSpPr>
        <p:spPr>
          <a:xfrm>
            <a:off x="1121054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圆形"/>
          <p:cNvSpPr/>
          <p:nvPr/>
        </p:nvSpPr>
        <p:spPr>
          <a:xfrm>
            <a:off x="1137513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圆形"/>
          <p:cNvSpPr/>
          <p:nvPr/>
        </p:nvSpPr>
        <p:spPr>
          <a:xfrm>
            <a:off x="1137513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圆形"/>
          <p:cNvSpPr/>
          <p:nvPr/>
        </p:nvSpPr>
        <p:spPr>
          <a:xfrm>
            <a:off x="1137513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圆形"/>
          <p:cNvSpPr/>
          <p:nvPr/>
        </p:nvSpPr>
        <p:spPr>
          <a:xfrm>
            <a:off x="11539728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圆形"/>
          <p:cNvSpPr/>
          <p:nvPr/>
        </p:nvSpPr>
        <p:spPr>
          <a:xfrm>
            <a:off x="11539728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圆形"/>
          <p:cNvSpPr/>
          <p:nvPr/>
        </p:nvSpPr>
        <p:spPr>
          <a:xfrm>
            <a:off x="11539728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标题蓝色竖线"/>
          <p:cNvSpPr/>
          <p:nvPr/>
        </p:nvSpPr>
        <p:spPr>
          <a:xfrm>
            <a:off x="274320" y="356616"/>
            <a:ext cx="109728" cy="585216"/>
          </a:xfrm>
          <a:prstGeom prst="roundRect">
            <a:avLst>
              <a:gd name="adj" fmla="val 41666"/>
            </a:avLst>
          </a:prstGeom>
          <a:gradFill>
            <a:gsLst>
              <a:gs pos="0">
                <a:srgbClr val="3A92D5"/>
              </a:gs>
              <a:gs pos="100000">
                <a:srgbClr val="146FB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标题"/>
          <p:cNvSpPr txBox="1"/>
          <p:nvPr/>
        </p:nvSpPr>
        <p:spPr>
          <a:xfrm>
            <a:off x="621792" y="301752"/>
            <a:ext cx="9390888" cy="64922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3600">
                <a:latin typeface="微软雅黑" panose="020B0503020204020204" charset="-122"/>
              </a:defRPr>
            </a:pPr>
            <a:r>
              <a:rPr sz="35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本章知识目录</a:t>
            </a:r>
            <a:endParaRPr sz="35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标题分隔线"/>
          <p:cNvSpPr/>
          <p:nvPr/>
        </p:nvSpPr>
        <p:spPr>
          <a:xfrm>
            <a:off x="621792" y="1051560"/>
            <a:ext cx="11109960" cy="18288"/>
          </a:xfrm>
          <a:prstGeom prst="rect">
            <a:avLst/>
          </a:prstGeom>
          <a:gradFill>
            <a:gsLst>
              <a:gs pos="0">
                <a:srgbClr val="3A92D5"/>
              </a:gs>
              <a:gs pos="100000">
                <a:srgbClr val="E3EFF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tongji_wordm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4" y="256032"/>
            <a:ext cx="1554480" cy="385298"/>
          </a:xfrm>
          <a:prstGeom prst="rect">
            <a:avLst/>
          </a:prstGeom>
          <a:effectLst/>
        </p:spPr>
      </p:pic>
      <p:sp>
        <p:nvSpPr>
          <p:cNvPr id="33" name="导入句"/>
          <p:cNvSpPr txBox="1"/>
          <p:nvPr/>
        </p:nvSpPr>
        <p:spPr>
          <a:xfrm>
            <a:off x="621792" y="1271016"/>
            <a:ext cx="10972800" cy="57607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000">
                <a:latin typeface="微软雅黑" panose="020B0503020204020204" charset="-122"/>
              </a:defRPr>
            </a:pPr>
            <a:r>
              <a:rPr sz="20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三组核心知识，最终汇入一个可运行的车辆灯光控制项目。</a:t>
            </a:r>
            <a:endParaRPr sz="20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CAN / LIN卡片"/>
          <p:cNvSpPr/>
          <p:nvPr/>
        </p:nvSpPr>
        <p:spPr>
          <a:xfrm>
            <a:off x="630936" y="1965960"/>
            <a:ext cx="3666744" cy="3291840"/>
          </a:xfrm>
          <a:prstGeom prst="roundRect">
            <a:avLst>
              <a:gd name="adj" fmla="val 4444"/>
            </a:avLst>
          </a:prstGeom>
          <a:solidFill>
            <a:srgbClr val="F6FAFE"/>
          </a:solidFill>
          <a:ln w="10160">
            <a:solidFill>
              <a:srgbClr val="B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卡片标题条"/>
          <p:cNvSpPr/>
          <p:nvPr/>
        </p:nvSpPr>
        <p:spPr>
          <a:xfrm>
            <a:off x="630936" y="1965960"/>
            <a:ext cx="3666744" cy="585216"/>
          </a:xfrm>
          <a:prstGeom prst="roundRect">
            <a:avLst>
              <a:gd name="adj" fmla="val 20312"/>
            </a:avLst>
          </a:prstGeom>
          <a:gradFill>
            <a:gsLst>
              <a:gs pos="0">
                <a:srgbClr val="EDF5FD"/>
              </a:gs>
              <a:gs pos="100000">
                <a:srgbClr val="F7FBF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文字"/>
          <p:cNvSpPr txBox="1"/>
          <p:nvPr/>
        </p:nvSpPr>
        <p:spPr>
          <a:xfrm>
            <a:off x="813815" y="2084831"/>
            <a:ext cx="3328415" cy="33832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200">
                <a:latin typeface="微软雅黑" panose="020B0503020204020204" charset="-122"/>
              </a:defRPr>
            </a:pPr>
            <a:r>
              <a:rPr sz="22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CAN / LIN</a:t>
            </a:r>
            <a:endParaRPr sz="22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矩形"/>
          <p:cNvSpPr/>
          <p:nvPr/>
        </p:nvSpPr>
        <p:spPr>
          <a:xfrm>
            <a:off x="2355494" y="2948482"/>
            <a:ext cx="199339" cy="199339"/>
          </a:xfrm>
          <a:prstGeom prst="roundRect">
            <a:avLst>
              <a:gd name="adj" fmla="val 9174"/>
            </a:avLst>
          </a:prstGeom>
          <a:noFill/>
          <a:ln w="1778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矩形"/>
          <p:cNvSpPr/>
          <p:nvPr/>
        </p:nvSpPr>
        <p:spPr>
          <a:xfrm>
            <a:off x="2026584" y="3576401"/>
            <a:ext cx="199339" cy="199339"/>
          </a:xfrm>
          <a:prstGeom prst="roundRect">
            <a:avLst>
              <a:gd name="adj" fmla="val 9174"/>
            </a:avLst>
          </a:prstGeom>
          <a:noFill/>
          <a:ln w="1778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矩形"/>
          <p:cNvSpPr/>
          <p:nvPr/>
        </p:nvSpPr>
        <p:spPr>
          <a:xfrm>
            <a:off x="2355494" y="3576401"/>
            <a:ext cx="199339" cy="199339"/>
          </a:xfrm>
          <a:prstGeom prst="roundRect">
            <a:avLst>
              <a:gd name="adj" fmla="val 9174"/>
            </a:avLst>
          </a:prstGeom>
          <a:noFill/>
          <a:ln w="1778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矩形"/>
          <p:cNvSpPr/>
          <p:nvPr/>
        </p:nvSpPr>
        <p:spPr>
          <a:xfrm>
            <a:off x="2694371" y="3576401"/>
            <a:ext cx="199339" cy="199339"/>
          </a:xfrm>
          <a:prstGeom prst="roundRect">
            <a:avLst>
              <a:gd name="adj" fmla="val 9174"/>
            </a:avLst>
          </a:prstGeom>
          <a:noFill/>
          <a:ln w="1778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连线"/>
          <p:cNvCxnSpPr/>
          <p:nvPr/>
        </p:nvCxnSpPr>
        <p:spPr>
          <a:xfrm>
            <a:off x="2455163" y="3147822"/>
            <a:ext cx="0" cy="249174"/>
          </a:xfrm>
          <a:prstGeom prst="line">
            <a:avLst/>
          </a:prstGeom>
          <a:ln w="1905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连线"/>
          <p:cNvCxnSpPr/>
          <p:nvPr/>
        </p:nvCxnSpPr>
        <p:spPr>
          <a:xfrm>
            <a:off x="2126254" y="3396996"/>
            <a:ext cx="667786" cy="0"/>
          </a:xfrm>
          <a:prstGeom prst="line">
            <a:avLst/>
          </a:prstGeom>
          <a:ln w="1905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连线"/>
          <p:cNvCxnSpPr/>
          <p:nvPr/>
        </p:nvCxnSpPr>
        <p:spPr>
          <a:xfrm>
            <a:off x="2126254" y="3396996"/>
            <a:ext cx="0" cy="179405"/>
          </a:xfrm>
          <a:prstGeom prst="line">
            <a:avLst/>
          </a:prstGeom>
          <a:ln w="1905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连线"/>
          <p:cNvCxnSpPr/>
          <p:nvPr/>
        </p:nvCxnSpPr>
        <p:spPr>
          <a:xfrm>
            <a:off x="2455163" y="3396996"/>
            <a:ext cx="0" cy="179405"/>
          </a:xfrm>
          <a:prstGeom prst="line">
            <a:avLst/>
          </a:prstGeom>
          <a:ln w="1905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连线"/>
          <p:cNvCxnSpPr/>
          <p:nvPr/>
        </p:nvCxnSpPr>
        <p:spPr>
          <a:xfrm>
            <a:off x="2794040" y="3396996"/>
            <a:ext cx="0" cy="179405"/>
          </a:xfrm>
          <a:prstGeom prst="line">
            <a:avLst/>
          </a:prstGeom>
          <a:ln w="1905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字"/>
          <p:cNvSpPr txBox="1"/>
          <p:nvPr/>
        </p:nvSpPr>
        <p:spPr>
          <a:xfrm>
            <a:off x="813815" y="4251960"/>
            <a:ext cx="3300984" cy="39319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100">
                <a:latin typeface="微软雅黑" panose="020B0503020204020204" charset="-122"/>
              </a:defRPr>
            </a:pPr>
            <a:r>
              <a:rPr sz="21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CAN/LIN总线原理与应用</a:t>
            </a:r>
            <a:endParaRPr sz="21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字"/>
          <p:cNvSpPr txBox="1"/>
          <p:nvPr/>
        </p:nvSpPr>
        <p:spPr>
          <a:xfrm>
            <a:off x="850392" y="4754880"/>
            <a:ext cx="3227832" cy="32918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700">
                <a:latin typeface="微软雅黑" panose="020B0503020204020204" charset="-122"/>
              </a:defRPr>
            </a:pPr>
            <a:r>
              <a:rPr sz="190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控制模块怎样共享消息？</a:t>
            </a:r>
            <a:endParaRPr sz="190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Ethernet / TSN卡片"/>
          <p:cNvSpPr/>
          <p:nvPr/>
        </p:nvSpPr>
        <p:spPr>
          <a:xfrm>
            <a:off x="4498848" y="1965960"/>
            <a:ext cx="3666744" cy="3291840"/>
          </a:xfrm>
          <a:prstGeom prst="roundRect">
            <a:avLst>
              <a:gd name="adj" fmla="val 4444"/>
            </a:avLst>
          </a:prstGeom>
          <a:solidFill>
            <a:srgbClr val="F6FAFE"/>
          </a:solidFill>
          <a:ln w="10160">
            <a:solidFill>
              <a:srgbClr val="B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卡片标题条"/>
          <p:cNvSpPr/>
          <p:nvPr/>
        </p:nvSpPr>
        <p:spPr>
          <a:xfrm>
            <a:off x="4498848" y="1965960"/>
            <a:ext cx="3666744" cy="585216"/>
          </a:xfrm>
          <a:prstGeom prst="roundRect">
            <a:avLst>
              <a:gd name="adj" fmla="val 20312"/>
            </a:avLst>
          </a:prstGeom>
          <a:gradFill>
            <a:gsLst>
              <a:gs pos="0">
                <a:srgbClr val="EDF5FD"/>
              </a:gs>
              <a:gs pos="100000">
                <a:srgbClr val="F7FBF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文字"/>
          <p:cNvSpPr txBox="1"/>
          <p:nvPr/>
        </p:nvSpPr>
        <p:spPr>
          <a:xfrm>
            <a:off x="4681728" y="2084831"/>
            <a:ext cx="3328415" cy="33832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200">
                <a:latin typeface="微软雅黑" panose="020B0503020204020204" charset="-122"/>
              </a:defRPr>
            </a:pPr>
            <a:r>
              <a:rPr sz="22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Ethernet / TSN</a:t>
            </a:r>
            <a:endParaRPr sz="22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3" name="连线"/>
          <p:cNvCxnSpPr/>
          <p:nvPr/>
        </p:nvCxnSpPr>
        <p:spPr>
          <a:xfrm>
            <a:off x="5824728" y="3177722"/>
            <a:ext cx="897026" cy="0"/>
          </a:xfrm>
          <a:prstGeom prst="line">
            <a:avLst/>
          </a:prstGeom>
          <a:ln w="38100" cap="rnd">
            <a:solidFill>
              <a:srgbClr val="146FB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连线"/>
          <p:cNvCxnSpPr/>
          <p:nvPr/>
        </p:nvCxnSpPr>
        <p:spPr>
          <a:xfrm flipH="1">
            <a:off x="5874562" y="3616269"/>
            <a:ext cx="897027" cy="0"/>
          </a:xfrm>
          <a:prstGeom prst="line">
            <a:avLst/>
          </a:prstGeom>
          <a:ln w="38100" cap="rnd">
            <a:solidFill>
              <a:srgbClr val="146FB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字"/>
          <p:cNvSpPr txBox="1"/>
          <p:nvPr/>
        </p:nvSpPr>
        <p:spPr>
          <a:xfrm>
            <a:off x="4681728" y="4251960"/>
            <a:ext cx="3300984" cy="39319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100">
                <a:latin typeface="微软雅黑" panose="020B0503020204020204" charset="-122"/>
              </a:defRPr>
            </a:pPr>
            <a:r>
              <a:rPr sz="21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车载以太网与TSN技术</a:t>
            </a:r>
            <a:endParaRPr sz="21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字"/>
          <p:cNvSpPr txBox="1"/>
          <p:nvPr/>
        </p:nvSpPr>
        <p:spPr>
          <a:xfrm>
            <a:off x="4718304" y="4754880"/>
            <a:ext cx="3227832" cy="32918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650">
                <a:latin typeface="微软雅黑" panose="020B0503020204020204" charset="-122"/>
              </a:defRPr>
            </a:pPr>
            <a:r>
              <a:rPr sz="170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大数据量与时间要求怎样兼顾？</a:t>
            </a:r>
            <a:endParaRPr sz="170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AUTOSAR卡片"/>
          <p:cNvSpPr/>
          <p:nvPr/>
        </p:nvSpPr>
        <p:spPr>
          <a:xfrm>
            <a:off x="8366760" y="1965960"/>
            <a:ext cx="3666744" cy="3291840"/>
          </a:xfrm>
          <a:prstGeom prst="roundRect">
            <a:avLst>
              <a:gd name="adj" fmla="val 4444"/>
            </a:avLst>
          </a:prstGeom>
          <a:solidFill>
            <a:srgbClr val="F6FAFE"/>
          </a:solidFill>
          <a:ln w="10160">
            <a:solidFill>
              <a:srgbClr val="B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卡片标题条"/>
          <p:cNvSpPr/>
          <p:nvPr/>
        </p:nvSpPr>
        <p:spPr>
          <a:xfrm>
            <a:off x="8366760" y="1965960"/>
            <a:ext cx="3666744" cy="585216"/>
          </a:xfrm>
          <a:prstGeom prst="roundRect">
            <a:avLst>
              <a:gd name="adj" fmla="val 20312"/>
            </a:avLst>
          </a:prstGeom>
          <a:gradFill>
            <a:gsLst>
              <a:gs pos="0">
                <a:srgbClr val="EDF5FD"/>
              </a:gs>
              <a:gs pos="100000">
                <a:srgbClr val="F7FBF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文字"/>
          <p:cNvSpPr txBox="1"/>
          <p:nvPr/>
        </p:nvSpPr>
        <p:spPr>
          <a:xfrm>
            <a:off x="8549640" y="2084831"/>
            <a:ext cx="3328416" cy="33832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200">
                <a:latin typeface="微软雅黑" panose="020B0503020204020204" charset="-122"/>
              </a:defRPr>
            </a:pPr>
            <a:r>
              <a:rPr sz="22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AUTOSAR</a:t>
            </a:r>
            <a:endParaRPr sz="22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矩形"/>
          <p:cNvSpPr/>
          <p:nvPr/>
        </p:nvSpPr>
        <p:spPr>
          <a:xfrm>
            <a:off x="9891979" y="3097987"/>
            <a:ext cx="598017" cy="598017"/>
          </a:xfrm>
          <a:prstGeom prst="rect">
            <a:avLst/>
          </a:prstGeom>
          <a:noFill/>
          <a:ln w="254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矩形"/>
          <p:cNvSpPr/>
          <p:nvPr/>
        </p:nvSpPr>
        <p:spPr>
          <a:xfrm>
            <a:off x="10031516" y="3237524"/>
            <a:ext cx="318942" cy="318942"/>
          </a:xfrm>
          <a:prstGeom prst="rect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连线"/>
          <p:cNvCxnSpPr/>
          <p:nvPr/>
        </p:nvCxnSpPr>
        <p:spPr>
          <a:xfrm>
            <a:off x="9971714" y="2898648"/>
            <a:ext cx="0" cy="139537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连线"/>
          <p:cNvCxnSpPr/>
          <p:nvPr/>
        </p:nvCxnSpPr>
        <p:spPr>
          <a:xfrm>
            <a:off x="9971714" y="3755806"/>
            <a:ext cx="0" cy="139538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连线"/>
          <p:cNvCxnSpPr/>
          <p:nvPr/>
        </p:nvCxnSpPr>
        <p:spPr>
          <a:xfrm>
            <a:off x="9692640" y="3177722"/>
            <a:ext cx="139537" cy="0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连线"/>
          <p:cNvCxnSpPr/>
          <p:nvPr/>
        </p:nvCxnSpPr>
        <p:spPr>
          <a:xfrm>
            <a:off x="10549798" y="3177722"/>
            <a:ext cx="139538" cy="0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连线"/>
          <p:cNvCxnSpPr/>
          <p:nvPr/>
        </p:nvCxnSpPr>
        <p:spPr>
          <a:xfrm>
            <a:off x="10121219" y="2898648"/>
            <a:ext cx="0" cy="139537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连线"/>
          <p:cNvCxnSpPr/>
          <p:nvPr/>
        </p:nvCxnSpPr>
        <p:spPr>
          <a:xfrm>
            <a:off x="10121219" y="3755806"/>
            <a:ext cx="0" cy="139538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连线"/>
          <p:cNvCxnSpPr/>
          <p:nvPr/>
        </p:nvCxnSpPr>
        <p:spPr>
          <a:xfrm>
            <a:off x="9692640" y="3327227"/>
            <a:ext cx="139537" cy="0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连线"/>
          <p:cNvCxnSpPr/>
          <p:nvPr/>
        </p:nvCxnSpPr>
        <p:spPr>
          <a:xfrm>
            <a:off x="10549798" y="3327227"/>
            <a:ext cx="139538" cy="0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连线"/>
          <p:cNvCxnSpPr/>
          <p:nvPr/>
        </p:nvCxnSpPr>
        <p:spPr>
          <a:xfrm>
            <a:off x="10270723" y="2898648"/>
            <a:ext cx="0" cy="139537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连线"/>
          <p:cNvCxnSpPr/>
          <p:nvPr/>
        </p:nvCxnSpPr>
        <p:spPr>
          <a:xfrm>
            <a:off x="10270723" y="3755806"/>
            <a:ext cx="0" cy="139538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连线"/>
          <p:cNvCxnSpPr/>
          <p:nvPr/>
        </p:nvCxnSpPr>
        <p:spPr>
          <a:xfrm>
            <a:off x="9692640" y="3476731"/>
            <a:ext cx="139537" cy="0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连线"/>
          <p:cNvCxnSpPr/>
          <p:nvPr/>
        </p:nvCxnSpPr>
        <p:spPr>
          <a:xfrm>
            <a:off x="10549798" y="3476731"/>
            <a:ext cx="139538" cy="0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连线"/>
          <p:cNvCxnSpPr/>
          <p:nvPr/>
        </p:nvCxnSpPr>
        <p:spPr>
          <a:xfrm>
            <a:off x="10420228" y="2898648"/>
            <a:ext cx="0" cy="139537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连线"/>
          <p:cNvCxnSpPr/>
          <p:nvPr/>
        </p:nvCxnSpPr>
        <p:spPr>
          <a:xfrm>
            <a:off x="10420228" y="3755806"/>
            <a:ext cx="0" cy="139538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连线"/>
          <p:cNvCxnSpPr/>
          <p:nvPr/>
        </p:nvCxnSpPr>
        <p:spPr>
          <a:xfrm>
            <a:off x="9692640" y="3626236"/>
            <a:ext cx="139537" cy="0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连线"/>
          <p:cNvCxnSpPr/>
          <p:nvPr/>
        </p:nvCxnSpPr>
        <p:spPr>
          <a:xfrm>
            <a:off x="10549798" y="3626236"/>
            <a:ext cx="139538" cy="0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字"/>
          <p:cNvSpPr txBox="1"/>
          <p:nvPr/>
        </p:nvSpPr>
        <p:spPr>
          <a:xfrm>
            <a:off x="8549640" y="4251960"/>
            <a:ext cx="3300984" cy="39319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100">
                <a:latin typeface="微软雅黑" panose="020B0503020204020204" charset="-122"/>
              </a:defRPr>
            </a:pPr>
            <a:r>
              <a:rPr sz="21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AUTOSAR通信中间件</a:t>
            </a:r>
            <a:endParaRPr sz="21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文字"/>
          <p:cNvSpPr txBox="1"/>
          <p:nvPr/>
        </p:nvSpPr>
        <p:spPr>
          <a:xfrm>
            <a:off x="8586216" y="4754880"/>
            <a:ext cx="3227832" cy="32918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650">
                <a:latin typeface="微软雅黑" panose="020B0503020204020204" charset="-122"/>
              </a:defRPr>
            </a:pPr>
            <a:r>
              <a:rPr sz="170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软件怎样降低耦合、方便复用？</a:t>
            </a:r>
            <a:endParaRPr sz="170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本页总结背景"/>
          <p:cNvSpPr/>
          <p:nvPr/>
        </p:nvSpPr>
        <p:spPr>
          <a:xfrm>
            <a:off x="585216" y="5769864"/>
            <a:ext cx="11064240" cy="694944"/>
          </a:xfrm>
          <a:prstGeom prst="roundRect">
            <a:avLst>
              <a:gd name="adj" fmla="val 19736"/>
            </a:avLst>
          </a:prstGeom>
          <a:gradFill>
            <a:gsLst>
              <a:gs pos="0">
                <a:srgbClr val="F0F7FE"/>
              </a:gs>
              <a:gs pos="100000">
                <a:srgbClr val="E9F3F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可编辑曲线"/>
          <p:cNvSpPr/>
          <p:nvPr/>
        </p:nvSpPr>
        <p:spPr>
          <a:xfrm>
            <a:off x="907999" y="5908487"/>
            <a:ext cx="310621" cy="133685"/>
          </a:xfrm>
          <a:custGeom>
            <a:avLst/>
            <a:gdLst/>
            <a:ahLst/>
            <a:cxnLst/>
            <a:rect l="l" t="t" r="r" b="b"/>
            <a:pathLst>
              <a:path w="310621" h="133685">
                <a:moveTo>
                  <a:pt x="0" y="133685"/>
                </a:moveTo>
                <a:lnTo>
                  <a:pt x="51115" y="0"/>
                </a:lnTo>
                <a:lnTo>
                  <a:pt x="251643" y="0"/>
                </a:lnTo>
                <a:lnTo>
                  <a:pt x="310621" y="133685"/>
                </a:lnTo>
              </a:path>
            </a:pathLst>
          </a:custGeom>
          <a:noFill/>
          <a:ln w="254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矩形"/>
          <p:cNvSpPr/>
          <p:nvPr/>
        </p:nvSpPr>
        <p:spPr>
          <a:xfrm>
            <a:off x="896203" y="6030376"/>
            <a:ext cx="338145" cy="165140"/>
          </a:xfrm>
          <a:prstGeom prst="roundRect">
            <a:avLst>
              <a:gd name="adj" fmla="val 19047"/>
            </a:avLst>
          </a:prstGeom>
          <a:noFill/>
          <a:ln w="254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连线"/>
          <p:cNvCxnSpPr/>
          <p:nvPr/>
        </p:nvCxnSpPr>
        <p:spPr>
          <a:xfrm>
            <a:off x="915863" y="6038240"/>
            <a:ext cx="302757" cy="0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圆形"/>
          <p:cNvSpPr/>
          <p:nvPr/>
        </p:nvSpPr>
        <p:spPr>
          <a:xfrm>
            <a:off x="935522" y="6089355"/>
            <a:ext cx="51114" cy="5111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圆形"/>
          <p:cNvSpPr/>
          <p:nvPr/>
        </p:nvSpPr>
        <p:spPr>
          <a:xfrm>
            <a:off x="1136050" y="6089355"/>
            <a:ext cx="51114" cy="5111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连线"/>
          <p:cNvCxnSpPr/>
          <p:nvPr/>
        </p:nvCxnSpPr>
        <p:spPr>
          <a:xfrm>
            <a:off x="943386" y="6191585"/>
            <a:ext cx="0" cy="51115"/>
          </a:xfrm>
          <a:prstGeom prst="line">
            <a:avLst/>
          </a:prstGeom>
          <a:ln w="381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连线"/>
          <p:cNvCxnSpPr/>
          <p:nvPr/>
        </p:nvCxnSpPr>
        <p:spPr>
          <a:xfrm>
            <a:off x="1183233" y="6191585"/>
            <a:ext cx="0" cy="51115"/>
          </a:xfrm>
          <a:prstGeom prst="line">
            <a:avLst/>
          </a:prstGeom>
          <a:ln w="381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连线"/>
          <p:cNvCxnSpPr/>
          <p:nvPr/>
        </p:nvCxnSpPr>
        <p:spPr>
          <a:xfrm>
            <a:off x="1435608" y="5861303"/>
            <a:ext cx="0" cy="512065"/>
          </a:xfrm>
          <a:prstGeom prst="line">
            <a:avLst/>
          </a:prstGeom>
          <a:ln w="15875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本页总结"/>
          <p:cNvSpPr txBox="1"/>
          <p:nvPr/>
        </p:nvSpPr>
        <p:spPr>
          <a:xfrm>
            <a:off x="1655064" y="5861303"/>
            <a:ext cx="9692640" cy="54864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300">
                <a:latin typeface="微软雅黑" panose="020B0503020204020204" charset="-122"/>
              </a:defRPr>
            </a:pPr>
            <a:r>
              <a:rPr sz="21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实战：</a:t>
            </a:r>
            <a:r>
              <a:rPr sz="21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基于 CAN 总线的分布式汽车灯光控制系统</a:t>
            </a:r>
            <a:endParaRPr sz="21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白色背景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右下角淡蓝装饰"/>
          <p:cNvSpPr/>
          <p:nvPr/>
        </p:nvSpPr>
        <p:spPr>
          <a:xfrm>
            <a:off x="10774679" y="5440680"/>
            <a:ext cx="1417320" cy="1417320"/>
          </a:xfrm>
          <a:custGeom>
            <a:avLst/>
            <a:gdLst/>
            <a:ahLst/>
            <a:cxnLst/>
            <a:rect l="l" t="t" r="r" b="b"/>
            <a:pathLst>
              <a:path w="1417320" h="1417320">
                <a:moveTo>
                  <a:pt x="1417320" y="1417320"/>
                </a:moveTo>
                <a:lnTo>
                  <a:pt x="0" y="1417320"/>
                </a:lnTo>
                <a:lnTo>
                  <a:pt x="700" y="1372800"/>
                </a:lnTo>
                <a:lnTo>
                  <a:pt x="2797" y="1328325"/>
                </a:lnTo>
                <a:lnTo>
                  <a:pt x="6290" y="1283938"/>
                </a:lnTo>
                <a:lnTo>
                  <a:pt x="11176" y="1239682"/>
                </a:lnTo>
                <a:lnTo>
                  <a:pt x="17450" y="1195602"/>
                </a:lnTo>
                <a:lnTo>
                  <a:pt x="25105" y="1151740"/>
                </a:lnTo>
                <a:lnTo>
                  <a:pt x="34134" y="1108141"/>
                </a:lnTo>
                <a:lnTo>
                  <a:pt x="44528" y="1064846"/>
                </a:lnTo>
                <a:lnTo>
                  <a:pt x="56277" y="1021900"/>
                </a:lnTo>
                <a:lnTo>
                  <a:pt x="69369" y="979344"/>
                </a:lnTo>
                <a:lnTo>
                  <a:pt x="83791" y="937219"/>
                </a:lnTo>
                <a:lnTo>
                  <a:pt x="99529" y="895569"/>
                </a:lnTo>
                <a:lnTo>
                  <a:pt x="116568" y="854434"/>
                </a:lnTo>
                <a:lnTo>
                  <a:pt x="134891" y="813854"/>
                </a:lnTo>
                <a:lnTo>
                  <a:pt x="154479" y="773870"/>
                </a:lnTo>
                <a:lnTo>
                  <a:pt x="175313" y="734520"/>
                </a:lnTo>
                <a:lnTo>
                  <a:pt x="197373" y="695845"/>
                </a:lnTo>
                <a:lnTo>
                  <a:pt x="220637" y="657881"/>
                </a:lnTo>
                <a:lnTo>
                  <a:pt x="245082" y="620667"/>
                </a:lnTo>
                <a:lnTo>
                  <a:pt x="270684" y="584240"/>
                </a:lnTo>
                <a:lnTo>
                  <a:pt x="297418" y="548634"/>
                </a:lnTo>
                <a:lnTo>
                  <a:pt x="325256" y="513886"/>
                </a:lnTo>
                <a:lnTo>
                  <a:pt x="354173" y="480029"/>
                </a:lnTo>
                <a:lnTo>
                  <a:pt x="384138" y="447097"/>
                </a:lnTo>
                <a:lnTo>
                  <a:pt x="415124" y="415123"/>
                </a:lnTo>
                <a:lnTo>
                  <a:pt x="447098" y="384138"/>
                </a:lnTo>
                <a:lnTo>
                  <a:pt x="480030" y="354172"/>
                </a:lnTo>
                <a:lnTo>
                  <a:pt x="513886" y="325256"/>
                </a:lnTo>
                <a:lnTo>
                  <a:pt x="548635" y="297417"/>
                </a:lnTo>
                <a:lnTo>
                  <a:pt x="584240" y="270684"/>
                </a:lnTo>
                <a:lnTo>
                  <a:pt x="620668" y="245082"/>
                </a:lnTo>
                <a:lnTo>
                  <a:pt x="657882" y="220637"/>
                </a:lnTo>
                <a:lnTo>
                  <a:pt x="695846" y="197373"/>
                </a:lnTo>
                <a:lnTo>
                  <a:pt x="734521" y="175313"/>
                </a:lnTo>
                <a:lnTo>
                  <a:pt x="773870" y="154478"/>
                </a:lnTo>
                <a:lnTo>
                  <a:pt x="813855" y="134890"/>
                </a:lnTo>
                <a:lnTo>
                  <a:pt x="854435" y="116568"/>
                </a:lnTo>
                <a:lnTo>
                  <a:pt x="895570" y="99529"/>
                </a:lnTo>
                <a:lnTo>
                  <a:pt x="937220" y="83790"/>
                </a:lnTo>
                <a:lnTo>
                  <a:pt x="979344" y="69368"/>
                </a:lnTo>
                <a:lnTo>
                  <a:pt x="1021901" y="56276"/>
                </a:lnTo>
                <a:lnTo>
                  <a:pt x="1064847" y="44527"/>
                </a:lnTo>
                <a:lnTo>
                  <a:pt x="1108141" y="34133"/>
                </a:lnTo>
                <a:lnTo>
                  <a:pt x="1151741" y="25104"/>
                </a:lnTo>
                <a:lnTo>
                  <a:pt x="1195602" y="17449"/>
                </a:lnTo>
                <a:lnTo>
                  <a:pt x="1239683" y="11175"/>
                </a:lnTo>
                <a:lnTo>
                  <a:pt x="1283939" y="6290"/>
                </a:lnTo>
                <a:lnTo>
                  <a:pt x="1328326" y="2796"/>
                </a:lnTo>
                <a:lnTo>
                  <a:pt x="1372801" y="699"/>
                </a:lnTo>
                <a:lnTo>
                  <a:pt x="1417320" y="0"/>
                </a:lnTo>
                <a:lnTo>
                  <a:pt x="1417320" y="1417320"/>
                </a:lnTo>
                <a:close/>
              </a:path>
            </a:pathLst>
          </a:custGeom>
          <a:solidFill>
            <a:srgbClr val="F4F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右下角淡蓝装饰"/>
          <p:cNvSpPr/>
          <p:nvPr/>
        </p:nvSpPr>
        <p:spPr>
          <a:xfrm>
            <a:off x="11076431" y="5742432"/>
            <a:ext cx="1115568" cy="1115568"/>
          </a:xfrm>
          <a:custGeom>
            <a:avLst/>
            <a:gdLst/>
            <a:ahLst/>
            <a:cxnLst/>
            <a:rect l="l" t="t" r="r" b="b"/>
            <a:pathLst>
              <a:path w="1115568" h="1115568">
                <a:moveTo>
                  <a:pt x="1115568" y="1115568"/>
                </a:moveTo>
                <a:lnTo>
                  <a:pt x="0" y="1115568"/>
                </a:lnTo>
                <a:lnTo>
                  <a:pt x="551" y="1080527"/>
                </a:lnTo>
                <a:lnTo>
                  <a:pt x="2202" y="1045520"/>
                </a:lnTo>
                <a:lnTo>
                  <a:pt x="4951" y="1010583"/>
                </a:lnTo>
                <a:lnTo>
                  <a:pt x="8797" y="975750"/>
                </a:lnTo>
                <a:lnTo>
                  <a:pt x="13735" y="941054"/>
                </a:lnTo>
                <a:lnTo>
                  <a:pt x="19760" y="906531"/>
                </a:lnTo>
                <a:lnTo>
                  <a:pt x="26867" y="872214"/>
                </a:lnTo>
                <a:lnTo>
                  <a:pt x="35048" y="838137"/>
                </a:lnTo>
                <a:lnTo>
                  <a:pt x="44295" y="804334"/>
                </a:lnTo>
                <a:lnTo>
                  <a:pt x="54600" y="770838"/>
                </a:lnTo>
                <a:lnTo>
                  <a:pt x="65952" y="737682"/>
                </a:lnTo>
                <a:lnTo>
                  <a:pt x="78339" y="704900"/>
                </a:lnTo>
                <a:lnTo>
                  <a:pt x="91751" y="672522"/>
                </a:lnTo>
                <a:lnTo>
                  <a:pt x="106172" y="640582"/>
                </a:lnTo>
                <a:lnTo>
                  <a:pt x="121590" y="609110"/>
                </a:lnTo>
                <a:lnTo>
                  <a:pt x="137989" y="578139"/>
                </a:lnTo>
                <a:lnTo>
                  <a:pt x="155352" y="547697"/>
                </a:lnTo>
                <a:lnTo>
                  <a:pt x="173663" y="517816"/>
                </a:lnTo>
                <a:lnTo>
                  <a:pt x="192904" y="488525"/>
                </a:lnTo>
                <a:lnTo>
                  <a:pt x="213055" y="459853"/>
                </a:lnTo>
                <a:lnTo>
                  <a:pt x="234097" y="431828"/>
                </a:lnTo>
                <a:lnTo>
                  <a:pt x="256008" y="404478"/>
                </a:lnTo>
                <a:lnTo>
                  <a:pt x="278768" y="377829"/>
                </a:lnTo>
                <a:lnTo>
                  <a:pt x="302354" y="351909"/>
                </a:lnTo>
                <a:lnTo>
                  <a:pt x="326742" y="326742"/>
                </a:lnTo>
                <a:lnTo>
                  <a:pt x="351909" y="302353"/>
                </a:lnTo>
                <a:lnTo>
                  <a:pt x="377830" y="278768"/>
                </a:lnTo>
                <a:lnTo>
                  <a:pt x="404478" y="256008"/>
                </a:lnTo>
                <a:lnTo>
                  <a:pt x="431829" y="234096"/>
                </a:lnTo>
                <a:lnTo>
                  <a:pt x="459854" y="213054"/>
                </a:lnTo>
                <a:lnTo>
                  <a:pt x="488526" y="192903"/>
                </a:lnTo>
                <a:lnTo>
                  <a:pt x="517817" y="173662"/>
                </a:lnTo>
                <a:lnTo>
                  <a:pt x="547698" y="155351"/>
                </a:lnTo>
                <a:lnTo>
                  <a:pt x="578139" y="137988"/>
                </a:lnTo>
                <a:lnTo>
                  <a:pt x="609111" y="121589"/>
                </a:lnTo>
                <a:lnTo>
                  <a:pt x="640582" y="106171"/>
                </a:lnTo>
                <a:lnTo>
                  <a:pt x="672523" y="91750"/>
                </a:lnTo>
                <a:lnTo>
                  <a:pt x="704900" y="78339"/>
                </a:lnTo>
                <a:lnTo>
                  <a:pt x="737683" y="65951"/>
                </a:lnTo>
                <a:lnTo>
                  <a:pt x="770839" y="54599"/>
                </a:lnTo>
                <a:lnTo>
                  <a:pt x="804335" y="44295"/>
                </a:lnTo>
                <a:lnTo>
                  <a:pt x="838138" y="35047"/>
                </a:lnTo>
                <a:lnTo>
                  <a:pt x="872215" y="26866"/>
                </a:lnTo>
                <a:lnTo>
                  <a:pt x="906532" y="19759"/>
                </a:lnTo>
                <a:lnTo>
                  <a:pt x="941055" y="13734"/>
                </a:lnTo>
                <a:lnTo>
                  <a:pt x="975750" y="8796"/>
                </a:lnTo>
                <a:lnTo>
                  <a:pt x="1010584" y="4950"/>
                </a:lnTo>
                <a:lnTo>
                  <a:pt x="1045521" y="2201"/>
                </a:lnTo>
                <a:lnTo>
                  <a:pt x="1080527" y="550"/>
                </a:lnTo>
                <a:lnTo>
                  <a:pt x="1115568" y="0"/>
                </a:lnTo>
                <a:lnTo>
                  <a:pt x="1115568" y="1115568"/>
                </a:lnTo>
                <a:close/>
              </a:path>
            </a:pathLst>
          </a:custGeom>
          <a:solidFill>
            <a:srgbClr val="F8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圆形"/>
          <p:cNvSpPr/>
          <p:nvPr/>
        </p:nvSpPr>
        <p:spPr>
          <a:xfrm>
            <a:off x="1038758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圆形"/>
          <p:cNvSpPr/>
          <p:nvPr/>
        </p:nvSpPr>
        <p:spPr>
          <a:xfrm>
            <a:off x="1038758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圆形"/>
          <p:cNvSpPr/>
          <p:nvPr/>
        </p:nvSpPr>
        <p:spPr>
          <a:xfrm>
            <a:off x="1038758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圆形"/>
          <p:cNvSpPr/>
          <p:nvPr/>
        </p:nvSpPr>
        <p:spPr>
          <a:xfrm>
            <a:off x="1055217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圆形"/>
          <p:cNvSpPr/>
          <p:nvPr/>
        </p:nvSpPr>
        <p:spPr>
          <a:xfrm>
            <a:off x="1055217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圆形"/>
          <p:cNvSpPr/>
          <p:nvPr/>
        </p:nvSpPr>
        <p:spPr>
          <a:xfrm>
            <a:off x="1055217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圆形"/>
          <p:cNvSpPr/>
          <p:nvPr/>
        </p:nvSpPr>
        <p:spPr>
          <a:xfrm>
            <a:off x="10716767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圆形"/>
          <p:cNvSpPr/>
          <p:nvPr/>
        </p:nvSpPr>
        <p:spPr>
          <a:xfrm>
            <a:off x="10716767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圆形"/>
          <p:cNvSpPr/>
          <p:nvPr/>
        </p:nvSpPr>
        <p:spPr>
          <a:xfrm>
            <a:off x="10716767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圆形"/>
          <p:cNvSpPr/>
          <p:nvPr/>
        </p:nvSpPr>
        <p:spPr>
          <a:xfrm>
            <a:off x="10881359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圆形"/>
          <p:cNvSpPr/>
          <p:nvPr/>
        </p:nvSpPr>
        <p:spPr>
          <a:xfrm>
            <a:off x="10881359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圆形"/>
          <p:cNvSpPr/>
          <p:nvPr/>
        </p:nvSpPr>
        <p:spPr>
          <a:xfrm>
            <a:off x="10881359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圆形"/>
          <p:cNvSpPr/>
          <p:nvPr/>
        </p:nvSpPr>
        <p:spPr>
          <a:xfrm>
            <a:off x="11045952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圆形"/>
          <p:cNvSpPr/>
          <p:nvPr/>
        </p:nvSpPr>
        <p:spPr>
          <a:xfrm>
            <a:off x="11045952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圆形"/>
          <p:cNvSpPr/>
          <p:nvPr/>
        </p:nvSpPr>
        <p:spPr>
          <a:xfrm>
            <a:off x="11045952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圆形"/>
          <p:cNvSpPr/>
          <p:nvPr/>
        </p:nvSpPr>
        <p:spPr>
          <a:xfrm>
            <a:off x="1121054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圆形"/>
          <p:cNvSpPr/>
          <p:nvPr/>
        </p:nvSpPr>
        <p:spPr>
          <a:xfrm>
            <a:off x="1121054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圆形"/>
          <p:cNvSpPr/>
          <p:nvPr/>
        </p:nvSpPr>
        <p:spPr>
          <a:xfrm>
            <a:off x="1121054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圆形"/>
          <p:cNvSpPr/>
          <p:nvPr/>
        </p:nvSpPr>
        <p:spPr>
          <a:xfrm>
            <a:off x="1137513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圆形"/>
          <p:cNvSpPr/>
          <p:nvPr/>
        </p:nvSpPr>
        <p:spPr>
          <a:xfrm>
            <a:off x="1137513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圆形"/>
          <p:cNvSpPr/>
          <p:nvPr/>
        </p:nvSpPr>
        <p:spPr>
          <a:xfrm>
            <a:off x="1137513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圆形"/>
          <p:cNvSpPr/>
          <p:nvPr/>
        </p:nvSpPr>
        <p:spPr>
          <a:xfrm>
            <a:off x="11539728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圆形"/>
          <p:cNvSpPr/>
          <p:nvPr/>
        </p:nvSpPr>
        <p:spPr>
          <a:xfrm>
            <a:off x="11539728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圆形"/>
          <p:cNvSpPr/>
          <p:nvPr/>
        </p:nvSpPr>
        <p:spPr>
          <a:xfrm>
            <a:off x="11539728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标题蓝色竖线"/>
          <p:cNvSpPr/>
          <p:nvPr/>
        </p:nvSpPr>
        <p:spPr>
          <a:xfrm>
            <a:off x="274320" y="356616"/>
            <a:ext cx="109728" cy="585216"/>
          </a:xfrm>
          <a:prstGeom prst="roundRect">
            <a:avLst>
              <a:gd name="adj" fmla="val 41666"/>
            </a:avLst>
          </a:prstGeom>
          <a:gradFill>
            <a:gsLst>
              <a:gs pos="0">
                <a:srgbClr val="3A92D5"/>
              </a:gs>
              <a:gs pos="100000">
                <a:srgbClr val="146FB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标题"/>
          <p:cNvSpPr txBox="1"/>
          <p:nvPr/>
        </p:nvSpPr>
        <p:spPr>
          <a:xfrm>
            <a:off x="621792" y="301752"/>
            <a:ext cx="9390888" cy="64922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3600">
                <a:latin typeface="微软雅黑" panose="020B0503020204020204" charset="-122"/>
              </a:defRPr>
            </a:pPr>
            <a:r>
              <a:rPr sz="35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汽车里的ECU</a:t>
            </a:r>
            <a:endParaRPr sz="35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标题分隔线"/>
          <p:cNvSpPr/>
          <p:nvPr/>
        </p:nvSpPr>
        <p:spPr>
          <a:xfrm>
            <a:off x="621792" y="1051560"/>
            <a:ext cx="11109960" cy="18288"/>
          </a:xfrm>
          <a:prstGeom prst="rect">
            <a:avLst/>
          </a:prstGeom>
          <a:gradFill>
            <a:gsLst>
              <a:gs pos="0">
                <a:srgbClr val="3A92D5"/>
              </a:gs>
              <a:gs pos="100000">
                <a:srgbClr val="E3EFF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tongji_wordm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4" y="256032"/>
            <a:ext cx="1554480" cy="385298"/>
          </a:xfrm>
          <a:prstGeom prst="rect">
            <a:avLst/>
          </a:prstGeom>
          <a:effectLst/>
        </p:spPr>
      </p:pic>
      <p:sp>
        <p:nvSpPr>
          <p:cNvPr id="33" name="导入句"/>
          <p:cNvSpPr txBox="1"/>
          <p:nvPr/>
        </p:nvSpPr>
        <p:spPr>
          <a:xfrm>
            <a:off x="621792" y="1271016"/>
            <a:ext cx="10972800" cy="57607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000">
                <a:latin typeface="微软雅黑" panose="020B0503020204020204" charset="-122"/>
              </a:defRPr>
            </a:pPr>
            <a:r>
              <a:rPr sz="20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ECU（电子控制单元）</a:t>
            </a:r>
            <a:r>
              <a:rPr sz="20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可以理解为汽车内部负责特定功能的小型计算机。</a:t>
            </a:r>
            <a:endParaRPr sz="20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汽车外轮廓"/>
          <p:cNvSpPr/>
          <p:nvPr/>
        </p:nvSpPr>
        <p:spPr>
          <a:xfrm>
            <a:off x="1037844" y="2106503"/>
            <a:ext cx="10368153" cy="2700680"/>
          </a:xfrm>
          <a:custGeom>
            <a:avLst/>
            <a:gdLst/>
            <a:ahLst/>
            <a:cxnLst/>
            <a:rect l="l" t="t" r="r" b="b"/>
            <a:pathLst>
              <a:path w="10368153" h="2700680">
                <a:moveTo>
                  <a:pt x="0" y="2537003"/>
                </a:moveTo>
                <a:lnTo>
                  <a:pt x="0" y="2078705"/>
                </a:lnTo>
                <a:lnTo>
                  <a:pt x="376047" y="1653144"/>
                </a:lnTo>
                <a:lnTo>
                  <a:pt x="1181862" y="1293053"/>
                </a:lnTo>
                <a:lnTo>
                  <a:pt x="2686050" y="932962"/>
                </a:lnTo>
                <a:lnTo>
                  <a:pt x="3653028" y="802020"/>
                </a:lnTo>
                <a:lnTo>
                  <a:pt x="5372100" y="49103"/>
                </a:lnTo>
                <a:lnTo>
                  <a:pt x="5909310" y="0"/>
                </a:lnTo>
                <a:lnTo>
                  <a:pt x="3867912" y="900227"/>
                </a:lnTo>
                <a:lnTo>
                  <a:pt x="4243959" y="867491"/>
                </a:lnTo>
                <a:lnTo>
                  <a:pt x="4351401" y="1031169"/>
                </a:lnTo>
                <a:lnTo>
                  <a:pt x="5694426" y="1063904"/>
                </a:lnTo>
                <a:lnTo>
                  <a:pt x="6661404" y="834756"/>
                </a:lnTo>
                <a:lnTo>
                  <a:pt x="7735824" y="736549"/>
                </a:lnTo>
                <a:lnTo>
                  <a:pt x="8380476" y="932962"/>
                </a:lnTo>
                <a:lnTo>
                  <a:pt x="9669780" y="1358524"/>
                </a:lnTo>
                <a:lnTo>
                  <a:pt x="10206990" y="1554937"/>
                </a:lnTo>
                <a:lnTo>
                  <a:pt x="10314432" y="2176912"/>
                </a:lnTo>
                <a:lnTo>
                  <a:pt x="10368153" y="2406061"/>
                </a:lnTo>
                <a:lnTo>
                  <a:pt x="10206990" y="2569738"/>
                </a:lnTo>
                <a:lnTo>
                  <a:pt x="9454896" y="2700680"/>
                </a:lnTo>
              </a:path>
            </a:pathLst>
          </a:custGeom>
          <a:noFill/>
          <a:ln w="127000">
            <a:solidFill>
              <a:srgbClr val="8FA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连线"/>
          <p:cNvCxnSpPr/>
          <p:nvPr/>
        </p:nvCxnSpPr>
        <p:spPr>
          <a:xfrm>
            <a:off x="3509010" y="4807183"/>
            <a:ext cx="5157216" cy="0"/>
          </a:xfrm>
          <a:prstGeom prst="line">
            <a:avLst/>
          </a:prstGeom>
          <a:ln w="127000" cap="rnd">
            <a:solidFill>
              <a:srgbClr val="8FA4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连线"/>
          <p:cNvCxnSpPr/>
          <p:nvPr/>
        </p:nvCxnSpPr>
        <p:spPr>
          <a:xfrm>
            <a:off x="1037844" y="4807183"/>
            <a:ext cx="752094" cy="0"/>
          </a:xfrm>
          <a:prstGeom prst="line">
            <a:avLst/>
          </a:prstGeom>
          <a:ln w="127000" cap="rnd">
            <a:solidFill>
              <a:srgbClr val="8FA4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圆形"/>
          <p:cNvSpPr/>
          <p:nvPr/>
        </p:nvSpPr>
        <p:spPr>
          <a:xfrm>
            <a:off x="1891939" y="4103370"/>
            <a:ext cx="1407627" cy="1407627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8FA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圆形"/>
          <p:cNvSpPr/>
          <p:nvPr/>
        </p:nvSpPr>
        <p:spPr>
          <a:xfrm>
            <a:off x="2286074" y="4497505"/>
            <a:ext cx="619356" cy="619356"/>
          </a:xfrm>
          <a:prstGeom prst="ellipse">
            <a:avLst/>
          </a:prstGeom>
          <a:solidFill>
            <a:srgbClr val="FFFFFF"/>
          </a:solidFill>
          <a:ln w="22860">
            <a:solidFill>
              <a:srgbClr val="8FA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圆形"/>
          <p:cNvSpPr/>
          <p:nvPr/>
        </p:nvSpPr>
        <p:spPr>
          <a:xfrm>
            <a:off x="8875669" y="4103370"/>
            <a:ext cx="1407627" cy="1407627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8FA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圆形"/>
          <p:cNvSpPr/>
          <p:nvPr/>
        </p:nvSpPr>
        <p:spPr>
          <a:xfrm>
            <a:off x="9269804" y="4497505"/>
            <a:ext cx="619356" cy="619356"/>
          </a:xfrm>
          <a:prstGeom prst="ellipse">
            <a:avLst/>
          </a:prstGeom>
          <a:solidFill>
            <a:srgbClr val="FFFFFF"/>
          </a:solidFill>
          <a:ln w="22860">
            <a:solidFill>
              <a:srgbClr val="8FA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连线"/>
          <p:cNvCxnSpPr/>
          <p:nvPr/>
        </p:nvCxnSpPr>
        <p:spPr>
          <a:xfrm flipV="1">
            <a:off x="7323200" y="2646639"/>
            <a:ext cx="0" cy="458297"/>
          </a:xfrm>
          <a:prstGeom prst="line">
            <a:avLst/>
          </a:prstGeom>
          <a:ln w="86360" cap="rnd">
            <a:solidFill>
              <a:srgbClr val="8FA4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发动机&#10;ECU"/>
          <p:cNvSpPr/>
          <p:nvPr/>
        </p:nvSpPr>
        <p:spPr>
          <a:xfrm>
            <a:off x="2743200" y="3456432"/>
            <a:ext cx="1051560" cy="676656"/>
          </a:xfrm>
          <a:prstGeom prst="roundRect">
            <a:avLst>
              <a:gd name="adj" fmla="val 9459"/>
            </a:avLst>
          </a:prstGeom>
          <a:gradFill>
            <a:gsLst>
              <a:gs pos="0">
                <a:srgbClr val="EBF5FF"/>
              </a:gs>
              <a:gs pos="100000">
                <a:srgbClr val="CFE5F9"/>
              </a:gs>
            </a:gsLst>
            <a:lin ang="5400000" scaled="1"/>
          </a:gradFill>
          <a:ln w="1397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发动机&#10;ECU标签"/>
          <p:cNvSpPr txBox="1"/>
          <p:nvPr/>
        </p:nvSpPr>
        <p:spPr>
          <a:xfrm>
            <a:off x="2788920" y="3502151"/>
            <a:ext cx="960119" cy="58521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000">
                <a:latin typeface="微软雅黑" panose="020B0503020204020204" charset="-122"/>
              </a:defRPr>
            </a:pPr>
            <a:r>
              <a:rPr sz="20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发动机</a:t>
            </a:r>
            <a:endParaRPr sz="20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000">
                <a:latin typeface="微软雅黑" panose="020B0503020204020204" charset="-122"/>
              </a:defRPr>
            </a:pPr>
            <a:r>
              <a:rPr sz="20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ECU</a:t>
            </a:r>
            <a:endParaRPr sz="20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变速器&#10;ECU"/>
          <p:cNvSpPr/>
          <p:nvPr/>
        </p:nvSpPr>
        <p:spPr>
          <a:xfrm>
            <a:off x="4434840" y="3200400"/>
            <a:ext cx="1051560" cy="676656"/>
          </a:xfrm>
          <a:prstGeom prst="roundRect">
            <a:avLst>
              <a:gd name="adj" fmla="val 9459"/>
            </a:avLst>
          </a:prstGeom>
          <a:gradFill>
            <a:gsLst>
              <a:gs pos="0">
                <a:srgbClr val="EBF5FF"/>
              </a:gs>
              <a:gs pos="100000">
                <a:srgbClr val="CFE5F9"/>
              </a:gs>
            </a:gsLst>
            <a:lin ang="5400000" scaled="1"/>
          </a:gradFill>
          <a:ln w="1397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变速器&#10;ECU标签"/>
          <p:cNvSpPr txBox="1"/>
          <p:nvPr/>
        </p:nvSpPr>
        <p:spPr>
          <a:xfrm>
            <a:off x="4480559" y="3246120"/>
            <a:ext cx="960119" cy="58521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000">
                <a:latin typeface="微软雅黑" panose="020B0503020204020204" charset="-122"/>
              </a:defRPr>
            </a:pPr>
            <a:r>
              <a:rPr sz="20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变速器</a:t>
            </a:r>
            <a:endParaRPr sz="20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000">
                <a:latin typeface="微软雅黑" panose="020B0503020204020204" charset="-122"/>
              </a:defRPr>
            </a:pPr>
            <a:r>
              <a:rPr sz="20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ECU</a:t>
            </a:r>
            <a:endParaRPr sz="20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仪表&#10;ECU"/>
          <p:cNvSpPr/>
          <p:nvPr/>
        </p:nvSpPr>
        <p:spPr>
          <a:xfrm>
            <a:off x="4297680" y="4041648"/>
            <a:ext cx="1051560" cy="676656"/>
          </a:xfrm>
          <a:prstGeom prst="roundRect">
            <a:avLst>
              <a:gd name="adj" fmla="val 9459"/>
            </a:avLst>
          </a:prstGeom>
          <a:gradFill>
            <a:gsLst>
              <a:gs pos="0">
                <a:srgbClr val="EBF5FF"/>
              </a:gs>
              <a:gs pos="100000">
                <a:srgbClr val="CFE5F9"/>
              </a:gs>
            </a:gsLst>
            <a:lin ang="5400000" scaled="1"/>
          </a:gradFill>
          <a:ln w="1397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仪表&#10;ECU标签"/>
          <p:cNvSpPr txBox="1"/>
          <p:nvPr/>
        </p:nvSpPr>
        <p:spPr>
          <a:xfrm>
            <a:off x="4343400" y="4087368"/>
            <a:ext cx="960119" cy="58521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000">
                <a:latin typeface="微软雅黑" panose="020B0503020204020204" charset="-122"/>
              </a:defRPr>
            </a:pPr>
            <a:r>
              <a:rPr sz="20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仪表</a:t>
            </a:r>
            <a:endParaRPr sz="20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000">
                <a:latin typeface="微软雅黑" panose="020B0503020204020204" charset="-122"/>
              </a:defRPr>
            </a:pPr>
            <a:r>
              <a:rPr sz="20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ECU</a:t>
            </a:r>
            <a:endParaRPr sz="20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门窗&#10;ECU"/>
          <p:cNvSpPr/>
          <p:nvPr/>
        </p:nvSpPr>
        <p:spPr>
          <a:xfrm>
            <a:off x="5870448" y="3675887"/>
            <a:ext cx="1051560" cy="676656"/>
          </a:xfrm>
          <a:prstGeom prst="roundRect">
            <a:avLst>
              <a:gd name="adj" fmla="val 9459"/>
            </a:avLst>
          </a:prstGeom>
          <a:gradFill>
            <a:gsLst>
              <a:gs pos="0">
                <a:srgbClr val="EBF5FF"/>
              </a:gs>
              <a:gs pos="100000">
                <a:srgbClr val="CFE5F9"/>
              </a:gs>
            </a:gsLst>
            <a:lin ang="5400000" scaled="1"/>
          </a:gradFill>
          <a:ln w="1397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门窗&#10;ECU标签"/>
          <p:cNvSpPr txBox="1"/>
          <p:nvPr/>
        </p:nvSpPr>
        <p:spPr>
          <a:xfrm>
            <a:off x="5916168" y="3721607"/>
            <a:ext cx="960119" cy="58521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000">
                <a:latin typeface="微软雅黑" panose="020B0503020204020204" charset="-122"/>
              </a:defRPr>
            </a:pPr>
            <a:r>
              <a:rPr sz="20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门窗</a:t>
            </a:r>
            <a:endParaRPr sz="20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000">
                <a:latin typeface="微软雅黑" panose="020B0503020204020204" charset="-122"/>
              </a:defRPr>
            </a:pPr>
            <a:r>
              <a:rPr sz="20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ECU</a:t>
            </a:r>
            <a:endParaRPr sz="20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车灯&#10;ECU"/>
          <p:cNvSpPr/>
          <p:nvPr/>
        </p:nvSpPr>
        <p:spPr>
          <a:xfrm>
            <a:off x="7242048" y="3465576"/>
            <a:ext cx="1051560" cy="676656"/>
          </a:xfrm>
          <a:prstGeom prst="roundRect">
            <a:avLst>
              <a:gd name="adj" fmla="val 9459"/>
            </a:avLst>
          </a:prstGeom>
          <a:gradFill>
            <a:gsLst>
              <a:gs pos="0">
                <a:srgbClr val="EBF5FF"/>
              </a:gs>
              <a:gs pos="100000">
                <a:srgbClr val="CFE5F9"/>
              </a:gs>
            </a:gsLst>
            <a:lin ang="5400000" scaled="1"/>
          </a:gradFill>
          <a:ln w="1397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车灯&#10;ECU标签"/>
          <p:cNvSpPr txBox="1"/>
          <p:nvPr/>
        </p:nvSpPr>
        <p:spPr>
          <a:xfrm>
            <a:off x="7287768" y="3511296"/>
            <a:ext cx="960119" cy="58521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000">
                <a:latin typeface="微软雅黑" panose="020B0503020204020204" charset="-122"/>
              </a:defRPr>
            </a:pPr>
            <a:r>
              <a:rPr sz="20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车灯</a:t>
            </a:r>
            <a:endParaRPr sz="20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000">
                <a:latin typeface="微软雅黑" panose="020B0503020204020204" charset="-122"/>
              </a:defRPr>
            </a:pPr>
            <a:r>
              <a:rPr sz="20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ECU</a:t>
            </a:r>
            <a:endParaRPr sz="20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空调&#10;ECU"/>
          <p:cNvSpPr/>
          <p:nvPr/>
        </p:nvSpPr>
        <p:spPr>
          <a:xfrm>
            <a:off x="8668512" y="3063240"/>
            <a:ext cx="1051560" cy="676656"/>
          </a:xfrm>
          <a:prstGeom prst="roundRect">
            <a:avLst>
              <a:gd name="adj" fmla="val 9459"/>
            </a:avLst>
          </a:prstGeom>
          <a:gradFill>
            <a:gsLst>
              <a:gs pos="0">
                <a:srgbClr val="EBF5FF"/>
              </a:gs>
              <a:gs pos="100000">
                <a:srgbClr val="CFE5F9"/>
              </a:gs>
            </a:gsLst>
            <a:lin ang="5400000" scaled="1"/>
          </a:gradFill>
          <a:ln w="1397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空调&#10;ECU标签"/>
          <p:cNvSpPr txBox="1"/>
          <p:nvPr/>
        </p:nvSpPr>
        <p:spPr>
          <a:xfrm>
            <a:off x="8714232" y="3108960"/>
            <a:ext cx="960119" cy="58521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000">
                <a:latin typeface="微软雅黑" panose="020B0503020204020204" charset="-122"/>
              </a:defRPr>
            </a:pPr>
            <a:r>
              <a:rPr sz="20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空调</a:t>
            </a:r>
            <a:endParaRPr sz="20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000">
                <a:latin typeface="微软雅黑" panose="020B0503020204020204" charset="-122"/>
              </a:defRPr>
            </a:pPr>
            <a:r>
              <a:rPr sz="20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ECU</a:t>
            </a:r>
            <a:endParaRPr sz="20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本页总结背景"/>
          <p:cNvSpPr/>
          <p:nvPr/>
        </p:nvSpPr>
        <p:spPr>
          <a:xfrm>
            <a:off x="585216" y="5870448"/>
            <a:ext cx="11064240" cy="603504"/>
          </a:xfrm>
          <a:prstGeom prst="roundRect">
            <a:avLst>
              <a:gd name="adj" fmla="val 22727"/>
            </a:avLst>
          </a:prstGeom>
          <a:gradFill>
            <a:gsLst>
              <a:gs pos="0">
                <a:srgbClr val="F0F7FE"/>
              </a:gs>
              <a:gs pos="100000">
                <a:srgbClr val="E9F3F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可编辑曲线"/>
          <p:cNvSpPr/>
          <p:nvPr/>
        </p:nvSpPr>
        <p:spPr>
          <a:xfrm>
            <a:off x="907999" y="6009071"/>
            <a:ext cx="310621" cy="133685"/>
          </a:xfrm>
          <a:custGeom>
            <a:avLst/>
            <a:gdLst/>
            <a:ahLst/>
            <a:cxnLst/>
            <a:rect l="l" t="t" r="r" b="b"/>
            <a:pathLst>
              <a:path w="310621" h="133685">
                <a:moveTo>
                  <a:pt x="0" y="133685"/>
                </a:moveTo>
                <a:lnTo>
                  <a:pt x="51115" y="0"/>
                </a:lnTo>
                <a:lnTo>
                  <a:pt x="251643" y="0"/>
                </a:lnTo>
                <a:lnTo>
                  <a:pt x="310621" y="133685"/>
                </a:lnTo>
              </a:path>
            </a:pathLst>
          </a:custGeom>
          <a:noFill/>
          <a:ln w="254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矩形"/>
          <p:cNvSpPr/>
          <p:nvPr/>
        </p:nvSpPr>
        <p:spPr>
          <a:xfrm>
            <a:off x="896203" y="6130960"/>
            <a:ext cx="338145" cy="165140"/>
          </a:xfrm>
          <a:prstGeom prst="roundRect">
            <a:avLst>
              <a:gd name="adj" fmla="val 19047"/>
            </a:avLst>
          </a:prstGeom>
          <a:noFill/>
          <a:ln w="254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连线"/>
          <p:cNvCxnSpPr/>
          <p:nvPr/>
        </p:nvCxnSpPr>
        <p:spPr>
          <a:xfrm>
            <a:off x="915863" y="6138824"/>
            <a:ext cx="302757" cy="0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圆形"/>
          <p:cNvSpPr/>
          <p:nvPr/>
        </p:nvSpPr>
        <p:spPr>
          <a:xfrm>
            <a:off x="935522" y="6189939"/>
            <a:ext cx="51114" cy="5111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圆形"/>
          <p:cNvSpPr/>
          <p:nvPr/>
        </p:nvSpPr>
        <p:spPr>
          <a:xfrm>
            <a:off x="1136050" y="6189939"/>
            <a:ext cx="51114" cy="5111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连线"/>
          <p:cNvCxnSpPr/>
          <p:nvPr/>
        </p:nvCxnSpPr>
        <p:spPr>
          <a:xfrm>
            <a:off x="943386" y="6292169"/>
            <a:ext cx="0" cy="51115"/>
          </a:xfrm>
          <a:prstGeom prst="line">
            <a:avLst/>
          </a:prstGeom>
          <a:ln w="381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连线"/>
          <p:cNvCxnSpPr/>
          <p:nvPr/>
        </p:nvCxnSpPr>
        <p:spPr>
          <a:xfrm>
            <a:off x="1183233" y="6292169"/>
            <a:ext cx="0" cy="51115"/>
          </a:xfrm>
          <a:prstGeom prst="line">
            <a:avLst/>
          </a:prstGeom>
          <a:ln w="381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连线"/>
          <p:cNvCxnSpPr/>
          <p:nvPr/>
        </p:nvCxnSpPr>
        <p:spPr>
          <a:xfrm>
            <a:off x="1435608" y="5961888"/>
            <a:ext cx="0" cy="420624"/>
          </a:xfrm>
          <a:prstGeom prst="line">
            <a:avLst/>
          </a:prstGeom>
          <a:ln w="15875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本页总结"/>
          <p:cNvSpPr txBox="1"/>
          <p:nvPr/>
        </p:nvSpPr>
        <p:spPr>
          <a:xfrm>
            <a:off x="1655064" y="5961888"/>
            <a:ext cx="9692640" cy="45720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900">
                <a:latin typeface="微软雅黑" panose="020B0503020204020204" charset="-122"/>
              </a:defRPr>
            </a:pPr>
            <a:r>
              <a:rPr sz="19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一辆车内部往往包含多个 ECU，它们需要通过</a:t>
            </a:r>
            <a:r>
              <a:rPr sz="19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车载网络</a:t>
            </a:r>
            <a:r>
              <a:rPr sz="19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交换信息、协同工作。</a:t>
            </a:r>
            <a:endParaRPr sz="19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白色背景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右下角淡蓝装饰"/>
          <p:cNvSpPr/>
          <p:nvPr/>
        </p:nvSpPr>
        <p:spPr>
          <a:xfrm>
            <a:off x="10774679" y="5440680"/>
            <a:ext cx="1417320" cy="1417320"/>
          </a:xfrm>
          <a:custGeom>
            <a:avLst/>
            <a:gdLst/>
            <a:ahLst/>
            <a:cxnLst/>
            <a:rect l="l" t="t" r="r" b="b"/>
            <a:pathLst>
              <a:path w="1417320" h="1417320">
                <a:moveTo>
                  <a:pt x="1417320" y="1417320"/>
                </a:moveTo>
                <a:lnTo>
                  <a:pt x="0" y="1417320"/>
                </a:lnTo>
                <a:lnTo>
                  <a:pt x="700" y="1372800"/>
                </a:lnTo>
                <a:lnTo>
                  <a:pt x="2797" y="1328325"/>
                </a:lnTo>
                <a:lnTo>
                  <a:pt x="6290" y="1283938"/>
                </a:lnTo>
                <a:lnTo>
                  <a:pt x="11176" y="1239682"/>
                </a:lnTo>
                <a:lnTo>
                  <a:pt x="17450" y="1195602"/>
                </a:lnTo>
                <a:lnTo>
                  <a:pt x="25105" y="1151740"/>
                </a:lnTo>
                <a:lnTo>
                  <a:pt x="34134" y="1108141"/>
                </a:lnTo>
                <a:lnTo>
                  <a:pt x="44528" y="1064846"/>
                </a:lnTo>
                <a:lnTo>
                  <a:pt x="56277" y="1021900"/>
                </a:lnTo>
                <a:lnTo>
                  <a:pt x="69369" y="979344"/>
                </a:lnTo>
                <a:lnTo>
                  <a:pt x="83791" y="937219"/>
                </a:lnTo>
                <a:lnTo>
                  <a:pt x="99529" y="895569"/>
                </a:lnTo>
                <a:lnTo>
                  <a:pt x="116568" y="854434"/>
                </a:lnTo>
                <a:lnTo>
                  <a:pt x="134891" y="813854"/>
                </a:lnTo>
                <a:lnTo>
                  <a:pt x="154479" y="773870"/>
                </a:lnTo>
                <a:lnTo>
                  <a:pt x="175313" y="734520"/>
                </a:lnTo>
                <a:lnTo>
                  <a:pt x="197373" y="695845"/>
                </a:lnTo>
                <a:lnTo>
                  <a:pt x="220637" y="657881"/>
                </a:lnTo>
                <a:lnTo>
                  <a:pt x="245082" y="620667"/>
                </a:lnTo>
                <a:lnTo>
                  <a:pt x="270684" y="584240"/>
                </a:lnTo>
                <a:lnTo>
                  <a:pt x="297418" y="548634"/>
                </a:lnTo>
                <a:lnTo>
                  <a:pt x="325256" y="513886"/>
                </a:lnTo>
                <a:lnTo>
                  <a:pt x="354173" y="480029"/>
                </a:lnTo>
                <a:lnTo>
                  <a:pt x="384138" y="447097"/>
                </a:lnTo>
                <a:lnTo>
                  <a:pt x="415124" y="415123"/>
                </a:lnTo>
                <a:lnTo>
                  <a:pt x="447098" y="384138"/>
                </a:lnTo>
                <a:lnTo>
                  <a:pt x="480030" y="354172"/>
                </a:lnTo>
                <a:lnTo>
                  <a:pt x="513886" y="325256"/>
                </a:lnTo>
                <a:lnTo>
                  <a:pt x="548635" y="297417"/>
                </a:lnTo>
                <a:lnTo>
                  <a:pt x="584240" y="270684"/>
                </a:lnTo>
                <a:lnTo>
                  <a:pt x="620668" y="245082"/>
                </a:lnTo>
                <a:lnTo>
                  <a:pt x="657882" y="220637"/>
                </a:lnTo>
                <a:lnTo>
                  <a:pt x="695846" y="197373"/>
                </a:lnTo>
                <a:lnTo>
                  <a:pt x="734521" y="175313"/>
                </a:lnTo>
                <a:lnTo>
                  <a:pt x="773870" y="154478"/>
                </a:lnTo>
                <a:lnTo>
                  <a:pt x="813855" y="134890"/>
                </a:lnTo>
                <a:lnTo>
                  <a:pt x="854435" y="116568"/>
                </a:lnTo>
                <a:lnTo>
                  <a:pt x="895570" y="99529"/>
                </a:lnTo>
                <a:lnTo>
                  <a:pt x="937220" y="83790"/>
                </a:lnTo>
                <a:lnTo>
                  <a:pt x="979344" y="69368"/>
                </a:lnTo>
                <a:lnTo>
                  <a:pt x="1021901" y="56276"/>
                </a:lnTo>
                <a:lnTo>
                  <a:pt x="1064847" y="44527"/>
                </a:lnTo>
                <a:lnTo>
                  <a:pt x="1108141" y="34133"/>
                </a:lnTo>
                <a:lnTo>
                  <a:pt x="1151741" y="25104"/>
                </a:lnTo>
                <a:lnTo>
                  <a:pt x="1195602" y="17449"/>
                </a:lnTo>
                <a:lnTo>
                  <a:pt x="1239683" y="11175"/>
                </a:lnTo>
                <a:lnTo>
                  <a:pt x="1283939" y="6290"/>
                </a:lnTo>
                <a:lnTo>
                  <a:pt x="1328326" y="2796"/>
                </a:lnTo>
                <a:lnTo>
                  <a:pt x="1372801" y="699"/>
                </a:lnTo>
                <a:lnTo>
                  <a:pt x="1417320" y="0"/>
                </a:lnTo>
                <a:lnTo>
                  <a:pt x="1417320" y="1417320"/>
                </a:lnTo>
                <a:close/>
              </a:path>
            </a:pathLst>
          </a:custGeom>
          <a:solidFill>
            <a:srgbClr val="F4F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右下角淡蓝装饰"/>
          <p:cNvSpPr/>
          <p:nvPr/>
        </p:nvSpPr>
        <p:spPr>
          <a:xfrm>
            <a:off x="11076431" y="5742432"/>
            <a:ext cx="1115568" cy="1115568"/>
          </a:xfrm>
          <a:custGeom>
            <a:avLst/>
            <a:gdLst/>
            <a:ahLst/>
            <a:cxnLst/>
            <a:rect l="l" t="t" r="r" b="b"/>
            <a:pathLst>
              <a:path w="1115568" h="1115568">
                <a:moveTo>
                  <a:pt x="1115568" y="1115568"/>
                </a:moveTo>
                <a:lnTo>
                  <a:pt x="0" y="1115568"/>
                </a:lnTo>
                <a:lnTo>
                  <a:pt x="551" y="1080527"/>
                </a:lnTo>
                <a:lnTo>
                  <a:pt x="2202" y="1045520"/>
                </a:lnTo>
                <a:lnTo>
                  <a:pt x="4951" y="1010583"/>
                </a:lnTo>
                <a:lnTo>
                  <a:pt x="8797" y="975750"/>
                </a:lnTo>
                <a:lnTo>
                  <a:pt x="13735" y="941054"/>
                </a:lnTo>
                <a:lnTo>
                  <a:pt x="19760" y="906531"/>
                </a:lnTo>
                <a:lnTo>
                  <a:pt x="26867" y="872214"/>
                </a:lnTo>
                <a:lnTo>
                  <a:pt x="35048" y="838137"/>
                </a:lnTo>
                <a:lnTo>
                  <a:pt x="44295" y="804334"/>
                </a:lnTo>
                <a:lnTo>
                  <a:pt x="54600" y="770838"/>
                </a:lnTo>
                <a:lnTo>
                  <a:pt x="65952" y="737682"/>
                </a:lnTo>
                <a:lnTo>
                  <a:pt x="78339" y="704900"/>
                </a:lnTo>
                <a:lnTo>
                  <a:pt x="91751" y="672522"/>
                </a:lnTo>
                <a:lnTo>
                  <a:pt x="106172" y="640582"/>
                </a:lnTo>
                <a:lnTo>
                  <a:pt x="121590" y="609110"/>
                </a:lnTo>
                <a:lnTo>
                  <a:pt x="137989" y="578139"/>
                </a:lnTo>
                <a:lnTo>
                  <a:pt x="155352" y="547697"/>
                </a:lnTo>
                <a:lnTo>
                  <a:pt x="173663" y="517816"/>
                </a:lnTo>
                <a:lnTo>
                  <a:pt x="192904" y="488525"/>
                </a:lnTo>
                <a:lnTo>
                  <a:pt x="213055" y="459853"/>
                </a:lnTo>
                <a:lnTo>
                  <a:pt x="234097" y="431828"/>
                </a:lnTo>
                <a:lnTo>
                  <a:pt x="256008" y="404478"/>
                </a:lnTo>
                <a:lnTo>
                  <a:pt x="278768" y="377829"/>
                </a:lnTo>
                <a:lnTo>
                  <a:pt x="302354" y="351909"/>
                </a:lnTo>
                <a:lnTo>
                  <a:pt x="326742" y="326742"/>
                </a:lnTo>
                <a:lnTo>
                  <a:pt x="351909" y="302353"/>
                </a:lnTo>
                <a:lnTo>
                  <a:pt x="377830" y="278768"/>
                </a:lnTo>
                <a:lnTo>
                  <a:pt x="404478" y="256008"/>
                </a:lnTo>
                <a:lnTo>
                  <a:pt x="431829" y="234096"/>
                </a:lnTo>
                <a:lnTo>
                  <a:pt x="459854" y="213054"/>
                </a:lnTo>
                <a:lnTo>
                  <a:pt x="488526" y="192903"/>
                </a:lnTo>
                <a:lnTo>
                  <a:pt x="517817" y="173662"/>
                </a:lnTo>
                <a:lnTo>
                  <a:pt x="547698" y="155351"/>
                </a:lnTo>
                <a:lnTo>
                  <a:pt x="578139" y="137988"/>
                </a:lnTo>
                <a:lnTo>
                  <a:pt x="609111" y="121589"/>
                </a:lnTo>
                <a:lnTo>
                  <a:pt x="640582" y="106171"/>
                </a:lnTo>
                <a:lnTo>
                  <a:pt x="672523" y="91750"/>
                </a:lnTo>
                <a:lnTo>
                  <a:pt x="704900" y="78339"/>
                </a:lnTo>
                <a:lnTo>
                  <a:pt x="737683" y="65951"/>
                </a:lnTo>
                <a:lnTo>
                  <a:pt x="770839" y="54599"/>
                </a:lnTo>
                <a:lnTo>
                  <a:pt x="804335" y="44295"/>
                </a:lnTo>
                <a:lnTo>
                  <a:pt x="838138" y="35047"/>
                </a:lnTo>
                <a:lnTo>
                  <a:pt x="872215" y="26866"/>
                </a:lnTo>
                <a:lnTo>
                  <a:pt x="906532" y="19759"/>
                </a:lnTo>
                <a:lnTo>
                  <a:pt x="941055" y="13734"/>
                </a:lnTo>
                <a:lnTo>
                  <a:pt x="975750" y="8796"/>
                </a:lnTo>
                <a:lnTo>
                  <a:pt x="1010584" y="4950"/>
                </a:lnTo>
                <a:lnTo>
                  <a:pt x="1045521" y="2201"/>
                </a:lnTo>
                <a:lnTo>
                  <a:pt x="1080527" y="550"/>
                </a:lnTo>
                <a:lnTo>
                  <a:pt x="1115568" y="0"/>
                </a:lnTo>
                <a:lnTo>
                  <a:pt x="1115568" y="1115568"/>
                </a:lnTo>
                <a:close/>
              </a:path>
            </a:pathLst>
          </a:custGeom>
          <a:solidFill>
            <a:srgbClr val="F8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圆形"/>
          <p:cNvSpPr/>
          <p:nvPr/>
        </p:nvSpPr>
        <p:spPr>
          <a:xfrm>
            <a:off x="1038758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圆形"/>
          <p:cNvSpPr/>
          <p:nvPr/>
        </p:nvSpPr>
        <p:spPr>
          <a:xfrm>
            <a:off x="1038758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圆形"/>
          <p:cNvSpPr/>
          <p:nvPr/>
        </p:nvSpPr>
        <p:spPr>
          <a:xfrm>
            <a:off x="1038758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圆形"/>
          <p:cNvSpPr/>
          <p:nvPr/>
        </p:nvSpPr>
        <p:spPr>
          <a:xfrm>
            <a:off x="1055217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圆形"/>
          <p:cNvSpPr/>
          <p:nvPr/>
        </p:nvSpPr>
        <p:spPr>
          <a:xfrm>
            <a:off x="1055217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圆形"/>
          <p:cNvSpPr/>
          <p:nvPr/>
        </p:nvSpPr>
        <p:spPr>
          <a:xfrm>
            <a:off x="1055217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圆形"/>
          <p:cNvSpPr/>
          <p:nvPr/>
        </p:nvSpPr>
        <p:spPr>
          <a:xfrm>
            <a:off x="10716767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圆形"/>
          <p:cNvSpPr/>
          <p:nvPr/>
        </p:nvSpPr>
        <p:spPr>
          <a:xfrm>
            <a:off x="10716767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圆形"/>
          <p:cNvSpPr/>
          <p:nvPr/>
        </p:nvSpPr>
        <p:spPr>
          <a:xfrm>
            <a:off x="10716767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圆形"/>
          <p:cNvSpPr/>
          <p:nvPr/>
        </p:nvSpPr>
        <p:spPr>
          <a:xfrm>
            <a:off x="10881359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圆形"/>
          <p:cNvSpPr/>
          <p:nvPr/>
        </p:nvSpPr>
        <p:spPr>
          <a:xfrm>
            <a:off x="10881359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圆形"/>
          <p:cNvSpPr/>
          <p:nvPr/>
        </p:nvSpPr>
        <p:spPr>
          <a:xfrm>
            <a:off x="10881359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圆形"/>
          <p:cNvSpPr/>
          <p:nvPr/>
        </p:nvSpPr>
        <p:spPr>
          <a:xfrm>
            <a:off x="11045952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圆形"/>
          <p:cNvSpPr/>
          <p:nvPr/>
        </p:nvSpPr>
        <p:spPr>
          <a:xfrm>
            <a:off x="11045952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圆形"/>
          <p:cNvSpPr/>
          <p:nvPr/>
        </p:nvSpPr>
        <p:spPr>
          <a:xfrm>
            <a:off x="11045952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圆形"/>
          <p:cNvSpPr/>
          <p:nvPr/>
        </p:nvSpPr>
        <p:spPr>
          <a:xfrm>
            <a:off x="1121054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圆形"/>
          <p:cNvSpPr/>
          <p:nvPr/>
        </p:nvSpPr>
        <p:spPr>
          <a:xfrm>
            <a:off x="1121054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圆形"/>
          <p:cNvSpPr/>
          <p:nvPr/>
        </p:nvSpPr>
        <p:spPr>
          <a:xfrm>
            <a:off x="1121054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圆形"/>
          <p:cNvSpPr/>
          <p:nvPr/>
        </p:nvSpPr>
        <p:spPr>
          <a:xfrm>
            <a:off x="1137513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圆形"/>
          <p:cNvSpPr/>
          <p:nvPr/>
        </p:nvSpPr>
        <p:spPr>
          <a:xfrm>
            <a:off x="1137513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圆形"/>
          <p:cNvSpPr/>
          <p:nvPr/>
        </p:nvSpPr>
        <p:spPr>
          <a:xfrm>
            <a:off x="1137513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圆形"/>
          <p:cNvSpPr/>
          <p:nvPr/>
        </p:nvSpPr>
        <p:spPr>
          <a:xfrm>
            <a:off x="11539728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圆形"/>
          <p:cNvSpPr/>
          <p:nvPr/>
        </p:nvSpPr>
        <p:spPr>
          <a:xfrm>
            <a:off x="11539728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圆形"/>
          <p:cNvSpPr/>
          <p:nvPr/>
        </p:nvSpPr>
        <p:spPr>
          <a:xfrm>
            <a:off x="11539728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标题蓝色竖线"/>
          <p:cNvSpPr/>
          <p:nvPr/>
        </p:nvSpPr>
        <p:spPr>
          <a:xfrm>
            <a:off x="274320" y="356616"/>
            <a:ext cx="109728" cy="585216"/>
          </a:xfrm>
          <a:prstGeom prst="roundRect">
            <a:avLst>
              <a:gd name="adj" fmla="val 41666"/>
            </a:avLst>
          </a:prstGeom>
          <a:gradFill>
            <a:gsLst>
              <a:gs pos="0">
                <a:srgbClr val="3A92D5"/>
              </a:gs>
              <a:gs pos="100000">
                <a:srgbClr val="146FB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标题"/>
          <p:cNvSpPr txBox="1"/>
          <p:nvPr/>
        </p:nvSpPr>
        <p:spPr>
          <a:xfrm>
            <a:off x="621792" y="301752"/>
            <a:ext cx="9390888" cy="64922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3600">
                <a:latin typeface="微软雅黑" panose="020B0503020204020204" charset="-122"/>
              </a:defRPr>
            </a:pPr>
            <a:r>
              <a:rPr sz="35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CAN总线出现之前</a:t>
            </a:r>
            <a:endParaRPr sz="35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标题分隔线"/>
          <p:cNvSpPr/>
          <p:nvPr/>
        </p:nvSpPr>
        <p:spPr>
          <a:xfrm>
            <a:off x="621792" y="1051560"/>
            <a:ext cx="11109960" cy="18288"/>
          </a:xfrm>
          <a:prstGeom prst="rect">
            <a:avLst/>
          </a:prstGeom>
          <a:gradFill>
            <a:gsLst>
              <a:gs pos="0">
                <a:srgbClr val="3A92D5"/>
              </a:gs>
              <a:gs pos="100000">
                <a:srgbClr val="E3EFF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tongji_wordm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4" y="256032"/>
            <a:ext cx="1554480" cy="385298"/>
          </a:xfrm>
          <a:prstGeom prst="rect">
            <a:avLst/>
          </a:prstGeom>
          <a:effectLst/>
        </p:spPr>
      </p:pic>
      <p:sp>
        <p:nvSpPr>
          <p:cNvPr id="33" name="导入句"/>
          <p:cNvSpPr txBox="1"/>
          <p:nvPr/>
        </p:nvSpPr>
        <p:spPr>
          <a:xfrm>
            <a:off x="621792" y="1271016"/>
            <a:ext cx="10972800" cy="57607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000">
                <a:latin typeface="微软雅黑" panose="020B0503020204020204" charset="-122"/>
              </a:defRPr>
            </a:pPr>
            <a:r>
              <a:rPr sz="20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在没有总线之前，多个 ECU 往往采用</a:t>
            </a:r>
            <a:r>
              <a:rPr sz="20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点对点连接</a:t>
            </a:r>
            <a:r>
              <a:rPr sz="20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，线束数量会迅速增加。</a:t>
            </a:r>
            <a:endParaRPr sz="20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6" name="连线"/>
          <p:cNvCxnSpPr/>
          <p:nvPr/>
        </p:nvCxnSpPr>
        <p:spPr>
          <a:xfrm flipH="1">
            <a:off x="1901952" y="2487168"/>
            <a:ext cx="2340864" cy="1097280"/>
          </a:xfrm>
          <a:prstGeom prst="line">
            <a:avLst/>
          </a:prstGeom>
          <a:ln w="21590" cap="rnd">
            <a:solidFill>
              <a:srgbClr val="162B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连线"/>
          <p:cNvCxnSpPr/>
          <p:nvPr/>
        </p:nvCxnSpPr>
        <p:spPr>
          <a:xfrm>
            <a:off x="4242816" y="2487168"/>
            <a:ext cx="2286000" cy="1097280"/>
          </a:xfrm>
          <a:prstGeom prst="line">
            <a:avLst/>
          </a:prstGeom>
          <a:ln w="21590" cap="rnd">
            <a:solidFill>
              <a:srgbClr val="162B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连线"/>
          <p:cNvCxnSpPr/>
          <p:nvPr/>
        </p:nvCxnSpPr>
        <p:spPr>
          <a:xfrm flipH="1">
            <a:off x="2615184" y="2487168"/>
            <a:ext cx="1627632" cy="2587752"/>
          </a:xfrm>
          <a:prstGeom prst="line">
            <a:avLst/>
          </a:prstGeom>
          <a:ln w="21590" cap="rnd">
            <a:solidFill>
              <a:srgbClr val="162B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连线"/>
          <p:cNvCxnSpPr/>
          <p:nvPr/>
        </p:nvCxnSpPr>
        <p:spPr>
          <a:xfrm>
            <a:off x="4242816" y="2487168"/>
            <a:ext cx="1545336" cy="2587752"/>
          </a:xfrm>
          <a:prstGeom prst="line">
            <a:avLst/>
          </a:prstGeom>
          <a:ln w="21590" cap="rnd">
            <a:solidFill>
              <a:srgbClr val="162B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连线"/>
          <p:cNvCxnSpPr/>
          <p:nvPr/>
        </p:nvCxnSpPr>
        <p:spPr>
          <a:xfrm>
            <a:off x="1901952" y="3584448"/>
            <a:ext cx="4626864" cy="0"/>
          </a:xfrm>
          <a:prstGeom prst="line">
            <a:avLst/>
          </a:prstGeom>
          <a:ln w="21590" cap="rnd">
            <a:solidFill>
              <a:srgbClr val="162B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连线"/>
          <p:cNvCxnSpPr/>
          <p:nvPr/>
        </p:nvCxnSpPr>
        <p:spPr>
          <a:xfrm>
            <a:off x="1901952" y="3584448"/>
            <a:ext cx="713232" cy="1490472"/>
          </a:xfrm>
          <a:prstGeom prst="line">
            <a:avLst/>
          </a:prstGeom>
          <a:ln w="21590" cap="rnd">
            <a:solidFill>
              <a:srgbClr val="162B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连线"/>
          <p:cNvCxnSpPr/>
          <p:nvPr/>
        </p:nvCxnSpPr>
        <p:spPr>
          <a:xfrm>
            <a:off x="1901952" y="3584448"/>
            <a:ext cx="3886200" cy="1490472"/>
          </a:xfrm>
          <a:prstGeom prst="line">
            <a:avLst/>
          </a:prstGeom>
          <a:ln w="21590" cap="rnd">
            <a:solidFill>
              <a:srgbClr val="162B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连线"/>
          <p:cNvCxnSpPr/>
          <p:nvPr/>
        </p:nvCxnSpPr>
        <p:spPr>
          <a:xfrm flipH="1">
            <a:off x="2615184" y="3584448"/>
            <a:ext cx="3913632" cy="1490472"/>
          </a:xfrm>
          <a:prstGeom prst="line">
            <a:avLst/>
          </a:prstGeom>
          <a:ln w="21590" cap="rnd">
            <a:solidFill>
              <a:srgbClr val="162B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连线"/>
          <p:cNvCxnSpPr/>
          <p:nvPr/>
        </p:nvCxnSpPr>
        <p:spPr>
          <a:xfrm flipH="1">
            <a:off x="5788152" y="3584448"/>
            <a:ext cx="740664" cy="1490472"/>
          </a:xfrm>
          <a:prstGeom prst="line">
            <a:avLst/>
          </a:prstGeom>
          <a:ln w="21590" cap="rnd">
            <a:solidFill>
              <a:srgbClr val="162B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连线"/>
          <p:cNvCxnSpPr/>
          <p:nvPr/>
        </p:nvCxnSpPr>
        <p:spPr>
          <a:xfrm>
            <a:off x="2615184" y="5074920"/>
            <a:ext cx="3172968" cy="0"/>
          </a:xfrm>
          <a:prstGeom prst="line">
            <a:avLst/>
          </a:prstGeom>
          <a:ln w="21590" cap="rnd">
            <a:solidFill>
              <a:srgbClr val="162B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CU"/>
          <p:cNvSpPr/>
          <p:nvPr/>
        </p:nvSpPr>
        <p:spPr>
          <a:xfrm>
            <a:off x="3584448" y="2130552"/>
            <a:ext cx="1316736" cy="713232"/>
          </a:xfrm>
          <a:prstGeom prst="roundRect">
            <a:avLst>
              <a:gd name="adj" fmla="val 8974"/>
            </a:avLst>
          </a:prstGeom>
          <a:gradFill>
            <a:gsLst>
              <a:gs pos="0">
                <a:srgbClr val="EBF5FF"/>
              </a:gs>
              <a:gs pos="100000">
                <a:srgbClr val="CFE5F9"/>
              </a:gs>
            </a:gsLst>
            <a:lin ang="5400000" scaled="1"/>
          </a:gradFill>
          <a:ln w="1397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CU标签"/>
          <p:cNvSpPr txBox="1"/>
          <p:nvPr/>
        </p:nvSpPr>
        <p:spPr>
          <a:xfrm>
            <a:off x="3630168" y="2176272"/>
            <a:ext cx="1225295" cy="62179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800">
                <a:latin typeface="微软雅黑" panose="020B0503020204020204" charset="-122"/>
              </a:defRPr>
            </a:pPr>
            <a:r>
              <a:rPr sz="28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ECU</a:t>
            </a:r>
            <a:endParaRPr sz="28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ECU"/>
          <p:cNvSpPr/>
          <p:nvPr/>
        </p:nvSpPr>
        <p:spPr>
          <a:xfrm>
            <a:off x="1243584" y="3227832"/>
            <a:ext cx="1316736" cy="713232"/>
          </a:xfrm>
          <a:prstGeom prst="roundRect">
            <a:avLst>
              <a:gd name="adj" fmla="val 8974"/>
            </a:avLst>
          </a:prstGeom>
          <a:gradFill>
            <a:gsLst>
              <a:gs pos="0">
                <a:srgbClr val="EBF5FF"/>
              </a:gs>
              <a:gs pos="100000">
                <a:srgbClr val="CFE5F9"/>
              </a:gs>
            </a:gsLst>
            <a:lin ang="5400000" scaled="1"/>
          </a:gradFill>
          <a:ln w="1397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CU标签"/>
          <p:cNvSpPr txBox="1"/>
          <p:nvPr/>
        </p:nvSpPr>
        <p:spPr>
          <a:xfrm>
            <a:off x="1289304" y="3273551"/>
            <a:ext cx="1225295" cy="62179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800">
                <a:latin typeface="微软雅黑" panose="020B0503020204020204" charset="-122"/>
              </a:defRPr>
            </a:pPr>
            <a:r>
              <a:rPr sz="28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ECU</a:t>
            </a:r>
            <a:endParaRPr sz="28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ECU"/>
          <p:cNvSpPr/>
          <p:nvPr/>
        </p:nvSpPr>
        <p:spPr>
          <a:xfrm>
            <a:off x="5870448" y="3227832"/>
            <a:ext cx="1316736" cy="713232"/>
          </a:xfrm>
          <a:prstGeom prst="roundRect">
            <a:avLst>
              <a:gd name="adj" fmla="val 8974"/>
            </a:avLst>
          </a:prstGeom>
          <a:gradFill>
            <a:gsLst>
              <a:gs pos="0">
                <a:srgbClr val="EBF5FF"/>
              </a:gs>
              <a:gs pos="100000">
                <a:srgbClr val="CFE5F9"/>
              </a:gs>
            </a:gsLst>
            <a:lin ang="5400000" scaled="1"/>
          </a:gradFill>
          <a:ln w="1397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CU标签"/>
          <p:cNvSpPr txBox="1"/>
          <p:nvPr/>
        </p:nvSpPr>
        <p:spPr>
          <a:xfrm>
            <a:off x="5916168" y="3273551"/>
            <a:ext cx="1225295" cy="62179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800">
                <a:latin typeface="微软雅黑" panose="020B0503020204020204" charset="-122"/>
              </a:defRPr>
            </a:pPr>
            <a:r>
              <a:rPr sz="28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ECU</a:t>
            </a:r>
            <a:endParaRPr sz="28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ECU"/>
          <p:cNvSpPr/>
          <p:nvPr/>
        </p:nvSpPr>
        <p:spPr>
          <a:xfrm>
            <a:off x="1956815" y="4718304"/>
            <a:ext cx="1316736" cy="713232"/>
          </a:xfrm>
          <a:prstGeom prst="roundRect">
            <a:avLst>
              <a:gd name="adj" fmla="val 8974"/>
            </a:avLst>
          </a:prstGeom>
          <a:gradFill>
            <a:gsLst>
              <a:gs pos="0">
                <a:srgbClr val="EBF5FF"/>
              </a:gs>
              <a:gs pos="100000">
                <a:srgbClr val="CFE5F9"/>
              </a:gs>
            </a:gsLst>
            <a:lin ang="5400000" scaled="1"/>
          </a:gradFill>
          <a:ln w="1397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CU标签"/>
          <p:cNvSpPr txBox="1"/>
          <p:nvPr/>
        </p:nvSpPr>
        <p:spPr>
          <a:xfrm>
            <a:off x="2002535" y="4764024"/>
            <a:ext cx="1225295" cy="62179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800">
                <a:latin typeface="微软雅黑" panose="020B0503020204020204" charset="-122"/>
              </a:defRPr>
            </a:pPr>
            <a:r>
              <a:rPr sz="28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ECU</a:t>
            </a:r>
            <a:endParaRPr sz="28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ECU"/>
          <p:cNvSpPr/>
          <p:nvPr/>
        </p:nvSpPr>
        <p:spPr>
          <a:xfrm>
            <a:off x="5129784" y="4718304"/>
            <a:ext cx="1316736" cy="713232"/>
          </a:xfrm>
          <a:prstGeom prst="roundRect">
            <a:avLst>
              <a:gd name="adj" fmla="val 8974"/>
            </a:avLst>
          </a:prstGeom>
          <a:gradFill>
            <a:gsLst>
              <a:gs pos="0">
                <a:srgbClr val="EBF5FF"/>
              </a:gs>
              <a:gs pos="100000">
                <a:srgbClr val="CFE5F9"/>
              </a:gs>
            </a:gsLst>
            <a:lin ang="5400000" scaled="1"/>
          </a:gradFill>
          <a:ln w="1397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CU标签"/>
          <p:cNvSpPr txBox="1"/>
          <p:nvPr/>
        </p:nvSpPr>
        <p:spPr>
          <a:xfrm>
            <a:off x="5175504" y="4764024"/>
            <a:ext cx="1225295" cy="62179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800">
                <a:latin typeface="微软雅黑" panose="020B0503020204020204" charset="-122"/>
              </a:defRPr>
            </a:pPr>
            <a:r>
              <a:rPr sz="28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ECU</a:t>
            </a:r>
            <a:endParaRPr sz="28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矩形"/>
          <p:cNvSpPr/>
          <p:nvPr/>
        </p:nvSpPr>
        <p:spPr>
          <a:xfrm>
            <a:off x="8065008" y="2377440"/>
            <a:ext cx="3246120" cy="768096"/>
          </a:xfrm>
          <a:prstGeom prst="roundRect">
            <a:avLst>
              <a:gd name="adj" fmla="val 42857"/>
            </a:avLst>
          </a:prstGeom>
          <a:gradFill>
            <a:gsLst>
              <a:gs pos="0">
                <a:srgbClr val="EDF5FD"/>
              </a:gs>
              <a:gs pos="100000">
                <a:srgbClr val="F8FBF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圆形"/>
          <p:cNvSpPr/>
          <p:nvPr/>
        </p:nvSpPr>
        <p:spPr>
          <a:xfrm>
            <a:off x="7955279" y="2340864"/>
            <a:ext cx="832104" cy="832104"/>
          </a:xfrm>
          <a:prstGeom prst="ellipse">
            <a:avLst/>
          </a:prstGeom>
          <a:solidFill>
            <a:srgbClr val="E4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矩形"/>
          <p:cNvSpPr/>
          <p:nvPr/>
        </p:nvSpPr>
        <p:spPr>
          <a:xfrm>
            <a:off x="8326526" y="2530144"/>
            <a:ext cx="98755" cy="98755"/>
          </a:xfrm>
          <a:prstGeom prst="roundRect">
            <a:avLst>
              <a:gd name="adj" fmla="val 18518"/>
            </a:avLst>
          </a:prstGeom>
          <a:noFill/>
          <a:ln w="1778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矩形"/>
          <p:cNvSpPr/>
          <p:nvPr/>
        </p:nvSpPr>
        <p:spPr>
          <a:xfrm>
            <a:off x="8163580" y="2841223"/>
            <a:ext cx="98755" cy="98755"/>
          </a:xfrm>
          <a:prstGeom prst="roundRect">
            <a:avLst>
              <a:gd name="adj" fmla="val 18518"/>
            </a:avLst>
          </a:prstGeom>
          <a:noFill/>
          <a:ln w="1778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矩形"/>
          <p:cNvSpPr/>
          <p:nvPr/>
        </p:nvSpPr>
        <p:spPr>
          <a:xfrm>
            <a:off x="8326526" y="2841223"/>
            <a:ext cx="98755" cy="98755"/>
          </a:xfrm>
          <a:prstGeom prst="roundRect">
            <a:avLst>
              <a:gd name="adj" fmla="val 18518"/>
            </a:avLst>
          </a:prstGeom>
          <a:noFill/>
          <a:ln w="1778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矩形"/>
          <p:cNvSpPr/>
          <p:nvPr/>
        </p:nvSpPr>
        <p:spPr>
          <a:xfrm>
            <a:off x="8494410" y="2841223"/>
            <a:ext cx="98755" cy="98755"/>
          </a:xfrm>
          <a:prstGeom prst="roundRect">
            <a:avLst>
              <a:gd name="adj" fmla="val 18518"/>
            </a:avLst>
          </a:prstGeom>
          <a:noFill/>
          <a:ln w="1778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连线"/>
          <p:cNvCxnSpPr/>
          <p:nvPr/>
        </p:nvCxnSpPr>
        <p:spPr>
          <a:xfrm>
            <a:off x="8375904" y="2628900"/>
            <a:ext cx="0" cy="123444"/>
          </a:xfrm>
          <a:prstGeom prst="line">
            <a:avLst/>
          </a:prstGeom>
          <a:ln w="1905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连线"/>
          <p:cNvCxnSpPr/>
          <p:nvPr/>
        </p:nvCxnSpPr>
        <p:spPr>
          <a:xfrm>
            <a:off x="8212957" y="2752344"/>
            <a:ext cx="330830" cy="0"/>
          </a:xfrm>
          <a:prstGeom prst="line">
            <a:avLst/>
          </a:prstGeom>
          <a:ln w="1905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连线"/>
          <p:cNvCxnSpPr/>
          <p:nvPr/>
        </p:nvCxnSpPr>
        <p:spPr>
          <a:xfrm>
            <a:off x="8212957" y="2752344"/>
            <a:ext cx="0" cy="88879"/>
          </a:xfrm>
          <a:prstGeom prst="line">
            <a:avLst/>
          </a:prstGeom>
          <a:ln w="1905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连线"/>
          <p:cNvCxnSpPr/>
          <p:nvPr/>
        </p:nvCxnSpPr>
        <p:spPr>
          <a:xfrm>
            <a:off x="8375904" y="2752344"/>
            <a:ext cx="0" cy="88879"/>
          </a:xfrm>
          <a:prstGeom prst="line">
            <a:avLst/>
          </a:prstGeom>
          <a:ln w="1905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连线"/>
          <p:cNvCxnSpPr/>
          <p:nvPr/>
        </p:nvCxnSpPr>
        <p:spPr>
          <a:xfrm>
            <a:off x="8543787" y="2752344"/>
            <a:ext cx="0" cy="88879"/>
          </a:xfrm>
          <a:prstGeom prst="line">
            <a:avLst/>
          </a:prstGeom>
          <a:ln w="1905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连线"/>
          <p:cNvCxnSpPr/>
          <p:nvPr/>
        </p:nvCxnSpPr>
        <p:spPr>
          <a:xfrm>
            <a:off x="8988552" y="2523744"/>
            <a:ext cx="0" cy="493776"/>
          </a:xfrm>
          <a:prstGeom prst="line">
            <a:avLst/>
          </a:prstGeom>
          <a:ln w="15875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字"/>
          <p:cNvSpPr txBox="1"/>
          <p:nvPr/>
        </p:nvSpPr>
        <p:spPr>
          <a:xfrm>
            <a:off x="9171432" y="2587752"/>
            <a:ext cx="2066543" cy="39319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700">
                <a:latin typeface="微软雅黑" panose="020B0503020204020204" charset="-122"/>
              </a:defRPr>
            </a:pPr>
            <a:r>
              <a:rPr sz="27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接线复杂</a:t>
            </a:r>
            <a:endParaRPr sz="27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矩形"/>
          <p:cNvSpPr/>
          <p:nvPr/>
        </p:nvSpPr>
        <p:spPr>
          <a:xfrm>
            <a:off x="8065008" y="3520440"/>
            <a:ext cx="3246120" cy="768096"/>
          </a:xfrm>
          <a:prstGeom prst="roundRect">
            <a:avLst>
              <a:gd name="adj" fmla="val 42857"/>
            </a:avLst>
          </a:prstGeom>
          <a:gradFill>
            <a:gsLst>
              <a:gs pos="0">
                <a:srgbClr val="EDF5FD"/>
              </a:gs>
              <a:gs pos="100000">
                <a:srgbClr val="F8FBF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圆形"/>
          <p:cNvSpPr/>
          <p:nvPr/>
        </p:nvSpPr>
        <p:spPr>
          <a:xfrm>
            <a:off x="7955279" y="3483864"/>
            <a:ext cx="832104" cy="832104"/>
          </a:xfrm>
          <a:prstGeom prst="ellipse">
            <a:avLst/>
          </a:prstGeom>
          <a:solidFill>
            <a:srgbClr val="E4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矩形"/>
          <p:cNvSpPr/>
          <p:nvPr/>
        </p:nvSpPr>
        <p:spPr>
          <a:xfrm>
            <a:off x="8129016" y="3969410"/>
            <a:ext cx="98755" cy="172821"/>
          </a:xfrm>
          <a:prstGeom prst="roundRect">
            <a:avLst>
              <a:gd name="adj" fmla="val 14999"/>
            </a:avLst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矩形"/>
          <p:cNvSpPr/>
          <p:nvPr/>
        </p:nvSpPr>
        <p:spPr>
          <a:xfrm>
            <a:off x="8277148" y="3860779"/>
            <a:ext cx="98755" cy="281452"/>
          </a:xfrm>
          <a:prstGeom prst="roundRect">
            <a:avLst>
              <a:gd name="adj" fmla="val 14999"/>
            </a:avLst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矩形"/>
          <p:cNvSpPr/>
          <p:nvPr/>
        </p:nvSpPr>
        <p:spPr>
          <a:xfrm>
            <a:off x="8425281" y="3722522"/>
            <a:ext cx="98755" cy="419709"/>
          </a:xfrm>
          <a:prstGeom prst="roundRect">
            <a:avLst>
              <a:gd name="adj" fmla="val 14999"/>
            </a:avLst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连线"/>
          <p:cNvCxnSpPr/>
          <p:nvPr/>
        </p:nvCxnSpPr>
        <p:spPr>
          <a:xfrm>
            <a:off x="8988552" y="3666744"/>
            <a:ext cx="0" cy="493776"/>
          </a:xfrm>
          <a:prstGeom prst="line">
            <a:avLst/>
          </a:prstGeom>
          <a:ln w="15875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字"/>
          <p:cNvSpPr txBox="1"/>
          <p:nvPr/>
        </p:nvSpPr>
        <p:spPr>
          <a:xfrm>
            <a:off x="9171432" y="3730752"/>
            <a:ext cx="2066543" cy="39319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700">
                <a:latin typeface="微软雅黑" panose="020B0503020204020204" charset="-122"/>
              </a:defRPr>
            </a:pPr>
            <a:r>
              <a:rPr sz="27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扩展困难</a:t>
            </a:r>
            <a:endParaRPr sz="27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矩形"/>
          <p:cNvSpPr/>
          <p:nvPr/>
        </p:nvSpPr>
        <p:spPr>
          <a:xfrm>
            <a:off x="8065008" y="4663440"/>
            <a:ext cx="3246120" cy="768096"/>
          </a:xfrm>
          <a:prstGeom prst="roundRect">
            <a:avLst>
              <a:gd name="adj" fmla="val 42857"/>
            </a:avLst>
          </a:prstGeom>
          <a:gradFill>
            <a:gsLst>
              <a:gs pos="0">
                <a:srgbClr val="EDF5FD"/>
              </a:gs>
              <a:gs pos="100000">
                <a:srgbClr val="F8FBF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圆形"/>
          <p:cNvSpPr/>
          <p:nvPr/>
        </p:nvSpPr>
        <p:spPr>
          <a:xfrm>
            <a:off x="7955279" y="4626864"/>
            <a:ext cx="832104" cy="832104"/>
          </a:xfrm>
          <a:prstGeom prst="ellipse">
            <a:avLst/>
          </a:prstGeom>
          <a:solidFill>
            <a:srgbClr val="E4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连线"/>
          <p:cNvCxnSpPr/>
          <p:nvPr/>
        </p:nvCxnSpPr>
        <p:spPr>
          <a:xfrm flipV="1">
            <a:off x="8237646" y="4914899"/>
            <a:ext cx="266639" cy="271577"/>
          </a:xfrm>
          <a:prstGeom prst="line">
            <a:avLst/>
          </a:prstGeom>
          <a:ln w="635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可编辑曲线"/>
          <p:cNvSpPr/>
          <p:nvPr/>
        </p:nvSpPr>
        <p:spPr>
          <a:xfrm>
            <a:off x="8400592" y="4821082"/>
            <a:ext cx="207386" cy="177759"/>
          </a:xfrm>
          <a:custGeom>
            <a:avLst/>
            <a:gdLst/>
            <a:ahLst/>
            <a:cxnLst/>
            <a:rect l="l" t="t" r="r" b="b"/>
            <a:pathLst>
              <a:path w="207386" h="177759">
                <a:moveTo>
                  <a:pt x="0" y="49378"/>
                </a:moveTo>
                <a:lnTo>
                  <a:pt x="123444" y="0"/>
                </a:lnTo>
                <a:lnTo>
                  <a:pt x="79004" y="103693"/>
                </a:lnTo>
                <a:lnTo>
                  <a:pt x="162946" y="177759"/>
                </a:lnTo>
                <a:lnTo>
                  <a:pt x="207386" y="74066"/>
                </a:lnTo>
              </a:path>
            </a:pathLst>
          </a:custGeom>
          <a:noFill/>
          <a:ln w="381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连线"/>
          <p:cNvCxnSpPr/>
          <p:nvPr/>
        </p:nvCxnSpPr>
        <p:spPr>
          <a:xfrm>
            <a:off x="8988552" y="4809744"/>
            <a:ext cx="0" cy="493776"/>
          </a:xfrm>
          <a:prstGeom prst="line">
            <a:avLst/>
          </a:prstGeom>
          <a:ln w="15875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字"/>
          <p:cNvSpPr txBox="1"/>
          <p:nvPr/>
        </p:nvSpPr>
        <p:spPr>
          <a:xfrm>
            <a:off x="9171432" y="4873752"/>
            <a:ext cx="2066543" cy="39319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700">
                <a:latin typeface="微软雅黑" panose="020B0503020204020204" charset="-122"/>
              </a:defRPr>
            </a:pPr>
            <a:r>
              <a:rPr sz="27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维护成本高</a:t>
            </a:r>
            <a:endParaRPr sz="27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本页总结背景"/>
          <p:cNvSpPr/>
          <p:nvPr/>
        </p:nvSpPr>
        <p:spPr>
          <a:xfrm>
            <a:off x="585216" y="5888736"/>
            <a:ext cx="11064240" cy="585216"/>
          </a:xfrm>
          <a:prstGeom prst="roundRect">
            <a:avLst>
              <a:gd name="adj" fmla="val 23437"/>
            </a:avLst>
          </a:prstGeom>
          <a:gradFill>
            <a:gsLst>
              <a:gs pos="0">
                <a:srgbClr val="F0F7FE"/>
              </a:gs>
              <a:gs pos="100000">
                <a:srgbClr val="E9F3F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可编辑曲线"/>
          <p:cNvSpPr/>
          <p:nvPr/>
        </p:nvSpPr>
        <p:spPr>
          <a:xfrm>
            <a:off x="907999" y="6027359"/>
            <a:ext cx="310621" cy="133685"/>
          </a:xfrm>
          <a:custGeom>
            <a:avLst/>
            <a:gdLst/>
            <a:ahLst/>
            <a:cxnLst/>
            <a:rect l="l" t="t" r="r" b="b"/>
            <a:pathLst>
              <a:path w="310621" h="133685">
                <a:moveTo>
                  <a:pt x="0" y="133685"/>
                </a:moveTo>
                <a:lnTo>
                  <a:pt x="51115" y="0"/>
                </a:lnTo>
                <a:lnTo>
                  <a:pt x="251643" y="0"/>
                </a:lnTo>
                <a:lnTo>
                  <a:pt x="310621" y="133685"/>
                </a:lnTo>
              </a:path>
            </a:pathLst>
          </a:custGeom>
          <a:noFill/>
          <a:ln w="254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矩形"/>
          <p:cNvSpPr/>
          <p:nvPr/>
        </p:nvSpPr>
        <p:spPr>
          <a:xfrm>
            <a:off x="896203" y="6149248"/>
            <a:ext cx="338145" cy="165140"/>
          </a:xfrm>
          <a:prstGeom prst="roundRect">
            <a:avLst>
              <a:gd name="adj" fmla="val 19047"/>
            </a:avLst>
          </a:prstGeom>
          <a:noFill/>
          <a:ln w="254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连线"/>
          <p:cNvCxnSpPr/>
          <p:nvPr/>
        </p:nvCxnSpPr>
        <p:spPr>
          <a:xfrm>
            <a:off x="915863" y="6157112"/>
            <a:ext cx="302757" cy="0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圆形"/>
          <p:cNvSpPr/>
          <p:nvPr/>
        </p:nvSpPr>
        <p:spPr>
          <a:xfrm>
            <a:off x="935522" y="6208227"/>
            <a:ext cx="51114" cy="5111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圆形"/>
          <p:cNvSpPr/>
          <p:nvPr/>
        </p:nvSpPr>
        <p:spPr>
          <a:xfrm>
            <a:off x="1136050" y="6208227"/>
            <a:ext cx="51114" cy="5111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连线"/>
          <p:cNvCxnSpPr/>
          <p:nvPr/>
        </p:nvCxnSpPr>
        <p:spPr>
          <a:xfrm>
            <a:off x="943386" y="6310457"/>
            <a:ext cx="0" cy="51115"/>
          </a:xfrm>
          <a:prstGeom prst="line">
            <a:avLst/>
          </a:prstGeom>
          <a:ln w="381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连线"/>
          <p:cNvCxnSpPr/>
          <p:nvPr/>
        </p:nvCxnSpPr>
        <p:spPr>
          <a:xfrm>
            <a:off x="1183233" y="6310457"/>
            <a:ext cx="0" cy="51115"/>
          </a:xfrm>
          <a:prstGeom prst="line">
            <a:avLst/>
          </a:prstGeom>
          <a:ln w="381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连线"/>
          <p:cNvCxnSpPr/>
          <p:nvPr/>
        </p:nvCxnSpPr>
        <p:spPr>
          <a:xfrm>
            <a:off x="1435608" y="5980176"/>
            <a:ext cx="0" cy="402336"/>
          </a:xfrm>
          <a:prstGeom prst="line">
            <a:avLst/>
          </a:prstGeom>
          <a:ln w="15875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本页总结"/>
          <p:cNvSpPr txBox="1"/>
          <p:nvPr/>
        </p:nvSpPr>
        <p:spPr>
          <a:xfrm>
            <a:off x="1655064" y="5980176"/>
            <a:ext cx="9692640" cy="43891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900">
                <a:latin typeface="微软雅黑" panose="020B0503020204020204" charset="-122"/>
              </a:defRPr>
            </a:pPr>
            <a:r>
              <a:rPr sz="19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随着 ECU 数量增加，传统点对点连接会带来</a:t>
            </a:r>
            <a:r>
              <a:rPr sz="19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更长的线束和更高的系统复杂度</a:t>
            </a:r>
            <a:r>
              <a:rPr sz="19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19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白色背景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右下角淡蓝装饰"/>
          <p:cNvSpPr/>
          <p:nvPr/>
        </p:nvSpPr>
        <p:spPr>
          <a:xfrm>
            <a:off x="10774679" y="5440680"/>
            <a:ext cx="1417320" cy="1417320"/>
          </a:xfrm>
          <a:custGeom>
            <a:avLst/>
            <a:gdLst/>
            <a:ahLst/>
            <a:cxnLst/>
            <a:rect l="l" t="t" r="r" b="b"/>
            <a:pathLst>
              <a:path w="1417320" h="1417320">
                <a:moveTo>
                  <a:pt x="1417320" y="1417320"/>
                </a:moveTo>
                <a:lnTo>
                  <a:pt x="0" y="1417320"/>
                </a:lnTo>
                <a:lnTo>
                  <a:pt x="700" y="1372800"/>
                </a:lnTo>
                <a:lnTo>
                  <a:pt x="2797" y="1328325"/>
                </a:lnTo>
                <a:lnTo>
                  <a:pt x="6290" y="1283938"/>
                </a:lnTo>
                <a:lnTo>
                  <a:pt x="11176" y="1239682"/>
                </a:lnTo>
                <a:lnTo>
                  <a:pt x="17450" y="1195602"/>
                </a:lnTo>
                <a:lnTo>
                  <a:pt x="25105" y="1151740"/>
                </a:lnTo>
                <a:lnTo>
                  <a:pt x="34134" y="1108141"/>
                </a:lnTo>
                <a:lnTo>
                  <a:pt x="44528" y="1064846"/>
                </a:lnTo>
                <a:lnTo>
                  <a:pt x="56277" y="1021900"/>
                </a:lnTo>
                <a:lnTo>
                  <a:pt x="69369" y="979344"/>
                </a:lnTo>
                <a:lnTo>
                  <a:pt x="83791" y="937219"/>
                </a:lnTo>
                <a:lnTo>
                  <a:pt x="99529" y="895569"/>
                </a:lnTo>
                <a:lnTo>
                  <a:pt x="116568" y="854434"/>
                </a:lnTo>
                <a:lnTo>
                  <a:pt x="134891" y="813854"/>
                </a:lnTo>
                <a:lnTo>
                  <a:pt x="154479" y="773870"/>
                </a:lnTo>
                <a:lnTo>
                  <a:pt x="175313" y="734520"/>
                </a:lnTo>
                <a:lnTo>
                  <a:pt x="197373" y="695845"/>
                </a:lnTo>
                <a:lnTo>
                  <a:pt x="220637" y="657881"/>
                </a:lnTo>
                <a:lnTo>
                  <a:pt x="245082" y="620667"/>
                </a:lnTo>
                <a:lnTo>
                  <a:pt x="270684" y="584240"/>
                </a:lnTo>
                <a:lnTo>
                  <a:pt x="297418" y="548634"/>
                </a:lnTo>
                <a:lnTo>
                  <a:pt x="325256" y="513886"/>
                </a:lnTo>
                <a:lnTo>
                  <a:pt x="354173" y="480029"/>
                </a:lnTo>
                <a:lnTo>
                  <a:pt x="384138" y="447097"/>
                </a:lnTo>
                <a:lnTo>
                  <a:pt x="415124" y="415123"/>
                </a:lnTo>
                <a:lnTo>
                  <a:pt x="447098" y="384138"/>
                </a:lnTo>
                <a:lnTo>
                  <a:pt x="480030" y="354172"/>
                </a:lnTo>
                <a:lnTo>
                  <a:pt x="513886" y="325256"/>
                </a:lnTo>
                <a:lnTo>
                  <a:pt x="548635" y="297417"/>
                </a:lnTo>
                <a:lnTo>
                  <a:pt x="584240" y="270684"/>
                </a:lnTo>
                <a:lnTo>
                  <a:pt x="620668" y="245082"/>
                </a:lnTo>
                <a:lnTo>
                  <a:pt x="657882" y="220637"/>
                </a:lnTo>
                <a:lnTo>
                  <a:pt x="695846" y="197373"/>
                </a:lnTo>
                <a:lnTo>
                  <a:pt x="734521" y="175313"/>
                </a:lnTo>
                <a:lnTo>
                  <a:pt x="773870" y="154478"/>
                </a:lnTo>
                <a:lnTo>
                  <a:pt x="813855" y="134890"/>
                </a:lnTo>
                <a:lnTo>
                  <a:pt x="854435" y="116568"/>
                </a:lnTo>
                <a:lnTo>
                  <a:pt x="895570" y="99529"/>
                </a:lnTo>
                <a:lnTo>
                  <a:pt x="937220" y="83790"/>
                </a:lnTo>
                <a:lnTo>
                  <a:pt x="979344" y="69368"/>
                </a:lnTo>
                <a:lnTo>
                  <a:pt x="1021901" y="56276"/>
                </a:lnTo>
                <a:lnTo>
                  <a:pt x="1064847" y="44527"/>
                </a:lnTo>
                <a:lnTo>
                  <a:pt x="1108141" y="34133"/>
                </a:lnTo>
                <a:lnTo>
                  <a:pt x="1151741" y="25104"/>
                </a:lnTo>
                <a:lnTo>
                  <a:pt x="1195602" y="17449"/>
                </a:lnTo>
                <a:lnTo>
                  <a:pt x="1239683" y="11175"/>
                </a:lnTo>
                <a:lnTo>
                  <a:pt x="1283939" y="6290"/>
                </a:lnTo>
                <a:lnTo>
                  <a:pt x="1328326" y="2796"/>
                </a:lnTo>
                <a:lnTo>
                  <a:pt x="1372801" y="699"/>
                </a:lnTo>
                <a:lnTo>
                  <a:pt x="1417320" y="0"/>
                </a:lnTo>
                <a:lnTo>
                  <a:pt x="1417320" y="1417320"/>
                </a:lnTo>
                <a:close/>
              </a:path>
            </a:pathLst>
          </a:custGeom>
          <a:solidFill>
            <a:srgbClr val="F4F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右下角淡蓝装饰"/>
          <p:cNvSpPr/>
          <p:nvPr/>
        </p:nvSpPr>
        <p:spPr>
          <a:xfrm>
            <a:off x="11076431" y="5742432"/>
            <a:ext cx="1115568" cy="1115568"/>
          </a:xfrm>
          <a:custGeom>
            <a:avLst/>
            <a:gdLst/>
            <a:ahLst/>
            <a:cxnLst/>
            <a:rect l="l" t="t" r="r" b="b"/>
            <a:pathLst>
              <a:path w="1115568" h="1115568">
                <a:moveTo>
                  <a:pt x="1115568" y="1115568"/>
                </a:moveTo>
                <a:lnTo>
                  <a:pt x="0" y="1115568"/>
                </a:lnTo>
                <a:lnTo>
                  <a:pt x="551" y="1080527"/>
                </a:lnTo>
                <a:lnTo>
                  <a:pt x="2202" y="1045520"/>
                </a:lnTo>
                <a:lnTo>
                  <a:pt x="4951" y="1010583"/>
                </a:lnTo>
                <a:lnTo>
                  <a:pt x="8797" y="975750"/>
                </a:lnTo>
                <a:lnTo>
                  <a:pt x="13735" y="941054"/>
                </a:lnTo>
                <a:lnTo>
                  <a:pt x="19760" y="906531"/>
                </a:lnTo>
                <a:lnTo>
                  <a:pt x="26867" y="872214"/>
                </a:lnTo>
                <a:lnTo>
                  <a:pt x="35048" y="838137"/>
                </a:lnTo>
                <a:lnTo>
                  <a:pt x="44295" y="804334"/>
                </a:lnTo>
                <a:lnTo>
                  <a:pt x="54600" y="770838"/>
                </a:lnTo>
                <a:lnTo>
                  <a:pt x="65952" y="737682"/>
                </a:lnTo>
                <a:lnTo>
                  <a:pt x="78339" y="704900"/>
                </a:lnTo>
                <a:lnTo>
                  <a:pt x="91751" y="672522"/>
                </a:lnTo>
                <a:lnTo>
                  <a:pt x="106172" y="640582"/>
                </a:lnTo>
                <a:lnTo>
                  <a:pt x="121590" y="609110"/>
                </a:lnTo>
                <a:lnTo>
                  <a:pt x="137989" y="578139"/>
                </a:lnTo>
                <a:lnTo>
                  <a:pt x="155352" y="547697"/>
                </a:lnTo>
                <a:lnTo>
                  <a:pt x="173663" y="517816"/>
                </a:lnTo>
                <a:lnTo>
                  <a:pt x="192904" y="488525"/>
                </a:lnTo>
                <a:lnTo>
                  <a:pt x="213055" y="459853"/>
                </a:lnTo>
                <a:lnTo>
                  <a:pt x="234097" y="431828"/>
                </a:lnTo>
                <a:lnTo>
                  <a:pt x="256008" y="404478"/>
                </a:lnTo>
                <a:lnTo>
                  <a:pt x="278768" y="377829"/>
                </a:lnTo>
                <a:lnTo>
                  <a:pt x="302354" y="351909"/>
                </a:lnTo>
                <a:lnTo>
                  <a:pt x="326742" y="326742"/>
                </a:lnTo>
                <a:lnTo>
                  <a:pt x="351909" y="302353"/>
                </a:lnTo>
                <a:lnTo>
                  <a:pt x="377830" y="278768"/>
                </a:lnTo>
                <a:lnTo>
                  <a:pt x="404478" y="256008"/>
                </a:lnTo>
                <a:lnTo>
                  <a:pt x="431829" y="234096"/>
                </a:lnTo>
                <a:lnTo>
                  <a:pt x="459854" y="213054"/>
                </a:lnTo>
                <a:lnTo>
                  <a:pt x="488526" y="192903"/>
                </a:lnTo>
                <a:lnTo>
                  <a:pt x="517817" y="173662"/>
                </a:lnTo>
                <a:lnTo>
                  <a:pt x="547698" y="155351"/>
                </a:lnTo>
                <a:lnTo>
                  <a:pt x="578139" y="137988"/>
                </a:lnTo>
                <a:lnTo>
                  <a:pt x="609111" y="121589"/>
                </a:lnTo>
                <a:lnTo>
                  <a:pt x="640582" y="106171"/>
                </a:lnTo>
                <a:lnTo>
                  <a:pt x="672523" y="91750"/>
                </a:lnTo>
                <a:lnTo>
                  <a:pt x="704900" y="78339"/>
                </a:lnTo>
                <a:lnTo>
                  <a:pt x="737683" y="65951"/>
                </a:lnTo>
                <a:lnTo>
                  <a:pt x="770839" y="54599"/>
                </a:lnTo>
                <a:lnTo>
                  <a:pt x="804335" y="44295"/>
                </a:lnTo>
                <a:lnTo>
                  <a:pt x="838138" y="35047"/>
                </a:lnTo>
                <a:lnTo>
                  <a:pt x="872215" y="26866"/>
                </a:lnTo>
                <a:lnTo>
                  <a:pt x="906532" y="19759"/>
                </a:lnTo>
                <a:lnTo>
                  <a:pt x="941055" y="13734"/>
                </a:lnTo>
                <a:lnTo>
                  <a:pt x="975750" y="8796"/>
                </a:lnTo>
                <a:lnTo>
                  <a:pt x="1010584" y="4950"/>
                </a:lnTo>
                <a:lnTo>
                  <a:pt x="1045521" y="2201"/>
                </a:lnTo>
                <a:lnTo>
                  <a:pt x="1080527" y="550"/>
                </a:lnTo>
                <a:lnTo>
                  <a:pt x="1115568" y="0"/>
                </a:lnTo>
                <a:lnTo>
                  <a:pt x="1115568" y="1115568"/>
                </a:lnTo>
                <a:close/>
              </a:path>
            </a:pathLst>
          </a:custGeom>
          <a:solidFill>
            <a:srgbClr val="F8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圆形"/>
          <p:cNvSpPr/>
          <p:nvPr/>
        </p:nvSpPr>
        <p:spPr>
          <a:xfrm>
            <a:off x="1038758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圆形"/>
          <p:cNvSpPr/>
          <p:nvPr/>
        </p:nvSpPr>
        <p:spPr>
          <a:xfrm>
            <a:off x="1038758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圆形"/>
          <p:cNvSpPr/>
          <p:nvPr/>
        </p:nvSpPr>
        <p:spPr>
          <a:xfrm>
            <a:off x="1038758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圆形"/>
          <p:cNvSpPr/>
          <p:nvPr/>
        </p:nvSpPr>
        <p:spPr>
          <a:xfrm>
            <a:off x="1055217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圆形"/>
          <p:cNvSpPr/>
          <p:nvPr/>
        </p:nvSpPr>
        <p:spPr>
          <a:xfrm>
            <a:off x="1055217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圆形"/>
          <p:cNvSpPr/>
          <p:nvPr/>
        </p:nvSpPr>
        <p:spPr>
          <a:xfrm>
            <a:off x="1055217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圆形"/>
          <p:cNvSpPr/>
          <p:nvPr/>
        </p:nvSpPr>
        <p:spPr>
          <a:xfrm>
            <a:off x="10716767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圆形"/>
          <p:cNvSpPr/>
          <p:nvPr/>
        </p:nvSpPr>
        <p:spPr>
          <a:xfrm>
            <a:off x="10716767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圆形"/>
          <p:cNvSpPr/>
          <p:nvPr/>
        </p:nvSpPr>
        <p:spPr>
          <a:xfrm>
            <a:off x="10716767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圆形"/>
          <p:cNvSpPr/>
          <p:nvPr/>
        </p:nvSpPr>
        <p:spPr>
          <a:xfrm>
            <a:off x="10881359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圆形"/>
          <p:cNvSpPr/>
          <p:nvPr/>
        </p:nvSpPr>
        <p:spPr>
          <a:xfrm>
            <a:off x="10881359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圆形"/>
          <p:cNvSpPr/>
          <p:nvPr/>
        </p:nvSpPr>
        <p:spPr>
          <a:xfrm>
            <a:off x="10881359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圆形"/>
          <p:cNvSpPr/>
          <p:nvPr/>
        </p:nvSpPr>
        <p:spPr>
          <a:xfrm>
            <a:off x="11045952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圆形"/>
          <p:cNvSpPr/>
          <p:nvPr/>
        </p:nvSpPr>
        <p:spPr>
          <a:xfrm>
            <a:off x="11045952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圆形"/>
          <p:cNvSpPr/>
          <p:nvPr/>
        </p:nvSpPr>
        <p:spPr>
          <a:xfrm>
            <a:off x="11045952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圆形"/>
          <p:cNvSpPr/>
          <p:nvPr/>
        </p:nvSpPr>
        <p:spPr>
          <a:xfrm>
            <a:off x="1121054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圆形"/>
          <p:cNvSpPr/>
          <p:nvPr/>
        </p:nvSpPr>
        <p:spPr>
          <a:xfrm>
            <a:off x="1121054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圆形"/>
          <p:cNvSpPr/>
          <p:nvPr/>
        </p:nvSpPr>
        <p:spPr>
          <a:xfrm>
            <a:off x="1121054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圆形"/>
          <p:cNvSpPr/>
          <p:nvPr/>
        </p:nvSpPr>
        <p:spPr>
          <a:xfrm>
            <a:off x="1137513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圆形"/>
          <p:cNvSpPr/>
          <p:nvPr/>
        </p:nvSpPr>
        <p:spPr>
          <a:xfrm>
            <a:off x="1137513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圆形"/>
          <p:cNvSpPr/>
          <p:nvPr/>
        </p:nvSpPr>
        <p:spPr>
          <a:xfrm>
            <a:off x="1137513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圆形"/>
          <p:cNvSpPr/>
          <p:nvPr/>
        </p:nvSpPr>
        <p:spPr>
          <a:xfrm>
            <a:off x="11539728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圆形"/>
          <p:cNvSpPr/>
          <p:nvPr/>
        </p:nvSpPr>
        <p:spPr>
          <a:xfrm>
            <a:off x="11539728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圆形"/>
          <p:cNvSpPr/>
          <p:nvPr/>
        </p:nvSpPr>
        <p:spPr>
          <a:xfrm>
            <a:off x="11539728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标题蓝色竖线"/>
          <p:cNvSpPr/>
          <p:nvPr/>
        </p:nvSpPr>
        <p:spPr>
          <a:xfrm>
            <a:off x="274320" y="356616"/>
            <a:ext cx="109728" cy="585216"/>
          </a:xfrm>
          <a:prstGeom prst="roundRect">
            <a:avLst>
              <a:gd name="adj" fmla="val 41666"/>
            </a:avLst>
          </a:prstGeom>
          <a:gradFill>
            <a:gsLst>
              <a:gs pos="0">
                <a:srgbClr val="3A92D5"/>
              </a:gs>
              <a:gs pos="100000">
                <a:srgbClr val="146FB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标题"/>
          <p:cNvSpPr txBox="1"/>
          <p:nvPr/>
        </p:nvSpPr>
        <p:spPr>
          <a:xfrm>
            <a:off x="621792" y="301752"/>
            <a:ext cx="9390888" cy="64922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3600">
                <a:latin typeface="微软雅黑" panose="020B0503020204020204" charset="-122"/>
              </a:defRPr>
            </a:pPr>
            <a:r>
              <a:rPr sz="35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CAN总线通信拓扑图</a:t>
            </a:r>
            <a:endParaRPr sz="35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标题分隔线"/>
          <p:cNvSpPr/>
          <p:nvPr/>
        </p:nvSpPr>
        <p:spPr>
          <a:xfrm>
            <a:off x="621792" y="1051560"/>
            <a:ext cx="11109960" cy="18288"/>
          </a:xfrm>
          <a:prstGeom prst="rect">
            <a:avLst/>
          </a:prstGeom>
          <a:gradFill>
            <a:gsLst>
              <a:gs pos="0">
                <a:srgbClr val="3A92D5"/>
              </a:gs>
              <a:gs pos="100000">
                <a:srgbClr val="E3EFF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tongji_wordm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4" y="256032"/>
            <a:ext cx="1554480" cy="385298"/>
          </a:xfrm>
          <a:prstGeom prst="rect">
            <a:avLst/>
          </a:prstGeom>
          <a:effectLst/>
        </p:spPr>
      </p:pic>
      <p:sp>
        <p:nvSpPr>
          <p:cNvPr id="33" name="导入句"/>
          <p:cNvSpPr txBox="1"/>
          <p:nvPr/>
        </p:nvSpPr>
        <p:spPr>
          <a:xfrm>
            <a:off x="621792" y="1271016"/>
            <a:ext cx="10972800" cy="57607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000">
                <a:latin typeface="微软雅黑" panose="020B0503020204020204" charset="-122"/>
              </a:defRPr>
            </a:pPr>
            <a:r>
              <a:rPr sz="20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CAN</a:t>
            </a:r>
            <a:r>
              <a:rPr sz="20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 通过一条共享总线连接多个 ECU，从而减少线束并简化连接关系。</a:t>
            </a:r>
            <a:endParaRPr sz="20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6" name="连线"/>
          <p:cNvCxnSpPr/>
          <p:nvPr/>
        </p:nvCxnSpPr>
        <p:spPr>
          <a:xfrm>
            <a:off x="1965960" y="3904487"/>
            <a:ext cx="8485632" cy="0"/>
          </a:xfrm>
          <a:prstGeom prst="line">
            <a:avLst/>
          </a:prstGeom>
          <a:ln w="40640" cap="rnd">
            <a:solidFill>
              <a:srgbClr val="7095B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连线"/>
          <p:cNvCxnSpPr/>
          <p:nvPr/>
        </p:nvCxnSpPr>
        <p:spPr>
          <a:xfrm>
            <a:off x="1965960" y="3995927"/>
            <a:ext cx="8485632" cy="0"/>
          </a:xfrm>
          <a:prstGeom prst="line">
            <a:avLst/>
          </a:prstGeom>
          <a:ln w="40640" cap="rnd">
            <a:solidFill>
              <a:srgbClr val="9CB8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CU"/>
          <p:cNvSpPr/>
          <p:nvPr/>
        </p:nvSpPr>
        <p:spPr>
          <a:xfrm>
            <a:off x="3044952" y="2377440"/>
            <a:ext cx="1097280" cy="868680"/>
          </a:xfrm>
          <a:prstGeom prst="roundRect">
            <a:avLst>
              <a:gd name="adj" fmla="val 7368"/>
            </a:avLst>
          </a:prstGeom>
          <a:gradFill>
            <a:gsLst>
              <a:gs pos="0">
                <a:srgbClr val="EBF5FF"/>
              </a:gs>
              <a:gs pos="100000">
                <a:srgbClr val="CFE5F9"/>
              </a:gs>
            </a:gsLst>
            <a:lin ang="5400000" scaled="1"/>
          </a:gradFill>
          <a:ln w="1397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CU标签"/>
          <p:cNvSpPr txBox="1"/>
          <p:nvPr/>
        </p:nvSpPr>
        <p:spPr>
          <a:xfrm>
            <a:off x="3090672" y="2423160"/>
            <a:ext cx="1005839" cy="77724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3300">
                <a:latin typeface="微软雅黑" panose="020B0503020204020204" charset="-122"/>
              </a:defRPr>
            </a:pPr>
            <a:r>
              <a:rPr sz="33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ECU</a:t>
            </a:r>
            <a:endParaRPr sz="33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0" name="连线"/>
          <p:cNvCxnSpPr/>
          <p:nvPr/>
        </p:nvCxnSpPr>
        <p:spPr>
          <a:xfrm>
            <a:off x="3547872" y="3246120"/>
            <a:ext cx="0" cy="658367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连线"/>
          <p:cNvCxnSpPr/>
          <p:nvPr/>
        </p:nvCxnSpPr>
        <p:spPr>
          <a:xfrm>
            <a:off x="3621024" y="3246120"/>
            <a:ext cx="0" cy="749807"/>
          </a:xfrm>
          <a:prstGeom prst="line">
            <a:avLst/>
          </a:prstGeom>
          <a:ln w="25400" cap="rnd">
            <a:solidFill>
              <a:srgbClr val="259D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ECU"/>
          <p:cNvSpPr/>
          <p:nvPr/>
        </p:nvSpPr>
        <p:spPr>
          <a:xfrm>
            <a:off x="5614416" y="2377440"/>
            <a:ext cx="1097280" cy="868680"/>
          </a:xfrm>
          <a:prstGeom prst="roundRect">
            <a:avLst>
              <a:gd name="adj" fmla="val 7368"/>
            </a:avLst>
          </a:prstGeom>
          <a:gradFill>
            <a:gsLst>
              <a:gs pos="0">
                <a:srgbClr val="EBF5FF"/>
              </a:gs>
              <a:gs pos="100000">
                <a:srgbClr val="CFE5F9"/>
              </a:gs>
            </a:gsLst>
            <a:lin ang="5400000" scaled="1"/>
          </a:gradFill>
          <a:ln w="1397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CU标签"/>
          <p:cNvSpPr txBox="1"/>
          <p:nvPr/>
        </p:nvSpPr>
        <p:spPr>
          <a:xfrm>
            <a:off x="5660136" y="2423160"/>
            <a:ext cx="1005839" cy="77724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3300">
                <a:latin typeface="微软雅黑" panose="020B0503020204020204" charset="-122"/>
              </a:defRPr>
            </a:pPr>
            <a:r>
              <a:rPr sz="33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ECU</a:t>
            </a:r>
            <a:endParaRPr sz="33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4" name="连线"/>
          <p:cNvCxnSpPr/>
          <p:nvPr/>
        </p:nvCxnSpPr>
        <p:spPr>
          <a:xfrm>
            <a:off x="6117336" y="3246120"/>
            <a:ext cx="0" cy="658367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连线"/>
          <p:cNvCxnSpPr/>
          <p:nvPr/>
        </p:nvCxnSpPr>
        <p:spPr>
          <a:xfrm>
            <a:off x="6190488" y="3246120"/>
            <a:ext cx="0" cy="749807"/>
          </a:xfrm>
          <a:prstGeom prst="line">
            <a:avLst/>
          </a:prstGeom>
          <a:ln w="25400" cap="rnd">
            <a:solidFill>
              <a:srgbClr val="259D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CU"/>
          <p:cNvSpPr/>
          <p:nvPr/>
        </p:nvSpPr>
        <p:spPr>
          <a:xfrm>
            <a:off x="8257031" y="2377440"/>
            <a:ext cx="1097280" cy="868680"/>
          </a:xfrm>
          <a:prstGeom prst="roundRect">
            <a:avLst>
              <a:gd name="adj" fmla="val 7368"/>
            </a:avLst>
          </a:prstGeom>
          <a:gradFill>
            <a:gsLst>
              <a:gs pos="0">
                <a:srgbClr val="EBF5FF"/>
              </a:gs>
              <a:gs pos="100000">
                <a:srgbClr val="CFE5F9"/>
              </a:gs>
            </a:gsLst>
            <a:lin ang="5400000" scaled="1"/>
          </a:gradFill>
          <a:ln w="1397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CU标签"/>
          <p:cNvSpPr txBox="1"/>
          <p:nvPr/>
        </p:nvSpPr>
        <p:spPr>
          <a:xfrm>
            <a:off x="8302752" y="2423160"/>
            <a:ext cx="1005839" cy="77724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3300">
                <a:latin typeface="微软雅黑" panose="020B0503020204020204" charset="-122"/>
              </a:defRPr>
            </a:pPr>
            <a:r>
              <a:rPr sz="33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ECU</a:t>
            </a:r>
            <a:endParaRPr sz="33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8" name="连线"/>
          <p:cNvCxnSpPr/>
          <p:nvPr/>
        </p:nvCxnSpPr>
        <p:spPr>
          <a:xfrm>
            <a:off x="8759952" y="3246120"/>
            <a:ext cx="0" cy="658367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连线"/>
          <p:cNvCxnSpPr/>
          <p:nvPr/>
        </p:nvCxnSpPr>
        <p:spPr>
          <a:xfrm>
            <a:off x="8833103" y="3246120"/>
            <a:ext cx="0" cy="749807"/>
          </a:xfrm>
          <a:prstGeom prst="line">
            <a:avLst/>
          </a:prstGeom>
          <a:ln w="25400" cap="rnd">
            <a:solidFill>
              <a:srgbClr val="259D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ECU"/>
          <p:cNvSpPr/>
          <p:nvPr/>
        </p:nvSpPr>
        <p:spPr>
          <a:xfrm>
            <a:off x="4142231" y="4608576"/>
            <a:ext cx="1115568" cy="859536"/>
          </a:xfrm>
          <a:prstGeom prst="roundRect">
            <a:avLst>
              <a:gd name="adj" fmla="val 7446"/>
            </a:avLst>
          </a:prstGeom>
          <a:gradFill>
            <a:gsLst>
              <a:gs pos="0">
                <a:srgbClr val="EBF5FF"/>
              </a:gs>
              <a:gs pos="100000">
                <a:srgbClr val="CFE5F9"/>
              </a:gs>
            </a:gsLst>
            <a:lin ang="5400000" scaled="1"/>
          </a:gradFill>
          <a:ln w="1397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CU标签"/>
          <p:cNvSpPr txBox="1"/>
          <p:nvPr/>
        </p:nvSpPr>
        <p:spPr>
          <a:xfrm>
            <a:off x="4187951" y="4654296"/>
            <a:ext cx="1024127" cy="76809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3300">
                <a:latin typeface="微软雅黑" panose="020B0503020204020204" charset="-122"/>
              </a:defRPr>
            </a:pPr>
            <a:r>
              <a:rPr sz="33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ECU</a:t>
            </a:r>
            <a:endParaRPr sz="33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2" name="连线"/>
          <p:cNvCxnSpPr/>
          <p:nvPr/>
        </p:nvCxnSpPr>
        <p:spPr>
          <a:xfrm>
            <a:off x="4663440" y="3904487"/>
            <a:ext cx="0" cy="704089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连线"/>
          <p:cNvCxnSpPr/>
          <p:nvPr/>
        </p:nvCxnSpPr>
        <p:spPr>
          <a:xfrm>
            <a:off x="4736592" y="3995927"/>
            <a:ext cx="0" cy="612649"/>
          </a:xfrm>
          <a:prstGeom prst="line">
            <a:avLst/>
          </a:prstGeom>
          <a:ln w="25400" cap="rnd">
            <a:solidFill>
              <a:srgbClr val="259D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ECU"/>
          <p:cNvSpPr/>
          <p:nvPr/>
        </p:nvSpPr>
        <p:spPr>
          <a:xfrm>
            <a:off x="7022591" y="4608576"/>
            <a:ext cx="1115568" cy="859536"/>
          </a:xfrm>
          <a:prstGeom prst="roundRect">
            <a:avLst>
              <a:gd name="adj" fmla="val 7446"/>
            </a:avLst>
          </a:prstGeom>
          <a:gradFill>
            <a:gsLst>
              <a:gs pos="0">
                <a:srgbClr val="EBF5FF"/>
              </a:gs>
              <a:gs pos="100000">
                <a:srgbClr val="CFE5F9"/>
              </a:gs>
            </a:gsLst>
            <a:lin ang="5400000" scaled="1"/>
          </a:gradFill>
          <a:ln w="1397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CU标签"/>
          <p:cNvSpPr txBox="1"/>
          <p:nvPr/>
        </p:nvSpPr>
        <p:spPr>
          <a:xfrm>
            <a:off x="7068311" y="4654296"/>
            <a:ext cx="1024127" cy="76809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3300">
                <a:latin typeface="微软雅黑" panose="020B0503020204020204" charset="-122"/>
              </a:defRPr>
            </a:pPr>
            <a:r>
              <a:rPr sz="33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ECU</a:t>
            </a:r>
            <a:endParaRPr sz="33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6" name="连线"/>
          <p:cNvCxnSpPr/>
          <p:nvPr/>
        </p:nvCxnSpPr>
        <p:spPr>
          <a:xfrm>
            <a:off x="7543800" y="3904487"/>
            <a:ext cx="0" cy="704089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连线"/>
          <p:cNvCxnSpPr/>
          <p:nvPr/>
        </p:nvCxnSpPr>
        <p:spPr>
          <a:xfrm>
            <a:off x="7616951" y="3995927"/>
            <a:ext cx="0" cy="612649"/>
          </a:xfrm>
          <a:prstGeom prst="line">
            <a:avLst/>
          </a:prstGeom>
          <a:ln w="25400" cap="rnd">
            <a:solidFill>
              <a:srgbClr val="259D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"/>
          <p:cNvSpPr/>
          <p:nvPr/>
        </p:nvSpPr>
        <p:spPr>
          <a:xfrm>
            <a:off x="667512" y="3218688"/>
            <a:ext cx="1764792" cy="521207"/>
          </a:xfrm>
          <a:prstGeom prst="roundRect">
            <a:avLst>
              <a:gd name="adj" fmla="val 21052"/>
            </a:avLst>
          </a:prstGeom>
          <a:solidFill>
            <a:srgbClr val="EDF5FD"/>
          </a:solidFill>
          <a:ln w="127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文字"/>
          <p:cNvSpPr txBox="1"/>
          <p:nvPr/>
        </p:nvSpPr>
        <p:spPr>
          <a:xfrm>
            <a:off x="731520" y="3328416"/>
            <a:ext cx="1636776" cy="29260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950">
                <a:latin typeface="微软雅黑" panose="020B0503020204020204" charset="-122"/>
              </a:defRPr>
            </a:pPr>
            <a:r>
              <a:rPr sz="20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多个节点接入</a:t>
            </a:r>
            <a:endParaRPr sz="20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0" name="连线"/>
          <p:cNvCxnSpPr/>
          <p:nvPr/>
        </p:nvCxnSpPr>
        <p:spPr>
          <a:xfrm>
            <a:off x="1814626" y="3739896"/>
            <a:ext cx="1047446" cy="164591"/>
          </a:xfrm>
          <a:prstGeom prst="line">
            <a:avLst/>
          </a:prstGeom>
          <a:ln w="15875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圆形"/>
          <p:cNvSpPr/>
          <p:nvPr/>
        </p:nvSpPr>
        <p:spPr>
          <a:xfrm>
            <a:off x="2820924" y="3863339"/>
            <a:ext cx="82296" cy="82296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矩形"/>
          <p:cNvSpPr/>
          <p:nvPr/>
        </p:nvSpPr>
        <p:spPr>
          <a:xfrm>
            <a:off x="10204704" y="3044952"/>
            <a:ext cx="1353312" cy="521207"/>
          </a:xfrm>
          <a:prstGeom prst="roundRect">
            <a:avLst>
              <a:gd name="adj" fmla="val 21052"/>
            </a:avLst>
          </a:prstGeom>
          <a:solidFill>
            <a:srgbClr val="EDF5FD"/>
          </a:solidFill>
          <a:ln w="127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文字"/>
          <p:cNvSpPr txBox="1"/>
          <p:nvPr/>
        </p:nvSpPr>
        <p:spPr>
          <a:xfrm>
            <a:off x="10268712" y="3154680"/>
            <a:ext cx="1225295" cy="29260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000">
                <a:latin typeface="微软雅黑" panose="020B0503020204020204" charset="-122"/>
              </a:defRPr>
            </a:pPr>
            <a:r>
              <a:rPr sz="20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共享总线</a:t>
            </a:r>
            <a:endParaRPr sz="20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4" name="连线"/>
          <p:cNvCxnSpPr/>
          <p:nvPr/>
        </p:nvCxnSpPr>
        <p:spPr>
          <a:xfrm flipH="1">
            <a:off x="9857232" y="3566160"/>
            <a:ext cx="1227124" cy="338327"/>
          </a:xfrm>
          <a:prstGeom prst="line">
            <a:avLst/>
          </a:prstGeom>
          <a:ln w="15875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圆形"/>
          <p:cNvSpPr/>
          <p:nvPr/>
        </p:nvSpPr>
        <p:spPr>
          <a:xfrm>
            <a:off x="9816084" y="3863339"/>
            <a:ext cx="82296" cy="82296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文字"/>
          <p:cNvSpPr txBox="1"/>
          <p:nvPr/>
        </p:nvSpPr>
        <p:spPr>
          <a:xfrm>
            <a:off x="10533888" y="3831336"/>
            <a:ext cx="1188720" cy="36576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900">
                <a:latin typeface="微软雅黑" panose="020B0503020204020204" charset="-122"/>
              </a:defRPr>
            </a:pPr>
            <a:r>
              <a:rPr sz="20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CAN总线</a:t>
            </a:r>
            <a:endParaRPr sz="20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本页总结背景"/>
          <p:cNvSpPr/>
          <p:nvPr/>
        </p:nvSpPr>
        <p:spPr>
          <a:xfrm>
            <a:off x="585216" y="5879592"/>
            <a:ext cx="11064240" cy="594360"/>
          </a:xfrm>
          <a:prstGeom prst="roundRect">
            <a:avLst>
              <a:gd name="adj" fmla="val 23076"/>
            </a:avLst>
          </a:prstGeom>
          <a:gradFill>
            <a:gsLst>
              <a:gs pos="0">
                <a:srgbClr val="F0F7FE"/>
              </a:gs>
              <a:gs pos="100000">
                <a:srgbClr val="E9F3F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可编辑曲线"/>
          <p:cNvSpPr/>
          <p:nvPr/>
        </p:nvSpPr>
        <p:spPr>
          <a:xfrm>
            <a:off x="907999" y="6018215"/>
            <a:ext cx="310621" cy="133685"/>
          </a:xfrm>
          <a:custGeom>
            <a:avLst/>
            <a:gdLst/>
            <a:ahLst/>
            <a:cxnLst/>
            <a:rect l="l" t="t" r="r" b="b"/>
            <a:pathLst>
              <a:path w="310621" h="133685">
                <a:moveTo>
                  <a:pt x="0" y="133685"/>
                </a:moveTo>
                <a:lnTo>
                  <a:pt x="51115" y="0"/>
                </a:lnTo>
                <a:lnTo>
                  <a:pt x="251643" y="0"/>
                </a:lnTo>
                <a:lnTo>
                  <a:pt x="310621" y="133685"/>
                </a:lnTo>
              </a:path>
            </a:pathLst>
          </a:custGeom>
          <a:noFill/>
          <a:ln w="254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矩形"/>
          <p:cNvSpPr/>
          <p:nvPr/>
        </p:nvSpPr>
        <p:spPr>
          <a:xfrm>
            <a:off x="896203" y="6140104"/>
            <a:ext cx="338145" cy="165140"/>
          </a:xfrm>
          <a:prstGeom prst="roundRect">
            <a:avLst>
              <a:gd name="adj" fmla="val 19047"/>
            </a:avLst>
          </a:prstGeom>
          <a:noFill/>
          <a:ln w="254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连线"/>
          <p:cNvCxnSpPr/>
          <p:nvPr/>
        </p:nvCxnSpPr>
        <p:spPr>
          <a:xfrm>
            <a:off x="915863" y="6147968"/>
            <a:ext cx="302757" cy="0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圆形"/>
          <p:cNvSpPr/>
          <p:nvPr/>
        </p:nvSpPr>
        <p:spPr>
          <a:xfrm>
            <a:off x="935522" y="6199083"/>
            <a:ext cx="51114" cy="5111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圆形"/>
          <p:cNvSpPr/>
          <p:nvPr/>
        </p:nvSpPr>
        <p:spPr>
          <a:xfrm>
            <a:off x="1136050" y="6199083"/>
            <a:ext cx="51114" cy="5111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连线"/>
          <p:cNvCxnSpPr/>
          <p:nvPr/>
        </p:nvCxnSpPr>
        <p:spPr>
          <a:xfrm>
            <a:off x="943386" y="6301313"/>
            <a:ext cx="0" cy="51115"/>
          </a:xfrm>
          <a:prstGeom prst="line">
            <a:avLst/>
          </a:prstGeom>
          <a:ln w="381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连线"/>
          <p:cNvCxnSpPr/>
          <p:nvPr/>
        </p:nvCxnSpPr>
        <p:spPr>
          <a:xfrm>
            <a:off x="1183233" y="6301313"/>
            <a:ext cx="0" cy="51115"/>
          </a:xfrm>
          <a:prstGeom prst="line">
            <a:avLst/>
          </a:prstGeom>
          <a:ln w="381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连线"/>
          <p:cNvCxnSpPr/>
          <p:nvPr/>
        </p:nvCxnSpPr>
        <p:spPr>
          <a:xfrm>
            <a:off x="1435608" y="5971031"/>
            <a:ext cx="0" cy="411481"/>
          </a:xfrm>
          <a:prstGeom prst="line">
            <a:avLst/>
          </a:prstGeom>
          <a:ln w="15875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本页总结"/>
          <p:cNvSpPr txBox="1"/>
          <p:nvPr/>
        </p:nvSpPr>
        <p:spPr>
          <a:xfrm>
            <a:off x="1655064" y="5971031"/>
            <a:ext cx="9692640" cy="44805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900">
                <a:latin typeface="微软雅黑" panose="020B0503020204020204" charset="-122"/>
              </a:defRPr>
            </a:pPr>
            <a:r>
              <a:rPr sz="19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与点对点连接相比，共享总线结构更</a:t>
            </a:r>
            <a:r>
              <a:rPr sz="19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便于扩展</a:t>
            </a:r>
            <a:r>
              <a:rPr sz="19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，也更适合车内</a:t>
            </a:r>
            <a:r>
              <a:rPr sz="19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多 ECU</a:t>
            </a:r>
            <a:r>
              <a:rPr sz="19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 通信。</a:t>
            </a:r>
            <a:endParaRPr sz="19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白色背景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右下角淡蓝装饰"/>
          <p:cNvSpPr/>
          <p:nvPr/>
        </p:nvSpPr>
        <p:spPr>
          <a:xfrm>
            <a:off x="10774679" y="5440680"/>
            <a:ext cx="1417320" cy="1417320"/>
          </a:xfrm>
          <a:custGeom>
            <a:avLst/>
            <a:gdLst/>
            <a:ahLst/>
            <a:cxnLst/>
            <a:rect l="l" t="t" r="r" b="b"/>
            <a:pathLst>
              <a:path w="1417320" h="1417320">
                <a:moveTo>
                  <a:pt x="1417320" y="1417320"/>
                </a:moveTo>
                <a:lnTo>
                  <a:pt x="0" y="1417320"/>
                </a:lnTo>
                <a:lnTo>
                  <a:pt x="700" y="1372800"/>
                </a:lnTo>
                <a:lnTo>
                  <a:pt x="2797" y="1328325"/>
                </a:lnTo>
                <a:lnTo>
                  <a:pt x="6290" y="1283938"/>
                </a:lnTo>
                <a:lnTo>
                  <a:pt x="11176" y="1239682"/>
                </a:lnTo>
                <a:lnTo>
                  <a:pt x="17450" y="1195602"/>
                </a:lnTo>
                <a:lnTo>
                  <a:pt x="25105" y="1151740"/>
                </a:lnTo>
                <a:lnTo>
                  <a:pt x="34134" y="1108141"/>
                </a:lnTo>
                <a:lnTo>
                  <a:pt x="44528" y="1064846"/>
                </a:lnTo>
                <a:lnTo>
                  <a:pt x="56277" y="1021900"/>
                </a:lnTo>
                <a:lnTo>
                  <a:pt x="69369" y="979344"/>
                </a:lnTo>
                <a:lnTo>
                  <a:pt x="83791" y="937219"/>
                </a:lnTo>
                <a:lnTo>
                  <a:pt x="99529" y="895569"/>
                </a:lnTo>
                <a:lnTo>
                  <a:pt x="116568" y="854434"/>
                </a:lnTo>
                <a:lnTo>
                  <a:pt x="134891" y="813854"/>
                </a:lnTo>
                <a:lnTo>
                  <a:pt x="154479" y="773870"/>
                </a:lnTo>
                <a:lnTo>
                  <a:pt x="175313" y="734520"/>
                </a:lnTo>
                <a:lnTo>
                  <a:pt x="197373" y="695845"/>
                </a:lnTo>
                <a:lnTo>
                  <a:pt x="220637" y="657881"/>
                </a:lnTo>
                <a:lnTo>
                  <a:pt x="245082" y="620667"/>
                </a:lnTo>
                <a:lnTo>
                  <a:pt x="270684" y="584240"/>
                </a:lnTo>
                <a:lnTo>
                  <a:pt x="297418" y="548634"/>
                </a:lnTo>
                <a:lnTo>
                  <a:pt x="325256" y="513886"/>
                </a:lnTo>
                <a:lnTo>
                  <a:pt x="354173" y="480029"/>
                </a:lnTo>
                <a:lnTo>
                  <a:pt x="384138" y="447097"/>
                </a:lnTo>
                <a:lnTo>
                  <a:pt x="415124" y="415123"/>
                </a:lnTo>
                <a:lnTo>
                  <a:pt x="447098" y="384138"/>
                </a:lnTo>
                <a:lnTo>
                  <a:pt x="480030" y="354172"/>
                </a:lnTo>
                <a:lnTo>
                  <a:pt x="513886" y="325256"/>
                </a:lnTo>
                <a:lnTo>
                  <a:pt x="548635" y="297417"/>
                </a:lnTo>
                <a:lnTo>
                  <a:pt x="584240" y="270684"/>
                </a:lnTo>
                <a:lnTo>
                  <a:pt x="620668" y="245082"/>
                </a:lnTo>
                <a:lnTo>
                  <a:pt x="657882" y="220637"/>
                </a:lnTo>
                <a:lnTo>
                  <a:pt x="695846" y="197373"/>
                </a:lnTo>
                <a:lnTo>
                  <a:pt x="734521" y="175313"/>
                </a:lnTo>
                <a:lnTo>
                  <a:pt x="773870" y="154478"/>
                </a:lnTo>
                <a:lnTo>
                  <a:pt x="813855" y="134890"/>
                </a:lnTo>
                <a:lnTo>
                  <a:pt x="854435" y="116568"/>
                </a:lnTo>
                <a:lnTo>
                  <a:pt x="895570" y="99529"/>
                </a:lnTo>
                <a:lnTo>
                  <a:pt x="937220" y="83790"/>
                </a:lnTo>
                <a:lnTo>
                  <a:pt x="979344" y="69368"/>
                </a:lnTo>
                <a:lnTo>
                  <a:pt x="1021901" y="56276"/>
                </a:lnTo>
                <a:lnTo>
                  <a:pt x="1064847" y="44527"/>
                </a:lnTo>
                <a:lnTo>
                  <a:pt x="1108141" y="34133"/>
                </a:lnTo>
                <a:lnTo>
                  <a:pt x="1151741" y="25104"/>
                </a:lnTo>
                <a:lnTo>
                  <a:pt x="1195602" y="17449"/>
                </a:lnTo>
                <a:lnTo>
                  <a:pt x="1239683" y="11175"/>
                </a:lnTo>
                <a:lnTo>
                  <a:pt x="1283939" y="6290"/>
                </a:lnTo>
                <a:lnTo>
                  <a:pt x="1328326" y="2796"/>
                </a:lnTo>
                <a:lnTo>
                  <a:pt x="1372801" y="699"/>
                </a:lnTo>
                <a:lnTo>
                  <a:pt x="1417320" y="0"/>
                </a:lnTo>
                <a:lnTo>
                  <a:pt x="1417320" y="1417320"/>
                </a:lnTo>
                <a:close/>
              </a:path>
            </a:pathLst>
          </a:custGeom>
          <a:solidFill>
            <a:srgbClr val="F4F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右下角淡蓝装饰"/>
          <p:cNvSpPr/>
          <p:nvPr/>
        </p:nvSpPr>
        <p:spPr>
          <a:xfrm>
            <a:off x="11076431" y="5742432"/>
            <a:ext cx="1115568" cy="1115568"/>
          </a:xfrm>
          <a:custGeom>
            <a:avLst/>
            <a:gdLst/>
            <a:ahLst/>
            <a:cxnLst/>
            <a:rect l="l" t="t" r="r" b="b"/>
            <a:pathLst>
              <a:path w="1115568" h="1115568">
                <a:moveTo>
                  <a:pt x="1115568" y="1115568"/>
                </a:moveTo>
                <a:lnTo>
                  <a:pt x="0" y="1115568"/>
                </a:lnTo>
                <a:lnTo>
                  <a:pt x="551" y="1080527"/>
                </a:lnTo>
                <a:lnTo>
                  <a:pt x="2202" y="1045520"/>
                </a:lnTo>
                <a:lnTo>
                  <a:pt x="4951" y="1010583"/>
                </a:lnTo>
                <a:lnTo>
                  <a:pt x="8797" y="975750"/>
                </a:lnTo>
                <a:lnTo>
                  <a:pt x="13735" y="941054"/>
                </a:lnTo>
                <a:lnTo>
                  <a:pt x="19760" y="906531"/>
                </a:lnTo>
                <a:lnTo>
                  <a:pt x="26867" y="872214"/>
                </a:lnTo>
                <a:lnTo>
                  <a:pt x="35048" y="838137"/>
                </a:lnTo>
                <a:lnTo>
                  <a:pt x="44295" y="804334"/>
                </a:lnTo>
                <a:lnTo>
                  <a:pt x="54600" y="770838"/>
                </a:lnTo>
                <a:lnTo>
                  <a:pt x="65952" y="737682"/>
                </a:lnTo>
                <a:lnTo>
                  <a:pt x="78339" y="704900"/>
                </a:lnTo>
                <a:lnTo>
                  <a:pt x="91751" y="672522"/>
                </a:lnTo>
                <a:lnTo>
                  <a:pt x="106172" y="640582"/>
                </a:lnTo>
                <a:lnTo>
                  <a:pt x="121590" y="609110"/>
                </a:lnTo>
                <a:lnTo>
                  <a:pt x="137989" y="578139"/>
                </a:lnTo>
                <a:lnTo>
                  <a:pt x="155352" y="547697"/>
                </a:lnTo>
                <a:lnTo>
                  <a:pt x="173663" y="517816"/>
                </a:lnTo>
                <a:lnTo>
                  <a:pt x="192904" y="488525"/>
                </a:lnTo>
                <a:lnTo>
                  <a:pt x="213055" y="459853"/>
                </a:lnTo>
                <a:lnTo>
                  <a:pt x="234097" y="431828"/>
                </a:lnTo>
                <a:lnTo>
                  <a:pt x="256008" y="404478"/>
                </a:lnTo>
                <a:lnTo>
                  <a:pt x="278768" y="377829"/>
                </a:lnTo>
                <a:lnTo>
                  <a:pt x="302354" y="351909"/>
                </a:lnTo>
                <a:lnTo>
                  <a:pt x="326742" y="326742"/>
                </a:lnTo>
                <a:lnTo>
                  <a:pt x="351909" y="302353"/>
                </a:lnTo>
                <a:lnTo>
                  <a:pt x="377830" y="278768"/>
                </a:lnTo>
                <a:lnTo>
                  <a:pt x="404478" y="256008"/>
                </a:lnTo>
                <a:lnTo>
                  <a:pt x="431829" y="234096"/>
                </a:lnTo>
                <a:lnTo>
                  <a:pt x="459854" y="213054"/>
                </a:lnTo>
                <a:lnTo>
                  <a:pt x="488526" y="192903"/>
                </a:lnTo>
                <a:lnTo>
                  <a:pt x="517817" y="173662"/>
                </a:lnTo>
                <a:lnTo>
                  <a:pt x="547698" y="155351"/>
                </a:lnTo>
                <a:lnTo>
                  <a:pt x="578139" y="137988"/>
                </a:lnTo>
                <a:lnTo>
                  <a:pt x="609111" y="121589"/>
                </a:lnTo>
                <a:lnTo>
                  <a:pt x="640582" y="106171"/>
                </a:lnTo>
                <a:lnTo>
                  <a:pt x="672523" y="91750"/>
                </a:lnTo>
                <a:lnTo>
                  <a:pt x="704900" y="78339"/>
                </a:lnTo>
                <a:lnTo>
                  <a:pt x="737683" y="65951"/>
                </a:lnTo>
                <a:lnTo>
                  <a:pt x="770839" y="54599"/>
                </a:lnTo>
                <a:lnTo>
                  <a:pt x="804335" y="44295"/>
                </a:lnTo>
                <a:lnTo>
                  <a:pt x="838138" y="35047"/>
                </a:lnTo>
                <a:lnTo>
                  <a:pt x="872215" y="26866"/>
                </a:lnTo>
                <a:lnTo>
                  <a:pt x="906532" y="19759"/>
                </a:lnTo>
                <a:lnTo>
                  <a:pt x="941055" y="13734"/>
                </a:lnTo>
                <a:lnTo>
                  <a:pt x="975750" y="8796"/>
                </a:lnTo>
                <a:lnTo>
                  <a:pt x="1010584" y="4950"/>
                </a:lnTo>
                <a:lnTo>
                  <a:pt x="1045521" y="2201"/>
                </a:lnTo>
                <a:lnTo>
                  <a:pt x="1080527" y="550"/>
                </a:lnTo>
                <a:lnTo>
                  <a:pt x="1115568" y="0"/>
                </a:lnTo>
                <a:lnTo>
                  <a:pt x="1115568" y="1115568"/>
                </a:lnTo>
                <a:close/>
              </a:path>
            </a:pathLst>
          </a:custGeom>
          <a:solidFill>
            <a:srgbClr val="F8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圆形"/>
          <p:cNvSpPr/>
          <p:nvPr/>
        </p:nvSpPr>
        <p:spPr>
          <a:xfrm>
            <a:off x="1038758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圆形"/>
          <p:cNvSpPr/>
          <p:nvPr/>
        </p:nvSpPr>
        <p:spPr>
          <a:xfrm>
            <a:off x="1038758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圆形"/>
          <p:cNvSpPr/>
          <p:nvPr/>
        </p:nvSpPr>
        <p:spPr>
          <a:xfrm>
            <a:off x="1038758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圆形"/>
          <p:cNvSpPr/>
          <p:nvPr/>
        </p:nvSpPr>
        <p:spPr>
          <a:xfrm>
            <a:off x="1055217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圆形"/>
          <p:cNvSpPr/>
          <p:nvPr/>
        </p:nvSpPr>
        <p:spPr>
          <a:xfrm>
            <a:off x="1055217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圆形"/>
          <p:cNvSpPr/>
          <p:nvPr/>
        </p:nvSpPr>
        <p:spPr>
          <a:xfrm>
            <a:off x="1055217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圆形"/>
          <p:cNvSpPr/>
          <p:nvPr/>
        </p:nvSpPr>
        <p:spPr>
          <a:xfrm>
            <a:off x="10716767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圆形"/>
          <p:cNvSpPr/>
          <p:nvPr/>
        </p:nvSpPr>
        <p:spPr>
          <a:xfrm>
            <a:off x="10716767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圆形"/>
          <p:cNvSpPr/>
          <p:nvPr/>
        </p:nvSpPr>
        <p:spPr>
          <a:xfrm>
            <a:off x="10716767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圆形"/>
          <p:cNvSpPr/>
          <p:nvPr/>
        </p:nvSpPr>
        <p:spPr>
          <a:xfrm>
            <a:off x="10881359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圆形"/>
          <p:cNvSpPr/>
          <p:nvPr/>
        </p:nvSpPr>
        <p:spPr>
          <a:xfrm>
            <a:off x="10881359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圆形"/>
          <p:cNvSpPr/>
          <p:nvPr/>
        </p:nvSpPr>
        <p:spPr>
          <a:xfrm>
            <a:off x="10881359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圆形"/>
          <p:cNvSpPr/>
          <p:nvPr/>
        </p:nvSpPr>
        <p:spPr>
          <a:xfrm>
            <a:off x="11045952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圆形"/>
          <p:cNvSpPr/>
          <p:nvPr/>
        </p:nvSpPr>
        <p:spPr>
          <a:xfrm>
            <a:off x="11045952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圆形"/>
          <p:cNvSpPr/>
          <p:nvPr/>
        </p:nvSpPr>
        <p:spPr>
          <a:xfrm>
            <a:off x="11045952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圆形"/>
          <p:cNvSpPr/>
          <p:nvPr/>
        </p:nvSpPr>
        <p:spPr>
          <a:xfrm>
            <a:off x="1121054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圆形"/>
          <p:cNvSpPr/>
          <p:nvPr/>
        </p:nvSpPr>
        <p:spPr>
          <a:xfrm>
            <a:off x="1121054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圆形"/>
          <p:cNvSpPr/>
          <p:nvPr/>
        </p:nvSpPr>
        <p:spPr>
          <a:xfrm>
            <a:off x="1121054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圆形"/>
          <p:cNvSpPr/>
          <p:nvPr/>
        </p:nvSpPr>
        <p:spPr>
          <a:xfrm>
            <a:off x="1137513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圆形"/>
          <p:cNvSpPr/>
          <p:nvPr/>
        </p:nvSpPr>
        <p:spPr>
          <a:xfrm>
            <a:off x="1137513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圆形"/>
          <p:cNvSpPr/>
          <p:nvPr/>
        </p:nvSpPr>
        <p:spPr>
          <a:xfrm>
            <a:off x="1137513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圆形"/>
          <p:cNvSpPr/>
          <p:nvPr/>
        </p:nvSpPr>
        <p:spPr>
          <a:xfrm>
            <a:off x="11539728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圆形"/>
          <p:cNvSpPr/>
          <p:nvPr/>
        </p:nvSpPr>
        <p:spPr>
          <a:xfrm>
            <a:off x="11539728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圆形"/>
          <p:cNvSpPr/>
          <p:nvPr/>
        </p:nvSpPr>
        <p:spPr>
          <a:xfrm>
            <a:off x="11539728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标题蓝色竖线"/>
          <p:cNvSpPr/>
          <p:nvPr/>
        </p:nvSpPr>
        <p:spPr>
          <a:xfrm>
            <a:off x="274320" y="356616"/>
            <a:ext cx="109728" cy="585216"/>
          </a:xfrm>
          <a:prstGeom prst="roundRect">
            <a:avLst>
              <a:gd name="adj" fmla="val 41666"/>
            </a:avLst>
          </a:prstGeom>
          <a:gradFill>
            <a:gsLst>
              <a:gs pos="0">
                <a:srgbClr val="3A92D5"/>
              </a:gs>
              <a:gs pos="100000">
                <a:srgbClr val="146FB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标题"/>
          <p:cNvSpPr txBox="1"/>
          <p:nvPr/>
        </p:nvSpPr>
        <p:spPr>
          <a:xfrm>
            <a:off x="621792" y="301752"/>
            <a:ext cx="9390888" cy="64922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3400">
                <a:latin typeface="微软雅黑" panose="020B0503020204020204" charset="-122"/>
              </a:defRPr>
            </a:pPr>
            <a:r>
              <a:rPr sz="35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ECU通过CAN总线通信的原理</a:t>
            </a:r>
            <a:endParaRPr sz="35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标题分隔线"/>
          <p:cNvSpPr/>
          <p:nvPr/>
        </p:nvSpPr>
        <p:spPr>
          <a:xfrm>
            <a:off x="621792" y="1051560"/>
            <a:ext cx="11109960" cy="18288"/>
          </a:xfrm>
          <a:prstGeom prst="rect">
            <a:avLst/>
          </a:prstGeom>
          <a:gradFill>
            <a:gsLst>
              <a:gs pos="0">
                <a:srgbClr val="3A92D5"/>
              </a:gs>
              <a:gs pos="100000">
                <a:srgbClr val="E3EFF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tongji_wordm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4" y="256032"/>
            <a:ext cx="1554480" cy="385298"/>
          </a:xfrm>
          <a:prstGeom prst="rect">
            <a:avLst/>
          </a:prstGeom>
          <a:effectLst/>
        </p:spPr>
      </p:pic>
      <p:sp>
        <p:nvSpPr>
          <p:cNvPr id="33" name="导入句"/>
          <p:cNvSpPr txBox="1"/>
          <p:nvPr/>
        </p:nvSpPr>
        <p:spPr>
          <a:xfrm>
            <a:off x="621792" y="1271016"/>
            <a:ext cx="10972800" cy="57607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000">
                <a:latin typeface="微软雅黑" panose="020B0503020204020204" charset="-122"/>
              </a:defRPr>
            </a:pPr>
            <a:r>
              <a:rPr sz="20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CAN 控制器</a:t>
            </a:r>
            <a:r>
              <a:rPr sz="20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与 </a:t>
            </a:r>
            <a:r>
              <a:rPr sz="20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CAN 收发器</a:t>
            </a:r>
            <a:r>
              <a:rPr sz="20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配合工作，通过 </a:t>
            </a:r>
            <a:r>
              <a:rPr sz="20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CAN_H</a:t>
            </a:r>
            <a:r>
              <a:rPr sz="20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 和 </a:t>
            </a:r>
            <a:r>
              <a:rPr sz="20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CAN_L</a:t>
            </a:r>
            <a:r>
              <a:rPr sz="20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 两根线进行差分通信。</a:t>
            </a:r>
            <a:endParaRPr sz="20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容器"/>
          <p:cNvSpPr/>
          <p:nvPr/>
        </p:nvSpPr>
        <p:spPr>
          <a:xfrm>
            <a:off x="594360" y="1892807"/>
            <a:ext cx="589788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AD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容器"/>
          <p:cNvSpPr/>
          <p:nvPr/>
        </p:nvSpPr>
        <p:spPr>
          <a:xfrm>
            <a:off x="594360" y="1892807"/>
            <a:ext cx="5897880" cy="493776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讲授内容｜通信结构：业务 → 协议 → 电气信号"/>
          <p:cNvSpPr txBox="1"/>
          <p:nvPr/>
        </p:nvSpPr>
        <p:spPr>
          <a:xfrm>
            <a:off x="749808" y="1961388"/>
            <a:ext cx="5586984" cy="32918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通信结构：业务 → 协议 → 电气信号</a:t>
            </a:r>
            <a:endParaRPr sz="20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容器"/>
          <p:cNvSpPr/>
          <p:nvPr/>
        </p:nvSpPr>
        <p:spPr>
          <a:xfrm>
            <a:off x="6702552" y="1892807"/>
            <a:ext cx="4901184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AD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容器"/>
          <p:cNvSpPr/>
          <p:nvPr/>
        </p:nvSpPr>
        <p:spPr>
          <a:xfrm>
            <a:off x="6702552" y="1892807"/>
            <a:ext cx="4901184" cy="493776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讲授内容｜典型高速CAN：两种总线状态"/>
          <p:cNvSpPr txBox="1"/>
          <p:nvPr/>
        </p:nvSpPr>
        <p:spPr>
          <a:xfrm>
            <a:off x="6858000" y="1961388"/>
            <a:ext cx="4590288" cy="32918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典型高速CAN：两种总线状态</a:t>
            </a:r>
            <a:endParaRPr sz="20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容器"/>
          <p:cNvSpPr/>
          <p:nvPr/>
        </p:nvSpPr>
        <p:spPr>
          <a:xfrm>
            <a:off x="832104" y="2633472"/>
            <a:ext cx="3072384" cy="2148840"/>
          </a:xfrm>
          <a:prstGeom prst="roundRect">
            <a:avLst>
              <a:gd name="adj" fmla="val 12000"/>
            </a:avLst>
          </a:prstGeom>
          <a:solidFill>
            <a:srgbClr val="E2EFFA"/>
          </a:solidFill>
          <a:ln w="10160">
            <a:solidFill>
              <a:srgbClr val="CAD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讲授内容｜ECU"/>
          <p:cNvSpPr txBox="1"/>
          <p:nvPr/>
        </p:nvSpPr>
        <p:spPr>
          <a:xfrm>
            <a:off x="1005840" y="2743200"/>
            <a:ext cx="2697480" cy="35458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ECU</a:t>
            </a:r>
            <a:endParaRPr sz="24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容器"/>
          <p:cNvSpPr/>
          <p:nvPr/>
        </p:nvSpPr>
        <p:spPr>
          <a:xfrm>
            <a:off x="1005840" y="3383280"/>
            <a:ext cx="105156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AD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讲授内容｜MCU 微控制器"/>
          <p:cNvSpPr txBox="1"/>
          <p:nvPr/>
        </p:nvSpPr>
        <p:spPr>
          <a:xfrm>
            <a:off x="1069848" y="3415284"/>
            <a:ext cx="923543" cy="89611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MCU</a:t>
            </a:r>
            <a:endParaRPr sz="165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微控制器</a:t>
            </a:r>
            <a:endParaRPr sz="165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容器"/>
          <p:cNvSpPr/>
          <p:nvPr/>
        </p:nvSpPr>
        <p:spPr>
          <a:xfrm>
            <a:off x="2688336" y="3383280"/>
            <a:ext cx="10058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AD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讲授内容｜CAN 控制器"/>
          <p:cNvSpPr txBox="1"/>
          <p:nvPr/>
        </p:nvSpPr>
        <p:spPr>
          <a:xfrm>
            <a:off x="2752344" y="3415284"/>
            <a:ext cx="877824" cy="89611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CAN</a:t>
            </a:r>
            <a:endParaRPr sz="19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控制器</a:t>
            </a:r>
            <a:endParaRPr sz="19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8" name="连线"/>
          <p:cNvCxnSpPr/>
          <p:nvPr/>
        </p:nvCxnSpPr>
        <p:spPr>
          <a:xfrm>
            <a:off x="2084831" y="3785615"/>
            <a:ext cx="557785" cy="0"/>
          </a:xfrm>
          <a:prstGeom prst="line">
            <a:avLst/>
          </a:prstGeom>
          <a:ln w="22860" cap="rnd">
            <a:solidFill>
              <a:srgbClr val="146FB5"/>
            </a:solidFill>
            <a:headEnd type="triangl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讲授内容｜内部 总线"/>
          <p:cNvSpPr txBox="1"/>
          <p:nvPr/>
        </p:nvSpPr>
        <p:spPr>
          <a:xfrm>
            <a:off x="2093976" y="4023360"/>
            <a:ext cx="539496" cy="48463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内部</a:t>
            </a:r>
            <a:endParaRPr sz="140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总线</a:t>
            </a:r>
            <a:endParaRPr sz="140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容器"/>
          <p:cNvSpPr/>
          <p:nvPr/>
        </p:nvSpPr>
        <p:spPr>
          <a:xfrm>
            <a:off x="4379976" y="3383280"/>
            <a:ext cx="1106424" cy="960120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 w="10160">
            <a:solidFill>
              <a:srgbClr val="CAD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讲授内容｜CAN 收发器"/>
          <p:cNvSpPr txBox="1"/>
          <p:nvPr/>
        </p:nvSpPr>
        <p:spPr>
          <a:xfrm>
            <a:off x="4443984" y="3415284"/>
            <a:ext cx="978407" cy="89611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CAN</a:t>
            </a:r>
            <a:endParaRPr sz="19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收发器</a:t>
            </a:r>
            <a:endParaRPr sz="19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2" name="连线"/>
          <p:cNvCxnSpPr/>
          <p:nvPr/>
        </p:nvCxnSpPr>
        <p:spPr>
          <a:xfrm>
            <a:off x="3730752" y="3785615"/>
            <a:ext cx="594360" cy="0"/>
          </a:xfrm>
          <a:prstGeom prst="line">
            <a:avLst/>
          </a:prstGeom>
          <a:ln w="22860" cap="rnd">
            <a:solidFill>
              <a:srgbClr val="146FB5"/>
            </a:solidFill>
            <a:headEnd type="triangl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连线"/>
          <p:cNvCxnSpPr/>
          <p:nvPr/>
        </p:nvCxnSpPr>
        <p:spPr>
          <a:xfrm>
            <a:off x="5504688" y="3630168"/>
            <a:ext cx="731520" cy="0"/>
          </a:xfrm>
          <a:prstGeom prst="line">
            <a:avLst/>
          </a:prstGeom>
          <a:ln w="3048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连线"/>
          <p:cNvCxnSpPr/>
          <p:nvPr/>
        </p:nvCxnSpPr>
        <p:spPr>
          <a:xfrm>
            <a:off x="5504688" y="4096512"/>
            <a:ext cx="731520" cy="0"/>
          </a:xfrm>
          <a:prstGeom prst="line">
            <a:avLst/>
          </a:prstGeom>
          <a:ln w="30480" cap="rnd">
            <a:solidFill>
              <a:srgbClr val="298E9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讲授内容｜CAN_H"/>
          <p:cNvSpPr txBox="1"/>
          <p:nvPr/>
        </p:nvSpPr>
        <p:spPr>
          <a:xfrm>
            <a:off x="5522976" y="3282696"/>
            <a:ext cx="740664" cy="28346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CAN_H</a:t>
            </a:r>
            <a:endParaRPr sz="15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讲授内容｜CAN_L"/>
          <p:cNvSpPr txBox="1"/>
          <p:nvPr/>
        </p:nvSpPr>
        <p:spPr>
          <a:xfrm>
            <a:off x="5522976" y="4279392"/>
            <a:ext cx="740664" cy="28346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98E9D"/>
                </a:solidFill>
                <a:latin typeface="微软雅黑" panose="020B0503020204020204" charset="-122"/>
                <a:ea typeface="微软雅黑" panose="020B0503020204020204" charset="-122"/>
              </a:rPr>
              <a:t>CAN_L</a:t>
            </a:r>
            <a:endParaRPr sz="1500" b="1">
              <a:solidFill>
                <a:srgbClr val="298E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连接点"/>
          <p:cNvSpPr/>
          <p:nvPr/>
        </p:nvSpPr>
        <p:spPr>
          <a:xfrm>
            <a:off x="6204204" y="3598164"/>
            <a:ext cx="64008" cy="64008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连接点"/>
          <p:cNvSpPr/>
          <p:nvPr/>
        </p:nvSpPr>
        <p:spPr>
          <a:xfrm>
            <a:off x="6204204" y="4064508"/>
            <a:ext cx="64008" cy="64008"/>
          </a:xfrm>
          <a:prstGeom prst="ellipse">
            <a:avLst/>
          </a:prstGeom>
          <a:solidFill>
            <a:srgbClr val="298E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容器"/>
          <p:cNvSpPr/>
          <p:nvPr/>
        </p:nvSpPr>
        <p:spPr>
          <a:xfrm>
            <a:off x="7424927" y="2834640"/>
            <a:ext cx="1993392" cy="1938528"/>
          </a:xfrm>
          <a:prstGeom prst="rect">
            <a:avLst/>
          </a:prstGeom>
          <a:solidFill>
            <a:srgbClr val="EE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容器"/>
          <p:cNvSpPr/>
          <p:nvPr/>
        </p:nvSpPr>
        <p:spPr>
          <a:xfrm>
            <a:off x="9418320" y="2834640"/>
            <a:ext cx="1901952" cy="1938528"/>
          </a:xfrm>
          <a:prstGeom prst="rect">
            <a:avLst/>
          </a:prstGeom>
          <a:solidFill>
            <a:srgbClr val="F3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连线"/>
          <p:cNvCxnSpPr/>
          <p:nvPr/>
        </p:nvCxnSpPr>
        <p:spPr>
          <a:xfrm>
            <a:off x="7424927" y="4709160"/>
            <a:ext cx="3895345" cy="0"/>
          </a:xfrm>
          <a:prstGeom prst="line">
            <a:avLst/>
          </a:prstGeom>
          <a:ln w="8890" cap="rnd">
            <a:solidFill>
              <a:srgbClr val="CADDE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讲授内容｜0 V"/>
          <p:cNvSpPr txBox="1"/>
          <p:nvPr/>
        </p:nvSpPr>
        <p:spPr>
          <a:xfrm>
            <a:off x="6839712" y="4590288"/>
            <a:ext cx="512064" cy="25603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0 V</a:t>
            </a:r>
            <a:endParaRPr sz="140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5" name="连线"/>
          <p:cNvCxnSpPr/>
          <p:nvPr/>
        </p:nvCxnSpPr>
        <p:spPr>
          <a:xfrm>
            <a:off x="7424927" y="4208526"/>
            <a:ext cx="3895345" cy="0"/>
          </a:xfrm>
          <a:prstGeom prst="line">
            <a:avLst/>
          </a:prstGeom>
          <a:ln w="8890" cap="rnd">
            <a:solidFill>
              <a:srgbClr val="CADDE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讲授内容｜1.5 V"/>
          <p:cNvSpPr txBox="1"/>
          <p:nvPr/>
        </p:nvSpPr>
        <p:spPr>
          <a:xfrm>
            <a:off x="6839712" y="4089654"/>
            <a:ext cx="512064" cy="25603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1.5 V</a:t>
            </a:r>
            <a:endParaRPr sz="140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7" name="连线"/>
          <p:cNvCxnSpPr/>
          <p:nvPr/>
        </p:nvCxnSpPr>
        <p:spPr>
          <a:xfrm>
            <a:off x="7424927" y="3874770"/>
            <a:ext cx="3895345" cy="0"/>
          </a:xfrm>
          <a:prstGeom prst="line">
            <a:avLst/>
          </a:prstGeom>
          <a:ln w="8890" cap="rnd">
            <a:solidFill>
              <a:srgbClr val="CADDE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讲授内容｜2.5 V"/>
          <p:cNvSpPr txBox="1"/>
          <p:nvPr/>
        </p:nvSpPr>
        <p:spPr>
          <a:xfrm>
            <a:off x="6839712" y="3755898"/>
            <a:ext cx="512064" cy="25603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2.5 V</a:t>
            </a:r>
            <a:endParaRPr sz="140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9" name="连线"/>
          <p:cNvCxnSpPr/>
          <p:nvPr/>
        </p:nvCxnSpPr>
        <p:spPr>
          <a:xfrm>
            <a:off x="7424927" y="3541014"/>
            <a:ext cx="3895345" cy="0"/>
          </a:xfrm>
          <a:prstGeom prst="line">
            <a:avLst/>
          </a:prstGeom>
          <a:ln w="8890" cap="rnd">
            <a:solidFill>
              <a:srgbClr val="CADDE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讲授内容｜3.5 V"/>
          <p:cNvSpPr txBox="1"/>
          <p:nvPr/>
        </p:nvSpPr>
        <p:spPr>
          <a:xfrm>
            <a:off x="6839712" y="3422142"/>
            <a:ext cx="512064" cy="25603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3.5 V</a:t>
            </a:r>
            <a:endParaRPr sz="140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1" name="连线"/>
          <p:cNvCxnSpPr/>
          <p:nvPr/>
        </p:nvCxnSpPr>
        <p:spPr>
          <a:xfrm>
            <a:off x="7424927" y="3040380"/>
            <a:ext cx="3895345" cy="0"/>
          </a:xfrm>
          <a:prstGeom prst="line">
            <a:avLst/>
          </a:prstGeom>
          <a:ln w="8890" cap="rnd">
            <a:solidFill>
              <a:srgbClr val="CADDE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讲授内容｜5 V"/>
          <p:cNvSpPr txBox="1"/>
          <p:nvPr/>
        </p:nvSpPr>
        <p:spPr>
          <a:xfrm>
            <a:off x="6839712" y="2921508"/>
            <a:ext cx="512064" cy="25603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5 V</a:t>
            </a:r>
            <a:endParaRPr sz="140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3" name="连线"/>
          <p:cNvCxnSpPr/>
          <p:nvPr/>
        </p:nvCxnSpPr>
        <p:spPr>
          <a:xfrm>
            <a:off x="7424927" y="2926080"/>
            <a:ext cx="0" cy="1819656"/>
          </a:xfrm>
          <a:prstGeom prst="line">
            <a:avLst/>
          </a:prstGeom>
          <a:ln w="16510" cap="rnd">
            <a:solidFill>
              <a:srgbClr val="162B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连线"/>
          <p:cNvCxnSpPr/>
          <p:nvPr/>
        </p:nvCxnSpPr>
        <p:spPr>
          <a:xfrm>
            <a:off x="7424927" y="4745736"/>
            <a:ext cx="3895345" cy="0"/>
          </a:xfrm>
          <a:prstGeom prst="line">
            <a:avLst/>
          </a:prstGeom>
          <a:ln w="16510" cap="rnd">
            <a:solidFill>
              <a:srgbClr val="162B4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讲授内容｜显性（逻辑0）"/>
          <p:cNvSpPr txBox="1"/>
          <p:nvPr/>
        </p:nvSpPr>
        <p:spPr>
          <a:xfrm>
            <a:off x="7525512" y="2578608"/>
            <a:ext cx="1801368" cy="29260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显性（逻辑0）</a:t>
            </a:r>
            <a:endParaRPr sz="18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讲授内容｜隐性（逻辑1）"/>
          <p:cNvSpPr txBox="1"/>
          <p:nvPr/>
        </p:nvSpPr>
        <p:spPr>
          <a:xfrm>
            <a:off x="9555480" y="2578608"/>
            <a:ext cx="1737360" cy="29260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隐性（逻辑1）</a:t>
            </a:r>
            <a:endParaRPr sz="18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可编辑曲线"/>
          <p:cNvSpPr/>
          <p:nvPr/>
        </p:nvSpPr>
        <p:spPr>
          <a:xfrm>
            <a:off x="7424928" y="3541471"/>
            <a:ext cx="3895344" cy="333756"/>
          </a:xfrm>
          <a:custGeom>
            <a:avLst/>
            <a:gdLst/>
            <a:ahLst/>
            <a:cxnLst/>
            <a:rect l="l" t="t" r="r" b="b"/>
            <a:pathLst>
              <a:path w="4260" h="365">
                <a:moveTo>
                  <a:pt x="0" y="0"/>
                </a:moveTo>
                <a:lnTo>
                  <a:pt x="2180" y="0"/>
                </a:lnTo>
                <a:lnTo>
                  <a:pt x="2180" y="365"/>
                </a:lnTo>
                <a:lnTo>
                  <a:pt x="4260" y="365"/>
                </a:lnTo>
              </a:path>
            </a:pathLst>
          </a:custGeom>
          <a:noFill/>
          <a:ln w="34290" cap="rnd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可编辑曲线"/>
          <p:cNvSpPr/>
          <p:nvPr/>
        </p:nvSpPr>
        <p:spPr>
          <a:xfrm>
            <a:off x="7424928" y="3875227"/>
            <a:ext cx="3895344" cy="332842"/>
          </a:xfrm>
          <a:custGeom>
            <a:avLst/>
            <a:gdLst/>
            <a:ahLst/>
            <a:cxnLst/>
            <a:rect l="l" t="t" r="r" b="b"/>
            <a:pathLst>
              <a:path w="4260" h="364">
                <a:moveTo>
                  <a:pt x="0" y="364"/>
                </a:moveTo>
                <a:lnTo>
                  <a:pt x="2180" y="364"/>
                </a:lnTo>
                <a:lnTo>
                  <a:pt x="2180" y="0"/>
                </a:lnTo>
                <a:lnTo>
                  <a:pt x="4260" y="0"/>
                </a:lnTo>
              </a:path>
            </a:pathLst>
          </a:custGeom>
          <a:noFill/>
          <a:ln w="29209" cap="rnd">
            <a:solidFill>
              <a:srgbClr val="298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讲授内容｜CAN_H ≈ 3.5 V"/>
          <p:cNvSpPr txBox="1"/>
          <p:nvPr/>
        </p:nvSpPr>
        <p:spPr>
          <a:xfrm>
            <a:off x="7562088" y="3175254"/>
            <a:ext cx="1801368" cy="2743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CAN_H ≈ 3.5 V</a:t>
            </a:r>
            <a:endParaRPr sz="15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讲授内容｜CAN_L ≈ 1.5 V"/>
          <p:cNvSpPr txBox="1"/>
          <p:nvPr/>
        </p:nvSpPr>
        <p:spPr>
          <a:xfrm>
            <a:off x="7562088" y="4336542"/>
            <a:ext cx="1801368" cy="2743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98E9D"/>
                </a:solidFill>
                <a:latin typeface="微软雅黑" panose="020B0503020204020204" charset="-122"/>
                <a:ea typeface="微软雅黑" panose="020B0503020204020204" charset="-122"/>
              </a:rPr>
              <a:t>CAN_L ≈ 1.5 V</a:t>
            </a:r>
            <a:endParaRPr sz="1500" b="1">
              <a:solidFill>
                <a:srgbClr val="298E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讲授内容｜CAN_H ≈ 2.5 V"/>
          <p:cNvSpPr txBox="1"/>
          <p:nvPr/>
        </p:nvSpPr>
        <p:spPr>
          <a:xfrm>
            <a:off x="9610344" y="3490722"/>
            <a:ext cx="1746504" cy="2743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CAN_H ≈ 2.5 V</a:t>
            </a:r>
            <a:endParaRPr sz="15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讲授内容｜CAN_L ≈ 2.5 V"/>
          <p:cNvSpPr txBox="1"/>
          <p:nvPr/>
        </p:nvSpPr>
        <p:spPr>
          <a:xfrm>
            <a:off x="9610344" y="4057650"/>
            <a:ext cx="1746504" cy="2743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98E9D"/>
                </a:solidFill>
                <a:latin typeface="微软雅黑" panose="020B0503020204020204" charset="-122"/>
                <a:ea typeface="微软雅黑" panose="020B0503020204020204" charset="-122"/>
              </a:rPr>
              <a:t>CAN_L ≈ 2.5 V</a:t>
            </a:r>
            <a:endParaRPr sz="1500" b="1">
              <a:solidFill>
                <a:srgbClr val="298E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3" name="连线"/>
          <p:cNvCxnSpPr/>
          <p:nvPr/>
        </p:nvCxnSpPr>
        <p:spPr>
          <a:xfrm>
            <a:off x="7690104" y="3586734"/>
            <a:ext cx="0" cy="576072"/>
          </a:xfrm>
          <a:prstGeom prst="line">
            <a:avLst/>
          </a:prstGeom>
          <a:ln w="17780" cap="rnd">
            <a:solidFill>
              <a:srgbClr val="586D82"/>
            </a:solidFill>
            <a:headEnd type="triangl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讲授内容｜差分电压 约2 V"/>
          <p:cNvSpPr txBox="1"/>
          <p:nvPr/>
        </p:nvSpPr>
        <p:spPr>
          <a:xfrm>
            <a:off x="7827264" y="3639312"/>
            <a:ext cx="1097280" cy="5029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差分电压</a:t>
            </a:r>
            <a:endParaRPr sz="1500" b="1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约2 V</a:t>
            </a:r>
            <a:endParaRPr sz="1500" b="1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容器"/>
          <p:cNvSpPr/>
          <p:nvPr/>
        </p:nvSpPr>
        <p:spPr>
          <a:xfrm>
            <a:off x="594360" y="5376672"/>
            <a:ext cx="3493008" cy="1106424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讲授内容｜收发器负责电平转换"/>
          <p:cNvSpPr txBox="1"/>
          <p:nvPr/>
        </p:nvSpPr>
        <p:spPr>
          <a:xfrm>
            <a:off x="749808" y="5468112"/>
            <a:ext cx="3182112" cy="34747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收发器负责电平转换</a:t>
            </a:r>
            <a:endParaRPr sz="18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讲授内容｜将控制器的逻辑信号转换为 总线上的差分电平信号。"/>
          <p:cNvSpPr txBox="1"/>
          <p:nvPr/>
        </p:nvSpPr>
        <p:spPr>
          <a:xfrm>
            <a:off x="749808" y="5843016"/>
            <a:ext cx="3182112" cy="594359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将控制器的逻辑信号转换为</a:t>
            </a:r>
            <a:endParaRPr sz="16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总线上的差分电平信号。</a:t>
            </a:r>
            <a:endParaRPr sz="16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容器"/>
          <p:cNvSpPr/>
          <p:nvPr/>
        </p:nvSpPr>
        <p:spPr>
          <a:xfrm>
            <a:off x="4361688" y="5376672"/>
            <a:ext cx="3493008" cy="1106424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讲授内容｜差分信号提升抗干扰能力"/>
          <p:cNvSpPr txBox="1"/>
          <p:nvPr/>
        </p:nvSpPr>
        <p:spPr>
          <a:xfrm>
            <a:off x="4517136" y="5468112"/>
            <a:ext cx="3182112" cy="34747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差分信号提升抗干扰能力</a:t>
            </a:r>
            <a:endParaRPr sz="18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讲授内容｜接收端主要关注CAN_H与CAN_L 之间的电压差。"/>
          <p:cNvSpPr txBox="1"/>
          <p:nvPr/>
        </p:nvSpPr>
        <p:spPr>
          <a:xfrm>
            <a:off x="4517136" y="5843016"/>
            <a:ext cx="3182112" cy="594359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接收端主要关注CAN_H与CAN_L</a:t>
            </a:r>
            <a:endParaRPr sz="16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之间的电压差。</a:t>
            </a:r>
            <a:endParaRPr sz="16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容器"/>
          <p:cNvSpPr/>
          <p:nvPr/>
        </p:nvSpPr>
        <p:spPr>
          <a:xfrm>
            <a:off x="8129016" y="5376672"/>
            <a:ext cx="3493008" cy="1106424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讲授内容｜节点通过总线交换报文"/>
          <p:cNvSpPr txBox="1"/>
          <p:nvPr/>
        </p:nvSpPr>
        <p:spPr>
          <a:xfrm>
            <a:off x="8284464" y="5468112"/>
            <a:ext cx="3182112" cy="34747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节点通过总线交换报文</a:t>
            </a:r>
            <a:endParaRPr sz="18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讲授内容｜多个ECU接入同一总线， 按照协议完成消息交换。"/>
          <p:cNvSpPr txBox="1"/>
          <p:nvPr/>
        </p:nvSpPr>
        <p:spPr>
          <a:xfrm>
            <a:off x="8284464" y="5843016"/>
            <a:ext cx="3182112" cy="594359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多个ECU接入同一总线，</a:t>
            </a:r>
            <a:endParaRPr sz="16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按照协议完成消息交换。</a:t>
            </a:r>
            <a:endParaRPr sz="16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白色背景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右下角淡蓝装饰"/>
          <p:cNvSpPr/>
          <p:nvPr/>
        </p:nvSpPr>
        <p:spPr>
          <a:xfrm>
            <a:off x="10774679" y="5440680"/>
            <a:ext cx="1417320" cy="1417320"/>
          </a:xfrm>
          <a:custGeom>
            <a:avLst/>
            <a:gdLst/>
            <a:ahLst/>
            <a:cxnLst/>
            <a:rect l="l" t="t" r="r" b="b"/>
            <a:pathLst>
              <a:path w="1417320" h="1417320">
                <a:moveTo>
                  <a:pt x="1417320" y="1417320"/>
                </a:moveTo>
                <a:lnTo>
                  <a:pt x="0" y="1417320"/>
                </a:lnTo>
                <a:lnTo>
                  <a:pt x="700" y="1372800"/>
                </a:lnTo>
                <a:lnTo>
                  <a:pt x="2797" y="1328325"/>
                </a:lnTo>
                <a:lnTo>
                  <a:pt x="6290" y="1283938"/>
                </a:lnTo>
                <a:lnTo>
                  <a:pt x="11176" y="1239682"/>
                </a:lnTo>
                <a:lnTo>
                  <a:pt x="17450" y="1195602"/>
                </a:lnTo>
                <a:lnTo>
                  <a:pt x="25105" y="1151740"/>
                </a:lnTo>
                <a:lnTo>
                  <a:pt x="34134" y="1108141"/>
                </a:lnTo>
                <a:lnTo>
                  <a:pt x="44528" y="1064846"/>
                </a:lnTo>
                <a:lnTo>
                  <a:pt x="56277" y="1021900"/>
                </a:lnTo>
                <a:lnTo>
                  <a:pt x="69369" y="979344"/>
                </a:lnTo>
                <a:lnTo>
                  <a:pt x="83791" y="937219"/>
                </a:lnTo>
                <a:lnTo>
                  <a:pt x="99529" y="895569"/>
                </a:lnTo>
                <a:lnTo>
                  <a:pt x="116568" y="854434"/>
                </a:lnTo>
                <a:lnTo>
                  <a:pt x="134891" y="813854"/>
                </a:lnTo>
                <a:lnTo>
                  <a:pt x="154479" y="773870"/>
                </a:lnTo>
                <a:lnTo>
                  <a:pt x="175313" y="734520"/>
                </a:lnTo>
                <a:lnTo>
                  <a:pt x="197373" y="695845"/>
                </a:lnTo>
                <a:lnTo>
                  <a:pt x="220637" y="657881"/>
                </a:lnTo>
                <a:lnTo>
                  <a:pt x="245082" y="620667"/>
                </a:lnTo>
                <a:lnTo>
                  <a:pt x="270684" y="584240"/>
                </a:lnTo>
                <a:lnTo>
                  <a:pt x="297418" y="548634"/>
                </a:lnTo>
                <a:lnTo>
                  <a:pt x="325256" y="513886"/>
                </a:lnTo>
                <a:lnTo>
                  <a:pt x="354173" y="480029"/>
                </a:lnTo>
                <a:lnTo>
                  <a:pt x="384138" y="447097"/>
                </a:lnTo>
                <a:lnTo>
                  <a:pt x="415124" y="415123"/>
                </a:lnTo>
                <a:lnTo>
                  <a:pt x="447098" y="384138"/>
                </a:lnTo>
                <a:lnTo>
                  <a:pt x="480030" y="354172"/>
                </a:lnTo>
                <a:lnTo>
                  <a:pt x="513886" y="325256"/>
                </a:lnTo>
                <a:lnTo>
                  <a:pt x="548635" y="297417"/>
                </a:lnTo>
                <a:lnTo>
                  <a:pt x="584240" y="270684"/>
                </a:lnTo>
                <a:lnTo>
                  <a:pt x="620668" y="245082"/>
                </a:lnTo>
                <a:lnTo>
                  <a:pt x="657882" y="220637"/>
                </a:lnTo>
                <a:lnTo>
                  <a:pt x="695846" y="197373"/>
                </a:lnTo>
                <a:lnTo>
                  <a:pt x="734521" y="175313"/>
                </a:lnTo>
                <a:lnTo>
                  <a:pt x="773870" y="154478"/>
                </a:lnTo>
                <a:lnTo>
                  <a:pt x="813855" y="134890"/>
                </a:lnTo>
                <a:lnTo>
                  <a:pt x="854435" y="116568"/>
                </a:lnTo>
                <a:lnTo>
                  <a:pt x="895570" y="99529"/>
                </a:lnTo>
                <a:lnTo>
                  <a:pt x="937220" y="83790"/>
                </a:lnTo>
                <a:lnTo>
                  <a:pt x="979344" y="69368"/>
                </a:lnTo>
                <a:lnTo>
                  <a:pt x="1021901" y="56276"/>
                </a:lnTo>
                <a:lnTo>
                  <a:pt x="1064847" y="44527"/>
                </a:lnTo>
                <a:lnTo>
                  <a:pt x="1108141" y="34133"/>
                </a:lnTo>
                <a:lnTo>
                  <a:pt x="1151741" y="25104"/>
                </a:lnTo>
                <a:lnTo>
                  <a:pt x="1195602" y="17449"/>
                </a:lnTo>
                <a:lnTo>
                  <a:pt x="1239683" y="11175"/>
                </a:lnTo>
                <a:lnTo>
                  <a:pt x="1283939" y="6290"/>
                </a:lnTo>
                <a:lnTo>
                  <a:pt x="1328326" y="2796"/>
                </a:lnTo>
                <a:lnTo>
                  <a:pt x="1372801" y="699"/>
                </a:lnTo>
                <a:lnTo>
                  <a:pt x="1417320" y="0"/>
                </a:lnTo>
                <a:lnTo>
                  <a:pt x="1417320" y="1417320"/>
                </a:lnTo>
                <a:close/>
              </a:path>
            </a:pathLst>
          </a:custGeom>
          <a:solidFill>
            <a:srgbClr val="F4F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右下角淡蓝装饰"/>
          <p:cNvSpPr/>
          <p:nvPr/>
        </p:nvSpPr>
        <p:spPr>
          <a:xfrm>
            <a:off x="11076431" y="5742432"/>
            <a:ext cx="1115568" cy="1115568"/>
          </a:xfrm>
          <a:custGeom>
            <a:avLst/>
            <a:gdLst/>
            <a:ahLst/>
            <a:cxnLst/>
            <a:rect l="l" t="t" r="r" b="b"/>
            <a:pathLst>
              <a:path w="1115568" h="1115568">
                <a:moveTo>
                  <a:pt x="1115568" y="1115568"/>
                </a:moveTo>
                <a:lnTo>
                  <a:pt x="0" y="1115568"/>
                </a:lnTo>
                <a:lnTo>
                  <a:pt x="551" y="1080527"/>
                </a:lnTo>
                <a:lnTo>
                  <a:pt x="2202" y="1045520"/>
                </a:lnTo>
                <a:lnTo>
                  <a:pt x="4951" y="1010583"/>
                </a:lnTo>
                <a:lnTo>
                  <a:pt x="8797" y="975750"/>
                </a:lnTo>
                <a:lnTo>
                  <a:pt x="13735" y="941054"/>
                </a:lnTo>
                <a:lnTo>
                  <a:pt x="19760" y="906531"/>
                </a:lnTo>
                <a:lnTo>
                  <a:pt x="26867" y="872214"/>
                </a:lnTo>
                <a:lnTo>
                  <a:pt x="35048" y="838137"/>
                </a:lnTo>
                <a:lnTo>
                  <a:pt x="44295" y="804334"/>
                </a:lnTo>
                <a:lnTo>
                  <a:pt x="54600" y="770838"/>
                </a:lnTo>
                <a:lnTo>
                  <a:pt x="65952" y="737682"/>
                </a:lnTo>
                <a:lnTo>
                  <a:pt x="78339" y="704900"/>
                </a:lnTo>
                <a:lnTo>
                  <a:pt x="91751" y="672522"/>
                </a:lnTo>
                <a:lnTo>
                  <a:pt x="106172" y="640582"/>
                </a:lnTo>
                <a:lnTo>
                  <a:pt x="121590" y="609110"/>
                </a:lnTo>
                <a:lnTo>
                  <a:pt x="137989" y="578139"/>
                </a:lnTo>
                <a:lnTo>
                  <a:pt x="155352" y="547697"/>
                </a:lnTo>
                <a:lnTo>
                  <a:pt x="173663" y="517816"/>
                </a:lnTo>
                <a:lnTo>
                  <a:pt x="192904" y="488525"/>
                </a:lnTo>
                <a:lnTo>
                  <a:pt x="213055" y="459853"/>
                </a:lnTo>
                <a:lnTo>
                  <a:pt x="234097" y="431828"/>
                </a:lnTo>
                <a:lnTo>
                  <a:pt x="256008" y="404478"/>
                </a:lnTo>
                <a:lnTo>
                  <a:pt x="278768" y="377829"/>
                </a:lnTo>
                <a:lnTo>
                  <a:pt x="302354" y="351909"/>
                </a:lnTo>
                <a:lnTo>
                  <a:pt x="326742" y="326742"/>
                </a:lnTo>
                <a:lnTo>
                  <a:pt x="351909" y="302353"/>
                </a:lnTo>
                <a:lnTo>
                  <a:pt x="377830" y="278768"/>
                </a:lnTo>
                <a:lnTo>
                  <a:pt x="404478" y="256008"/>
                </a:lnTo>
                <a:lnTo>
                  <a:pt x="431829" y="234096"/>
                </a:lnTo>
                <a:lnTo>
                  <a:pt x="459854" y="213054"/>
                </a:lnTo>
                <a:lnTo>
                  <a:pt x="488526" y="192903"/>
                </a:lnTo>
                <a:lnTo>
                  <a:pt x="517817" y="173662"/>
                </a:lnTo>
                <a:lnTo>
                  <a:pt x="547698" y="155351"/>
                </a:lnTo>
                <a:lnTo>
                  <a:pt x="578139" y="137988"/>
                </a:lnTo>
                <a:lnTo>
                  <a:pt x="609111" y="121589"/>
                </a:lnTo>
                <a:lnTo>
                  <a:pt x="640582" y="106171"/>
                </a:lnTo>
                <a:lnTo>
                  <a:pt x="672523" y="91750"/>
                </a:lnTo>
                <a:lnTo>
                  <a:pt x="704900" y="78339"/>
                </a:lnTo>
                <a:lnTo>
                  <a:pt x="737683" y="65951"/>
                </a:lnTo>
                <a:lnTo>
                  <a:pt x="770839" y="54599"/>
                </a:lnTo>
                <a:lnTo>
                  <a:pt x="804335" y="44295"/>
                </a:lnTo>
                <a:lnTo>
                  <a:pt x="838138" y="35047"/>
                </a:lnTo>
                <a:lnTo>
                  <a:pt x="872215" y="26866"/>
                </a:lnTo>
                <a:lnTo>
                  <a:pt x="906532" y="19759"/>
                </a:lnTo>
                <a:lnTo>
                  <a:pt x="941055" y="13734"/>
                </a:lnTo>
                <a:lnTo>
                  <a:pt x="975750" y="8796"/>
                </a:lnTo>
                <a:lnTo>
                  <a:pt x="1010584" y="4950"/>
                </a:lnTo>
                <a:lnTo>
                  <a:pt x="1045521" y="2201"/>
                </a:lnTo>
                <a:lnTo>
                  <a:pt x="1080527" y="550"/>
                </a:lnTo>
                <a:lnTo>
                  <a:pt x="1115568" y="0"/>
                </a:lnTo>
                <a:lnTo>
                  <a:pt x="1115568" y="1115568"/>
                </a:lnTo>
                <a:close/>
              </a:path>
            </a:pathLst>
          </a:custGeom>
          <a:solidFill>
            <a:srgbClr val="F8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圆形"/>
          <p:cNvSpPr/>
          <p:nvPr/>
        </p:nvSpPr>
        <p:spPr>
          <a:xfrm>
            <a:off x="1038758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圆形"/>
          <p:cNvSpPr/>
          <p:nvPr/>
        </p:nvSpPr>
        <p:spPr>
          <a:xfrm>
            <a:off x="1038758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圆形"/>
          <p:cNvSpPr/>
          <p:nvPr/>
        </p:nvSpPr>
        <p:spPr>
          <a:xfrm>
            <a:off x="1038758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圆形"/>
          <p:cNvSpPr/>
          <p:nvPr/>
        </p:nvSpPr>
        <p:spPr>
          <a:xfrm>
            <a:off x="1055217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圆形"/>
          <p:cNvSpPr/>
          <p:nvPr/>
        </p:nvSpPr>
        <p:spPr>
          <a:xfrm>
            <a:off x="1055217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圆形"/>
          <p:cNvSpPr/>
          <p:nvPr/>
        </p:nvSpPr>
        <p:spPr>
          <a:xfrm>
            <a:off x="1055217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圆形"/>
          <p:cNvSpPr/>
          <p:nvPr/>
        </p:nvSpPr>
        <p:spPr>
          <a:xfrm>
            <a:off x="10716767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圆形"/>
          <p:cNvSpPr/>
          <p:nvPr/>
        </p:nvSpPr>
        <p:spPr>
          <a:xfrm>
            <a:off x="10716767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圆形"/>
          <p:cNvSpPr/>
          <p:nvPr/>
        </p:nvSpPr>
        <p:spPr>
          <a:xfrm>
            <a:off x="10716767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圆形"/>
          <p:cNvSpPr/>
          <p:nvPr/>
        </p:nvSpPr>
        <p:spPr>
          <a:xfrm>
            <a:off x="10881359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圆形"/>
          <p:cNvSpPr/>
          <p:nvPr/>
        </p:nvSpPr>
        <p:spPr>
          <a:xfrm>
            <a:off x="10881359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圆形"/>
          <p:cNvSpPr/>
          <p:nvPr/>
        </p:nvSpPr>
        <p:spPr>
          <a:xfrm>
            <a:off x="10881359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圆形"/>
          <p:cNvSpPr/>
          <p:nvPr/>
        </p:nvSpPr>
        <p:spPr>
          <a:xfrm>
            <a:off x="11045952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圆形"/>
          <p:cNvSpPr/>
          <p:nvPr/>
        </p:nvSpPr>
        <p:spPr>
          <a:xfrm>
            <a:off x="11045952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圆形"/>
          <p:cNvSpPr/>
          <p:nvPr/>
        </p:nvSpPr>
        <p:spPr>
          <a:xfrm>
            <a:off x="11045952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圆形"/>
          <p:cNvSpPr/>
          <p:nvPr/>
        </p:nvSpPr>
        <p:spPr>
          <a:xfrm>
            <a:off x="1121054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圆形"/>
          <p:cNvSpPr/>
          <p:nvPr/>
        </p:nvSpPr>
        <p:spPr>
          <a:xfrm>
            <a:off x="1121054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圆形"/>
          <p:cNvSpPr/>
          <p:nvPr/>
        </p:nvSpPr>
        <p:spPr>
          <a:xfrm>
            <a:off x="1121054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圆形"/>
          <p:cNvSpPr/>
          <p:nvPr/>
        </p:nvSpPr>
        <p:spPr>
          <a:xfrm>
            <a:off x="1137513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圆形"/>
          <p:cNvSpPr/>
          <p:nvPr/>
        </p:nvSpPr>
        <p:spPr>
          <a:xfrm>
            <a:off x="1137513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圆形"/>
          <p:cNvSpPr/>
          <p:nvPr/>
        </p:nvSpPr>
        <p:spPr>
          <a:xfrm>
            <a:off x="1137513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圆形"/>
          <p:cNvSpPr/>
          <p:nvPr/>
        </p:nvSpPr>
        <p:spPr>
          <a:xfrm>
            <a:off x="11539728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圆形"/>
          <p:cNvSpPr/>
          <p:nvPr/>
        </p:nvSpPr>
        <p:spPr>
          <a:xfrm>
            <a:off x="11539728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圆形"/>
          <p:cNvSpPr/>
          <p:nvPr/>
        </p:nvSpPr>
        <p:spPr>
          <a:xfrm>
            <a:off x="11539728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标题蓝色竖线"/>
          <p:cNvSpPr/>
          <p:nvPr/>
        </p:nvSpPr>
        <p:spPr>
          <a:xfrm>
            <a:off x="274320" y="356616"/>
            <a:ext cx="109728" cy="585216"/>
          </a:xfrm>
          <a:prstGeom prst="roundRect">
            <a:avLst>
              <a:gd name="adj" fmla="val 41666"/>
            </a:avLst>
          </a:prstGeom>
          <a:gradFill>
            <a:gsLst>
              <a:gs pos="0">
                <a:srgbClr val="3A92D5"/>
              </a:gs>
              <a:gs pos="100000">
                <a:srgbClr val="146FB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标题"/>
          <p:cNvSpPr txBox="1"/>
          <p:nvPr/>
        </p:nvSpPr>
        <p:spPr>
          <a:xfrm>
            <a:off x="621792" y="301752"/>
            <a:ext cx="9390888" cy="64922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3600">
                <a:latin typeface="微软雅黑" panose="020B0503020204020204" charset="-122"/>
              </a:defRPr>
            </a:pPr>
            <a:r>
              <a:rPr sz="35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CAN总线为什么采用两根线？</a:t>
            </a:r>
            <a:endParaRPr sz="35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标题分隔线"/>
          <p:cNvSpPr/>
          <p:nvPr/>
        </p:nvSpPr>
        <p:spPr>
          <a:xfrm>
            <a:off x="621792" y="1051560"/>
            <a:ext cx="11109960" cy="18288"/>
          </a:xfrm>
          <a:prstGeom prst="rect">
            <a:avLst/>
          </a:prstGeom>
          <a:gradFill>
            <a:gsLst>
              <a:gs pos="0">
                <a:srgbClr val="3A92D5"/>
              </a:gs>
              <a:gs pos="100000">
                <a:srgbClr val="E3EFF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tongji_wordm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4" y="256032"/>
            <a:ext cx="1554480" cy="385298"/>
          </a:xfrm>
          <a:prstGeom prst="rect">
            <a:avLst/>
          </a:prstGeom>
          <a:effectLst/>
        </p:spPr>
      </p:pic>
      <p:sp>
        <p:nvSpPr>
          <p:cNvPr id="33" name="导入句"/>
          <p:cNvSpPr txBox="1"/>
          <p:nvPr/>
        </p:nvSpPr>
        <p:spPr>
          <a:xfrm>
            <a:off x="621792" y="1271016"/>
            <a:ext cx="10972800" cy="57607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000">
                <a:latin typeface="微软雅黑" panose="020B0503020204020204" charset="-122"/>
              </a:defRPr>
            </a:pPr>
            <a:r>
              <a:rPr sz="20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CAN</a:t>
            </a:r>
            <a:r>
              <a:rPr sz="20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 采用 </a:t>
            </a:r>
            <a:r>
              <a:rPr sz="20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CAN_H</a:t>
            </a:r>
            <a:r>
              <a:rPr sz="20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 与 </a:t>
            </a:r>
            <a:r>
              <a:rPr sz="20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CAN_L</a:t>
            </a:r>
            <a:r>
              <a:rPr sz="20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 两根线组成差分传输，可显著提高抗干扰能力。</a:t>
            </a:r>
            <a:endParaRPr sz="20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容器"/>
          <p:cNvSpPr/>
          <p:nvPr/>
        </p:nvSpPr>
        <p:spPr>
          <a:xfrm>
            <a:off x="594360" y="1892807"/>
            <a:ext cx="3520440" cy="3529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AD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容器"/>
          <p:cNvSpPr/>
          <p:nvPr/>
        </p:nvSpPr>
        <p:spPr>
          <a:xfrm>
            <a:off x="594360" y="1892807"/>
            <a:ext cx="3520440" cy="493776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讲授内容｜1  单线干扰"/>
          <p:cNvSpPr txBox="1"/>
          <p:nvPr/>
        </p:nvSpPr>
        <p:spPr>
          <a:xfrm>
            <a:off x="749808" y="1961388"/>
            <a:ext cx="3209544" cy="32918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1  单线干扰</a:t>
            </a:r>
            <a:endParaRPr sz="21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容器"/>
          <p:cNvSpPr/>
          <p:nvPr/>
        </p:nvSpPr>
        <p:spPr>
          <a:xfrm>
            <a:off x="4343400" y="1892807"/>
            <a:ext cx="3520440" cy="3529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AD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容器"/>
          <p:cNvSpPr/>
          <p:nvPr/>
        </p:nvSpPr>
        <p:spPr>
          <a:xfrm>
            <a:off x="4343400" y="1892807"/>
            <a:ext cx="3520440" cy="493776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讲授内容｜2  CAN双绞线"/>
          <p:cNvSpPr txBox="1"/>
          <p:nvPr/>
        </p:nvSpPr>
        <p:spPr>
          <a:xfrm>
            <a:off x="4498848" y="1961388"/>
            <a:ext cx="3209544" cy="32918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2  CAN双绞线</a:t>
            </a:r>
            <a:endParaRPr sz="21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容器"/>
          <p:cNvSpPr/>
          <p:nvPr/>
        </p:nvSpPr>
        <p:spPr>
          <a:xfrm>
            <a:off x="8092440" y="1892807"/>
            <a:ext cx="3520440" cy="3529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AD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容器"/>
          <p:cNvSpPr/>
          <p:nvPr/>
        </p:nvSpPr>
        <p:spPr>
          <a:xfrm>
            <a:off x="8092440" y="1892807"/>
            <a:ext cx="3520440" cy="493776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讲授内容｜3  双线抗干扰"/>
          <p:cNvSpPr txBox="1"/>
          <p:nvPr/>
        </p:nvSpPr>
        <p:spPr>
          <a:xfrm>
            <a:off x="8247888" y="1961388"/>
            <a:ext cx="3209544" cy="32918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3  双线抗干扰</a:t>
            </a:r>
            <a:endParaRPr sz="21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讲授内容｜外界干扰"/>
          <p:cNvSpPr txBox="1"/>
          <p:nvPr/>
        </p:nvSpPr>
        <p:spPr>
          <a:xfrm>
            <a:off x="1691640" y="2651760"/>
            <a:ext cx="1481328" cy="31089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外界干扰</a:t>
            </a:r>
            <a:endParaRPr sz="18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6" name="连线"/>
          <p:cNvCxnSpPr/>
          <p:nvPr/>
        </p:nvCxnSpPr>
        <p:spPr>
          <a:xfrm>
            <a:off x="2286000" y="2999232"/>
            <a:ext cx="0" cy="402336"/>
          </a:xfrm>
          <a:prstGeom prst="line">
            <a:avLst/>
          </a:prstGeom>
          <a:ln w="25400" cap="rnd">
            <a:solidFill>
              <a:srgbClr val="146FB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可编辑曲线"/>
          <p:cNvSpPr/>
          <p:nvPr/>
        </p:nvSpPr>
        <p:spPr>
          <a:xfrm>
            <a:off x="1078992" y="3634740"/>
            <a:ext cx="2642616" cy="700430"/>
          </a:xfrm>
          <a:custGeom>
            <a:avLst/>
            <a:gdLst/>
            <a:ahLst/>
            <a:cxnLst/>
            <a:rect l="l" t="t" r="r" b="b"/>
            <a:pathLst>
              <a:path w="2890" h="766">
                <a:moveTo>
                  <a:pt x="0" y="565"/>
                </a:moveTo>
                <a:lnTo>
                  <a:pt x="12" y="598"/>
                </a:lnTo>
                <a:lnTo>
                  <a:pt x="24" y="544"/>
                </a:lnTo>
                <a:lnTo>
                  <a:pt x="36" y="546"/>
                </a:lnTo>
                <a:lnTo>
                  <a:pt x="48" y="599"/>
                </a:lnTo>
                <a:lnTo>
                  <a:pt x="60" y="562"/>
                </a:lnTo>
                <a:lnTo>
                  <a:pt x="72" y="533"/>
                </a:lnTo>
                <a:lnTo>
                  <a:pt x="84" y="588"/>
                </a:lnTo>
                <a:lnTo>
                  <a:pt x="96" y="582"/>
                </a:lnTo>
                <a:lnTo>
                  <a:pt x="108" y="531"/>
                </a:lnTo>
                <a:lnTo>
                  <a:pt x="120" y="570"/>
                </a:lnTo>
                <a:lnTo>
                  <a:pt x="132" y="596"/>
                </a:lnTo>
                <a:lnTo>
                  <a:pt x="144" y="540"/>
                </a:lnTo>
                <a:lnTo>
                  <a:pt x="157" y="550"/>
                </a:lnTo>
                <a:lnTo>
                  <a:pt x="169" y="600"/>
                </a:lnTo>
                <a:lnTo>
                  <a:pt x="181" y="557"/>
                </a:lnTo>
                <a:lnTo>
                  <a:pt x="193" y="535"/>
                </a:lnTo>
                <a:lnTo>
                  <a:pt x="205" y="592"/>
                </a:lnTo>
                <a:lnTo>
                  <a:pt x="217" y="577"/>
                </a:lnTo>
                <a:lnTo>
                  <a:pt x="229" y="530"/>
                </a:lnTo>
                <a:lnTo>
                  <a:pt x="241" y="575"/>
                </a:lnTo>
                <a:lnTo>
                  <a:pt x="253" y="593"/>
                </a:lnTo>
                <a:lnTo>
                  <a:pt x="265" y="536"/>
                </a:lnTo>
                <a:lnTo>
                  <a:pt x="277" y="555"/>
                </a:lnTo>
                <a:lnTo>
                  <a:pt x="289" y="600"/>
                </a:lnTo>
                <a:lnTo>
                  <a:pt x="301" y="552"/>
                </a:lnTo>
                <a:lnTo>
                  <a:pt x="313" y="538"/>
                </a:lnTo>
                <a:lnTo>
                  <a:pt x="325" y="595"/>
                </a:lnTo>
                <a:lnTo>
                  <a:pt x="337" y="572"/>
                </a:lnTo>
                <a:lnTo>
                  <a:pt x="349" y="530"/>
                </a:lnTo>
                <a:lnTo>
                  <a:pt x="361" y="580"/>
                </a:lnTo>
                <a:lnTo>
                  <a:pt x="373" y="590"/>
                </a:lnTo>
                <a:lnTo>
                  <a:pt x="385" y="534"/>
                </a:lnTo>
                <a:lnTo>
                  <a:pt x="397" y="560"/>
                </a:lnTo>
                <a:lnTo>
                  <a:pt x="409" y="599"/>
                </a:lnTo>
                <a:lnTo>
                  <a:pt x="421" y="547"/>
                </a:lnTo>
                <a:lnTo>
                  <a:pt x="434" y="542"/>
                </a:lnTo>
                <a:lnTo>
                  <a:pt x="446" y="597"/>
                </a:lnTo>
                <a:lnTo>
                  <a:pt x="458" y="567"/>
                </a:lnTo>
                <a:lnTo>
                  <a:pt x="470" y="1"/>
                </a:lnTo>
                <a:lnTo>
                  <a:pt x="482" y="55"/>
                </a:lnTo>
                <a:lnTo>
                  <a:pt x="494" y="56"/>
                </a:lnTo>
                <a:lnTo>
                  <a:pt x="506" y="2"/>
                </a:lnTo>
                <a:lnTo>
                  <a:pt x="518" y="36"/>
                </a:lnTo>
                <a:lnTo>
                  <a:pt x="530" y="68"/>
                </a:lnTo>
                <a:lnTo>
                  <a:pt x="542" y="13"/>
                </a:lnTo>
                <a:lnTo>
                  <a:pt x="554" y="16"/>
                </a:lnTo>
                <a:lnTo>
                  <a:pt x="566" y="69"/>
                </a:lnTo>
                <a:lnTo>
                  <a:pt x="578" y="32"/>
                </a:lnTo>
                <a:lnTo>
                  <a:pt x="590" y="3"/>
                </a:lnTo>
                <a:lnTo>
                  <a:pt x="602" y="59"/>
                </a:lnTo>
                <a:lnTo>
                  <a:pt x="614" y="51"/>
                </a:lnTo>
                <a:lnTo>
                  <a:pt x="626" y="0"/>
                </a:lnTo>
                <a:lnTo>
                  <a:pt x="638" y="41"/>
                </a:lnTo>
                <a:lnTo>
                  <a:pt x="650" y="66"/>
                </a:lnTo>
                <a:lnTo>
                  <a:pt x="662" y="9"/>
                </a:lnTo>
                <a:lnTo>
                  <a:pt x="674" y="21"/>
                </a:lnTo>
                <a:lnTo>
                  <a:pt x="686" y="70"/>
                </a:lnTo>
                <a:lnTo>
                  <a:pt x="698" y="27"/>
                </a:lnTo>
                <a:lnTo>
                  <a:pt x="710" y="6"/>
                </a:lnTo>
                <a:lnTo>
                  <a:pt x="722" y="62"/>
                </a:lnTo>
                <a:lnTo>
                  <a:pt x="735" y="47"/>
                </a:lnTo>
                <a:lnTo>
                  <a:pt x="747" y="0"/>
                </a:lnTo>
                <a:lnTo>
                  <a:pt x="759" y="46"/>
                </a:lnTo>
                <a:lnTo>
                  <a:pt x="771" y="63"/>
                </a:lnTo>
                <a:lnTo>
                  <a:pt x="783" y="6"/>
                </a:lnTo>
                <a:lnTo>
                  <a:pt x="795" y="26"/>
                </a:lnTo>
                <a:lnTo>
                  <a:pt x="807" y="70"/>
                </a:lnTo>
                <a:lnTo>
                  <a:pt x="819" y="22"/>
                </a:lnTo>
                <a:lnTo>
                  <a:pt x="831" y="9"/>
                </a:lnTo>
                <a:lnTo>
                  <a:pt x="843" y="65"/>
                </a:lnTo>
                <a:lnTo>
                  <a:pt x="855" y="42"/>
                </a:lnTo>
                <a:lnTo>
                  <a:pt x="867" y="0"/>
                </a:lnTo>
                <a:lnTo>
                  <a:pt x="879" y="51"/>
                </a:lnTo>
                <a:lnTo>
                  <a:pt x="891" y="59"/>
                </a:lnTo>
                <a:lnTo>
                  <a:pt x="903" y="3"/>
                </a:lnTo>
                <a:lnTo>
                  <a:pt x="915" y="31"/>
                </a:lnTo>
                <a:lnTo>
                  <a:pt x="927" y="69"/>
                </a:lnTo>
                <a:lnTo>
                  <a:pt x="939" y="547"/>
                </a:lnTo>
                <a:lnTo>
                  <a:pt x="951" y="543"/>
                </a:lnTo>
                <a:lnTo>
                  <a:pt x="963" y="598"/>
                </a:lnTo>
                <a:lnTo>
                  <a:pt x="975" y="566"/>
                </a:lnTo>
                <a:lnTo>
                  <a:pt x="987" y="531"/>
                </a:lnTo>
                <a:lnTo>
                  <a:pt x="999" y="585"/>
                </a:lnTo>
                <a:lnTo>
                  <a:pt x="1012" y="585"/>
                </a:lnTo>
                <a:lnTo>
                  <a:pt x="1024" y="531"/>
                </a:lnTo>
                <a:lnTo>
                  <a:pt x="1036" y="566"/>
                </a:lnTo>
                <a:lnTo>
                  <a:pt x="1048" y="598"/>
                </a:lnTo>
                <a:lnTo>
                  <a:pt x="1060" y="543"/>
                </a:lnTo>
                <a:lnTo>
                  <a:pt x="1072" y="547"/>
                </a:lnTo>
                <a:lnTo>
                  <a:pt x="1084" y="599"/>
                </a:lnTo>
                <a:lnTo>
                  <a:pt x="1096" y="463"/>
                </a:lnTo>
                <a:lnTo>
                  <a:pt x="1108" y="348"/>
                </a:lnTo>
                <a:lnTo>
                  <a:pt x="1120" y="430"/>
                </a:lnTo>
                <a:lnTo>
                  <a:pt x="1132" y="543"/>
                </a:lnTo>
                <a:lnTo>
                  <a:pt x="1144" y="638"/>
                </a:lnTo>
                <a:lnTo>
                  <a:pt x="1156" y="759"/>
                </a:lnTo>
                <a:lnTo>
                  <a:pt x="1168" y="749"/>
                </a:lnTo>
                <a:lnTo>
                  <a:pt x="1180" y="565"/>
                </a:lnTo>
                <a:lnTo>
                  <a:pt x="1192" y="435"/>
                </a:lnTo>
                <a:lnTo>
                  <a:pt x="1204" y="411"/>
                </a:lnTo>
                <a:lnTo>
                  <a:pt x="1216" y="409"/>
                </a:lnTo>
                <a:lnTo>
                  <a:pt x="1228" y="521"/>
                </a:lnTo>
                <a:lnTo>
                  <a:pt x="1240" y="718"/>
                </a:lnTo>
                <a:lnTo>
                  <a:pt x="1252" y="766"/>
                </a:lnTo>
                <a:lnTo>
                  <a:pt x="1264" y="669"/>
                </a:lnTo>
                <a:lnTo>
                  <a:pt x="1276" y="581"/>
                </a:lnTo>
                <a:lnTo>
                  <a:pt x="1288" y="459"/>
                </a:lnTo>
                <a:lnTo>
                  <a:pt x="1300" y="346"/>
                </a:lnTo>
                <a:lnTo>
                  <a:pt x="1313" y="425"/>
                </a:lnTo>
                <a:lnTo>
                  <a:pt x="1325" y="607"/>
                </a:lnTo>
                <a:lnTo>
                  <a:pt x="1337" y="692"/>
                </a:lnTo>
                <a:lnTo>
                  <a:pt x="1349" y="539"/>
                </a:lnTo>
                <a:lnTo>
                  <a:pt x="1361" y="596"/>
                </a:lnTo>
                <a:lnTo>
                  <a:pt x="1373" y="571"/>
                </a:lnTo>
                <a:lnTo>
                  <a:pt x="1385" y="530"/>
                </a:lnTo>
                <a:lnTo>
                  <a:pt x="1397" y="581"/>
                </a:lnTo>
                <a:lnTo>
                  <a:pt x="1409" y="59"/>
                </a:lnTo>
                <a:lnTo>
                  <a:pt x="1421" y="3"/>
                </a:lnTo>
                <a:lnTo>
                  <a:pt x="1433" y="32"/>
                </a:lnTo>
                <a:lnTo>
                  <a:pt x="1445" y="69"/>
                </a:lnTo>
                <a:lnTo>
                  <a:pt x="1457" y="16"/>
                </a:lnTo>
                <a:lnTo>
                  <a:pt x="1469" y="13"/>
                </a:lnTo>
                <a:lnTo>
                  <a:pt x="1481" y="68"/>
                </a:lnTo>
                <a:lnTo>
                  <a:pt x="1493" y="36"/>
                </a:lnTo>
                <a:lnTo>
                  <a:pt x="1505" y="2"/>
                </a:lnTo>
                <a:lnTo>
                  <a:pt x="1517" y="56"/>
                </a:lnTo>
                <a:lnTo>
                  <a:pt x="1529" y="55"/>
                </a:lnTo>
                <a:lnTo>
                  <a:pt x="1541" y="1"/>
                </a:lnTo>
                <a:lnTo>
                  <a:pt x="1553" y="37"/>
                </a:lnTo>
                <a:lnTo>
                  <a:pt x="1565" y="67"/>
                </a:lnTo>
                <a:lnTo>
                  <a:pt x="1577" y="12"/>
                </a:lnTo>
                <a:lnTo>
                  <a:pt x="1590" y="17"/>
                </a:lnTo>
                <a:lnTo>
                  <a:pt x="1602" y="69"/>
                </a:lnTo>
                <a:lnTo>
                  <a:pt x="1614" y="30"/>
                </a:lnTo>
                <a:lnTo>
                  <a:pt x="1626" y="4"/>
                </a:lnTo>
                <a:lnTo>
                  <a:pt x="1638" y="60"/>
                </a:lnTo>
                <a:lnTo>
                  <a:pt x="1650" y="50"/>
                </a:lnTo>
                <a:lnTo>
                  <a:pt x="1662" y="0"/>
                </a:lnTo>
                <a:lnTo>
                  <a:pt x="1674" y="42"/>
                </a:lnTo>
                <a:lnTo>
                  <a:pt x="1686" y="65"/>
                </a:lnTo>
                <a:lnTo>
                  <a:pt x="1698" y="8"/>
                </a:lnTo>
                <a:lnTo>
                  <a:pt x="1710" y="22"/>
                </a:lnTo>
                <a:lnTo>
                  <a:pt x="1722" y="70"/>
                </a:lnTo>
                <a:lnTo>
                  <a:pt x="1734" y="25"/>
                </a:lnTo>
                <a:lnTo>
                  <a:pt x="1746" y="6"/>
                </a:lnTo>
                <a:lnTo>
                  <a:pt x="1758" y="63"/>
                </a:lnTo>
                <a:lnTo>
                  <a:pt x="1770" y="45"/>
                </a:lnTo>
                <a:lnTo>
                  <a:pt x="1782" y="0"/>
                </a:lnTo>
                <a:lnTo>
                  <a:pt x="1794" y="47"/>
                </a:lnTo>
                <a:lnTo>
                  <a:pt x="1806" y="62"/>
                </a:lnTo>
                <a:lnTo>
                  <a:pt x="1818" y="5"/>
                </a:lnTo>
                <a:lnTo>
                  <a:pt x="1830" y="27"/>
                </a:lnTo>
                <a:lnTo>
                  <a:pt x="1842" y="70"/>
                </a:lnTo>
                <a:lnTo>
                  <a:pt x="1854" y="20"/>
                </a:lnTo>
                <a:lnTo>
                  <a:pt x="1866" y="10"/>
                </a:lnTo>
                <a:lnTo>
                  <a:pt x="1878" y="596"/>
                </a:lnTo>
                <a:lnTo>
                  <a:pt x="1891" y="570"/>
                </a:lnTo>
                <a:lnTo>
                  <a:pt x="1903" y="531"/>
                </a:lnTo>
                <a:lnTo>
                  <a:pt x="1915" y="582"/>
                </a:lnTo>
                <a:lnTo>
                  <a:pt x="1927" y="588"/>
                </a:lnTo>
                <a:lnTo>
                  <a:pt x="1939" y="533"/>
                </a:lnTo>
                <a:lnTo>
                  <a:pt x="1951" y="562"/>
                </a:lnTo>
                <a:lnTo>
                  <a:pt x="1963" y="599"/>
                </a:lnTo>
                <a:lnTo>
                  <a:pt x="1975" y="546"/>
                </a:lnTo>
                <a:lnTo>
                  <a:pt x="1987" y="544"/>
                </a:lnTo>
                <a:lnTo>
                  <a:pt x="1999" y="598"/>
                </a:lnTo>
                <a:lnTo>
                  <a:pt x="2011" y="565"/>
                </a:lnTo>
                <a:lnTo>
                  <a:pt x="2023" y="532"/>
                </a:lnTo>
                <a:lnTo>
                  <a:pt x="2035" y="586"/>
                </a:lnTo>
                <a:lnTo>
                  <a:pt x="2047" y="584"/>
                </a:lnTo>
                <a:lnTo>
                  <a:pt x="2059" y="531"/>
                </a:lnTo>
                <a:lnTo>
                  <a:pt x="2071" y="568"/>
                </a:lnTo>
                <a:lnTo>
                  <a:pt x="2083" y="597"/>
                </a:lnTo>
                <a:lnTo>
                  <a:pt x="2095" y="542"/>
                </a:lnTo>
                <a:lnTo>
                  <a:pt x="2107" y="548"/>
                </a:lnTo>
                <a:lnTo>
                  <a:pt x="2119" y="599"/>
                </a:lnTo>
                <a:lnTo>
                  <a:pt x="2131" y="560"/>
                </a:lnTo>
                <a:lnTo>
                  <a:pt x="2143" y="534"/>
                </a:lnTo>
                <a:lnTo>
                  <a:pt x="2155" y="590"/>
                </a:lnTo>
                <a:lnTo>
                  <a:pt x="2168" y="580"/>
                </a:lnTo>
                <a:lnTo>
                  <a:pt x="2180" y="530"/>
                </a:lnTo>
                <a:lnTo>
                  <a:pt x="2192" y="573"/>
                </a:lnTo>
                <a:lnTo>
                  <a:pt x="2204" y="595"/>
                </a:lnTo>
                <a:lnTo>
                  <a:pt x="2216" y="538"/>
                </a:lnTo>
                <a:lnTo>
                  <a:pt x="2228" y="553"/>
                </a:lnTo>
                <a:lnTo>
                  <a:pt x="2240" y="600"/>
                </a:lnTo>
                <a:lnTo>
                  <a:pt x="2252" y="555"/>
                </a:lnTo>
                <a:lnTo>
                  <a:pt x="2264" y="537"/>
                </a:lnTo>
                <a:lnTo>
                  <a:pt x="2276" y="594"/>
                </a:lnTo>
                <a:lnTo>
                  <a:pt x="2288" y="575"/>
                </a:lnTo>
                <a:lnTo>
                  <a:pt x="2300" y="530"/>
                </a:lnTo>
                <a:lnTo>
                  <a:pt x="2312" y="578"/>
                </a:lnTo>
                <a:lnTo>
                  <a:pt x="2324" y="592"/>
                </a:lnTo>
                <a:lnTo>
                  <a:pt x="2336" y="535"/>
                </a:lnTo>
                <a:lnTo>
                  <a:pt x="2348" y="28"/>
                </a:lnTo>
                <a:lnTo>
                  <a:pt x="2360" y="70"/>
                </a:lnTo>
                <a:lnTo>
                  <a:pt x="2372" y="20"/>
                </a:lnTo>
                <a:lnTo>
                  <a:pt x="2384" y="10"/>
                </a:lnTo>
                <a:lnTo>
                  <a:pt x="2396" y="66"/>
                </a:lnTo>
                <a:lnTo>
                  <a:pt x="2408" y="40"/>
                </a:lnTo>
                <a:lnTo>
                  <a:pt x="2420" y="1"/>
                </a:lnTo>
                <a:lnTo>
                  <a:pt x="2432" y="53"/>
                </a:lnTo>
                <a:lnTo>
                  <a:pt x="2444" y="58"/>
                </a:lnTo>
                <a:lnTo>
                  <a:pt x="2456" y="3"/>
                </a:lnTo>
                <a:lnTo>
                  <a:pt x="2469" y="33"/>
                </a:lnTo>
                <a:lnTo>
                  <a:pt x="2481" y="69"/>
                </a:lnTo>
                <a:lnTo>
                  <a:pt x="2493" y="15"/>
                </a:lnTo>
                <a:lnTo>
                  <a:pt x="2505" y="14"/>
                </a:lnTo>
                <a:lnTo>
                  <a:pt x="2517" y="68"/>
                </a:lnTo>
                <a:lnTo>
                  <a:pt x="2529" y="34"/>
                </a:lnTo>
                <a:lnTo>
                  <a:pt x="2541" y="2"/>
                </a:lnTo>
                <a:lnTo>
                  <a:pt x="2553" y="57"/>
                </a:lnTo>
                <a:lnTo>
                  <a:pt x="2565" y="54"/>
                </a:lnTo>
                <a:lnTo>
                  <a:pt x="2577" y="1"/>
                </a:lnTo>
                <a:lnTo>
                  <a:pt x="2589" y="38"/>
                </a:lnTo>
                <a:lnTo>
                  <a:pt x="2601" y="67"/>
                </a:lnTo>
                <a:lnTo>
                  <a:pt x="2613" y="11"/>
                </a:lnTo>
                <a:lnTo>
                  <a:pt x="2625" y="19"/>
                </a:lnTo>
                <a:lnTo>
                  <a:pt x="2637" y="70"/>
                </a:lnTo>
                <a:lnTo>
                  <a:pt x="2649" y="29"/>
                </a:lnTo>
                <a:lnTo>
                  <a:pt x="2661" y="4"/>
                </a:lnTo>
                <a:lnTo>
                  <a:pt x="2673" y="61"/>
                </a:lnTo>
                <a:lnTo>
                  <a:pt x="2685" y="49"/>
                </a:lnTo>
                <a:lnTo>
                  <a:pt x="2697" y="0"/>
                </a:lnTo>
                <a:lnTo>
                  <a:pt x="2709" y="43"/>
                </a:lnTo>
                <a:lnTo>
                  <a:pt x="2721" y="64"/>
                </a:lnTo>
                <a:lnTo>
                  <a:pt x="2733" y="8"/>
                </a:lnTo>
                <a:lnTo>
                  <a:pt x="2746" y="23"/>
                </a:lnTo>
                <a:lnTo>
                  <a:pt x="2758" y="70"/>
                </a:lnTo>
                <a:lnTo>
                  <a:pt x="2770" y="24"/>
                </a:lnTo>
                <a:lnTo>
                  <a:pt x="2782" y="7"/>
                </a:lnTo>
                <a:lnTo>
                  <a:pt x="2794" y="64"/>
                </a:lnTo>
                <a:lnTo>
                  <a:pt x="2806" y="44"/>
                </a:lnTo>
                <a:lnTo>
                  <a:pt x="2818" y="530"/>
                </a:lnTo>
                <a:lnTo>
                  <a:pt x="2830" y="578"/>
                </a:lnTo>
                <a:lnTo>
                  <a:pt x="2842" y="591"/>
                </a:lnTo>
                <a:lnTo>
                  <a:pt x="2854" y="535"/>
                </a:lnTo>
                <a:lnTo>
                  <a:pt x="2866" y="558"/>
                </a:lnTo>
                <a:lnTo>
                  <a:pt x="2878" y="600"/>
                </a:lnTo>
                <a:lnTo>
                  <a:pt x="2890" y="549"/>
                </a:lnTo>
              </a:path>
            </a:pathLst>
          </a:custGeom>
          <a:noFill/>
          <a:ln w="27940" cap="rnd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讲授内容｜信号电压"/>
          <p:cNvSpPr txBox="1"/>
          <p:nvPr/>
        </p:nvSpPr>
        <p:spPr>
          <a:xfrm>
            <a:off x="841248" y="3300984"/>
            <a:ext cx="1143000" cy="29260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信号电压</a:t>
            </a:r>
            <a:endParaRPr sz="160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讲授内容｜干扰使单线电压发生畸变， 可能影响信号判断。"/>
          <p:cNvSpPr txBox="1"/>
          <p:nvPr/>
        </p:nvSpPr>
        <p:spPr>
          <a:xfrm>
            <a:off x="850392" y="4690872"/>
            <a:ext cx="3017520" cy="56692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干扰使单线电压发生畸变，</a:t>
            </a:r>
            <a:endParaRPr sz="17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可能影响信号判断。</a:t>
            </a:r>
            <a:endParaRPr sz="17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可编辑曲线"/>
          <p:cNvSpPr/>
          <p:nvPr/>
        </p:nvSpPr>
        <p:spPr>
          <a:xfrm>
            <a:off x="4663440" y="3337560"/>
            <a:ext cx="2697480" cy="384048"/>
          </a:xfrm>
          <a:custGeom>
            <a:avLst/>
            <a:gdLst/>
            <a:ahLst/>
            <a:cxnLst/>
            <a:rect l="l" t="t" r="r" b="b"/>
            <a:pathLst>
              <a:path w="2950" h="420">
                <a:moveTo>
                  <a:pt x="0" y="210"/>
                </a:moveTo>
                <a:lnTo>
                  <a:pt x="18" y="231"/>
                </a:lnTo>
                <a:lnTo>
                  <a:pt x="37" y="251"/>
                </a:lnTo>
                <a:lnTo>
                  <a:pt x="55" y="271"/>
                </a:lnTo>
                <a:lnTo>
                  <a:pt x="74" y="290"/>
                </a:lnTo>
                <a:lnTo>
                  <a:pt x="92" y="309"/>
                </a:lnTo>
                <a:lnTo>
                  <a:pt x="111" y="327"/>
                </a:lnTo>
                <a:lnTo>
                  <a:pt x="129" y="343"/>
                </a:lnTo>
                <a:lnTo>
                  <a:pt x="148" y="358"/>
                </a:lnTo>
                <a:lnTo>
                  <a:pt x="166" y="372"/>
                </a:lnTo>
                <a:lnTo>
                  <a:pt x="184" y="385"/>
                </a:lnTo>
                <a:lnTo>
                  <a:pt x="203" y="395"/>
                </a:lnTo>
                <a:lnTo>
                  <a:pt x="221" y="404"/>
                </a:lnTo>
                <a:lnTo>
                  <a:pt x="240" y="411"/>
                </a:lnTo>
                <a:lnTo>
                  <a:pt x="258" y="416"/>
                </a:lnTo>
                <a:lnTo>
                  <a:pt x="277" y="419"/>
                </a:lnTo>
                <a:lnTo>
                  <a:pt x="295" y="420"/>
                </a:lnTo>
                <a:lnTo>
                  <a:pt x="313" y="419"/>
                </a:lnTo>
                <a:lnTo>
                  <a:pt x="332" y="416"/>
                </a:lnTo>
                <a:lnTo>
                  <a:pt x="350" y="411"/>
                </a:lnTo>
                <a:lnTo>
                  <a:pt x="369" y="404"/>
                </a:lnTo>
                <a:lnTo>
                  <a:pt x="387" y="395"/>
                </a:lnTo>
                <a:lnTo>
                  <a:pt x="406" y="385"/>
                </a:lnTo>
                <a:lnTo>
                  <a:pt x="424" y="372"/>
                </a:lnTo>
                <a:lnTo>
                  <a:pt x="442" y="358"/>
                </a:lnTo>
                <a:lnTo>
                  <a:pt x="461" y="343"/>
                </a:lnTo>
                <a:lnTo>
                  <a:pt x="479" y="327"/>
                </a:lnTo>
                <a:lnTo>
                  <a:pt x="498" y="309"/>
                </a:lnTo>
                <a:lnTo>
                  <a:pt x="516" y="290"/>
                </a:lnTo>
                <a:lnTo>
                  <a:pt x="535" y="271"/>
                </a:lnTo>
                <a:lnTo>
                  <a:pt x="553" y="251"/>
                </a:lnTo>
                <a:lnTo>
                  <a:pt x="572" y="231"/>
                </a:lnTo>
                <a:lnTo>
                  <a:pt x="590" y="210"/>
                </a:lnTo>
                <a:lnTo>
                  <a:pt x="608" y="189"/>
                </a:lnTo>
                <a:lnTo>
                  <a:pt x="627" y="169"/>
                </a:lnTo>
                <a:lnTo>
                  <a:pt x="645" y="149"/>
                </a:lnTo>
                <a:lnTo>
                  <a:pt x="664" y="130"/>
                </a:lnTo>
                <a:lnTo>
                  <a:pt x="682" y="111"/>
                </a:lnTo>
                <a:lnTo>
                  <a:pt x="701" y="93"/>
                </a:lnTo>
                <a:lnTo>
                  <a:pt x="719" y="77"/>
                </a:lnTo>
                <a:lnTo>
                  <a:pt x="737" y="62"/>
                </a:lnTo>
                <a:lnTo>
                  <a:pt x="756" y="48"/>
                </a:lnTo>
                <a:lnTo>
                  <a:pt x="774" y="35"/>
                </a:lnTo>
                <a:lnTo>
                  <a:pt x="793" y="25"/>
                </a:lnTo>
                <a:lnTo>
                  <a:pt x="811" y="16"/>
                </a:lnTo>
                <a:lnTo>
                  <a:pt x="830" y="9"/>
                </a:lnTo>
                <a:lnTo>
                  <a:pt x="848" y="4"/>
                </a:lnTo>
                <a:lnTo>
                  <a:pt x="867" y="1"/>
                </a:lnTo>
                <a:lnTo>
                  <a:pt x="885" y="0"/>
                </a:lnTo>
                <a:lnTo>
                  <a:pt x="903" y="1"/>
                </a:lnTo>
                <a:lnTo>
                  <a:pt x="922" y="4"/>
                </a:lnTo>
                <a:lnTo>
                  <a:pt x="940" y="9"/>
                </a:lnTo>
                <a:lnTo>
                  <a:pt x="959" y="16"/>
                </a:lnTo>
                <a:lnTo>
                  <a:pt x="977" y="25"/>
                </a:lnTo>
                <a:lnTo>
                  <a:pt x="996" y="35"/>
                </a:lnTo>
                <a:lnTo>
                  <a:pt x="1014" y="48"/>
                </a:lnTo>
                <a:lnTo>
                  <a:pt x="1032" y="62"/>
                </a:lnTo>
                <a:lnTo>
                  <a:pt x="1051" y="77"/>
                </a:lnTo>
                <a:lnTo>
                  <a:pt x="1069" y="93"/>
                </a:lnTo>
                <a:lnTo>
                  <a:pt x="1088" y="111"/>
                </a:lnTo>
                <a:lnTo>
                  <a:pt x="1106" y="130"/>
                </a:lnTo>
                <a:lnTo>
                  <a:pt x="1125" y="149"/>
                </a:lnTo>
                <a:lnTo>
                  <a:pt x="1143" y="169"/>
                </a:lnTo>
                <a:lnTo>
                  <a:pt x="1162" y="189"/>
                </a:lnTo>
                <a:lnTo>
                  <a:pt x="1180" y="210"/>
                </a:lnTo>
                <a:lnTo>
                  <a:pt x="1198" y="231"/>
                </a:lnTo>
                <a:lnTo>
                  <a:pt x="1217" y="251"/>
                </a:lnTo>
                <a:lnTo>
                  <a:pt x="1235" y="271"/>
                </a:lnTo>
                <a:lnTo>
                  <a:pt x="1254" y="290"/>
                </a:lnTo>
                <a:lnTo>
                  <a:pt x="1272" y="309"/>
                </a:lnTo>
                <a:lnTo>
                  <a:pt x="1291" y="327"/>
                </a:lnTo>
                <a:lnTo>
                  <a:pt x="1309" y="343"/>
                </a:lnTo>
                <a:lnTo>
                  <a:pt x="1328" y="358"/>
                </a:lnTo>
                <a:lnTo>
                  <a:pt x="1346" y="372"/>
                </a:lnTo>
                <a:lnTo>
                  <a:pt x="1364" y="385"/>
                </a:lnTo>
                <a:lnTo>
                  <a:pt x="1383" y="395"/>
                </a:lnTo>
                <a:lnTo>
                  <a:pt x="1401" y="404"/>
                </a:lnTo>
                <a:lnTo>
                  <a:pt x="1420" y="411"/>
                </a:lnTo>
                <a:lnTo>
                  <a:pt x="1438" y="416"/>
                </a:lnTo>
                <a:lnTo>
                  <a:pt x="1457" y="419"/>
                </a:lnTo>
                <a:lnTo>
                  <a:pt x="1475" y="420"/>
                </a:lnTo>
                <a:lnTo>
                  <a:pt x="1493" y="419"/>
                </a:lnTo>
                <a:lnTo>
                  <a:pt x="1512" y="416"/>
                </a:lnTo>
                <a:lnTo>
                  <a:pt x="1530" y="411"/>
                </a:lnTo>
                <a:lnTo>
                  <a:pt x="1549" y="404"/>
                </a:lnTo>
                <a:lnTo>
                  <a:pt x="1567" y="395"/>
                </a:lnTo>
                <a:lnTo>
                  <a:pt x="1586" y="385"/>
                </a:lnTo>
                <a:lnTo>
                  <a:pt x="1604" y="372"/>
                </a:lnTo>
                <a:lnTo>
                  <a:pt x="1622" y="358"/>
                </a:lnTo>
                <a:lnTo>
                  <a:pt x="1641" y="343"/>
                </a:lnTo>
                <a:lnTo>
                  <a:pt x="1659" y="327"/>
                </a:lnTo>
                <a:lnTo>
                  <a:pt x="1678" y="309"/>
                </a:lnTo>
                <a:lnTo>
                  <a:pt x="1696" y="290"/>
                </a:lnTo>
                <a:lnTo>
                  <a:pt x="1715" y="271"/>
                </a:lnTo>
                <a:lnTo>
                  <a:pt x="1733" y="251"/>
                </a:lnTo>
                <a:lnTo>
                  <a:pt x="1752" y="231"/>
                </a:lnTo>
                <a:lnTo>
                  <a:pt x="1770" y="210"/>
                </a:lnTo>
                <a:lnTo>
                  <a:pt x="1788" y="189"/>
                </a:lnTo>
                <a:lnTo>
                  <a:pt x="1807" y="169"/>
                </a:lnTo>
                <a:lnTo>
                  <a:pt x="1825" y="149"/>
                </a:lnTo>
                <a:lnTo>
                  <a:pt x="1844" y="130"/>
                </a:lnTo>
                <a:lnTo>
                  <a:pt x="1862" y="111"/>
                </a:lnTo>
                <a:lnTo>
                  <a:pt x="1881" y="93"/>
                </a:lnTo>
                <a:lnTo>
                  <a:pt x="1899" y="77"/>
                </a:lnTo>
                <a:lnTo>
                  <a:pt x="1918" y="62"/>
                </a:lnTo>
                <a:lnTo>
                  <a:pt x="1936" y="48"/>
                </a:lnTo>
                <a:lnTo>
                  <a:pt x="1954" y="35"/>
                </a:lnTo>
                <a:lnTo>
                  <a:pt x="1973" y="25"/>
                </a:lnTo>
                <a:lnTo>
                  <a:pt x="1991" y="16"/>
                </a:lnTo>
                <a:lnTo>
                  <a:pt x="2010" y="9"/>
                </a:lnTo>
                <a:lnTo>
                  <a:pt x="2028" y="4"/>
                </a:lnTo>
                <a:lnTo>
                  <a:pt x="2047" y="1"/>
                </a:lnTo>
                <a:lnTo>
                  <a:pt x="2065" y="0"/>
                </a:lnTo>
                <a:lnTo>
                  <a:pt x="2083" y="1"/>
                </a:lnTo>
                <a:lnTo>
                  <a:pt x="2102" y="4"/>
                </a:lnTo>
                <a:lnTo>
                  <a:pt x="2120" y="9"/>
                </a:lnTo>
                <a:lnTo>
                  <a:pt x="2139" y="16"/>
                </a:lnTo>
                <a:lnTo>
                  <a:pt x="2157" y="25"/>
                </a:lnTo>
                <a:lnTo>
                  <a:pt x="2176" y="35"/>
                </a:lnTo>
                <a:lnTo>
                  <a:pt x="2194" y="48"/>
                </a:lnTo>
                <a:lnTo>
                  <a:pt x="2212" y="62"/>
                </a:lnTo>
                <a:lnTo>
                  <a:pt x="2231" y="77"/>
                </a:lnTo>
                <a:lnTo>
                  <a:pt x="2249" y="93"/>
                </a:lnTo>
                <a:lnTo>
                  <a:pt x="2268" y="111"/>
                </a:lnTo>
                <a:lnTo>
                  <a:pt x="2286" y="130"/>
                </a:lnTo>
                <a:lnTo>
                  <a:pt x="2305" y="149"/>
                </a:lnTo>
                <a:lnTo>
                  <a:pt x="2323" y="169"/>
                </a:lnTo>
                <a:lnTo>
                  <a:pt x="2342" y="189"/>
                </a:lnTo>
                <a:lnTo>
                  <a:pt x="2360" y="210"/>
                </a:lnTo>
                <a:lnTo>
                  <a:pt x="2378" y="231"/>
                </a:lnTo>
                <a:lnTo>
                  <a:pt x="2397" y="251"/>
                </a:lnTo>
                <a:lnTo>
                  <a:pt x="2415" y="271"/>
                </a:lnTo>
                <a:lnTo>
                  <a:pt x="2434" y="290"/>
                </a:lnTo>
                <a:lnTo>
                  <a:pt x="2452" y="309"/>
                </a:lnTo>
                <a:lnTo>
                  <a:pt x="2471" y="327"/>
                </a:lnTo>
                <a:lnTo>
                  <a:pt x="2489" y="343"/>
                </a:lnTo>
                <a:lnTo>
                  <a:pt x="2508" y="358"/>
                </a:lnTo>
                <a:lnTo>
                  <a:pt x="2526" y="372"/>
                </a:lnTo>
                <a:lnTo>
                  <a:pt x="2544" y="385"/>
                </a:lnTo>
                <a:lnTo>
                  <a:pt x="2563" y="395"/>
                </a:lnTo>
                <a:lnTo>
                  <a:pt x="2581" y="404"/>
                </a:lnTo>
                <a:lnTo>
                  <a:pt x="2600" y="411"/>
                </a:lnTo>
                <a:lnTo>
                  <a:pt x="2618" y="416"/>
                </a:lnTo>
                <a:lnTo>
                  <a:pt x="2637" y="419"/>
                </a:lnTo>
                <a:lnTo>
                  <a:pt x="2655" y="420"/>
                </a:lnTo>
                <a:lnTo>
                  <a:pt x="2673" y="419"/>
                </a:lnTo>
                <a:lnTo>
                  <a:pt x="2692" y="416"/>
                </a:lnTo>
                <a:lnTo>
                  <a:pt x="2710" y="411"/>
                </a:lnTo>
                <a:lnTo>
                  <a:pt x="2729" y="404"/>
                </a:lnTo>
                <a:lnTo>
                  <a:pt x="2747" y="395"/>
                </a:lnTo>
                <a:lnTo>
                  <a:pt x="2766" y="385"/>
                </a:lnTo>
                <a:lnTo>
                  <a:pt x="2784" y="372"/>
                </a:lnTo>
                <a:lnTo>
                  <a:pt x="2802" y="358"/>
                </a:lnTo>
                <a:lnTo>
                  <a:pt x="2821" y="343"/>
                </a:lnTo>
                <a:lnTo>
                  <a:pt x="2839" y="327"/>
                </a:lnTo>
                <a:lnTo>
                  <a:pt x="2858" y="309"/>
                </a:lnTo>
                <a:lnTo>
                  <a:pt x="2876" y="290"/>
                </a:lnTo>
                <a:lnTo>
                  <a:pt x="2895" y="271"/>
                </a:lnTo>
                <a:lnTo>
                  <a:pt x="2913" y="251"/>
                </a:lnTo>
                <a:lnTo>
                  <a:pt x="2932" y="231"/>
                </a:lnTo>
                <a:lnTo>
                  <a:pt x="2950" y="210"/>
                </a:lnTo>
              </a:path>
            </a:pathLst>
          </a:custGeom>
          <a:noFill/>
          <a:ln w="68580" cap="rnd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可编辑曲线"/>
          <p:cNvSpPr/>
          <p:nvPr/>
        </p:nvSpPr>
        <p:spPr>
          <a:xfrm>
            <a:off x="4663440" y="3337560"/>
            <a:ext cx="2697480" cy="384048"/>
          </a:xfrm>
          <a:custGeom>
            <a:avLst/>
            <a:gdLst/>
            <a:ahLst/>
            <a:cxnLst/>
            <a:rect l="l" t="t" r="r" b="b"/>
            <a:pathLst>
              <a:path w="2950" h="420">
                <a:moveTo>
                  <a:pt x="0" y="210"/>
                </a:moveTo>
                <a:lnTo>
                  <a:pt x="18" y="189"/>
                </a:lnTo>
                <a:lnTo>
                  <a:pt x="37" y="169"/>
                </a:lnTo>
                <a:lnTo>
                  <a:pt x="55" y="149"/>
                </a:lnTo>
                <a:lnTo>
                  <a:pt x="74" y="130"/>
                </a:lnTo>
                <a:lnTo>
                  <a:pt x="92" y="111"/>
                </a:lnTo>
                <a:lnTo>
                  <a:pt x="111" y="93"/>
                </a:lnTo>
                <a:lnTo>
                  <a:pt x="129" y="77"/>
                </a:lnTo>
                <a:lnTo>
                  <a:pt x="148" y="62"/>
                </a:lnTo>
                <a:lnTo>
                  <a:pt x="166" y="48"/>
                </a:lnTo>
                <a:lnTo>
                  <a:pt x="184" y="35"/>
                </a:lnTo>
                <a:lnTo>
                  <a:pt x="203" y="25"/>
                </a:lnTo>
                <a:lnTo>
                  <a:pt x="221" y="16"/>
                </a:lnTo>
                <a:lnTo>
                  <a:pt x="240" y="9"/>
                </a:lnTo>
                <a:lnTo>
                  <a:pt x="258" y="4"/>
                </a:lnTo>
                <a:lnTo>
                  <a:pt x="277" y="1"/>
                </a:lnTo>
                <a:lnTo>
                  <a:pt x="295" y="0"/>
                </a:lnTo>
                <a:lnTo>
                  <a:pt x="313" y="1"/>
                </a:lnTo>
                <a:lnTo>
                  <a:pt x="332" y="4"/>
                </a:lnTo>
                <a:lnTo>
                  <a:pt x="350" y="9"/>
                </a:lnTo>
                <a:lnTo>
                  <a:pt x="369" y="16"/>
                </a:lnTo>
                <a:lnTo>
                  <a:pt x="387" y="25"/>
                </a:lnTo>
                <a:lnTo>
                  <a:pt x="406" y="35"/>
                </a:lnTo>
                <a:lnTo>
                  <a:pt x="424" y="48"/>
                </a:lnTo>
                <a:lnTo>
                  <a:pt x="442" y="62"/>
                </a:lnTo>
                <a:lnTo>
                  <a:pt x="461" y="77"/>
                </a:lnTo>
                <a:lnTo>
                  <a:pt x="479" y="93"/>
                </a:lnTo>
                <a:lnTo>
                  <a:pt x="498" y="111"/>
                </a:lnTo>
                <a:lnTo>
                  <a:pt x="516" y="130"/>
                </a:lnTo>
                <a:lnTo>
                  <a:pt x="535" y="149"/>
                </a:lnTo>
                <a:lnTo>
                  <a:pt x="553" y="169"/>
                </a:lnTo>
                <a:lnTo>
                  <a:pt x="572" y="189"/>
                </a:lnTo>
                <a:lnTo>
                  <a:pt x="590" y="210"/>
                </a:lnTo>
                <a:lnTo>
                  <a:pt x="608" y="231"/>
                </a:lnTo>
                <a:lnTo>
                  <a:pt x="627" y="251"/>
                </a:lnTo>
                <a:lnTo>
                  <a:pt x="645" y="271"/>
                </a:lnTo>
                <a:lnTo>
                  <a:pt x="664" y="290"/>
                </a:lnTo>
                <a:lnTo>
                  <a:pt x="682" y="309"/>
                </a:lnTo>
                <a:lnTo>
                  <a:pt x="701" y="327"/>
                </a:lnTo>
                <a:lnTo>
                  <a:pt x="719" y="343"/>
                </a:lnTo>
                <a:lnTo>
                  <a:pt x="737" y="358"/>
                </a:lnTo>
                <a:lnTo>
                  <a:pt x="756" y="372"/>
                </a:lnTo>
                <a:lnTo>
                  <a:pt x="774" y="385"/>
                </a:lnTo>
                <a:lnTo>
                  <a:pt x="793" y="395"/>
                </a:lnTo>
                <a:lnTo>
                  <a:pt x="811" y="404"/>
                </a:lnTo>
                <a:lnTo>
                  <a:pt x="830" y="411"/>
                </a:lnTo>
                <a:lnTo>
                  <a:pt x="848" y="416"/>
                </a:lnTo>
                <a:lnTo>
                  <a:pt x="867" y="419"/>
                </a:lnTo>
                <a:lnTo>
                  <a:pt x="885" y="420"/>
                </a:lnTo>
                <a:lnTo>
                  <a:pt x="903" y="419"/>
                </a:lnTo>
                <a:lnTo>
                  <a:pt x="922" y="416"/>
                </a:lnTo>
                <a:lnTo>
                  <a:pt x="940" y="411"/>
                </a:lnTo>
                <a:lnTo>
                  <a:pt x="959" y="404"/>
                </a:lnTo>
                <a:lnTo>
                  <a:pt x="977" y="395"/>
                </a:lnTo>
                <a:lnTo>
                  <a:pt x="996" y="385"/>
                </a:lnTo>
                <a:lnTo>
                  <a:pt x="1014" y="372"/>
                </a:lnTo>
                <a:lnTo>
                  <a:pt x="1032" y="358"/>
                </a:lnTo>
                <a:lnTo>
                  <a:pt x="1051" y="343"/>
                </a:lnTo>
                <a:lnTo>
                  <a:pt x="1069" y="327"/>
                </a:lnTo>
                <a:lnTo>
                  <a:pt x="1088" y="309"/>
                </a:lnTo>
                <a:lnTo>
                  <a:pt x="1106" y="290"/>
                </a:lnTo>
                <a:lnTo>
                  <a:pt x="1125" y="271"/>
                </a:lnTo>
                <a:lnTo>
                  <a:pt x="1143" y="251"/>
                </a:lnTo>
                <a:lnTo>
                  <a:pt x="1162" y="231"/>
                </a:lnTo>
                <a:lnTo>
                  <a:pt x="1180" y="210"/>
                </a:lnTo>
                <a:lnTo>
                  <a:pt x="1198" y="189"/>
                </a:lnTo>
                <a:lnTo>
                  <a:pt x="1217" y="169"/>
                </a:lnTo>
                <a:lnTo>
                  <a:pt x="1235" y="149"/>
                </a:lnTo>
                <a:lnTo>
                  <a:pt x="1254" y="130"/>
                </a:lnTo>
                <a:lnTo>
                  <a:pt x="1272" y="111"/>
                </a:lnTo>
                <a:lnTo>
                  <a:pt x="1291" y="93"/>
                </a:lnTo>
                <a:lnTo>
                  <a:pt x="1309" y="77"/>
                </a:lnTo>
                <a:lnTo>
                  <a:pt x="1328" y="62"/>
                </a:lnTo>
                <a:lnTo>
                  <a:pt x="1346" y="48"/>
                </a:lnTo>
                <a:lnTo>
                  <a:pt x="1364" y="35"/>
                </a:lnTo>
                <a:lnTo>
                  <a:pt x="1383" y="25"/>
                </a:lnTo>
                <a:lnTo>
                  <a:pt x="1401" y="16"/>
                </a:lnTo>
                <a:lnTo>
                  <a:pt x="1420" y="9"/>
                </a:lnTo>
                <a:lnTo>
                  <a:pt x="1438" y="4"/>
                </a:lnTo>
                <a:lnTo>
                  <a:pt x="1457" y="1"/>
                </a:lnTo>
                <a:lnTo>
                  <a:pt x="1475" y="0"/>
                </a:lnTo>
                <a:lnTo>
                  <a:pt x="1493" y="1"/>
                </a:lnTo>
                <a:lnTo>
                  <a:pt x="1512" y="4"/>
                </a:lnTo>
                <a:lnTo>
                  <a:pt x="1530" y="9"/>
                </a:lnTo>
                <a:lnTo>
                  <a:pt x="1549" y="16"/>
                </a:lnTo>
                <a:lnTo>
                  <a:pt x="1567" y="25"/>
                </a:lnTo>
                <a:lnTo>
                  <a:pt x="1586" y="35"/>
                </a:lnTo>
                <a:lnTo>
                  <a:pt x="1604" y="48"/>
                </a:lnTo>
                <a:lnTo>
                  <a:pt x="1622" y="62"/>
                </a:lnTo>
                <a:lnTo>
                  <a:pt x="1641" y="77"/>
                </a:lnTo>
                <a:lnTo>
                  <a:pt x="1659" y="93"/>
                </a:lnTo>
                <a:lnTo>
                  <a:pt x="1678" y="111"/>
                </a:lnTo>
                <a:lnTo>
                  <a:pt x="1696" y="130"/>
                </a:lnTo>
                <a:lnTo>
                  <a:pt x="1715" y="149"/>
                </a:lnTo>
                <a:lnTo>
                  <a:pt x="1733" y="169"/>
                </a:lnTo>
                <a:lnTo>
                  <a:pt x="1752" y="189"/>
                </a:lnTo>
                <a:lnTo>
                  <a:pt x="1770" y="210"/>
                </a:lnTo>
                <a:lnTo>
                  <a:pt x="1788" y="231"/>
                </a:lnTo>
                <a:lnTo>
                  <a:pt x="1807" y="251"/>
                </a:lnTo>
                <a:lnTo>
                  <a:pt x="1825" y="271"/>
                </a:lnTo>
                <a:lnTo>
                  <a:pt x="1844" y="290"/>
                </a:lnTo>
                <a:lnTo>
                  <a:pt x="1862" y="309"/>
                </a:lnTo>
                <a:lnTo>
                  <a:pt x="1881" y="327"/>
                </a:lnTo>
                <a:lnTo>
                  <a:pt x="1899" y="343"/>
                </a:lnTo>
                <a:lnTo>
                  <a:pt x="1918" y="358"/>
                </a:lnTo>
                <a:lnTo>
                  <a:pt x="1936" y="372"/>
                </a:lnTo>
                <a:lnTo>
                  <a:pt x="1954" y="385"/>
                </a:lnTo>
                <a:lnTo>
                  <a:pt x="1973" y="395"/>
                </a:lnTo>
                <a:lnTo>
                  <a:pt x="1991" y="404"/>
                </a:lnTo>
                <a:lnTo>
                  <a:pt x="2010" y="411"/>
                </a:lnTo>
                <a:lnTo>
                  <a:pt x="2028" y="416"/>
                </a:lnTo>
                <a:lnTo>
                  <a:pt x="2047" y="419"/>
                </a:lnTo>
                <a:lnTo>
                  <a:pt x="2065" y="420"/>
                </a:lnTo>
                <a:lnTo>
                  <a:pt x="2083" y="419"/>
                </a:lnTo>
                <a:lnTo>
                  <a:pt x="2102" y="416"/>
                </a:lnTo>
                <a:lnTo>
                  <a:pt x="2120" y="411"/>
                </a:lnTo>
                <a:lnTo>
                  <a:pt x="2139" y="404"/>
                </a:lnTo>
                <a:lnTo>
                  <a:pt x="2157" y="395"/>
                </a:lnTo>
                <a:lnTo>
                  <a:pt x="2176" y="385"/>
                </a:lnTo>
                <a:lnTo>
                  <a:pt x="2194" y="372"/>
                </a:lnTo>
                <a:lnTo>
                  <a:pt x="2212" y="358"/>
                </a:lnTo>
                <a:lnTo>
                  <a:pt x="2231" y="343"/>
                </a:lnTo>
                <a:lnTo>
                  <a:pt x="2249" y="327"/>
                </a:lnTo>
                <a:lnTo>
                  <a:pt x="2268" y="309"/>
                </a:lnTo>
                <a:lnTo>
                  <a:pt x="2286" y="290"/>
                </a:lnTo>
                <a:lnTo>
                  <a:pt x="2305" y="271"/>
                </a:lnTo>
                <a:lnTo>
                  <a:pt x="2323" y="251"/>
                </a:lnTo>
                <a:lnTo>
                  <a:pt x="2342" y="231"/>
                </a:lnTo>
                <a:lnTo>
                  <a:pt x="2360" y="210"/>
                </a:lnTo>
                <a:lnTo>
                  <a:pt x="2378" y="189"/>
                </a:lnTo>
                <a:lnTo>
                  <a:pt x="2397" y="169"/>
                </a:lnTo>
                <a:lnTo>
                  <a:pt x="2415" y="149"/>
                </a:lnTo>
                <a:lnTo>
                  <a:pt x="2434" y="130"/>
                </a:lnTo>
                <a:lnTo>
                  <a:pt x="2452" y="111"/>
                </a:lnTo>
                <a:lnTo>
                  <a:pt x="2471" y="93"/>
                </a:lnTo>
                <a:lnTo>
                  <a:pt x="2489" y="77"/>
                </a:lnTo>
                <a:lnTo>
                  <a:pt x="2508" y="62"/>
                </a:lnTo>
                <a:lnTo>
                  <a:pt x="2526" y="48"/>
                </a:lnTo>
                <a:lnTo>
                  <a:pt x="2544" y="35"/>
                </a:lnTo>
                <a:lnTo>
                  <a:pt x="2563" y="25"/>
                </a:lnTo>
                <a:lnTo>
                  <a:pt x="2581" y="16"/>
                </a:lnTo>
                <a:lnTo>
                  <a:pt x="2600" y="9"/>
                </a:lnTo>
                <a:lnTo>
                  <a:pt x="2618" y="4"/>
                </a:lnTo>
                <a:lnTo>
                  <a:pt x="2637" y="1"/>
                </a:lnTo>
                <a:lnTo>
                  <a:pt x="2655" y="0"/>
                </a:lnTo>
                <a:lnTo>
                  <a:pt x="2673" y="1"/>
                </a:lnTo>
                <a:lnTo>
                  <a:pt x="2692" y="4"/>
                </a:lnTo>
                <a:lnTo>
                  <a:pt x="2710" y="9"/>
                </a:lnTo>
                <a:lnTo>
                  <a:pt x="2729" y="16"/>
                </a:lnTo>
                <a:lnTo>
                  <a:pt x="2747" y="25"/>
                </a:lnTo>
                <a:lnTo>
                  <a:pt x="2766" y="35"/>
                </a:lnTo>
                <a:lnTo>
                  <a:pt x="2784" y="48"/>
                </a:lnTo>
                <a:lnTo>
                  <a:pt x="2802" y="62"/>
                </a:lnTo>
                <a:lnTo>
                  <a:pt x="2821" y="77"/>
                </a:lnTo>
                <a:lnTo>
                  <a:pt x="2839" y="93"/>
                </a:lnTo>
                <a:lnTo>
                  <a:pt x="2858" y="111"/>
                </a:lnTo>
                <a:lnTo>
                  <a:pt x="2876" y="130"/>
                </a:lnTo>
                <a:lnTo>
                  <a:pt x="2895" y="149"/>
                </a:lnTo>
                <a:lnTo>
                  <a:pt x="2913" y="169"/>
                </a:lnTo>
                <a:lnTo>
                  <a:pt x="2932" y="189"/>
                </a:lnTo>
                <a:lnTo>
                  <a:pt x="2950" y="210"/>
                </a:lnTo>
              </a:path>
            </a:pathLst>
          </a:custGeom>
          <a:noFill/>
          <a:ln w="68580" cap="rnd">
            <a:solidFill>
              <a:srgbClr val="298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讲授内容｜CAN_H"/>
          <p:cNvSpPr txBox="1"/>
          <p:nvPr/>
        </p:nvSpPr>
        <p:spPr>
          <a:xfrm>
            <a:off x="4645152" y="2898648"/>
            <a:ext cx="1024128" cy="2743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CAN_H</a:t>
            </a:r>
            <a:endParaRPr sz="17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3" name="连线"/>
          <p:cNvCxnSpPr/>
          <p:nvPr/>
        </p:nvCxnSpPr>
        <p:spPr>
          <a:xfrm>
            <a:off x="5330952" y="3172968"/>
            <a:ext cx="128016" cy="182880"/>
          </a:xfrm>
          <a:prstGeom prst="line">
            <a:avLst/>
          </a:prstGeom>
          <a:ln w="1651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讲授内容｜CAN_L"/>
          <p:cNvSpPr txBox="1"/>
          <p:nvPr/>
        </p:nvSpPr>
        <p:spPr>
          <a:xfrm>
            <a:off x="6281928" y="3968496"/>
            <a:ext cx="1005840" cy="2743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98E9D"/>
                </a:solidFill>
                <a:latin typeface="微软雅黑" panose="020B0503020204020204" charset="-122"/>
                <a:ea typeface="微软雅黑" panose="020B0503020204020204" charset="-122"/>
              </a:rPr>
              <a:t>CAN_L</a:t>
            </a:r>
            <a:endParaRPr sz="1700" b="1">
              <a:solidFill>
                <a:srgbClr val="298E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5" name="连线"/>
          <p:cNvCxnSpPr/>
          <p:nvPr/>
        </p:nvCxnSpPr>
        <p:spPr>
          <a:xfrm flipH="1" flipV="1">
            <a:off x="6409944" y="3703320"/>
            <a:ext cx="201168" cy="265176"/>
          </a:xfrm>
          <a:prstGeom prst="line">
            <a:avLst/>
          </a:prstGeom>
          <a:ln w="16510" cap="rnd">
            <a:solidFill>
              <a:srgbClr val="298E9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讲授内容｜两根线采用双绞结构， 使两线更容易受到相似干扰。"/>
          <p:cNvSpPr txBox="1"/>
          <p:nvPr/>
        </p:nvSpPr>
        <p:spPr>
          <a:xfrm>
            <a:off x="4562856" y="4681728"/>
            <a:ext cx="3081528" cy="58521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两根线采用双绞结构，</a:t>
            </a:r>
            <a:endParaRPr sz="17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使两线更容易受到相似干扰。</a:t>
            </a:r>
            <a:endParaRPr sz="17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可编辑曲线"/>
          <p:cNvSpPr/>
          <p:nvPr/>
        </p:nvSpPr>
        <p:spPr>
          <a:xfrm>
            <a:off x="8842248" y="3076956"/>
            <a:ext cx="2157984" cy="292608"/>
          </a:xfrm>
          <a:custGeom>
            <a:avLst/>
            <a:gdLst/>
            <a:ahLst/>
            <a:cxnLst/>
            <a:rect l="l" t="t" r="r" b="b"/>
            <a:pathLst>
              <a:path w="2360" h="320">
                <a:moveTo>
                  <a:pt x="0" y="275"/>
                </a:moveTo>
                <a:lnTo>
                  <a:pt x="13" y="319"/>
                </a:lnTo>
                <a:lnTo>
                  <a:pt x="26" y="259"/>
                </a:lnTo>
                <a:lnTo>
                  <a:pt x="39" y="236"/>
                </a:lnTo>
                <a:lnTo>
                  <a:pt x="52" y="305"/>
                </a:lnTo>
                <a:lnTo>
                  <a:pt x="66" y="303"/>
                </a:lnTo>
                <a:lnTo>
                  <a:pt x="79" y="235"/>
                </a:lnTo>
                <a:lnTo>
                  <a:pt x="92" y="261"/>
                </a:lnTo>
                <a:lnTo>
                  <a:pt x="105" y="320"/>
                </a:lnTo>
                <a:lnTo>
                  <a:pt x="118" y="273"/>
                </a:lnTo>
                <a:lnTo>
                  <a:pt x="131" y="231"/>
                </a:lnTo>
                <a:lnTo>
                  <a:pt x="144" y="293"/>
                </a:lnTo>
                <a:lnTo>
                  <a:pt x="157" y="313"/>
                </a:lnTo>
                <a:lnTo>
                  <a:pt x="170" y="244"/>
                </a:lnTo>
                <a:lnTo>
                  <a:pt x="184" y="248"/>
                </a:lnTo>
                <a:lnTo>
                  <a:pt x="197" y="315"/>
                </a:lnTo>
                <a:lnTo>
                  <a:pt x="210" y="287"/>
                </a:lnTo>
                <a:lnTo>
                  <a:pt x="223" y="230"/>
                </a:lnTo>
                <a:lnTo>
                  <a:pt x="236" y="279"/>
                </a:lnTo>
                <a:lnTo>
                  <a:pt x="249" y="318"/>
                </a:lnTo>
                <a:lnTo>
                  <a:pt x="262" y="256"/>
                </a:lnTo>
                <a:lnTo>
                  <a:pt x="275" y="238"/>
                </a:lnTo>
                <a:lnTo>
                  <a:pt x="288" y="307"/>
                </a:lnTo>
                <a:lnTo>
                  <a:pt x="302" y="300"/>
                </a:lnTo>
                <a:lnTo>
                  <a:pt x="315" y="234"/>
                </a:lnTo>
                <a:lnTo>
                  <a:pt x="328" y="265"/>
                </a:lnTo>
                <a:lnTo>
                  <a:pt x="341" y="320"/>
                </a:lnTo>
                <a:lnTo>
                  <a:pt x="354" y="269"/>
                </a:lnTo>
                <a:lnTo>
                  <a:pt x="367" y="232"/>
                </a:lnTo>
                <a:lnTo>
                  <a:pt x="380" y="296"/>
                </a:lnTo>
                <a:lnTo>
                  <a:pt x="393" y="80"/>
                </a:lnTo>
                <a:lnTo>
                  <a:pt x="406" y="11"/>
                </a:lnTo>
                <a:lnTo>
                  <a:pt x="420" y="22"/>
                </a:lnTo>
                <a:lnTo>
                  <a:pt x="433" y="87"/>
                </a:lnTo>
                <a:lnTo>
                  <a:pt x="446" y="54"/>
                </a:lnTo>
                <a:lnTo>
                  <a:pt x="459" y="0"/>
                </a:lnTo>
                <a:lnTo>
                  <a:pt x="472" y="53"/>
                </a:lnTo>
                <a:lnTo>
                  <a:pt x="485" y="87"/>
                </a:lnTo>
                <a:lnTo>
                  <a:pt x="498" y="22"/>
                </a:lnTo>
                <a:lnTo>
                  <a:pt x="511" y="11"/>
                </a:lnTo>
                <a:lnTo>
                  <a:pt x="524" y="80"/>
                </a:lnTo>
                <a:lnTo>
                  <a:pt x="538" y="67"/>
                </a:lnTo>
                <a:lnTo>
                  <a:pt x="551" y="2"/>
                </a:lnTo>
                <a:lnTo>
                  <a:pt x="564" y="38"/>
                </a:lnTo>
                <a:lnTo>
                  <a:pt x="577" y="90"/>
                </a:lnTo>
                <a:lnTo>
                  <a:pt x="590" y="36"/>
                </a:lnTo>
                <a:lnTo>
                  <a:pt x="603" y="3"/>
                </a:lnTo>
                <a:lnTo>
                  <a:pt x="616" y="69"/>
                </a:lnTo>
                <a:lnTo>
                  <a:pt x="629" y="78"/>
                </a:lnTo>
                <a:lnTo>
                  <a:pt x="642" y="9"/>
                </a:lnTo>
                <a:lnTo>
                  <a:pt x="656" y="25"/>
                </a:lnTo>
                <a:lnTo>
                  <a:pt x="669" y="88"/>
                </a:lnTo>
                <a:lnTo>
                  <a:pt x="682" y="50"/>
                </a:lnTo>
                <a:lnTo>
                  <a:pt x="695" y="0"/>
                </a:lnTo>
                <a:lnTo>
                  <a:pt x="708" y="56"/>
                </a:lnTo>
                <a:lnTo>
                  <a:pt x="721" y="86"/>
                </a:lnTo>
                <a:lnTo>
                  <a:pt x="734" y="19"/>
                </a:lnTo>
                <a:lnTo>
                  <a:pt x="747" y="13"/>
                </a:lnTo>
                <a:lnTo>
                  <a:pt x="760" y="82"/>
                </a:lnTo>
                <a:lnTo>
                  <a:pt x="774" y="63"/>
                </a:lnTo>
                <a:lnTo>
                  <a:pt x="787" y="231"/>
                </a:lnTo>
                <a:lnTo>
                  <a:pt x="800" y="272"/>
                </a:lnTo>
                <a:lnTo>
                  <a:pt x="813" y="320"/>
                </a:lnTo>
                <a:lnTo>
                  <a:pt x="826" y="262"/>
                </a:lnTo>
                <a:lnTo>
                  <a:pt x="839" y="235"/>
                </a:lnTo>
                <a:lnTo>
                  <a:pt x="852" y="302"/>
                </a:lnTo>
                <a:lnTo>
                  <a:pt x="865" y="305"/>
                </a:lnTo>
                <a:lnTo>
                  <a:pt x="878" y="237"/>
                </a:lnTo>
                <a:lnTo>
                  <a:pt x="892" y="258"/>
                </a:lnTo>
                <a:lnTo>
                  <a:pt x="905" y="319"/>
                </a:lnTo>
                <a:lnTo>
                  <a:pt x="918" y="276"/>
                </a:lnTo>
                <a:lnTo>
                  <a:pt x="931" y="231"/>
                </a:lnTo>
                <a:lnTo>
                  <a:pt x="944" y="290"/>
                </a:lnTo>
                <a:lnTo>
                  <a:pt x="957" y="314"/>
                </a:lnTo>
                <a:lnTo>
                  <a:pt x="970" y="246"/>
                </a:lnTo>
                <a:lnTo>
                  <a:pt x="983" y="246"/>
                </a:lnTo>
                <a:lnTo>
                  <a:pt x="996" y="314"/>
                </a:lnTo>
                <a:lnTo>
                  <a:pt x="1010" y="290"/>
                </a:lnTo>
                <a:lnTo>
                  <a:pt x="1023" y="231"/>
                </a:lnTo>
                <a:lnTo>
                  <a:pt x="1036" y="276"/>
                </a:lnTo>
                <a:lnTo>
                  <a:pt x="1049" y="319"/>
                </a:lnTo>
                <a:lnTo>
                  <a:pt x="1062" y="258"/>
                </a:lnTo>
                <a:lnTo>
                  <a:pt x="1075" y="237"/>
                </a:lnTo>
                <a:lnTo>
                  <a:pt x="1088" y="305"/>
                </a:lnTo>
                <a:lnTo>
                  <a:pt x="1101" y="302"/>
                </a:lnTo>
                <a:lnTo>
                  <a:pt x="1114" y="235"/>
                </a:lnTo>
                <a:lnTo>
                  <a:pt x="1128" y="262"/>
                </a:lnTo>
                <a:lnTo>
                  <a:pt x="1141" y="320"/>
                </a:lnTo>
                <a:lnTo>
                  <a:pt x="1154" y="272"/>
                </a:lnTo>
                <a:lnTo>
                  <a:pt x="1167" y="231"/>
                </a:lnTo>
                <a:lnTo>
                  <a:pt x="1180" y="63"/>
                </a:lnTo>
                <a:lnTo>
                  <a:pt x="1193" y="82"/>
                </a:lnTo>
                <a:lnTo>
                  <a:pt x="1206" y="13"/>
                </a:lnTo>
                <a:lnTo>
                  <a:pt x="1219" y="19"/>
                </a:lnTo>
                <a:lnTo>
                  <a:pt x="1232" y="86"/>
                </a:lnTo>
                <a:lnTo>
                  <a:pt x="1246" y="56"/>
                </a:lnTo>
                <a:lnTo>
                  <a:pt x="1259" y="0"/>
                </a:lnTo>
                <a:lnTo>
                  <a:pt x="1272" y="50"/>
                </a:lnTo>
                <a:lnTo>
                  <a:pt x="1285" y="88"/>
                </a:lnTo>
                <a:lnTo>
                  <a:pt x="1298" y="25"/>
                </a:lnTo>
                <a:lnTo>
                  <a:pt x="1311" y="9"/>
                </a:lnTo>
                <a:lnTo>
                  <a:pt x="1324" y="78"/>
                </a:lnTo>
                <a:lnTo>
                  <a:pt x="1337" y="69"/>
                </a:lnTo>
                <a:lnTo>
                  <a:pt x="1350" y="3"/>
                </a:lnTo>
                <a:lnTo>
                  <a:pt x="1364" y="36"/>
                </a:lnTo>
                <a:lnTo>
                  <a:pt x="1377" y="90"/>
                </a:lnTo>
                <a:lnTo>
                  <a:pt x="1390" y="38"/>
                </a:lnTo>
                <a:lnTo>
                  <a:pt x="1403" y="2"/>
                </a:lnTo>
                <a:lnTo>
                  <a:pt x="1416" y="67"/>
                </a:lnTo>
                <a:lnTo>
                  <a:pt x="1429" y="80"/>
                </a:lnTo>
                <a:lnTo>
                  <a:pt x="1442" y="11"/>
                </a:lnTo>
                <a:lnTo>
                  <a:pt x="1455" y="22"/>
                </a:lnTo>
                <a:lnTo>
                  <a:pt x="1468" y="87"/>
                </a:lnTo>
                <a:lnTo>
                  <a:pt x="1482" y="53"/>
                </a:lnTo>
                <a:lnTo>
                  <a:pt x="1495" y="0"/>
                </a:lnTo>
                <a:lnTo>
                  <a:pt x="1508" y="53"/>
                </a:lnTo>
                <a:lnTo>
                  <a:pt x="1521" y="87"/>
                </a:lnTo>
                <a:lnTo>
                  <a:pt x="1534" y="22"/>
                </a:lnTo>
                <a:lnTo>
                  <a:pt x="1547" y="11"/>
                </a:lnTo>
                <a:lnTo>
                  <a:pt x="1560" y="80"/>
                </a:lnTo>
                <a:lnTo>
                  <a:pt x="1573" y="296"/>
                </a:lnTo>
                <a:lnTo>
                  <a:pt x="1586" y="232"/>
                </a:lnTo>
                <a:lnTo>
                  <a:pt x="1600" y="269"/>
                </a:lnTo>
                <a:lnTo>
                  <a:pt x="1613" y="320"/>
                </a:lnTo>
                <a:lnTo>
                  <a:pt x="1626" y="265"/>
                </a:lnTo>
                <a:lnTo>
                  <a:pt x="1639" y="234"/>
                </a:lnTo>
                <a:lnTo>
                  <a:pt x="1652" y="300"/>
                </a:lnTo>
                <a:lnTo>
                  <a:pt x="1665" y="307"/>
                </a:lnTo>
                <a:lnTo>
                  <a:pt x="1678" y="238"/>
                </a:lnTo>
                <a:lnTo>
                  <a:pt x="1691" y="256"/>
                </a:lnTo>
                <a:lnTo>
                  <a:pt x="1704" y="318"/>
                </a:lnTo>
                <a:lnTo>
                  <a:pt x="1718" y="279"/>
                </a:lnTo>
                <a:lnTo>
                  <a:pt x="1731" y="230"/>
                </a:lnTo>
                <a:lnTo>
                  <a:pt x="1744" y="287"/>
                </a:lnTo>
                <a:lnTo>
                  <a:pt x="1757" y="315"/>
                </a:lnTo>
                <a:lnTo>
                  <a:pt x="1770" y="248"/>
                </a:lnTo>
                <a:lnTo>
                  <a:pt x="1783" y="244"/>
                </a:lnTo>
                <a:lnTo>
                  <a:pt x="1796" y="313"/>
                </a:lnTo>
                <a:lnTo>
                  <a:pt x="1809" y="293"/>
                </a:lnTo>
                <a:lnTo>
                  <a:pt x="1822" y="231"/>
                </a:lnTo>
                <a:lnTo>
                  <a:pt x="1836" y="273"/>
                </a:lnTo>
                <a:lnTo>
                  <a:pt x="1849" y="320"/>
                </a:lnTo>
                <a:lnTo>
                  <a:pt x="1862" y="261"/>
                </a:lnTo>
                <a:lnTo>
                  <a:pt x="1875" y="235"/>
                </a:lnTo>
                <a:lnTo>
                  <a:pt x="1888" y="303"/>
                </a:lnTo>
                <a:lnTo>
                  <a:pt x="1901" y="305"/>
                </a:lnTo>
                <a:lnTo>
                  <a:pt x="1914" y="236"/>
                </a:lnTo>
                <a:lnTo>
                  <a:pt x="1927" y="259"/>
                </a:lnTo>
                <a:lnTo>
                  <a:pt x="1940" y="319"/>
                </a:lnTo>
                <a:lnTo>
                  <a:pt x="1954" y="275"/>
                </a:lnTo>
                <a:lnTo>
                  <a:pt x="1967" y="1"/>
                </a:lnTo>
                <a:lnTo>
                  <a:pt x="1980" y="61"/>
                </a:lnTo>
                <a:lnTo>
                  <a:pt x="1993" y="84"/>
                </a:lnTo>
                <a:lnTo>
                  <a:pt x="2006" y="16"/>
                </a:lnTo>
                <a:lnTo>
                  <a:pt x="2019" y="17"/>
                </a:lnTo>
                <a:lnTo>
                  <a:pt x="2032" y="85"/>
                </a:lnTo>
                <a:lnTo>
                  <a:pt x="2045" y="59"/>
                </a:lnTo>
                <a:lnTo>
                  <a:pt x="2058" y="0"/>
                </a:lnTo>
                <a:lnTo>
                  <a:pt x="2072" y="47"/>
                </a:lnTo>
                <a:lnTo>
                  <a:pt x="2085" y="89"/>
                </a:lnTo>
                <a:lnTo>
                  <a:pt x="2098" y="28"/>
                </a:lnTo>
                <a:lnTo>
                  <a:pt x="2111" y="7"/>
                </a:lnTo>
                <a:lnTo>
                  <a:pt x="2124" y="76"/>
                </a:lnTo>
                <a:lnTo>
                  <a:pt x="2137" y="72"/>
                </a:lnTo>
                <a:lnTo>
                  <a:pt x="2150" y="5"/>
                </a:lnTo>
                <a:lnTo>
                  <a:pt x="2163" y="33"/>
                </a:lnTo>
                <a:lnTo>
                  <a:pt x="2176" y="90"/>
                </a:lnTo>
                <a:lnTo>
                  <a:pt x="2190" y="41"/>
                </a:lnTo>
                <a:lnTo>
                  <a:pt x="2203" y="2"/>
                </a:lnTo>
                <a:lnTo>
                  <a:pt x="2216" y="64"/>
                </a:lnTo>
                <a:lnTo>
                  <a:pt x="2229" y="82"/>
                </a:lnTo>
                <a:lnTo>
                  <a:pt x="2242" y="13"/>
                </a:lnTo>
                <a:lnTo>
                  <a:pt x="2255" y="20"/>
                </a:lnTo>
                <a:lnTo>
                  <a:pt x="2268" y="86"/>
                </a:lnTo>
                <a:lnTo>
                  <a:pt x="2281" y="55"/>
                </a:lnTo>
                <a:lnTo>
                  <a:pt x="2294" y="0"/>
                </a:lnTo>
                <a:lnTo>
                  <a:pt x="2308" y="51"/>
                </a:lnTo>
                <a:lnTo>
                  <a:pt x="2321" y="88"/>
                </a:lnTo>
                <a:lnTo>
                  <a:pt x="2334" y="24"/>
                </a:lnTo>
                <a:lnTo>
                  <a:pt x="2347" y="9"/>
                </a:lnTo>
                <a:lnTo>
                  <a:pt x="2360" y="309"/>
                </a:lnTo>
              </a:path>
            </a:pathLst>
          </a:custGeom>
          <a:noFill/>
          <a:ln w="26670" cap="rnd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讲授内容｜CAN_H"/>
          <p:cNvSpPr txBox="1"/>
          <p:nvPr/>
        </p:nvSpPr>
        <p:spPr>
          <a:xfrm>
            <a:off x="8211312" y="3200400"/>
            <a:ext cx="685800" cy="25603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CAN_H</a:t>
            </a:r>
            <a:endParaRPr sz="145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可编辑曲线"/>
          <p:cNvSpPr/>
          <p:nvPr/>
        </p:nvSpPr>
        <p:spPr>
          <a:xfrm>
            <a:off x="8842248" y="3927348"/>
            <a:ext cx="2157984" cy="292608"/>
          </a:xfrm>
          <a:custGeom>
            <a:avLst/>
            <a:gdLst/>
            <a:ahLst/>
            <a:cxnLst/>
            <a:rect l="l" t="t" r="r" b="b"/>
            <a:pathLst>
              <a:path w="2360" h="320">
                <a:moveTo>
                  <a:pt x="0" y="45"/>
                </a:moveTo>
                <a:lnTo>
                  <a:pt x="13" y="89"/>
                </a:lnTo>
                <a:lnTo>
                  <a:pt x="26" y="29"/>
                </a:lnTo>
                <a:lnTo>
                  <a:pt x="39" y="6"/>
                </a:lnTo>
                <a:lnTo>
                  <a:pt x="52" y="75"/>
                </a:lnTo>
                <a:lnTo>
                  <a:pt x="66" y="73"/>
                </a:lnTo>
                <a:lnTo>
                  <a:pt x="79" y="5"/>
                </a:lnTo>
                <a:lnTo>
                  <a:pt x="92" y="31"/>
                </a:lnTo>
                <a:lnTo>
                  <a:pt x="105" y="90"/>
                </a:lnTo>
                <a:lnTo>
                  <a:pt x="118" y="43"/>
                </a:lnTo>
                <a:lnTo>
                  <a:pt x="131" y="1"/>
                </a:lnTo>
                <a:lnTo>
                  <a:pt x="144" y="63"/>
                </a:lnTo>
                <a:lnTo>
                  <a:pt x="157" y="83"/>
                </a:lnTo>
                <a:lnTo>
                  <a:pt x="170" y="14"/>
                </a:lnTo>
                <a:lnTo>
                  <a:pt x="184" y="18"/>
                </a:lnTo>
                <a:lnTo>
                  <a:pt x="197" y="85"/>
                </a:lnTo>
                <a:lnTo>
                  <a:pt x="210" y="57"/>
                </a:lnTo>
                <a:lnTo>
                  <a:pt x="223" y="0"/>
                </a:lnTo>
                <a:lnTo>
                  <a:pt x="236" y="49"/>
                </a:lnTo>
                <a:lnTo>
                  <a:pt x="249" y="88"/>
                </a:lnTo>
                <a:lnTo>
                  <a:pt x="262" y="26"/>
                </a:lnTo>
                <a:lnTo>
                  <a:pt x="275" y="8"/>
                </a:lnTo>
                <a:lnTo>
                  <a:pt x="288" y="77"/>
                </a:lnTo>
                <a:lnTo>
                  <a:pt x="302" y="70"/>
                </a:lnTo>
                <a:lnTo>
                  <a:pt x="315" y="4"/>
                </a:lnTo>
                <a:lnTo>
                  <a:pt x="328" y="35"/>
                </a:lnTo>
                <a:lnTo>
                  <a:pt x="341" y="90"/>
                </a:lnTo>
                <a:lnTo>
                  <a:pt x="354" y="39"/>
                </a:lnTo>
                <a:lnTo>
                  <a:pt x="367" y="2"/>
                </a:lnTo>
                <a:lnTo>
                  <a:pt x="380" y="66"/>
                </a:lnTo>
                <a:lnTo>
                  <a:pt x="393" y="310"/>
                </a:lnTo>
                <a:lnTo>
                  <a:pt x="406" y="241"/>
                </a:lnTo>
                <a:lnTo>
                  <a:pt x="420" y="252"/>
                </a:lnTo>
                <a:lnTo>
                  <a:pt x="433" y="317"/>
                </a:lnTo>
                <a:lnTo>
                  <a:pt x="446" y="284"/>
                </a:lnTo>
                <a:lnTo>
                  <a:pt x="459" y="230"/>
                </a:lnTo>
                <a:lnTo>
                  <a:pt x="472" y="283"/>
                </a:lnTo>
                <a:lnTo>
                  <a:pt x="485" y="317"/>
                </a:lnTo>
                <a:lnTo>
                  <a:pt x="498" y="252"/>
                </a:lnTo>
                <a:lnTo>
                  <a:pt x="511" y="241"/>
                </a:lnTo>
                <a:lnTo>
                  <a:pt x="524" y="310"/>
                </a:lnTo>
                <a:lnTo>
                  <a:pt x="538" y="297"/>
                </a:lnTo>
                <a:lnTo>
                  <a:pt x="551" y="232"/>
                </a:lnTo>
                <a:lnTo>
                  <a:pt x="564" y="268"/>
                </a:lnTo>
                <a:lnTo>
                  <a:pt x="577" y="320"/>
                </a:lnTo>
                <a:lnTo>
                  <a:pt x="590" y="266"/>
                </a:lnTo>
                <a:lnTo>
                  <a:pt x="603" y="233"/>
                </a:lnTo>
                <a:lnTo>
                  <a:pt x="616" y="299"/>
                </a:lnTo>
                <a:lnTo>
                  <a:pt x="629" y="308"/>
                </a:lnTo>
                <a:lnTo>
                  <a:pt x="642" y="239"/>
                </a:lnTo>
                <a:lnTo>
                  <a:pt x="656" y="255"/>
                </a:lnTo>
                <a:lnTo>
                  <a:pt x="669" y="318"/>
                </a:lnTo>
                <a:lnTo>
                  <a:pt x="682" y="280"/>
                </a:lnTo>
                <a:lnTo>
                  <a:pt x="695" y="230"/>
                </a:lnTo>
                <a:lnTo>
                  <a:pt x="708" y="286"/>
                </a:lnTo>
                <a:lnTo>
                  <a:pt x="721" y="316"/>
                </a:lnTo>
                <a:lnTo>
                  <a:pt x="734" y="249"/>
                </a:lnTo>
                <a:lnTo>
                  <a:pt x="747" y="243"/>
                </a:lnTo>
                <a:lnTo>
                  <a:pt x="760" y="312"/>
                </a:lnTo>
                <a:lnTo>
                  <a:pt x="774" y="293"/>
                </a:lnTo>
                <a:lnTo>
                  <a:pt x="787" y="1"/>
                </a:lnTo>
                <a:lnTo>
                  <a:pt x="800" y="42"/>
                </a:lnTo>
                <a:lnTo>
                  <a:pt x="813" y="90"/>
                </a:lnTo>
                <a:lnTo>
                  <a:pt x="826" y="32"/>
                </a:lnTo>
                <a:lnTo>
                  <a:pt x="839" y="5"/>
                </a:lnTo>
                <a:lnTo>
                  <a:pt x="852" y="72"/>
                </a:lnTo>
                <a:lnTo>
                  <a:pt x="865" y="75"/>
                </a:lnTo>
                <a:lnTo>
                  <a:pt x="878" y="7"/>
                </a:lnTo>
                <a:lnTo>
                  <a:pt x="892" y="28"/>
                </a:lnTo>
                <a:lnTo>
                  <a:pt x="905" y="89"/>
                </a:lnTo>
                <a:lnTo>
                  <a:pt x="918" y="46"/>
                </a:lnTo>
                <a:lnTo>
                  <a:pt x="931" y="1"/>
                </a:lnTo>
                <a:lnTo>
                  <a:pt x="944" y="60"/>
                </a:lnTo>
                <a:lnTo>
                  <a:pt x="957" y="84"/>
                </a:lnTo>
                <a:lnTo>
                  <a:pt x="970" y="16"/>
                </a:lnTo>
                <a:lnTo>
                  <a:pt x="983" y="16"/>
                </a:lnTo>
                <a:lnTo>
                  <a:pt x="996" y="84"/>
                </a:lnTo>
                <a:lnTo>
                  <a:pt x="1010" y="60"/>
                </a:lnTo>
                <a:lnTo>
                  <a:pt x="1023" y="1"/>
                </a:lnTo>
                <a:lnTo>
                  <a:pt x="1036" y="46"/>
                </a:lnTo>
                <a:lnTo>
                  <a:pt x="1049" y="89"/>
                </a:lnTo>
                <a:lnTo>
                  <a:pt x="1062" y="28"/>
                </a:lnTo>
                <a:lnTo>
                  <a:pt x="1075" y="7"/>
                </a:lnTo>
                <a:lnTo>
                  <a:pt x="1088" y="75"/>
                </a:lnTo>
                <a:lnTo>
                  <a:pt x="1101" y="72"/>
                </a:lnTo>
                <a:lnTo>
                  <a:pt x="1114" y="5"/>
                </a:lnTo>
                <a:lnTo>
                  <a:pt x="1128" y="32"/>
                </a:lnTo>
                <a:lnTo>
                  <a:pt x="1141" y="90"/>
                </a:lnTo>
                <a:lnTo>
                  <a:pt x="1154" y="42"/>
                </a:lnTo>
                <a:lnTo>
                  <a:pt x="1167" y="1"/>
                </a:lnTo>
                <a:lnTo>
                  <a:pt x="1180" y="293"/>
                </a:lnTo>
                <a:lnTo>
                  <a:pt x="1193" y="312"/>
                </a:lnTo>
                <a:lnTo>
                  <a:pt x="1206" y="243"/>
                </a:lnTo>
                <a:lnTo>
                  <a:pt x="1219" y="249"/>
                </a:lnTo>
                <a:lnTo>
                  <a:pt x="1232" y="316"/>
                </a:lnTo>
                <a:lnTo>
                  <a:pt x="1246" y="286"/>
                </a:lnTo>
                <a:lnTo>
                  <a:pt x="1259" y="230"/>
                </a:lnTo>
                <a:lnTo>
                  <a:pt x="1272" y="280"/>
                </a:lnTo>
                <a:lnTo>
                  <a:pt x="1285" y="318"/>
                </a:lnTo>
                <a:lnTo>
                  <a:pt x="1298" y="255"/>
                </a:lnTo>
                <a:lnTo>
                  <a:pt x="1311" y="239"/>
                </a:lnTo>
                <a:lnTo>
                  <a:pt x="1324" y="308"/>
                </a:lnTo>
                <a:lnTo>
                  <a:pt x="1337" y="299"/>
                </a:lnTo>
                <a:lnTo>
                  <a:pt x="1350" y="233"/>
                </a:lnTo>
                <a:lnTo>
                  <a:pt x="1364" y="266"/>
                </a:lnTo>
                <a:lnTo>
                  <a:pt x="1377" y="320"/>
                </a:lnTo>
                <a:lnTo>
                  <a:pt x="1390" y="268"/>
                </a:lnTo>
                <a:lnTo>
                  <a:pt x="1403" y="232"/>
                </a:lnTo>
                <a:lnTo>
                  <a:pt x="1416" y="297"/>
                </a:lnTo>
                <a:lnTo>
                  <a:pt x="1429" y="310"/>
                </a:lnTo>
                <a:lnTo>
                  <a:pt x="1442" y="241"/>
                </a:lnTo>
                <a:lnTo>
                  <a:pt x="1455" y="252"/>
                </a:lnTo>
                <a:lnTo>
                  <a:pt x="1468" y="317"/>
                </a:lnTo>
                <a:lnTo>
                  <a:pt x="1482" y="283"/>
                </a:lnTo>
                <a:lnTo>
                  <a:pt x="1495" y="230"/>
                </a:lnTo>
                <a:lnTo>
                  <a:pt x="1508" y="283"/>
                </a:lnTo>
                <a:lnTo>
                  <a:pt x="1521" y="317"/>
                </a:lnTo>
                <a:lnTo>
                  <a:pt x="1534" y="252"/>
                </a:lnTo>
                <a:lnTo>
                  <a:pt x="1547" y="241"/>
                </a:lnTo>
                <a:lnTo>
                  <a:pt x="1560" y="310"/>
                </a:lnTo>
                <a:lnTo>
                  <a:pt x="1573" y="66"/>
                </a:lnTo>
                <a:lnTo>
                  <a:pt x="1586" y="2"/>
                </a:lnTo>
                <a:lnTo>
                  <a:pt x="1600" y="39"/>
                </a:lnTo>
                <a:lnTo>
                  <a:pt x="1613" y="90"/>
                </a:lnTo>
                <a:lnTo>
                  <a:pt x="1626" y="35"/>
                </a:lnTo>
                <a:lnTo>
                  <a:pt x="1639" y="4"/>
                </a:lnTo>
                <a:lnTo>
                  <a:pt x="1652" y="70"/>
                </a:lnTo>
                <a:lnTo>
                  <a:pt x="1665" y="77"/>
                </a:lnTo>
                <a:lnTo>
                  <a:pt x="1678" y="8"/>
                </a:lnTo>
                <a:lnTo>
                  <a:pt x="1691" y="26"/>
                </a:lnTo>
                <a:lnTo>
                  <a:pt x="1704" y="88"/>
                </a:lnTo>
                <a:lnTo>
                  <a:pt x="1718" y="49"/>
                </a:lnTo>
                <a:lnTo>
                  <a:pt x="1731" y="0"/>
                </a:lnTo>
                <a:lnTo>
                  <a:pt x="1744" y="57"/>
                </a:lnTo>
                <a:lnTo>
                  <a:pt x="1757" y="85"/>
                </a:lnTo>
                <a:lnTo>
                  <a:pt x="1770" y="18"/>
                </a:lnTo>
                <a:lnTo>
                  <a:pt x="1783" y="14"/>
                </a:lnTo>
                <a:lnTo>
                  <a:pt x="1796" y="83"/>
                </a:lnTo>
                <a:lnTo>
                  <a:pt x="1809" y="63"/>
                </a:lnTo>
                <a:lnTo>
                  <a:pt x="1822" y="1"/>
                </a:lnTo>
                <a:lnTo>
                  <a:pt x="1836" y="43"/>
                </a:lnTo>
                <a:lnTo>
                  <a:pt x="1849" y="90"/>
                </a:lnTo>
                <a:lnTo>
                  <a:pt x="1862" y="31"/>
                </a:lnTo>
                <a:lnTo>
                  <a:pt x="1875" y="5"/>
                </a:lnTo>
                <a:lnTo>
                  <a:pt x="1888" y="73"/>
                </a:lnTo>
                <a:lnTo>
                  <a:pt x="1901" y="75"/>
                </a:lnTo>
                <a:lnTo>
                  <a:pt x="1914" y="6"/>
                </a:lnTo>
                <a:lnTo>
                  <a:pt x="1927" y="29"/>
                </a:lnTo>
                <a:lnTo>
                  <a:pt x="1940" y="89"/>
                </a:lnTo>
                <a:lnTo>
                  <a:pt x="1954" y="45"/>
                </a:lnTo>
                <a:lnTo>
                  <a:pt x="1967" y="231"/>
                </a:lnTo>
                <a:lnTo>
                  <a:pt x="1980" y="291"/>
                </a:lnTo>
                <a:lnTo>
                  <a:pt x="1993" y="314"/>
                </a:lnTo>
                <a:lnTo>
                  <a:pt x="2006" y="246"/>
                </a:lnTo>
                <a:lnTo>
                  <a:pt x="2019" y="247"/>
                </a:lnTo>
                <a:lnTo>
                  <a:pt x="2032" y="315"/>
                </a:lnTo>
                <a:lnTo>
                  <a:pt x="2045" y="289"/>
                </a:lnTo>
                <a:lnTo>
                  <a:pt x="2058" y="230"/>
                </a:lnTo>
                <a:lnTo>
                  <a:pt x="2072" y="277"/>
                </a:lnTo>
                <a:lnTo>
                  <a:pt x="2085" y="319"/>
                </a:lnTo>
                <a:lnTo>
                  <a:pt x="2098" y="258"/>
                </a:lnTo>
                <a:lnTo>
                  <a:pt x="2111" y="237"/>
                </a:lnTo>
                <a:lnTo>
                  <a:pt x="2124" y="306"/>
                </a:lnTo>
                <a:lnTo>
                  <a:pt x="2137" y="302"/>
                </a:lnTo>
                <a:lnTo>
                  <a:pt x="2150" y="235"/>
                </a:lnTo>
                <a:lnTo>
                  <a:pt x="2163" y="263"/>
                </a:lnTo>
                <a:lnTo>
                  <a:pt x="2176" y="320"/>
                </a:lnTo>
                <a:lnTo>
                  <a:pt x="2190" y="271"/>
                </a:lnTo>
                <a:lnTo>
                  <a:pt x="2203" y="232"/>
                </a:lnTo>
                <a:lnTo>
                  <a:pt x="2216" y="294"/>
                </a:lnTo>
                <a:lnTo>
                  <a:pt x="2229" y="312"/>
                </a:lnTo>
                <a:lnTo>
                  <a:pt x="2242" y="243"/>
                </a:lnTo>
                <a:lnTo>
                  <a:pt x="2255" y="250"/>
                </a:lnTo>
                <a:lnTo>
                  <a:pt x="2268" y="316"/>
                </a:lnTo>
                <a:lnTo>
                  <a:pt x="2281" y="285"/>
                </a:lnTo>
                <a:lnTo>
                  <a:pt x="2294" y="230"/>
                </a:lnTo>
                <a:lnTo>
                  <a:pt x="2308" y="281"/>
                </a:lnTo>
                <a:lnTo>
                  <a:pt x="2321" y="318"/>
                </a:lnTo>
                <a:lnTo>
                  <a:pt x="2334" y="254"/>
                </a:lnTo>
                <a:lnTo>
                  <a:pt x="2347" y="239"/>
                </a:lnTo>
                <a:lnTo>
                  <a:pt x="2360" y="79"/>
                </a:lnTo>
              </a:path>
            </a:pathLst>
          </a:custGeom>
          <a:noFill/>
          <a:ln w="26670" cap="rnd">
            <a:solidFill>
              <a:srgbClr val="298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讲授内容｜CAN_L"/>
          <p:cNvSpPr txBox="1"/>
          <p:nvPr/>
        </p:nvSpPr>
        <p:spPr>
          <a:xfrm>
            <a:off x="8211312" y="3840480"/>
            <a:ext cx="685800" cy="25603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98E9D"/>
                </a:solidFill>
                <a:latin typeface="微软雅黑" panose="020B0503020204020204" charset="-122"/>
                <a:ea typeface="微软雅黑" panose="020B0503020204020204" charset="-122"/>
              </a:rPr>
              <a:t>CAN_L</a:t>
            </a:r>
            <a:endParaRPr sz="1450" b="1">
              <a:solidFill>
                <a:srgbClr val="298E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可编辑曲线"/>
          <p:cNvSpPr/>
          <p:nvPr/>
        </p:nvSpPr>
        <p:spPr>
          <a:xfrm>
            <a:off x="8842248" y="4489704"/>
            <a:ext cx="2157984" cy="411480"/>
          </a:xfrm>
          <a:custGeom>
            <a:avLst/>
            <a:gdLst/>
            <a:ahLst/>
            <a:cxnLst/>
            <a:rect l="l" t="t" r="r" b="b"/>
            <a:pathLst>
              <a:path w="2360" h="450">
                <a:moveTo>
                  <a:pt x="0" y="450"/>
                </a:moveTo>
                <a:lnTo>
                  <a:pt x="13" y="450"/>
                </a:lnTo>
                <a:lnTo>
                  <a:pt x="26" y="450"/>
                </a:lnTo>
                <a:lnTo>
                  <a:pt x="39" y="450"/>
                </a:lnTo>
                <a:lnTo>
                  <a:pt x="52" y="450"/>
                </a:lnTo>
                <a:lnTo>
                  <a:pt x="66" y="450"/>
                </a:lnTo>
                <a:lnTo>
                  <a:pt x="79" y="450"/>
                </a:lnTo>
                <a:lnTo>
                  <a:pt x="92" y="450"/>
                </a:lnTo>
                <a:lnTo>
                  <a:pt x="105" y="450"/>
                </a:lnTo>
                <a:lnTo>
                  <a:pt x="118" y="450"/>
                </a:lnTo>
                <a:lnTo>
                  <a:pt x="131" y="450"/>
                </a:lnTo>
                <a:lnTo>
                  <a:pt x="144" y="450"/>
                </a:lnTo>
                <a:lnTo>
                  <a:pt x="157" y="450"/>
                </a:lnTo>
                <a:lnTo>
                  <a:pt x="170" y="450"/>
                </a:lnTo>
                <a:lnTo>
                  <a:pt x="184" y="450"/>
                </a:lnTo>
                <a:lnTo>
                  <a:pt x="197" y="450"/>
                </a:lnTo>
                <a:lnTo>
                  <a:pt x="210" y="450"/>
                </a:lnTo>
                <a:lnTo>
                  <a:pt x="223" y="450"/>
                </a:lnTo>
                <a:lnTo>
                  <a:pt x="236" y="450"/>
                </a:lnTo>
                <a:lnTo>
                  <a:pt x="249" y="450"/>
                </a:lnTo>
                <a:lnTo>
                  <a:pt x="262" y="450"/>
                </a:lnTo>
                <a:lnTo>
                  <a:pt x="275" y="450"/>
                </a:lnTo>
                <a:lnTo>
                  <a:pt x="288" y="450"/>
                </a:lnTo>
                <a:lnTo>
                  <a:pt x="302" y="450"/>
                </a:lnTo>
                <a:lnTo>
                  <a:pt x="315" y="450"/>
                </a:lnTo>
                <a:lnTo>
                  <a:pt x="328" y="450"/>
                </a:lnTo>
                <a:lnTo>
                  <a:pt x="341" y="450"/>
                </a:lnTo>
                <a:lnTo>
                  <a:pt x="354" y="450"/>
                </a:lnTo>
                <a:lnTo>
                  <a:pt x="367" y="450"/>
                </a:lnTo>
                <a:lnTo>
                  <a:pt x="380" y="450"/>
                </a:lnTo>
                <a:lnTo>
                  <a:pt x="393" y="0"/>
                </a:lnTo>
                <a:lnTo>
                  <a:pt x="406" y="0"/>
                </a:lnTo>
                <a:lnTo>
                  <a:pt x="420" y="0"/>
                </a:lnTo>
                <a:lnTo>
                  <a:pt x="433" y="0"/>
                </a:lnTo>
                <a:lnTo>
                  <a:pt x="446" y="0"/>
                </a:lnTo>
                <a:lnTo>
                  <a:pt x="459" y="0"/>
                </a:lnTo>
                <a:lnTo>
                  <a:pt x="472" y="0"/>
                </a:lnTo>
                <a:lnTo>
                  <a:pt x="485" y="0"/>
                </a:lnTo>
                <a:lnTo>
                  <a:pt x="498" y="0"/>
                </a:lnTo>
                <a:lnTo>
                  <a:pt x="511" y="0"/>
                </a:lnTo>
                <a:lnTo>
                  <a:pt x="524" y="0"/>
                </a:lnTo>
                <a:lnTo>
                  <a:pt x="538" y="0"/>
                </a:lnTo>
                <a:lnTo>
                  <a:pt x="551" y="0"/>
                </a:lnTo>
                <a:lnTo>
                  <a:pt x="564" y="0"/>
                </a:lnTo>
                <a:lnTo>
                  <a:pt x="577" y="0"/>
                </a:lnTo>
                <a:lnTo>
                  <a:pt x="590" y="0"/>
                </a:lnTo>
                <a:lnTo>
                  <a:pt x="603" y="0"/>
                </a:lnTo>
                <a:lnTo>
                  <a:pt x="616" y="0"/>
                </a:lnTo>
                <a:lnTo>
                  <a:pt x="629" y="0"/>
                </a:lnTo>
                <a:lnTo>
                  <a:pt x="642" y="0"/>
                </a:lnTo>
                <a:lnTo>
                  <a:pt x="656" y="0"/>
                </a:lnTo>
                <a:lnTo>
                  <a:pt x="669" y="0"/>
                </a:lnTo>
                <a:lnTo>
                  <a:pt x="682" y="0"/>
                </a:lnTo>
                <a:lnTo>
                  <a:pt x="695" y="0"/>
                </a:lnTo>
                <a:lnTo>
                  <a:pt x="708" y="0"/>
                </a:lnTo>
                <a:lnTo>
                  <a:pt x="721" y="0"/>
                </a:lnTo>
                <a:lnTo>
                  <a:pt x="734" y="0"/>
                </a:lnTo>
                <a:lnTo>
                  <a:pt x="747" y="0"/>
                </a:lnTo>
                <a:lnTo>
                  <a:pt x="760" y="0"/>
                </a:lnTo>
                <a:lnTo>
                  <a:pt x="774" y="0"/>
                </a:lnTo>
                <a:lnTo>
                  <a:pt x="787" y="450"/>
                </a:lnTo>
                <a:lnTo>
                  <a:pt x="800" y="450"/>
                </a:lnTo>
                <a:lnTo>
                  <a:pt x="813" y="450"/>
                </a:lnTo>
                <a:lnTo>
                  <a:pt x="826" y="450"/>
                </a:lnTo>
                <a:lnTo>
                  <a:pt x="839" y="450"/>
                </a:lnTo>
                <a:lnTo>
                  <a:pt x="852" y="450"/>
                </a:lnTo>
                <a:lnTo>
                  <a:pt x="865" y="450"/>
                </a:lnTo>
                <a:lnTo>
                  <a:pt x="878" y="450"/>
                </a:lnTo>
                <a:lnTo>
                  <a:pt x="892" y="450"/>
                </a:lnTo>
                <a:lnTo>
                  <a:pt x="905" y="450"/>
                </a:lnTo>
                <a:lnTo>
                  <a:pt x="918" y="450"/>
                </a:lnTo>
                <a:lnTo>
                  <a:pt x="931" y="450"/>
                </a:lnTo>
                <a:lnTo>
                  <a:pt x="944" y="450"/>
                </a:lnTo>
                <a:lnTo>
                  <a:pt x="957" y="450"/>
                </a:lnTo>
                <a:lnTo>
                  <a:pt x="970" y="450"/>
                </a:lnTo>
                <a:lnTo>
                  <a:pt x="983" y="450"/>
                </a:lnTo>
                <a:lnTo>
                  <a:pt x="996" y="450"/>
                </a:lnTo>
                <a:lnTo>
                  <a:pt x="1010" y="450"/>
                </a:lnTo>
                <a:lnTo>
                  <a:pt x="1023" y="450"/>
                </a:lnTo>
                <a:lnTo>
                  <a:pt x="1036" y="450"/>
                </a:lnTo>
                <a:lnTo>
                  <a:pt x="1049" y="450"/>
                </a:lnTo>
                <a:lnTo>
                  <a:pt x="1062" y="450"/>
                </a:lnTo>
                <a:lnTo>
                  <a:pt x="1075" y="450"/>
                </a:lnTo>
                <a:lnTo>
                  <a:pt x="1088" y="450"/>
                </a:lnTo>
                <a:lnTo>
                  <a:pt x="1101" y="450"/>
                </a:lnTo>
                <a:lnTo>
                  <a:pt x="1114" y="450"/>
                </a:lnTo>
                <a:lnTo>
                  <a:pt x="1128" y="450"/>
                </a:lnTo>
                <a:lnTo>
                  <a:pt x="1141" y="450"/>
                </a:lnTo>
                <a:lnTo>
                  <a:pt x="1154" y="450"/>
                </a:lnTo>
                <a:lnTo>
                  <a:pt x="1167" y="450"/>
                </a:lnTo>
                <a:lnTo>
                  <a:pt x="1180" y="0"/>
                </a:lnTo>
                <a:lnTo>
                  <a:pt x="1193" y="0"/>
                </a:lnTo>
                <a:lnTo>
                  <a:pt x="1206" y="0"/>
                </a:lnTo>
                <a:lnTo>
                  <a:pt x="1219" y="0"/>
                </a:lnTo>
                <a:lnTo>
                  <a:pt x="1232" y="0"/>
                </a:lnTo>
                <a:lnTo>
                  <a:pt x="1246" y="0"/>
                </a:lnTo>
                <a:lnTo>
                  <a:pt x="1259" y="0"/>
                </a:lnTo>
                <a:lnTo>
                  <a:pt x="1272" y="0"/>
                </a:lnTo>
                <a:lnTo>
                  <a:pt x="1285" y="0"/>
                </a:lnTo>
                <a:lnTo>
                  <a:pt x="1298" y="0"/>
                </a:lnTo>
                <a:lnTo>
                  <a:pt x="1311" y="0"/>
                </a:lnTo>
                <a:lnTo>
                  <a:pt x="1324" y="0"/>
                </a:lnTo>
                <a:lnTo>
                  <a:pt x="1337" y="0"/>
                </a:lnTo>
                <a:lnTo>
                  <a:pt x="1350" y="0"/>
                </a:lnTo>
                <a:lnTo>
                  <a:pt x="1364" y="0"/>
                </a:lnTo>
                <a:lnTo>
                  <a:pt x="1377" y="0"/>
                </a:lnTo>
                <a:lnTo>
                  <a:pt x="1390" y="0"/>
                </a:lnTo>
                <a:lnTo>
                  <a:pt x="1403" y="0"/>
                </a:lnTo>
                <a:lnTo>
                  <a:pt x="1416" y="0"/>
                </a:lnTo>
                <a:lnTo>
                  <a:pt x="1429" y="0"/>
                </a:lnTo>
                <a:lnTo>
                  <a:pt x="1442" y="0"/>
                </a:lnTo>
                <a:lnTo>
                  <a:pt x="1455" y="0"/>
                </a:lnTo>
                <a:lnTo>
                  <a:pt x="1468" y="0"/>
                </a:lnTo>
                <a:lnTo>
                  <a:pt x="1482" y="0"/>
                </a:lnTo>
                <a:lnTo>
                  <a:pt x="1495" y="0"/>
                </a:lnTo>
                <a:lnTo>
                  <a:pt x="1508" y="0"/>
                </a:lnTo>
                <a:lnTo>
                  <a:pt x="1521" y="0"/>
                </a:lnTo>
                <a:lnTo>
                  <a:pt x="1534" y="0"/>
                </a:lnTo>
                <a:lnTo>
                  <a:pt x="1547" y="0"/>
                </a:lnTo>
                <a:lnTo>
                  <a:pt x="1560" y="0"/>
                </a:lnTo>
                <a:lnTo>
                  <a:pt x="1573" y="450"/>
                </a:lnTo>
                <a:lnTo>
                  <a:pt x="1586" y="450"/>
                </a:lnTo>
                <a:lnTo>
                  <a:pt x="1600" y="450"/>
                </a:lnTo>
                <a:lnTo>
                  <a:pt x="1613" y="450"/>
                </a:lnTo>
                <a:lnTo>
                  <a:pt x="1626" y="450"/>
                </a:lnTo>
                <a:lnTo>
                  <a:pt x="1639" y="450"/>
                </a:lnTo>
                <a:lnTo>
                  <a:pt x="1652" y="450"/>
                </a:lnTo>
                <a:lnTo>
                  <a:pt x="1665" y="450"/>
                </a:lnTo>
                <a:lnTo>
                  <a:pt x="1678" y="450"/>
                </a:lnTo>
                <a:lnTo>
                  <a:pt x="1691" y="450"/>
                </a:lnTo>
                <a:lnTo>
                  <a:pt x="1704" y="450"/>
                </a:lnTo>
                <a:lnTo>
                  <a:pt x="1718" y="450"/>
                </a:lnTo>
                <a:lnTo>
                  <a:pt x="1731" y="450"/>
                </a:lnTo>
                <a:lnTo>
                  <a:pt x="1744" y="450"/>
                </a:lnTo>
                <a:lnTo>
                  <a:pt x="1757" y="450"/>
                </a:lnTo>
                <a:lnTo>
                  <a:pt x="1770" y="450"/>
                </a:lnTo>
                <a:lnTo>
                  <a:pt x="1783" y="450"/>
                </a:lnTo>
                <a:lnTo>
                  <a:pt x="1796" y="450"/>
                </a:lnTo>
                <a:lnTo>
                  <a:pt x="1809" y="450"/>
                </a:lnTo>
                <a:lnTo>
                  <a:pt x="1822" y="450"/>
                </a:lnTo>
                <a:lnTo>
                  <a:pt x="1836" y="450"/>
                </a:lnTo>
                <a:lnTo>
                  <a:pt x="1849" y="450"/>
                </a:lnTo>
                <a:lnTo>
                  <a:pt x="1862" y="450"/>
                </a:lnTo>
                <a:lnTo>
                  <a:pt x="1875" y="450"/>
                </a:lnTo>
                <a:lnTo>
                  <a:pt x="1888" y="450"/>
                </a:lnTo>
                <a:lnTo>
                  <a:pt x="1901" y="450"/>
                </a:lnTo>
                <a:lnTo>
                  <a:pt x="1914" y="450"/>
                </a:lnTo>
                <a:lnTo>
                  <a:pt x="1927" y="450"/>
                </a:lnTo>
                <a:lnTo>
                  <a:pt x="1940" y="450"/>
                </a:lnTo>
                <a:lnTo>
                  <a:pt x="1954" y="450"/>
                </a:lnTo>
                <a:lnTo>
                  <a:pt x="1967" y="0"/>
                </a:lnTo>
                <a:lnTo>
                  <a:pt x="1980" y="0"/>
                </a:lnTo>
                <a:lnTo>
                  <a:pt x="1993" y="0"/>
                </a:lnTo>
                <a:lnTo>
                  <a:pt x="2006" y="0"/>
                </a:lnTo>
                <a:lnTo>
                  <a:pt x="2019" y="0"/>
                </a:lnTo>
                <a:lnTo>
                  <a:pt x="2032" y="0"/>
                </a:lnTo>
                <a:lnTo>
                  <a:pt x="2045" y="0"/>
                </a:lnTo>
                <a:lnTo>
                  <a:pt x="2058" y="0"/>
                </a:lnTo>
                <a:lnTo>
                  <a:pt x="2072" y="0"/>
                </a:lnTo>
                <a:lnTo>
                  <a:pt x="2085" y="0"/>
                </a:lnTo>
                <a:lnTo>
                  <a:pt x="2098" y="0"/>
                </a:lnTo>
                <a:lnTo>
                  <a:pt x="2111" y="0"/>
                </a:lnTo>
                <a:lnTo>
                  <a:pt x="2124" y="0"/>
                </a:lnTo>
                <a:lnTo>
                  <a:pt x="2137" y="0"/>
                </a:lnTo>
                <a:lnTo>
                  <a:pt x="2150" y="0"/>
                </a:lnTo>
                <a:lnTo>
                  <a:pt x="2163" y="0"/>
                </a:lnTo>
                <a:lnTo>
                  <a:pt x="2176" y="0"/>
                </a:lnTo>
                <a:lnTo>
                  <a:pt x="2190" y="0"/>
                </a:lnTo>
                <a:lnTo>
                  <a:pt x="2203" y="0"/>
                </a:lnTo>
                <a:lnTo>
                  <a:pt x="2216" y="0"/>
                </a:lnTo>
                <a:lnTo>
                  <a:pt x="2229" y="0"/>
                </a:lnTo>
                <a:lnTo>
                  <a:pt x="2242" y="0"/>
                </a:lnTo>
                <a:lnTo>
                  <a:pt x="2255" y="0"/>
                </a:lnTo>
                <a:lnTo>
                  <a:pt x="2268" y="0"/>
                </a:lnTo>
                <a:lnTo>
                  <a:pt x="2281" y="0"/>
                </a:lnTo>
                <a:lnTo>
                  <a:pt x="2294" y="0"/>
                </a:lnTo>
                <a:lnTo>
                  <a:pt x="2308" y="0"/>
                </a:lnTo>
                <a:lnTo>
                  <a:pt x="2321" y="0"/>
                </a:lnTo>
                <a:lnTo>
                  <a:pt x="2334" y="0"/>
                </a:lnTo>
                <a:lnTo>
                  <a:pt x="2347" y="0"/>
                </a:lnTo>
                <a:lnTo>
                  <a:pt x="2360" y="450"/>
                </a:lnTo>
              </a:path>
            </a:pathLst>
          </a:custGeom>
          <a:noFill/>
          <a:ln w="26670" cap="rnd">
            <a:solidFill>
              <a:srgbClr val="103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讲授内容｜电压差"/>
          <p:cNvSpPr txBox="1"/>
          <p:nvPr/>
        </p:nvSpPr>
        <p:spPr>
          <a:xfrm>
            <a:off x="8211312" y="4773168"/>
            <a:ext cx="685800" cy="25603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电压差</a:t>
            </a:r>
            <a:endParaRPr sz="145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讲授内容｜相似干扰同时叠加"/>
          <p:cNvSpPr txBox="1"/>
          <p:nvPr/>
        </p:nvSpPr>
        <p:spPr>
          <a:xfrm>
            <a:off x="8513064" y="2688336"/>
            <a:ext cx="2478024" cy="29260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相似干扰同时叠加</a:t>
            </a:r>
            <a:endParaRPr sz="17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讲授内容｜CAN_H − CAN_L"/>
          <p:cNvSpPr txBox="1"/>
          <p:nvPr/>
        </p:nvSpPr>
        <p:spPr>
          <a:xfrm>
            <a:off x="8897112" y="5038344"/>
            <a:ext cx="2039112" cy="25603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CAN_H − CAN_L</a:t>
            </a:r>
            <a:endParaRPr sz="15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容器"/>
          <p:cNvSpPr/>
          <p:nvPr/>
        </p:nvSpPr>
        <p:spPr>
          <a:xfrm>
            <a:off x="594360" y="5678424"/>
            <a:ext cx="11018520" cy="576072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可编辑曲线"/>
          <p:cNvSpPr/>
          <p:nvPr/>
        </p:nvSpPr>
        <p:spPr>
          <a:xfrm>
            <a:off x="877824" y="5788152"/>
            <a:ext cx="320040" cy="146304"/>
          </a:xfrm>
          <a:custGeom>
            <a:avLst/>
            <a:gdLst/>
            <a:ahLst/>
            <a:cxnLst/>
            <a:rect l="l" t="t" r="r" b="b"/>
            <a:pathLst>
              <a:path w="350" h="160">
                <a:moveTo>
                  <a:pt x="0" y="160"/>
                </a:moveTo>
                <a:lnTo>
                  <a:pt x="50" y="0"/>
                </a:lnTo>
                <a:lnTo>
                  <a:pt x="290" y="0"/>
                </a:lnTo>
                <a:lnTo>
                  <a:pt x="350" y="160"/>
                </a:lnTo>
              </a:path>
            </a:pathLst>
          </a:custGeom>
          <a:noFill/>
          <a:ln w="22860" cap="rnd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容器"/>
          <p:cNvSpPr/>
          <p:nvPr/>
        </p:nvSpPr>
        <p:spPr>
          <a:xfrm>
            <a:off x="859536" y="5925312"/>
            <a:ext cx="356616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连接点"/>
          <p:cNvSpPr/>
          <p:nvPr/>
        </p:nvSpPr>
        <p:spPr>
          <a:xfrm>
            <a:off x="888796" y="6064300"/>
            <a:ext cx="69494" cy="6949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连接点"/>
          <p:cNvSpPr/>
          <p:nvPr/>
        </p:nvSpPr>
        <p:spPr>
          <a:xfrm>
            <a:off x="1117396" y="6064300"/>
            <a:ext cx="69494" cy="6949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连线"/>
          <p:cNvCxnSpPr/>
          <p:nvPr/>
        </p:nvCxnSpPr>
        <p:spPr>
          <a:xfrm>
            <a:off x="1444752" y="5797296"/>
            <a:ext cx="0" cy="347472"/>
          </a:xfrm>
          <a:prstGeom prst="line">
            <a:avLst/>
          </a:prstGeom>
          <a:ln w="12700" cap="rnd">
            <a:solidFill>
              <a:srgbClr val="CADD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讲授内容｜关注两线电压差：相似干扰同时叠加时，接收端更不容易误判。"/>
          <p:cNvSpPr txBox="1"/>
          <p:nvPr/>
        </p:nvSpPr>
        <p:spPr>
          <a:xfrm>
            <a:off x="1636776" y="5742432"/>
            <a:ext cx="9646920" cy="45720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关注两线电压差：相似干扰同时叠加时，接收端更不容易误判。</a:t>
            </a:r>
            <a:endParaRPr sz="20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白色背景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右下角淡蓝装饰"/>
          <p:cNvSpPr/>
          <p:nvPr/>
        </p:nvSpPr>
        <p:spPr>
          <a:xfrm>
            <a:off x="10774679" y="5440680"/>
            <a:ext cx="1417320" cy="1417320"/>
          </a:xfrm>
          <a:custGeom>
            <a:avLst/>
            <a:gdLst/>
            <a:ahLst/>
            <a:cxnLst/>
            <a:rect l="l" t="t" r="r" b="b"/>
            <a:pathLst>
              <a:path w="1417320" h="1417320">
                <a:moveTo>
                  <a:pt x="1417320" y="1417320"/>
                </a:moveTo>
                <a:lnTo>
                  <a:pt x="0" y="1417320"/>
                </a:lnTo>
                <a:lnTo>
                  <a:pt x="700" y="1372800"/>
                </a:lnTo>
                <a:lnTo>
                  <a:pt x="2797" y="1328325"/>
                </a:lnTo>
                <a:lnTo>
                  <a:pt x="6290" y="1283938"/>
                </a:lnTo>
                <a:lnTo>
                  <a:pt x="11176" y="1239682"/>
                </a:lnTo>
                <a:lnTo>
                  <a:pt x="17450" y="1195602"/>
                </a:lnTo>
                <a:lnTo>
                  <a:pt x="25105" y="1151740"/>
                </a:lnTo>
                <a:lnTo>
                  <a:pt x="34134" y="1108141"/>
                </a:lnTo>
                <a:lnTo>
                  <a:pt x="44528" y="1064846"/>
                </a:lnTo>
                <a:lnTo>
                  <a:pt x="56277" y="1021900"/>
                </a:lnTo>
                <a:lnTo>
                  <a:pt x="69369" y="979344"/>
                </a:lnTo>
                <a:lnTo>
                  <a:pt x="83791" y="937219"/>
                </a:lnTo>
                <a:lnTo>
                  <a:pt x="99529" y="895569"/>
                </a:lnTo>
                <a:lnTo>
                  <a:pt x="116568" y="854434"/>
                </a:lnTo>
                <a:lnTo>
                  <a:pt x="134891" y="813854"/>
                </a:lnTo>
                <a:lnTo>
                  <a:pt x="154479" y="773870"/>
                </a:lnTo>
                <a:lnTo>
                  <a:pt x="175313" y="734520"/>
                </a:lnTo>
                <a:lnTo>
                  <a:pt x="197373" y="695845"/>
                </a:lnTo>
                <a:lnTo>
                  <a:pt x="220637" y="657881"/>
                </a:lnTo>
                <a:lnTo>
                  <a:pt x="245082" y="620667"/>
                </a:lnTo>
                <a:lnTo>
                  <a:pt x="270684" y="584240"/>
                </a:lnTo>
                <a:lnTo>
                  <a:pt x="297418" y="548634"/>
                </a:lnTo>
                <a:lnTo>
                  <a:pt x="325256" y="513886"/>
                </a:lnTo>
                <a:lnTo>
                  <a:pt x="354173" y="480029"/>
                </a:lnTo>
                <a:lnTo>
                  <a:pt x="384138" y="447097"/>
                </a:lnTo>
                <a:lnTo>
                  <a:pt x="415124" y="415123"/>
                </a:lnTo>
                <a:lnTo>
                  <a:pt x="447098" y="384138"/>
                </a:lnTo>
                <a:lnTo>
                  <a:pt x="480030" y="354172"/>
                </a:lnTo>
                <a:lnTo>
                  <a:pt x="513886" y="325256"/>
                </a:lnTo>
                <a:lnTo>
                  <a:pt x="548635" y="297417"/>
                </a:lnTo>
                <a:lnTo>
                  <a:pt x="584240" y="270684"/>
                </a:lnTo>
                <a:lnTo>
                  <a:pt x="620668" y="245082"/>
                </a:lnTo>
                <a:lnTo>
                  <a:pt x="657882" y="220637"/>
                </a:lnTo>
                <a:lnTo>
                  <a:pt x="695846" y="197373"/>
                </a:lnTo>
                <a:lnTo>
                  <a:pt x="734521" y="175313"/>
                </a:lnTo>
                <a:lnTo>
                  <a:pt x="773870" y="154478"/>
                </a:lnTo>
                <a:lnTo>
                  <a:pt x="813855" y="134890"/>
                </a:lnTo>
                <a:lnTo>
                  <a:pt x="854435" y="116568"/>
                </a:lnTo>
                <a:lnTo>
                  <a:pt x="895570" y="99529"/>
                </a:lnTo>
                <a:lnTo>
                  <a:pt x="937220" y="83790"/>
                </a:lnTo>
                <a:lnTo>
                  <a:pt x="979344" y="69368"/>
                </a:lnTo>
                <a:lnTo>
                  <a:pt x="1021901" y="56276"/>
                </a:lnTo>
                <a:lnTo>
                  <a:pt x="1064847" y="44527"/>
                </a:lnTo>
                <a:lnTo>
                  <a:pt x="1108141" y="34133"/>
                </a:lnTo>
                <a:lnTo>
                  <a:pt x="1151741" y="25104"/>
                </a:lnTo>
                <a:lnTo>
                  <a:pt x="1195602" y="17449"/>
                </a:lnTo>
                <a:lnTo>
                  <a:pt x="1239683" y="11175"/>
                </a:lnTo>
                <a:lnTo>
                  <a:pt x="1283939" y="6290"/>
                </a:lnTo>
                <a:lnTo>
                  <a:pt x="1328326" y="2796"/>
                </a:lnTo>
                <a:lnTo>
                  <a:pt x="1372801" y="699"/>
                </a:lnTo>
                <a:lnTo>
                  <a:pt x="1417320" y="0"/>
                </a:lnTo>
                <a:lnTo>
                  <a:pt x="1417320" y="1417320"/>
                </a:lnTo>
                <a:close/>
              </a:path>
            </a:pathLst>
          </a:custGeom>
          <a:solidFill>
            <a:srgbClr val="F4F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右下角淡蓝装饰"/>
          <p:cNvSpPr/>
          <p:nvPr/>
        </p:nvSpPr>
        <p:spPr>
          <a:xfrm>
            <a:off x="11076431" y="5742432"/>
            <a:ext cx="1115568" cy="1115568"/>
          </a:xfrm>
          <a:custGeom>
            <a:avLst/>
            <a:gdLst/>
            <a:ahLst/>
            <a:cxnLst/>
            <a:rect l="l" t="t" r="r" b="b"/>
            <a:pathLst>
              <a:path w="1115568" h="1115568">
                <a:moveTo>
                  <a:pt x="1115568" y="1115568"/>
                </a:moveTo>
                <a:lnTo>
                  <a:pt x="0" y="1115568"/>
                </a:lnTo>
                <a:lnTo>
                  <a:pt x="551" y="1080527"/>
                </a:lnTo>
                <a:lnTo>
                  <a:pt x="2202" y="1045520"/>
                </a:lnTo>
                <a:lnTo>
                  <a:pt x="4951" y="1010583"/>
                </a:lnTo>
                <a:lnTo>
                  <a:pt x="8797" y="975750"/>
                </a:lnTo>
                <a:lnTo>
                  <a:pt x="13735" y="941054"/>
                </a:lnTo>
                <a:lnTo>
                  <a:pt x="19760" y="906531"/>
                </a:lnTo>
                <a:lnTo>
                  <a:pt x="26867" y="872214"/>
                </a:lnTo>
                <a:lnTo>
                  <a:pt x="35048" y="838137"/>
                </a:lnTo>
                <a:lnTo>
                  <a:pt x="44295" y="804334"/>
                </a:lnTo>
                <a:lnTo>
                  <a:pt x="54600" y="770838"/>
                </a:lnTo>
                <a:lnTo>
                  <a:pt x="65952" y="737682"/>
                </a:lnTo>
                <a:lnTo>
                  <a:pt x="78339" y="704900"/>
                </a:lnTo>
                <a:lnTo>
                  <a:pt x="91751" y="672522"/>
                </a:lnTo>
                <a:lnTo>
                  <a:pt x="106172" y="640582"/>
                </a:lnTo>
                <a:lnTo>
                  <a:pt x="121590" y="609110"/>
                </a:lnTo>
                <a:lnTo>
                  <a:pt x="137989" y="578139"/>
                </a:lnTo>
                <a:lnTo>
                  <a:pt x="155352" y="547697"/>
                </a:lnTo>
                <a:lnTo>
                  <a:pt x="173663" y="517816"/>
                </a:lnTo>
                <a:lnTo>
                  <a:pt x="192904" y="488525"/>
                </a:lnTo>
                <a:lnTo>
                  <a:pt x="213055" y="459853"/>
                </a:lnTo>
                <a:lnTo>
                  <a:pt x="234097" y="431828"/>
                </a:lnTo>
                <a:lnTo>
                  <a:pt x="256008" y="404478"/>
                </a:lnTo>
                <a:lnTo>
                  <a:pt x="278768" y="377829"/>
                </a:lnTo>
                <a:lnTo>
                  <a:pt x="302354" y="351909"/>
                </a:lnTo>
                <a:lnTo>
                  <a:pt x="326742" y="326742"/>
                </a:lnTo>
                <a:lnTo>
                  <a:pt x="351909" y="302353"/>
                </a:lnTo>
                <a:lnTo>
                  <a:pt x="377830" y="278768"/>
                </a:lnTo>
                <a:lnTo>
                  <a:pt x="404478" y="256008"/>
                </a:lnTo>
                <a:lnTo>
                  <a:pt x="431829" y="234096"/>
                </a:lnTo>
                <a:lnTo>
                  <a:pt x="459854" y="213054"/>
                </a:lnTo>
                <a:lnTo>
                  <a:pt x="488526" y="192903"/>
                </a:lnTo>
                <a:lnTo>
                  <a:pt x="517817" y="173662"/>
                </a:lnTo>
                <a:lnTo>
                  <a:pt x="547698" y="155351"/>
                </a:lnTo>
                <a:lnTo>
                  <a:pt x="578139" y="137988"/>
                </a:lnTo>
                <a:lnTo>
                  <a:pt x="609111" y="121589"/>
                </a:lnTo>
                <a:lnTo>
                  <a:pt x="640582" y="106171"/>
                </a:lnTo>
                <a:lnTo>
                  <a:pt x="672523" y="91750"/>
                </a:lnTo>
                <a:lnTo>
                  <a:pt x="704900" y="78339"/>
                </a:lnTo>
                <a:lnTo>
                  <a:pt x="737683" y="65951"/>
                </a:lnTo>
                <a:lnTo>
                  <a:pt x="770839" y="54599"/>
                </a:lnTo>
                <a:lnTo>
                  <a:pt x="804335" y="44295"/>
                </a:lnTo>
                <a:lnTo>
                  <a:pt x="838138" y="35047"/>
                </a:lnTo>
                <a:lnTo>
                  <a:pt x="872215" y="26866"/>
                </a:lnTo>
                <a:lnTo>
                  <a:pt x="906532" y="19759"/>
                </a:lnTo>
                <a:lnTo>
                  <a:pt x="941055" y="13734"/>
                </a:lnTo>
                <a:lnTo>
                  <a:pt x="975750" y="8796"/>
                </a:lnTo>
                <a:lnTo>
                  <a:pt x="1010584" y="4950"/>
                </a:lnTo>
                <a:lnTo>
                  <a:pt x="1045521" y="2201"/>
                </a:lnTo>
                <a:lnTo>
                  <a:pt x="1080527" y="550"/>
                </a:lnTo>
                <a:lnTo>
                  <a:pt x="1115568" y="0"/>
                </a:lnTo>
                <a:lnTo>
                  <a:pt x="1115568" y="1115568"/>
                </a:lnTo>
                <a:close/>
              </a:path>
            </a:pathLst>
          </a:custGeom>
          <a:solidFill>
            <a:srgbClr val="F8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圆形"/>
          <p:cNvSpPr/>
          <p:nvPr/>
        </p:nvSpPr>
        <p:spPr>
          <a:xfrm>
            <a:off x="1038758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圆形"/>
          <p:cNvSpPr/>
          <p:nvPr/>
        </p:nvSpPr>
        <p:spPr>
          <a:xfrm>
            <a:off x="1038758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圆形"/>
          <p:cNvSpPr/>
          <p:nvPr/>
        </p:nvSpPr>
        <p:spPr>
          <a:xfrm>
            <a:off x="1038758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圆形"/>
          <p:cNvSpPr/>
          <p:nvPr/>
        </p:nvSpPr>
        <p:spPr>
          <a:xfrm>
            <a:off x="1055217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圆形"/>
          <p:cNvSpPr/>
          <p:nvPr/>
        </p:nvSpPr>
        <p:spPr>
          <a:xfrm>
            <a:off x="1055217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圆形"/>
          <p:cNvSpPr/>
          <p:nvPr/>
        </p:nvSpPr>
        <p:spPr>
          <a:xfrm>
            <a:off x="1055217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圆形"/>
          <p:cNvSpPr/>
          <p:nvPr/>
        </p:nvSpPr>
        <p:spPr>
          <a:xfrm>
            <a:off x="10716767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圆形"/>
          <p:cNvSpPr/>
          <p:nvPr/>
        </p:nvSpPr>
        <p:spPr>
          <a:xfrm>
            <a:off x="10716767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圆形"/>
          <p:cNvSpPr/>
          <p:nvPr/>
        </p:nvSpPr>
        <p:spPr>
          <a:xfrm>
            <a:off x="10716767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圆形"/>
          <p:cNvSpPr/>
          <p:nvPr/>
        </p:nvSpPr>
        <p:spPr>
          <a:xfrm>
            <a:off x="10881359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圆形"/>
          <p:cNvSpPr/>
          <p:nvPr/>
        </p:nvSpPr>
        <p:spPr>
          <a:xfrm>
            <a:off x="10881359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圆形"/>
          <p:cNvSpPr/>
          <p:nvPr/>
        </p:nvSpPr>
        <p:spPr>
          <a:xfrm>
            <a:off x="10881359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圆形"/>
          <p:cNvSpPr/>
          <p:nvPr/>
        </p:nvSpPr>
        <p:spPr>
          <a:xfrm>
            <a:off x="11045952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圆形"/>
          <p:cNvSpPr/>
          <p:nvPr/>
        </p:nvSpPr>
        <p:spPr>
          <a:xfrm>
            <a:off x="11045952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圆形"/>
          <p:cNvSpPr/>
          <p:nvPr/>
        </p:nvSpPr>
        <p:spPr>
          <a:xfrm>
            <a:off x="11045952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圆形"/>
          <p:cNvSpPr/>
          <p:nvPr/>
        </p:nvSpPr>
        <p:spPr>
          <a:xfrm>
            <a:off x="1121054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圆形"/>
          <p:cNvSpPr/>
          <p:nvPr/>
        </p:nvSpPr>
        <p:spPr>
          <a:xfrm>
            <a:off x="1121054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圆形"/>
          <p:cNvSpPr/>
          <p:nvPr/>
        </p:nvSpPr>
        <p:spPr>
          <a:xfrm>
            <a:off x="1121054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圆形"/>
          <p:cNvSpPr/>
          <p:nvPr/>
        </p:nvSpPr>
        <p:spPr>
          <a:xfrm>
            <a:off x="1137513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圆形"/>
          <p:cNvSpPr/>
          <p:nvPr/>
        </p:nvSpPr>
        <p:spPr>
          <a:xfrm>
            <a:off x="1137513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圆形"/>
          <p:cNvSpPr/>
          <p:nvPr/>
        </p:nvSpPr>
        <p:spPr>
          <a:xfrm>
            <a:off x="1137513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圆形"/>
          <p:cNvSpPr/>
          <p:nvPr/>
        </p:nvSpPr>
        <p:spPr>
          <a:xfrm>
            <a:off x="11539728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圆形"/>
          <p:cNvSpPr/>
          <p:nvPr/>
        </p:nvSpPr>
        <p:spPr>
          <a:xfrm>
            <a:off x="11539728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圆形"/>
          <p:cNvSpPr/>
          <p:nvPr/>
        </p:nvSpPr>
        <p:spPr>
          <a:xfrm>
            <a:off x="11539728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标题蓝色竖线"/>
          <p:cNvSpPr/>
          <p:nvPr/>
        </p:nvSpPr>
        <p:spPr>
          <a:xfrm>
            <a:off x="274320" y="356616"/>
            <a:ext cx="109728" cy="585216"/>
          </a:xfrm>
          <a:prstGeom prst="roundRect">
            <a:avLst>
              <a:gd name="adj" fmla="val 41666"/>
            </a:avLst>
          </a:prstGeom>
          <a:gradFill>
            <a:gsLst>
              <a:gs pos="0">
                <a:srgbClr val="3A92D5"/>
              </a:gs>
              <a:gs pos="100000">
                <a:srgbClr val="146FB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标题"/>
          <p:cNvSpPr txBox="1"/>
          <p:nvPr/>
        </p:nvSpPr>
        <p:spPr>
          <a:xfrm>
            <a:off x="621792" y="301752"/>
            <a:ext cx="9390888" cy="64922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3600">
                <a:latin typeface="微软雅黑" panose="020B0503020204020204" charset="-122"/>
              </a:defRPr>
            </a:pPr>
            <a:r>
              <a:rPr sz="35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CAN节点结构</a:t>
            </a:r>
            <a:endParaRPr sz="35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标题分隔线"/>
          <p:cNvSpPr/>
          <p:nvPr/>
        </p:nvSpPr>
        <p:spPr>
          <a:xfrm>
            <a:off x="621792" y="1051560"/>
            <a:ext cx="11109960" cy="18288"/>
          </a:xfrm>
          <a:prstGeom prst="rect">
            <a:avLst/>
          </a:prstGeom>
          <a:gradFill>
            <a:gsLst>
              <a:gs pos="0">
                <a:srgbClr val="3A92D5"/>
              </a:gs>
              <a:gs pos="100000">
                <a:srgbClr val="E3EFF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tongji_wordm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4" y="256032"/>
            <a:ext cx="1554480" cy="385298"/>
          </a:xfrm>
          <a:prstGeom prst="rect">
            <a:avLst/>
          </a:prstGeom>
          <a:effectLst/>
        </p:spPr>
      </p:pic>
      <p:sp>
        <p:nvSpPr>
          <p:cNvPr id="33" name="导入句"/>
          <p:cNvSpPr txBox="1"/>
          <p:nvPr/>
        </p:nvSpPr>
        <p:spPr>
          <a:xfrm>
            <a:off x="621792" y="1271016"/>
            <a:ext cx="10972800" cy="57607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000">
                <a:latin typeface="微软雅黑" panose="020B0503020204020204" charset="-122"/>
              </a:defRPr>
            </a:pPr>
            <a:r>
              <a:rPr sz="20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一个典型 </a:t>
            </a:r>
            <a:r>
              <a:rPr sz="20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CAN 节点</a:t>
            </a:r>
            <a:r>
              <a:rPr sz="20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通常包括微控制器、CAN 控制器、CAN 收发器以及与总线相连的物理接口。</a:t>
            </a:r>
            <a:endParaRPr sz="20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容器"/>
          <p:cNvSpPr/>
          <p:nvPr/>
        </p:nvSpPr>
        <p:spPr>
          <a:xfrm>
            <a:off x="594360" y="2048256"/>
            <a:ext cx="7031736" cy="3182112"/>
          </a:xfrm>
          <a:prstGeom prst="roundRect">
            <a:avLst>
              <a:gd name="adj" fmla="val 12000"/>
            </a:avLst>
          </a:prstGeom>
          <a:solidFill>
            <a:srgbClr val="F6FAFE"/>
          </a:solidFill>
          <a:ln w="10160">
            <a:solidFill>
              <a:srgbClr val="CAD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讲授内容｜CAN节点（ECU）"/>
          <p:cNvSpPr txBox="1"/>
          <p:nvPr/>
        </p:nvSpPr>
        <p:spPr>
          <a:xfrm>
            <a:off x="813816" y="2240280"/>
            <a:ext cx="5440680" cy="34747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CAN节点（ECU）</a:t>
            </a:r>
            <a:endParaRPr sz="23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容器"/>
          <p:cNvSpPr/>
          <p:nvPr/>
        </p:nvSpPr>
        <p:spPr>
          <a:xfrm>
            <a:off x="896112" y="2916936"/>
            <a:ext cx="1517904" cy="1636776"/>
          </a:xfrm>
          <a:prstGeom prst="roundRect">
            <a:avLst>
              <a:gd name="adj" fmla="val 12000"/>
            </a:avLst>
          </a:prstGeom>
          <a:solidFill>
            <a:srgbClr val="E3EFFA"/>
          </a:solidFill>
          <a:ln w="10160">
            <a:solidFill>
              <a:srgbClr val="CAD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讲授内容｜微控制器 MCU"/>
          <p:cNvSpPr txBox="1"/>
          <p:nvPr/>
        </p:nvSpPr>
        <p:spPr>
          <a:xfrm>
            <a:off x="960120" y="2948940"/>
            <a:ext cx="1389888" cy="157276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微控制器</a:t>
            </a:r>
            <a:endParaRPr sz="22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MCU</a:t>
            </a:r>
            <a:endParaRPr sz="22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讲授内容｜应用程序 数据处理、诊断、控制"/>
          <p:cNvSpPr txBox="1"/>
          <p:nvPr/>
        </p:nvSpPr>
        <p:spPr>
          <a:xfrm>
            <a:off x="676656" y="4599432"/>
            <a:ext cx="1956816" cy="566928"/>
          </a:xfrm>
          <a:prstGeom prst="rect">
            <a:avLst/>
          </a:prstGeom>
          <a:noFill/>
          <a:effectLst/>
        </p:spPr>
        <p:txBody>
          <a:bodyPr wrap="square" lIns="18288" tIns="9144" rIns="18288" bIns="9144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应用程序</a:t>
            </a:r>
            <a:endParaRPr sz="14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数据处理、诊断、控制</a:t>
            </a:r>
            <a:endParaRPr sz="14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容器"/>
          <p:cNvSpPr/>
          <p:nvPr/>
        </p:nvSpPr>
        <p:spPr>
          <a:xfrm>
            <a:off x="3145536" y="2916936"/>
            <a:ext cx="1399032" cy="1636776"/>
          </a:xfrm>
          <a:prstGeom prst="roundRect">
            <a:avLst>
              <a:gd name="adj" fmla="val 12000"/>
            </a:avLst>
          </a:prstGeom>
          <a:solidFill>
            <a:srgbClr val="E3EFFA"/>
          </a:solidFill>
          <a:ln w="10160">
            <a:solidFill>
              <a:srgbClr val="CAD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讲授内容｜CAN 控制器"/>
          <p:cNvSpPr txBox="1"/>
          <p:nvPr/>
        </p:nvSpPr>
        <p:spPr>
          <a:xfrm>
            <a:off x="3209544" y="2948940"/>
            <a:ext cx="1271016" cy="157276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CAN</a:t>
            </a:r>
            <a:endParaRPr sz="22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控制器</a:t>
            </a:r>
            <a:endParaRPr sz="22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讲授内容｜报文组织 收发、仲裁、过滤"/>
          <p:cNvSpPr txBox="1"/>
          <p:nvPr/>
        </p:nvSpPr>
        <p:spPr>
          <a:xfrm>
            <a:off x="3026664" y="4599432"/>
            <a:ext cx="1645920" cy="49377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报文组织</a:t>
            </a:r>
            <a:endParaRPr sz="155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收发、仲裁、过滤</a:t>
            </a:r>
            <a:endParaRPr sz="155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容器"/>
          <p:cNvSpPr/>
          <p:nvPr/>
        </p:nvSpPr>
        <p:spPr>
          <a:xfrm>
            <a:off x="5788152" y="2916936"/>
            <a:ext cx="1517904" cy="1636776"/>
          </a:xfrm>
          <a:prstGeom prst="roundRect">
            <a:avLst>
              <a:gd name="adj" fmla="val 12000"/>
            </a:avLst>
          </a:prstGeom>
          <a:solidFill>
            <a:srgbClr val="DCEEFE"/>
          </a:solidFill>
          <a:ln w="10160">
            <a:solidFill>
              <a:srgbClr val="CAD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讲授内容｜CAN 收发器"/>
          <p:cNvSpPr txBox="1"/>
          <p:nvPr/>
        </p:nvSpPr>
        <p:spPr>
          <a:xfrm>
            <a:off x="5852160" y="2948940"/>
            <a:ext cx="1389888" cy="157276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CAN</a:t>
            </a:r>
            <a:endParaRPr sz="22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收发器</a:t>
            </a:r>
            <a:endParaRPr sz="22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6" name="连线"/>
          <p:cNvCxnSpPr/>
          <p:nvPr/>
        </p:nvCxnSpPr>
        <p:spPr>
          <a:xfrm>
            <a:off x="2432304" y="3666744"/>
            <a:ext cx="649224" cy="0"/>
          </a:xfrm>
          <a:prstGeom prst="line">
            <a:avLst/>
          </a:prstGeom>
          <a:ln w="25400" cap="rnd">
            <a:solidFill>
              <a:srgbClr val="146FB5"/>
            </a:solidFill>
            <a:headEnd type="triangl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讲授内容｜数据"/>
          <p:cNvSpPr txBox="1"/>
          <p:nvPr/>
        </p:nvSpPr>
        <p:spPr>
          <a:xfrm>
            <a:off x="2468880" y="3273552"/>
            <a:ext cx="557784" cy="2743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endParaRPr sz="160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8" name="连线"/>
          <p:cNvCxnSpPr/>
          <p:nvPr/>
        </p:nvCxnSpPr>
        <p:spPr>
          <a:xfrm>
            <a:off x="4581144" y="3465576"/>
            <a:ext cx="1124712" cy="0"/>
          </a:xfrm>
          <a:prstGeom prst="line">
            <a:avLst/>
          </a:prstGeom>
          <a:ln w="22860" cap="rnd">
            <a:solidFill>
              <a:srgbClr val="146FB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连线"/>
          <p:cNvCxnSpPr/>
          <p:nvPr/>
        </p:nvCxnSpPr>
        <p:spPr>
          <a:xfrm flipH="1">
            <a:off x="4581144" y="4069080"/>
            <a:ext cx="1124712" cy="0"/>
          </a:xfrm>
          <a:prstGeom prst="line">
            <a:avLst/>
          </a:prstGeom>
          <a:ln w="22860" cap="rnd">
            <a:solidFill>
              <a:srgbClr val="298E9D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讲授内容｜TXD：发送"/>
          <p:cNvSpPr txBox="1"/>
          <p:nvPr/>
        </p:nvSpPr>
        <p:spPr>
          <a:xfrm>
            <a:off x="4590288" y="3090672"/>
            <a:ext cx="1097280" cy="2743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TXD：发送</a:t>
            </a:r>
            <a:endParaRPr sz="14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讲授内容｜RXD：接收"/>
          <p:cNvSpPr txBox="1"/>
          <p:nvPr/>
        </p:nvSpPr>
        <p:spPr>
          <a:xfrm>
            <a:off x="4590288" y="4206240"/>
            <a:ext cx="1097280" cy="2743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98E9D"/>
                </a:solidFill>
                <a:latin typeface="微软雅黑" panose="020B0503020204020204" charset="-122"/>
                <a:ea typeface="微软雅黑" panose="020B0503020204020204" charset="-122"/>
              </a:rPr>
              <a:t>RXD：接收</a:t>
            </a:r>
            <a:endParaRPr sz="1400" b="1">
              <a:solidFill>
                <a:srgbClr val="298E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2" name="连线"/>
          <p:cNvCxnSpPr/>
          <p:nvPr/>
        </p:nvCxnSpPr>
        <p:spPr>
          <a:xfrm>
            <a:off x="7324344" y="3410712"/>
            <a:ext cx="4114800" cy="0"/>
          </a:xfrm>
          <a:prstGeom prst="line">
            <a:avLst/>
          </a:prstGeom>
          <a:ln w="3302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连线"/>
          <p:cNvCxnSpPr/>
          <p:nvPr/>
        </p:nvCxnSpPr>
        <p:spPr>
          <a:xfrm>
            <a:off x="7324344" y="4069080"/>
            <a:ext cx="4114800" cy="0"/>
          </a:xfrm>
          <a:prstGeom prst="line">
            <a:avLst/>
          </a:prstGeom>
          <a:ln w="33020" cap="rnd">
            <a:solidFill>
              <a:srgbClr val="298E9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讲授内容｜CAN_H"/>
          <p:cNvSpPr txBox="1"/>
          <p:nvPr/>
        </p:nvSpPr>
        <p:spPr>
          <a:xfrm>
            <a:off x="7909560" y="3090672"/>
            <a:ext cx="1307592" cy="26517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CAN_H</a:t>
            </a:r>
            <a:endParaRPr sz="18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讲授内容｜CAN_L"/>
          <p:cNvSpPr txBox="1"/>
          <p:nvPr/>
        </p:nvSpPr>
        <p:spPr>
          <a:xfrm>
            <a:off x="7909560" y="4206240"/>
            <a:ext cx="1307592" cy="26517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98E9D"/>
                </a:solidFill>
                <a:latin typeface="微软雅黑" panose="020B0503020204020204" charset="-122"/>
                <a:ea typeface="微软雅黑" panose="020B0503020204020204" charset="-122"/>
              </a:rPr>
              <a:t>CAN_L</a:t>
            </a:r>
            <a:endParaRPr sz="1800" b="1">
              <a:solidFill>
                <a:srgbClr val="298E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讲授内容｜CAN 总线"/>
          <p:cNvSpPr txBox="1"/>
          <p:nvPr/>
        </p:nvSpPr>
        <p:spPr>
          <a:xfrm>
            <a:off x="9299448" y="2871216"/>
            <a:ext cx="1920240" cy="32004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CAN 总线</a:t>
            </a:r>
            <a:endParaRPr sz="22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讲授内容｜收发器完成逻辑电平与 总线差分信号的双向转换。"/>
          <p:cNvSpPr txBox="1"/>
          <p:nvPr/>
        </p:nvSpPr>
        <p:spPr>
          <a:xfrm>
            <a:off x="8046720" y="2103120"/>
            <a:ext cx="3474720" cy="55778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收发器完成逻辑电平与</a:t>
            </a:r>
            <a:endParaRPr sz="17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总线差分信号的双向转换。</a:t>
            </a:r>
            <a:endParaRPr sz="17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容器"/>
          <p:cNvSpPr/>
          <p:nvPr/>
        </p:nvSpPr>
        <p:spPr>
          <a:xfrm>
            <a:off x="7900416" y="4599432"/>
            <a:ext cx="3675887" cy="704088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容器"/>
          <p:cNvSpPr/>
          <p:nvPr/>
        </p:nvSpPr>
        <p:spPr>
          <a:xfrm>
            <a:off x="594360" y="5458968"/>
            <a:ext cx="3493008" cy="1060704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讲授内容｜应用决定“做什么”"/>
          <p:cNvSpPr txBox="1"/>
          <p:nvPr/>
        </p:nvSpPr>
        <p:spPr>
          <a:xfrm>
            <a:off x="749808" y="5550407"/>
            <a:ext cx="3182112" cy="34747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应用决定“做什么”</a:t>
            </a:r>
            <a:endParaRPr sz="18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讲授内容｜业务逻辑解释命令， 改变并维护功能状态。"/>
          <p:cNvSpPr txBox="1"/>
          <p:nvPr/>
        </p:nvSpPr>
        <p:spPr>
          <a:xfrm>
            <a:off x="749808" y="5925312"/>
            <a:ext cx="3182112" cy="548639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业务逻辑解释命令，</a:t>
            </a:r>
            <a:endParaRPr sz="16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改变并维护功能状态。</a:t>
            </a:r>
            <a:endParaRPr sz="16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容器"/>
          <p:cNvSpPr/>
          <p:nvPr/>
        </p:nvSpPr>
        <p:spPr>
          <a:xfrm>
            <a:off x="4361688" y="5458968"/>
            <a:ext cx="3493008" cy="1060704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讲授内容｜控制器负责“按协议收发”"/>
          <p:cNvSpPr txBox="1"/>
          <p:nvPr/>
        </p:nvSpPr>
        <p:spPr>
          <a:xfrm>
            <a:off x="4517136" y="5550407"/>
            <a:ext cx="3182112" cy="34747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控制器负责“按协议收发”</a:t>
            </a:r>
            <a:endParaRPr sz="18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讲授内容｜组织帧、参与仲裁和过滤； 控制器可以集成在MCU中。"/>
          <p:cNvSpPr txBox="1"/>
          <p:nvPr/>
        </p:nvSpPr>
        <p:spPr>
          <a:xfrm>
            <a:off x="4517136" y="5925312"/>
            <a:ext cx="3182112" cy="548639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组织帧、参与仲裁和过滤；</a:t>
            </a:r>
            <a:endParaRPr sz="16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控制器可以集成在MCU中。</a:t>
            </a:r>
            <a:endParaRPr sz="16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容器"/>
          <p:cNvSpPr/>
          <p:nvPr/>
        </p:nvSpPr>
        <p:spPr>
          <a:xfrm>
            <a:off x="8129016" y="5458968"/>
            <a:ext cx="3493008" cy="1060704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讲授内容｜收发器解决“怎样接上线”"/>
          <p:cNvSpPr txBox="1"/>
          <p:nvPr/>
        </p:nvSpPr>
        <p:spPr>
          <a:xfrm>
            <a:off x="8284464" y="5550407"/>
            <a:ext cx="3182112" cy="34747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收发器解决“怎样接上线”</a:t>
            </a:r>
            <a:endParaRPr sz="18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讲授内容｜通过CAN_H / CAN_L收发差分信号； 电源、地与保护电路未在图"/>
          <p:cNvSpPr txBox="1"/>
          <p:nvPr/>
        </p:nvSpPr>
        <p:spPr>
          <a:xfrm>
            <a:off x="8284464" y="5925312"/>
            <a:ext cx="3182112" cy="548639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通过CAN_H / CAN_L收发差分信号；</a:t>
            </a:r>
            <a:endParaRPr sz="155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电源、地与保护电路未在图中展开。</a:t>
            </a:r>
            <a:endParaRPr sz="155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精修可编辑波形"/>
          <p:cNvSpPr/>
          <p:nvPr/>
        </p:nvSpPr>
        <p:spPr>
          <a:xfrm>
            <a:off x="8302752" y="4892040"/>
            <a:ext cx="2231136" cy="146304"/>
          </a:xfrm>
          <a:custGeom>
            <a:avLst/>
            <a:gdLst/>
            <a:ahLst/>
            <a:cxnLst/>
            <a:rect l="l" t="t" r="r" b="b"/>
            <a:pathLst>
              <a:path w="2440" h="160">
                <a:moveTo>
                  <a:pt x="0" y="160"/>
                </a:moveTo>
                <a:lnTo>
                  <a:pt x="570" y="160"/>
                </a:lnTo>
                <a:lnTo>
                  <a:pt x="750" y="0"/>
                </a:lnTo>
                <a:lnTo>
                  <a:pt x="1710" y="0"/>
                </a:lnTo>
                <a:lnTo>
                  <a:pt x="1890" y="160"/>
                </a:lnTo>
                <a:lnTo>
                  <a:pt x="2440" y="160"/>
                </a:lnTo>
              </a:path>
            </a:pathLst>
          </a:custGeom>
          <a:noFill/>
          <a:ln w="26670">
            <a:solidFill>
              <a:srgbClr val="14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精修可编辑波形"/>
          <p:cNvSpPr/>
          <p:nvPr/>
        </p:nvSpPr>
        <p:spPr>
          <a:xfrm>
            <a:off x="8302752" y="5038344"/>
            <a:ext cx="2231136" cy="173736"/>
          </a:xfrm>
          <a:custGeom>
            <a:avLst/>
            <a:gdLst/>
            <a:ahLst/>
            <a:cxnLst/>
            <a:rect l="l" t="t" r="r" b="b"/>
            <a:pathLst>
              <a:path w="2440" h="190">
                <a:moveTo>
                  <a:pt x="0" y="0"/>
                </a:moveTo>
                <a:lnTo>
                  <a:pt x="570" y="0"/>
                </a:lnTo>
                <a:lnTo>
                  <a:pt x="750" y="190"/>
                </a:lnTo>
                <a:lnTo>
                  <a:pt x="1710" y="190"/>
                </a:lnTo>
                <a:lnTo>
                  <a:pt x="1890" y="0"/>
                </a:lnTo>
                <a:lnTo>
                  <a:pt x="2440" y="0"/>
                </a:lnTo>
              </a:path>
            </a:pathLst>
          </a:custGeom>
          <a:noFill/>
          <a:ln w="26670">
            <a:solidFill>
              <a:srgbClr val="298E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精修图示文字｜隐性1"/>
          <p:cNvSpPr txBox="1"/>
          <p:nvPr/>
        </p:nvSpPr>
        <p:spPr>
          <a:xfrm>
            <a:off x="8174736" y="4617720"/>
            <a:ext cx="859536" cy="256032"/>
          </a:xfrm>
          <a:prstGeom prst="rect">
            <a:avLst/>
          </a:prstGeom>
          <a:noFill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86D82"/>
                </a:solidFill>
                <a:latin typeface="微软雅黑" panose="020B0503020204020204" charset="-122"/>
              </a:rPr>
              <a:t>隐性1</a:t>
            </a:r>
            <a:endParaRPr sz="1350" b="1">
              <a:solidFill>
                <a:srgbClr val="586D82"/>
              </a:solidFill>
              <a:latin typeface="微软雅黑" panose="020B0503020204020204" charset="-122"/>
            </a:endParaRPr>
          </a:p>
        </p:txBody>
      </p:sp>
      <p:sp>
        <p:nvSpPr>
          <p:cNvPr id="70" name="精修图示文字｜显性0"/>
          <p:cNvSpPr txBox="1"/>
          <p:nvPr/>
        </p:nvSpPr>
        <p:spPr>
          <a:xfrm>
            <a:off x="9125712" y="4617720"/>
            <a:ext cx="914400" cy="256032"/>
          </a:xfrm>
          <a:prstGeom prst="rect">
            <a:avLst/>
          </a:prstGeom>
          <a:noFill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86D82"/>
                </a:solidFill>
                <a:latin typeface="微软雅黑" panose="020B0503020204020204" charset="-122"/>
              </a:rPr>
              <a:t>显性0</a:t>
            </a:r>
            <a:endParaRPr sz="1350" b="1">
              <a:solidFill>
                <a:srgbClr val="586D82"/>
              </a:solidFill>
              <a:latin typeface="微软雅黑" panose="020B0503020204020204" charset="-122"/>
            </a:endParaRPr>
          </a:p>
        </p:txBody>
      </p:sp>
      <p:sp>
        <p:nvSpPr>
          <p:cNvPr id="71" name="精修图示文字｜隐性1"/>
          <p:cNvSpPr txBox="1"/>
          <p:nvPr/>
        </p:nvSpPr>
        <p:spPr>
          <a:xfrm>
            <a:off x="10058400" y="4617720"/>
            <a:ext cx="832104" cy="256032"/>
          </a:xfrm>
          <a:prstGeom prst="rect">
            <a:avLst/>
          </a:prstGeom>
          <a:noFill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86D82"/>
                </a:solidFill>
                <a:latin typeface="微软雅黑" panose="020B0503020204020204" charset="-122"/>
              </a:rPr>
              <a:t>隐性1</a:t>
            </a:r>
            <a:endParaRPr sz="1350" b="1">
              <a:solidFill>
                <a:srgbClr val="586D82"/>
              </a:solidFill>
              <a:latin typeface="微软雅黑" panose="020B0503020204020204" charset="-122"/>
            </a:endParaRPr>
          </a:p>
        </p:txBody>
      </p:sp>
      <p:sp>
        <p:nvSpPr>
          <p:cNvPr id="72" name="精修图示文字｜CAN_H"/>
          <p:cNvSpPr txBox="1"/>
          <p:nvPr/>
        </p:nvSpPr>
        <p:spPr>
          <a:xfrm>
            <a:off x="10625328" y="4846320"/>
            <a:ext cx="832104" cy="246888"/>
          </a:xfrm>
          <a:prstGeom prst="rect">
            <a:avLst/>
          </a:prstGeom>
          <a:noFill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46FB5"/>
                </a:solidFill>
                <a:latin typeface="微软雅黑" panose="020B0503020204020204" charset="-122"/>
              </a:rPr>
              <a:t>CAN_H</a:t>
            </a:r>
            <a:endParaRPr sz="1350" b="1">
              <a:solidFill>
                <a:srgbClr val="146FB5"/>
              </a:solidFill>
              <a:latin typeface="微软雅黑" panose="020B0503020204020204" charset="-122"/>
            </a:endParaRPr>
          </a:p>
        </p:txBody>
      </p:sp>
      <p:sp>
        <p:nvSpPr>
          <p:cNvPr id="73" name="精修图示文字｜CAN_L"/>
          <p:cNvSpPr txBox="1"/>
          <p:nvPr/>
        </p:nvSpPr>
        <p:spPr>
          <a:xfrm>
            <a:off x="10625328" y="5129784"/>
            <a:ext cx="832104" cy="246888"/>
          </a:xfrm>
          <a:prstGeom prst="rect">
            <a:avLst/>
          </a:prstGeom>
          <a:noFill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98E9D"/>
                </a:solidFill>
                <a:latin typeface="微软雅黑" panose="020B0503020204020204" charset="-122"/>
              </a:rPr>
              <a:t>CAN_L</a:t>
            </a:r>
            <a:endParaRPr sz="1350" b="1">
              <a:solidFill>
                <a:srgbClr val="298E9D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白色背景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右下角淡蓝装饰"/>
          <p:cNvSpPr/>
          <p:nvPr/>
        </p:nvSpPr>
        <p:spPr>
          <a:xfrm>
            <a:off x="10774679" y="5440680"/>
            <a:ext cx="1417320" cy="1417320"/>
          </a:xfrm>
          <a:custGeom>
            <a:avLst/>
            <a:gdLst/>
            <a:ahLst/>
            <a:cxnLst/>
            <a:rect l="l" t="t" r="r" b="b"/>
            <a:pathLst>
              <a:path w="1417320" h="1417320">
                <a:moveTo>
                  <a:pt x="1417320" y="1417320"/>
                </a:moveTo>
                <a:lnTo>
                  <a:pt x="0" y="1417320"/>
                </a:lnTo>
                <a:lnTo>
                  <a:pt x="700" y="1372800"/>
                </a:lnTo>
                <a:lnTo>
                  <a:pt x="2797" y="1328325"/>
                </a:lnTo>
                <a:lnTo>
                  <a:pt x="6290" y="1283938"/>
                </a:lnTo>
                <a:lnTo>
                  <a:pt x="11176" y="1239682"/>
                </a:lnTo>
                <a:lnTo>
                  <a:pt x="17450" y="1195602"/>
                </a:lnTo>
                <a:lnTo>
                  <a:pt x="25105" y="1151740"/>
                </a:lnTo>
                <a:lnTo>
                  <a:pt x="34134" y="1108141"/>
                </a:lnTo>
                <a:lnTo>
                  <a:pt x="44528" y="1064846"/>
                </a:lnTo>
                <a:lnTo>
                  <a:pt x="56277" y="1021900"/>
                </a:lnTo>
                <a:lnTo>
                  <a:pt x="69369" y="979344"/>
                </a:lnTo>
                <a:lnTo>
                  <a:pt x="83791" y="937219"/>
                </a:lnTo>
                <a:lnTo>
                  <a:pt x="99529" y="895569"/>
                </a:lnTo>
                <a:lnTo>
                  <a:pt x="116568" y="854434"/>
                </a:lnTo>
                <a:lnTo>
                  <a:pt x="134891" y="813854"/>
                </a:lnTo>
                <a:lnTo>
                  <a:pt x="154479" y="773870"/>
                </a:lnTo>
                <a:lnTo>
                  <a:pt x="175313" y="734520"/>
                </a:lnTo>
                <a:lnTo>
                  <a:pt x="197373" y="695845"/>
                </a:lnTo>
                <a:lnTo>
                  <a:pt x="220637" y="657881"/>
                </a:lnTo>
                <a:lnTo>
                  <a:pt x="245082" y="620667"/>
                </a:lnTo>
                <a:lnTo>
                  <a:pt x="270684" y="584240"/>
                </a:lnTo>
                <a:lnTo>
                  <a:pt x="297418" y="548634"/>
                </a:lnTo>
                <a:lnTo>
                  <a:pt x="325256" y="513886"/>
                </a:lnTo>
                <a:lnTo>
                  <a:pt x="354173" y="480029"/>
                </a:lnTo>
                <a:lnTo>
                  <a:pt x="384138" y="447097"/>
                </a:lnTo>
                <a:lnTo>
                  <a:pt x="415124" y="415123"/>
                </a:lnTo>
                <a:lnTo>
                  <a:pt x="447098" y="384138"/>
                </a:lnTo>
                <a:lnTo>
                  <a:pt x="480030" y="354172"/>
                </a:lnTo>
                <a:lnTo>
                  <a:pt x="513886" y="325256"/>
                </a:lnTo>
                <a:lnTo>
                  <a:pt x="548635" y="297417"/>
                </a:lnTo>
                <a:lnTo>
                  <a:pt x="584240" y="270684"/>
                </a:lnTo>
                <a:lnTo>
                  <a:pt x="620668" y="245082"/>
                </a:lnTo>
                <a:lnTo>
                  <a:pt x="657882" y="220637"/>
                </a:lnTo>
                <a:lnTo>
                  <a:pt x="695846" y="197373"/>
                </a:lnTo>
                <a:lnTo>
                  <a:pt x="734521" y="175313"/>
                </a:lnTo>
                <a:lnTo>
                  <a:pt x="773870" y="154478"/>
                </a:lnTo>
                <a:lnTo>
                  <a:pt x="813855" y="134890"/>
                </a:lnTo>
                <a:lnTo>
                  <a:pt x="854435" y="116568"/>
                </a:lnTo>
                <a:lnTo>
                  <a:pt x="895570" y="99529"/>
                </a:lnTo>
                <a:lnTo>
                  <a:pt x="937220" y="83790"/>
                </a:lnTo>
                <a:lnTo>
                  <a:pt x="979344" y="69368"/>
                </a:lnTo>
                <a:lnTo>
                  <a:pt x="1021901" y="56276"/>
                </a:lnTo>
                <a:lnTo>
                  <a:pt x="1064847" y="44527"/>
                </a:lnTo>
                <a:lnTo>
                  <a:pt x="1108141" y="34133"/>
                </a:lnTo>
                <a:lnTo>
                  <a:pt x="1151741" y="25104"/>
                </a:lnTo>
                <a:lnTo>
                  <a:pt x="1195602" y="17449"/>
                </a:lnTo>
                <a:lnTo>
                  <a:pt x="1239683" y="11175"/>
                </a:lnTo>
                <a:lnTo>
                  <a:pt x="1283939" y="6290"/>
                </a:lnTo>
                <a:lnTo>
                  <a:pt x="1328326" y="2796"/>
                </a:lnTo>
                <a:lnTo>
                  <a:pt x="1372801" y="699"/>
                </a:lnTo>
                <a:lnTo>
                  <a:pt x="1417320" y="0"/>
                </a:lnTo>
                <a:lnTo>
                  <a:pt x="1417320" y="1417320"/>
                </a:lnTo>
                <a:close/>
              </a:path>
            </a:pathLst>
          </a:custGeom>
          <a:solidFill>
            <a:srgbClr val="F4F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右下角淡蓝装饰"/>
          <p:cNvSpPr/>
          <p:nvPr/>
        </p:nvSpPr>
        <p:spPr>
          <a:xfrm>
            <a:off x="11076431" y="5742432"/>
            <a:ext cx="1115568" cy="1115568"/>
          </a:xfrm>
          <a:custGeom>
            <a:avLst/>
            <a:gdLst/>
            <a:ahLst/>
            <a:cxnLst/>
            <a:rect l="l" t="t" r="r" b="b"/>
            <a:pathLst>
              <a:path w="1115568" h="1115568">
                <a:moveTo>
                  <a:pt x="1115568" y="1115568"/>
                </a:moveTo>
                <a:lnTo>
                  <a:pt x="0" y="1115568"/>
                </a:lnTo>
                <a:lnTo>
                  <a:pt x="551" y="1080527"/>
                </a:lnTo>
                <a:lnTo>
                  <a:pt x="2202" y="1045520"/>
                </a:lnTo>
                <a:lnTo>
                  <a:pt x="4951" y="1010583"/>
                </a:lnTo>
                <a:lnTo>
                  <a:pt x="8797" y="975750"/>
                </a:lnTo>
                <a:lnTo>
                  <a:pt x="13735" y="941054"/>
                </a:lnTo>
                <a:lnTo>
                  <a:pt x="19760" y="906531"/>
                </a:lnTo>
                <a:lnTo>
                  <a:pt x="26867" y="872214"/>
                </a:lnTo>
                <a:lnTo>
                  <a:pt x="35048" y="838137"/>
                </a:lnTo>
                <a:lnTo>
                  <a:pt x="44295" y="804334"/>
                </a:lnTo>
                <a:lnTo>
                  <a:pt x="54600" y="770838"/>
                </a:lnTo>
                <a:lnTo>
                  <a:pt x="65952" y="737682"/>
                </a:lnTo>
                <a:lnTo>
                  <a:pt x="78339" y="704900"/>
                </a:lnTo>
                <a:lnTo>
                  <a:pt x="91751" y="672522"/>
                </a:lnTo>
                <a:lnTo>
                  <a:pt x="106172" y="640582"/>
                </a:lnTo>
                <a:lnTo>
                  <a:pt x="121590" y="609110"/>
                </a:lnTo>
                <a:lnTo>
                  <a:pt x="137989" y="578139"/>
                </a:lnTo>
                <a:lnTo>
                  <a:pt x="155352" y="547697"/>
                </a:lnTo>
                <a:lnTo>
                  <a:pt x="173663" y="517816"/>
                </a:lnTo>
                <a:lnTo>
                  <a:pt x="192904" y="488525"/>
                </a:lnTo>
                <a:lnTo>
                  <a:pt x="213055" y="459853"/>
                </a:lnTo>
                <a:lnTo>
                  <a:pt x="234097" y="431828"/>
                </a:lnTo>
                <a:lnTo>
                  <a:pt x="256008" y="404478"/>
                </a:lnTo>
                <a:lnTo>
                  <a:pt x="278768" y="377829"/>
                </a:lnTo>
                <a:lnTo>
                  <a:pt x="302354" y="351909"/>
                </a:lnTo>
                <a:lnTo>
                  <a:pt x="326742" y="326742"/>
                </a:lnTo>
                <a:lnTo>
                  <a:pt x="351909" y="302353"/>
                </a:lnTo>
                <a:lnTo>
                  <a:pt x="377830" y="278768"/>
                </a:lnTo>
                <a:lnTo>
                  <a:pt x="404478" y="256008"/>
                </a:lnTo>
                <a:lnTo>
                  <a:pt x="431829" y="234096"/>
                </a:lnTo>
                <a:lnTo>
                  <a:pt x="459854" y="213054"/>
                </a:lnTo>
                <a:lnTo>
                  <a:pt x="488526" y="192903"/>
                </a:lnTo>
                <a:lnTo>
                  <a:pt x="517817" y="173662"/>
                </a:lnTo>
                <a:lnTo>
                  <a:pt x="547698" y="155351"/>
                </a:lnTo>
                <a:lnTo>
                  <a:pt x="578139" y="137988"/>
                </a:lnTo>
                <a:lnTo>
                  <a:pt x="609111" y="121589"/>
                </a:lnTo>
                <a:lnTo>
                  <a:pt x="640582" y="106171"/>
                </a:lnTo>
                <a:lnTo>
                  <a:pt x="672523" y="91750"/>
                </a:lnTo>
                <a:lnTo>
                  <a:pt x="704900" y="78339"/>
                </a:lnTo>
                <a:lnTo>
                  <a:pt x="737683" y="65951"/>
                </a:lnTo>
                <a:lnTo>
                  <a:pt x="770839" y="54599"/>
                </a:lnTo>
                <a:lnTo>
                  <a:pt x="804335" y="44295"/>
                </a:lnTo>
                <a:lnTo>
                  <a:pt x="838138" y="35047"/>
                </a:lnTo>
                <a:lnTo>
                  <a:pt x="872215" y="26866"/>
                </a:lnTo>
                <a:lnTo>
                  <a:pt x="906532" y="19759"/>
                </a:lnTo>
                <a:lnTo>
                  <a:pt x="941055" y="13734"/>
                </a:lnTo>
                <a:lnTo>
                  <a:pt x="975750" y="8796"/>
                </a:lnTo>
                <a:lnTo>
                  <a:pt x="1010584" y="4950"/>
                </a:lnTo>
                <a:lnTo>
                  <a:pt x="1045521" y="2201"/>
                </a:lnTo>
                <a:lnTo>
                  <a:pt x="1080527" y="550"/>
                </a:lnTo>
                <a:lnTo>
                  <a:pt x="1115568" y="0"/>
                </a:lnTo>
                <a:lnTo>
                  <a:pt x="1115568" y="1115568"/>
                </a:lnTo>
                <a:close/>
              </a:path>
            </a:pathLst>
          </a:custGeom>
          <a:solidFill>
            <a:srgbClr val="F8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圆形"/>
          <p:cNvSpPr/>
          <p:nvPr/>
        </p:nvSpPr>
        <p:spPr>
          <a:xfrm>
            <a:off x="1038758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圆形"/>
          <p:cNvSpPr/>
          <p:nvPr/>
        </p:nvSpPr>
        <p:spPr>
          <a:xfrm>
            <a:off x="1038758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圆形"/>
          <p:cNvSpPr/>
          <p:nvPr/>
        </p:nvSpPr>
        <p:spPr>
          <a:xfrm>
            <a:off x="1038758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圆形"/>
          <p:cNvSpPr/>
          <p:nvPr/>
        </p:nvSpPr>
        <p:spPr>
          <a:xfrm>
            <a:off x="1055217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圆形"/>
          <p:cNvSpPr/>
          <p:nvPr/>
        </p:nvSpPr>
        <p:spPr>
          <a:xfrm>
            <a:off x="1055217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圆形"/>
          <p:cNvSpPr/>
          <p:nvPr/>
        </p:nvSpPr>
        <p:spPr>
          <a:xfrm>
            <a:off x="1055217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圆形"/>
          <p:cNvSpPr/>
          <p:nvPr/>
        </p:nvSpPr>
        <p:spPr>
          <a:xfrm>
            <a:off x="10716767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圆形"/>
          <p:cNvSpPr/>
          <p:nvPr/>
        </p:nvSpPr>
        <p:spPr>
          <a:xfrm>
            <a:off x="10716767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圆形"/>
          <p:cNvSpPr/>
          <p:nvPr/>
        </p:nvSpPr>
        <p:spPr>
          <a:xfrm>
            <a:off x="10716767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圆形"/>
          <p:cNvSpPr/>
          <p:nvPr/>
        </p:nvSpPr>
        <p:spPr>
          <a:xfrm>
            <a:off x="10881359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圆形"/>
          <p:cNvSpPr/>
          <p:nvPr/>
        </p:nvSpPr>
        <p:spPr>
          <a:xfrm>
            <a:off x="10881359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圆形"/>
          <p:cNvSpPr/>
          <p:nvPr/>
        </p:nvSpPr>
        <p:spPr>
          <a:xfrm>
            <a:off x="10881359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圆形"/>
          <p:cNvSpPr/>
          <p:nvPr/>
        </p:nvSpPr>
        <p:spPr>
          <a:xfrm>
            <a:off x="11045952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圆形"/>
          <p:cNvSpPr/>
          <p:nvPr/>
        </p:nvSpPr>
        <p:spPr>
          <a:xfrm>
            <a:off x="11045952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圆形"/>
          <p:cNvSpPr/>
          <p:nvPr/>
        </p:nvSpPr>
        <p:spPr>
          <a:xfrm>
            <a:off x="11045952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圆形"/>
          <p:cNvSpPr/>
          <p:nvPr/>
        </p:nvSpPr>
        <p:spPr>
          <a:xfrm>
            <a:off x="1121054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圆形"/>
          <p:cNvSpPr/>
          <p:nvPr/>
        </p:nvSpPr>
        <p:spPr>
          <a:xfrm>
            <a:off x="1121054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圆形"/>
          <p:cNvSpPr/>
          <p:nvPr/>
        </p:nvSpPr>
        <p:spPr>
          <a:xfrm>
            <a:off x="1121054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圆形"/>
          <p:cNvSpPr/>
          <p:nvPr/>
        </p:nvSpPr>
        <p:spPr>
          <a:xfrm>
            <a:off x="1137513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圆形"/>
          <p:cNvSpPr/>
          <p:nvPr/>
        </p:nvSpPr>
        <p:spPr>
          <a:xfrm>
            <a:off x="1137513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圆形"/>
          <p:cNvSpPr/>
          <p:nvPr/>
        </p:nvSpPr>
        <p:spPr>
          <a:xfrm>
            <a:off x="1137513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圆形"/>
          <p:cNvSpPr/>
          <p:nvPr/>
        </p:nvSpPr>
        <p:spPr>
          <a:xfrm>
            <a:off x="11539728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圆形"/>
          <p:cNvSpPr/>
          <p:nvPr/>
        </p:nvSpPr>
        <p:spPr>
          <a:xfrm>
            <a:off x="11539728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圆形"/>
          <p:cNvSpPr/>
          <p:nvPr/>
        </p:nvSpPr>
        <p:spPr>
          <a:xfrm>
            <a:off x="11539728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标题蓝色竖线"/>
          <p:cNvSpPr/>
          <p:nvPr/>
        </p:nvSpPr>
        <p:spPr>
          <a:xfrm>
            <a:off x="274320" y="356616"/>
            <a:ext cx="109728" cy="585216"/>
          </a:xfrm>
          <a:prstGeom prst="roundRect">
            <a:avLst>
              <a:gd name="adj" fmla="val 41666"/>
            </a:avLst>
          </a:prstGeom>
          <a:gradFill>
            <a:gsLst>
              <a:gs pos="0">
                <a:srgbClr val="3A92D5"/>
              </a:gs>
              <a:gs pos="100000">
                <a:srgbClr val="146FB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标题"/>
          <p:cNvSpPr txBox="1"/>
          <p:nvPr/>
        </p:nvSpPr>
        <p:spPr>
          <a:xfrm>
            <a:off x="621792" y="301752"/>
            <a:ext cx="9390888" cy="64922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3600">
                <a:latin typeface="微软雅黑" panose="020B0503020204020204" charset="-122"/>
              </a:defRPr>
            </a:pPr>
            <a:r>
              <a:rPr sz="35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CAN拓扑结构</a:t>
            </a:r>
            <a:endParaRPr sz="35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标题分隔线"/>
          <p:cNvSpPr/>
          <p:nvPr/>
        </p:nvSpPr>
        <p:spPr>
          <a:xfrm>
            <a:off x="621792" y="1051560"/>
            <a:ext cx="11109960" cy="18288"/>
          </a:xfrm>
          <a:prstGeom prst="rect">
            <a:avLst/>
          </a:prstGeom>
          <a:gradFill>
            <a:gsLst>
              <a:gs pos="0">
                <a:srgbClr val="3A92D5"/>
              </a:gs>
              <a:gs pos="100000">
                <a:srgbClr val="E3EFF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tongji_wordm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4" y="256032"/>
            <a:ext cx="1554480" cy="385298"/>
          </a:xfrm>
          <a:prstGeom prst="rect">
            <a:avLst/>
          </a:prstGeom>
          <a:effectLst/>
        </p:spPr>
      </p:pic>
      <p:sp>
        <p:nvSpPr>
          <p:cNvPr id="33" name="导入句"/>
          <p:cNvSpPr txBox="1"/>
          <p:nvPr/>
        </p:nvSpPr>
        <p:spPr>
          <a:xfrm>
            <a:off x="621792" y="1271016"/>
            <a:ext cx="10972800" cy="57607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000">
                <a:latin typeface="微软雅黑" panose="020B0503020204020204" charset="-122"/>
              </a:defRPr>
            </a:pPr>
            <a:r>
              <a:rPr sz="20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CAN 网络通常采用</a:t>
            </a:r>
            <a:r>
              <a:rPr sz="20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总线型拓扑</a:t>
            </a:r>
            <a:r>
              <a:rPr sz="20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，多个节点并联接入同一主干线，两端使用</a:t>
            </a:r>
            <a:r>
              <a:rPr sz="20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终端电阻</a:t>
            </a:r>
            <a:r>
              <a:rPr sz="20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进行匹配。</a:t>
            </a:r>
            <a:endParaRPr sz="20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6" name="CAN_H"/>
          <p:cNvCxnSpPr/>
          <p:nvPr/>
        </p:nvCxnSpPr>
        <p:spPr>
          <a:xfrm>
            <a:off x="1828800" y="4087368"/>
            <a:ext cx="8293608" cy="0"/>
          </a:xfrm>
          <a:prstGeom prst="line">
            <a:avLst/>
          </a:prstGeom>
          <a:ln w="3937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AN_L"/>
          <p:cNvCxnSpPr/>
          <p:nvPr/>
        </p:nvCxnSpPr>
        <p:spPr>
          <a:xfrm>
            <a:off x="1828800" y="4818888"/>
            <a:ext cx="8293608" cy="0"/>
          </a:xfrm>
          <a:prstGeom prst="line">
            <a:avLst/>
          </a:prstGeom>
          <a:ln w="39370" cap="rnd">
            <a:solidFill>
              <a:srgbClr val="259D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连线"/>
          <p:cNvCxnSpPr/>
          <p:nvPr/>
        </p:nvCxnSpPr>
        <p:spPr>
          <a:xfrm>
            <a:off x="1828800" y="4087368"/>
            <a:ext cx="0" cy="118872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120Ω终端电阻"/>
          <p:cNvSpPr/>
          <p:nvPr/>
        </p:nvSpPr>
        <p:spPr>
          <a:xfrm>
            <a:off x="1778508" y="4206240"/>
            <a:ext cx="100584" cy="493776"/>
          </a:xfrm>
          <a:prstGeom prst="rect">
            <a:avLst/>
          </a:prstGeom>
          <a:solidFill>
            <a:srgbClr val="FFFFFF"/>
          </a:solidFill>
          <a:ln w="2032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连线"/>
          <p:cNvCxnSpPr/>
          <p:nvPr/>
        </p:nvCxnSpPr>
        <p:spPr>
          <a:xfrm>
            <a:off x="1828800" y="4700016"/>
            <a:ext cx="0" cy="118872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圆形"/>
          <p:cNvSpPr/>
          <p:nvPr/>
        </p:nvSpPr>
        <p:spPr>
          <a:xfrm>
            <a:off x="1796796" y="4055363"/>
            <a:ext cx="64008" cy="64008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圆形"/>
          <p:cNvSpPr/>
          <p:nvPr/>
        </p:nvSpPr>
        <p:spPr>
          <a:xfrm>
            <a:off x="1796796" y="4786883"/>
            <a:ext cx="64008" cy="64008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文字"/>
          <p:cNvSpPr txBox="1"/>
          <p:nvPr/>
        </p:nvSpPr>
        <p:spPr>
          <a:xfrm>
            <a:off x="768096" y="4233672"/>
            <a:ext cx="950976" cy="491743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550">
                <a:latin typeface="微软雅黑" panose="020B0503020204020204" charset="-122"/>
              </a:defRPr>
            </a:pPr>
            <a:r>
              <a:rPr sz="17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终端电阻</a:t>
            </a:r>
            <a:endParaRPr sz="17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550">
                <a:latin typeface="微软雅黑" panose="020B0503020204020204" charset="-122"/>
              </a:defRPr>
            </a:pPr>
            <a:r>
              <a:rPr sz="17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120Ω</a:t>
            </a:r>
            <a:endParaRPr sz="17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4" name="连线"/>
          <p:cNvCxnSpPr/>
          <p:nvPr/>
        </p:nvCxnSpPr>
        <p:spPr>
          <a:xfrm>
            <a:off x="10122408" y="4087368"/>
            <a:ext cx="0" cy="118872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120Ω终端电阻"/>
          <p:cNvSpPr/>
          <p:nvPr/>
        </p:nvSpPr>
        <p:spPr>
          <a:xfrm>
            <a:off x="10072116" y="4206240"/>
            <a:ext cx="100584" cy="493776"/>
          </a:xfrm>
          <a:prstGeom prst="rect">
            <a:avLst/>
          </a:prstGeom>
          <a:solidFill>
            <a:srgbClr val="FFFFFF"/>
          </a:solidFill>
          <a:ln w="2032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连线"/>
          <p:cNvCxnSpPr/>
          <p:nvPr/>
        </p:nvCxnSpPr>
        <p:spPr>
          <a:xfrm>
            <a:off x="10122408" y="4700016"/>
            <a:ext cx="0" cy="118872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圆形"/>
          <p:cNvSpPr/>
          <p:nvPr/>
        </p:nvSpPr>
        <p:spPr>
          <a:xfrm>
            <a:off x="10090404" y="4055363"/>
            <a:ext cx="64008" cy="64008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圆形"/>
          <p:cNvSpPr/>
          <p:nvPr/>
        </p:nvSpPr>
        <p:spPr>
          <a:xfrm>
            <a:off x="10090404" y="4786883"/>
            <a:ext cx="64008" cy="64008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文字"/>
          <p:cNvSpPr txBox="1"/>
          <p:nvPr/>
        </p:nvSpPr>
        <p:spPr>
          <a:xfrm>
            <a:off x="10241280" y="4233672"/>
            <a:ext cx="950976" cy="491743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550">
                <a:latin typeface="微软雅黑" panose="020B0503020204020204" charset="-122"/>
              </a:defRPr>
            </a:pPr>
            <a:r>
              <a:rPr sz="17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终端电阻</a:t>
            </a:r>
            <a:endParaRPr sz="17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550">
                <a:latin typeface="微软雅黑" panose="020B0503020204020204" charset="-122"/>
              </a:defRPr>
            </a:pPr>
            <a:r>
              <a:rPr sz="17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120Ω</a:t>
            </a:r>
            <a:endParaRPr sz="17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节点1&#10;(ECU)"/>
          <p:cNvSpPr/>
          <p:nvPr/>
        </p:nvSpPr>
        <p:spPr>
          <a:xfrm>
            <a:off x="2066544" y="2523744"/>
            <a:ext cx="1051560" cy="758952"/>
          </a:xfrm>
          <a:prstGeom prst="roundRect">
            <a:avLst>
              <a:gd name="adj" fmla="val 8433"/>
            </a:avLst>
          </a:prstGeom>
          <a:gradFill>
            <a:gsLst>
              <a:gs pos="0">
                <a:srgbClr val="EBF5FF"/>
              </a:gs>
              <a:gs pos="100000">
                <a:srgbClr val="CFE5F9"/>
              </a:gs>
            </a:gsLst>
            <a:lin ang="5400000" scaled="1"/>
          </a:gradFill>
          <a:ln w="1397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节点1&#10;(ECU)标签"/>
          <p:cNvSpPr txBox="1"/>
          <p:nvPr/>
        </p:nvSpPr>
        <p:spPr>
          <a:xfrm>
            <a:off x="2112264" y="2569463"/>
            <a:ext cx="960119" cy="66751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200">
                <a:latin typeface="微软雅黑" panose="020B0503020204020204" charset="-122"/>
              </a:defRPr>
            </a:pPr>
            <a:r>
              <a:rPr sz="22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节点1</a:t>
            </a:r>
            <a:endParaRPr sz="22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200">
                <a:latin typeface="微软雅黑" panose="020B0503020204020204" charset="-122"/>
              </a:defRPr>
            </a:pPr>
            <a:r>
              <a:rPr sz="22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(ECU)</a:t>
            </a:r>
            <a:endParaRPr sz="22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2" name="连线"/>
          <p:cNvCxnSpPr/>
          <p:nvPr/>
        </p:nvCxnSpPr>
        <p:spPr>
          <a:xfrm>
            <a:off x="2532888" y="3282696"/>
            <a:ext cx="0" cy="804672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连线"/>
          <p:cNvCxnSpPr/>
          <p:nvPr/>
        </p:nvCxnSpPr>
        <p:spPr>
          <a:xfrm>
            <a:off x="2642616" y="3282696"/>
            <a:ext cx="0" cy="1536192"/>
          </a:xfrm>
          <a:prstGeom prst="line">
            <a:avLst/>
          </a:prstGeom>
          <a:ln w="21590" cap="rnd">
            <a:solidFill>
              <a:srgbClr val="259D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圆形"/>
          <p:cNvSpPr/>
          <p:nvPr/>
        </p:nvSpPr>
        <p:spPr>
          <a:xfrm>
            <a:off x="2498140" y="4053535"/>
            <a:ext cx="69494" cy="6949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圆形"/>
          <p:cNvSpPr/>
          <p:nvPr/>
        </p:nvSpPr>
        <p:spPr>
          <a:xfrm>
            <a:off x="2608783" y="4785055"/>
            <a:ext cx="69494" cy="69494"/>
          </a:xfrm>
          <a:prstGeom prst="ellipse">
            <a:avLst/>
          </a:prstGeom>
          <a:solidFill>
            <a:srgbClr val="259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节点2&#10;(ECU)"/>
          <p:cNvSpPr/>
          <p:nvPr/>
        </p:nvSpPr>
        <p:spPr>
          <a:xfrm>
            <a:off x="3575304" y="2523744"/>
            <a:ext cx="1051560" cy="758952"/>
          </a:xfrm>
          <a:prstGeom prst="roundRect">
            <a:avLst>
              <a:gd name="adj" fmla="val 8433"/>
            </a:avLst>
          </a:prstGeom>
          <a:gradFill>
            <a:gsLst>
              <a:gs pos="0">
                <a:srgbClr val="EBF5FF"/>
              </a:gs>
              <a:gs pos="100000">
                <a:srgbClr val="CFE5F9"/>
              </a:gs>
            </a:gsLst>
            <a:lin ang="5400000" scaled="1"/>
          </a:gradFill>
          <a:ln w="1397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节点2&#10;(ECU)标签"/>
          <p:cNvSpPr txBox="1"/>
          <p:nvPr/>
        </p:nvSpPr>
        <p:spPr>
          <a:xfrm>
            <a:off x="3621024" y="2569463"/>
            <a:ext cx="960119" cy="66751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200">
                <a:latin typeface="微软雅黑" panose="020B0503020204020204" charset="-122"/>
              </a:defRPr>
            </a:pPr>
            <a:r>
              <a:rPr sz="22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节点2</a:t>
            </a:r>
            <a:endParaRPr sz="22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200">
                <a:latin typeface="微软雅黑" panose="020B0503020204020204" charset="-122"/>
              </a:defRPr>
            </a:pPr>
            <a:r>
              <a:rPr sz="22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(ECU)</a:t>
            </a:r>
            <a:endParaRPr sz="22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8" name="连线"/>
          <p:cNvCxnSpPr/>
          <p:nvPr/>
        </p:nvCxnSpPr>
        <p:spPr>
          <a:xfrm>
            <a:off x="4041648" y="3282696"/>
            <a:ext cx="0" cy="804672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连线"/>
          <p:cNvCxnSpPr/>
          <p:nvPr/>
        </p:nvCxnSpPr>
        <p:spPr>
          <a:xfrm>
            <a:off x="4151376" y="3282696"/>
            <a:ext cx="0" cy="1536192"/>
          </a:xfrm>
          <a:prstGeom prst="line">
            <a:avLst/>
          </a:prstGeom>
          <a:ln w="21590" cap="rnd">
            <a:solidFill>
              <a:srgbClr val="259D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圆形"/>
          <p:cNvSpPr/>
          <p:nvPr/>
        </p:nvSpPr>
        <p:spPr>
          <a:xfrm>
            <a:off x="4006900" y="4053535"/>
            <a:ext cx="69494" cy="6949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圆形"/>
          <p:cNvSpPr/>
          <p:nvPr/>
        </p:nvSpPr>
        <p:spPr>
          <a:xfrm>
            <a:off x="4117543" y="4785055"/>
            <a:ext cx="69494" cy="69494"/>
          </a:xfrm>
          <a:prstGeom prst="ellipse">
            <a:avLst/>
          </a:prstGeom>
          <a:solidFill>
            <a:srgbClr val="259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节点3&#10;(ECU)"/>
          <p:cNvSpPr/>
          <p:nvPr/>
        </p:nvSpPr>
        <p:spPr>
          <a:xfrm>
            <a:off x="5111496" y="2523744"/>
            <a:ext cx="1051560" cy="758952"/>
          </a:xfrm>
          <a:prstGeom prst="roundRect">
            <a:avLst>
              <a:gd name="adj" fmla="val 8433"/>
            </a:avLst>
          </a:prstGeom>
          <a:gradFill>
            <a:gsLst>
              <a:gs pos="0">
                <a:srgbClr val="EBF5FF"/>
              </a:gs>
              <a:gs pos="100000">
                <a:srgbClr val="CFE5F9"/>
              </a:gs>
            </a:gsLst>
            <a:lin ang="5400000" scaled="1"/>
          </a:gradFill>
          <a:ln w="1397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节点3&#10;(ECU)标签"/>
          <p:cNvSpPr txBox="1"/>
          <p:nvPr/>
        </p:nvSpPr>
        <p:spPr>
          <a:xfrm>
            <a:off x="5157216" y="2569463"/>
            <a:ext cx="960119" cy="66751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200">
                <a:latin typeface="微软雅黑" panose="020B0503020204020204" charset="-122"/>
              </a:defRPr>
            </a:pPr>
            <a:r>
              <a:rPr sz="22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节点3</a:t>
            </a:r>
            <a:endParaRPr sz="22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200">
                <a:latin typeface="微软雅黑" panose="020B0503020204020204" charset="-122"/>
              </a:defRPr>
            </a:pPr>
            <a:r>
              <a:rPr sz="22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(ECU)</a:t>
            </a:r>
            <a:endParaRPr sz="22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4" name="连线"/>
          <p:cNvCxnSpPr/>
          <p:nvPr/>
        </p:nvCxnSpPr>
        <p:spPr>
          <a:xfrm>
            <a:off x="5577840" y="3282696"/>
            <a:ext cx="0" cy="804672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连线"/>
          <p:cNvCxnSpPr/>
          <p:nvPr/>
        </p:nvCxnSpPr>
        <p:spPr>
          <a:xfrm>
            <a:off x="5687568" y="3282696"/>
            <a:ext cx="0" cy="1536192"/>
          </a:xfrm>
          <a:prstGeom prst="line">
            <a:avLst/>
          </a:prstGeom>
          <a:ln w="21590" cap="rnd">
            <a:solidFill>
              <a:srgbClr val="259D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圆形"/>
          <p:cNvSpPr/>
          <p:nvPr/>
        </p:nvSpPr>
        <p:spPr>
          <a:xfrm>
            <a:off x="5543092" y="4053535"/>
            <a:ext cx="69494" cy="6949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圆形"/>
          <p:cNvSpPr/>
          <p:nvPr/>
        </p:nvSpPr>
        <p:spPr>
          <a:xfrm>
            <a:off x="5653735" y="4785055"/>
            <a:ext cx="69494" cy="69494"/>
          </a:xfrm>
          <a:prstGeom prst="ellipse">
            <a:avLst/>
          </a:prstGeom>
          <a:solidFill>
            <a:srgbClr val="259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节点N&#10;(ECU)"/>
          <p:cNvSpPr/>
          <p:nvPr/>
        </p:nvSpPr>
        <p:spPr>
          <a:xfrm>
            <a:off x="7708392" y="2523744"/>
            <a:ext cx="1051560" cy="758952"/>
          </a:xfrm>
          <a:prstGeom prst="roundRect">
            <a:avLst>
              <a:gd name="adj" fmla="val 8433"/>
            </a:avLst>
          </a:prstGeom>
          <a:gradFill>
            <a:gsLst>
              <a:gs pos="0">
                <a:srgbClr val="EBF5FF"/>
              </a:gs>
              <a:gs pos="100000">
                <a:srgbClr val="CFE5F9"/>
              </a:gs>
            </a:gsLst>
            <a:lin ang="5400000" scaled="1"/>
          </a:gradFill>
          <a:ln w="1397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节点N&#10;(ECU)标签"/>
          <p:cNvSpPr txBox="1"/>
          <p:nvPr/>
        </p:nvSpPr>
        <p:spPr>
          <a:xfrm>
            <a:off x="7754112" y="2569463"/>
            <a:ext cx="960119" cy="66751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200">
                <a:latin typeface="微软雅黑" panose="020B0503020204020204" charset="-122"/>
              </a:defRPr>
            </a:pPr>
            <a:r>
              <a:rPr sz="22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节点N</a:t>
            </a:r>
            <a:endParaRPr sz="22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200">
                <a:latin typeface="微软雅黑" panose="020B0503020204020204" charset="-122"/>
              </a:defRPr>
            </a:pPr>
            <a:r>
              <a:rPr sz="22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(ECU)</a:t>
            </a:r>
            <a:endParaRPr sz="22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0" name="连线"/>
          <p:cNvCxnSpPr/>
          <p:nvPr/>
        </p:nvCxnSpPr>
        <p:spPr>
          <a:xfrm>
            <a:off x="8174736" y="3282696"/>
            <a:ext cx="0" cy="804672"/>
          </a:xfrm>
          <a:prstGeom prst="line">
            <a:avLst/>
          </a:prstGeom>
          <a:ln w="2159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连线"/>
          <p:cNvCxnSpPr/>
          <p:nvPr/>
        </p:nvCxnSpPr>
        <p:spPr>
          <a:xfrm>
            <a:off x="8284464" y="3282696"/>
            <a:ext cx="0" cy="1536192"/>
          </a:xfrm>
          <a:prstGeom prst="line">
            <a:avLst/>
          </a:prstGeom>
          <a:ln w="21590" cap="rnd">
            <a:solidFill>
              <a:srgbClr val="259D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圆形"/>
          <p:cNvSpPr/>
          <p:nvPr/>
        </p:nvSpPr>
        <p:spPr>
          <a:xfrm>
            <a:off x="8139988" y="4053535"/>
            <a:ext cx="69494" cy="6949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圆形"/>
          <p:cNvSpPr/>
          <p:nvPr/>
        </p:nvSpPr>
        <p:spPr>
          <a:xfrm>
            <a:off x="8250631" y="4785055"/>
            <a:ext cx="69494" cy="69494"/>
          </a:xfrm>
          <a:prstGeom prst="ellipse">
            <a:avLst/>
          </a:prstGeom>
          <a:solidFill>
            <a:srgbClr val="259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文字"/>
          <p:cNvSpPr txBox="1"/>
          <p:nvPr/>
        </p:nvSpPr>
        <p:spPr>
          <a:xfrm>
            <a:off x="6574536" y="2770632"/>
            <a:ext cx="758952" cy="36576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600">
                <a:latin typeface="微软雅黑" panose="020B0503020204020204" charset="-122"/>
              </a:defRPr>
            </a:pPr>
            <a:r>
              <a:rPr sz="1900" b="1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•••</a:t>
            </a:r>
            <a:endParaRPr sz="1900" b="1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文字"/>
          <p:cNvSpPr txBox="1"/>
          <p:nvPr/>
        </p:nvSpPr>
        <p:spPr>
          <a:xfrm>
            <a:off x="8942832" y="3803904"/>
            <a:ext cx="1078992" cy="2997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900">
                <a:latin typeface="微软雅黑" panose="020B0503020204020204" charset="-122"/>
              </a:defRPr>
            </a:pPr>
            <a:r>
              <a:rPr sz="20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CAN_H</a:t>
            </a:r>
            <a:endParaRPr sz="20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文字"/>
          <p:cNvSpPr txBox="1"/>
          <p:nvPr/>
        </p:nvSpPr>
        <p:spPr>
          <a:xfrm>
            <a:off x="8942832" y="4928616"/>
            <a:ext cx="1078992" cy="2997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900">
                <a:latin typeface="微软雅黑" panose="020B0503020204020204" charset="-122"/>
              </a:defRPr>
            </a:pPr>
            <a:r>
              <a:rPr sz="2000" b="1">
                <a:solidFill>
                  <a:srgbClr val="259DBE"/>
                </a:solidFill>
                <a:latin typeface="微软雅黑" panose="020B0503020204020204" charset="-122"/>
                <a:ea typeface="微软雅黑" panose="020B0503020204020204" charset="-122"/>
              </a:rPr>
              <a:t>CAN_L</a:t>
            </a:r>
            <a:endParaRPr sz="2000" b="1">
              <a:solidFill>
                <a:srgbClr val="259DB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文字"/>
          <p:cNvSpPr txBox="1"/>
          <p:nvPr/>
        </p:nvSpPr>
        <p:spPr>
          <a:xfrm>
            <a:off x="4782312" y="4965192"/>
            <a:ext cx="2194560" cy="38201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600">
                <a:latin typeface="微软雅黑" panose="020B0503020204020204" charset="-122"/>
              </a:defRPr>
            </a:pPr>
            <a:r>
              <a:rPr sz="2600" b="1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主干线</a:t>
            </a:r>
            <a:endParaRPr sz="2600" b="1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矩形"/>
          <p:cNvSpPr/>
          <p:nvPr/>
        </p:nvSpPr>
        <p:spPr>
          <a:xfrm>
            <a:off x="9144000" y="2194560"/>
            <a:ext cx="2514600" cy="932688"/>
          </a:xfrm>
          <a:prstGeom prst="roundRect">
            <a:avLst>
              <a:gd name="adj" fmla="val 15686"/>
            </a:avLst>
          </a:prstGeom>
          <a:solidFill>
            <a:srgbClr val="ED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可编辑曲线"/>
          <p:cNvSpPr/>
          <p:nvPr/>
        </p:nvSpPr>
        <p:spPr>
          <a:xfrm>
            <a:off x="9308592" y="2459736"/>
            <a:ext cx="374904" cy="329915"/>
          </a:xfrm>
          <a:custGeom>
            <a:avLst/>
            <a:gdLst/>
            <a:ahLst/>
            <a:cxnLst/>
            <a:rect l="l" t="t" r="r" b="b"/>
            <a:pathLst>
              <a:path w="374904" h="329915">
                <a:moveTo>
                  <a:pt x="187452" y="0"/>
                </a:moveTo>
                <a:lnTo>
                  <a:pt x="374904" y="329915"/>
                </a:lnTo>
                <a:lnTo>
                  <a:pt x="0" y="329915"/>
                </a:lnTo>
                <a:close/>
              </a:path>
            </a:pathLst>
          </a:custGeom>
          <a:solidFill>
            <a:srgbClr val="146FB5"/>
          </a:solidFill>
          <a:ln w="1905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文字"/>
          <p:cNvSpPr txBox="1"/>
          <p:nvPr/>
        </p:nvSpPr>
        <p:spPr>
          <a:xfrm>
            <a:off x="9421063" y="2504724"/>
            <a:ext cx="149961" cy="28600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765">
                <a:latin typeface="微软雅黑" panose="020B0503020204020204" charset="-122"/>
              </a:defRPr>
            </a:pPr>
            <a:r>
              <a:rPr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!</a:t>
            </a:r>
            <a:endParaRPr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文字"/>
          <p:cNvSpPr txBox="1"/>
          <p:nvPr/>
        </p:nvSpPr>
        <p:spPr>
          <a:xfrm>
            <a:off x="9838944" y="2404872"/>
            <a:ext cx="1645920" cy="521207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300">
                <a:latin typeface="微软雅黑" panose="020B0503020204020204" charset="-122"/>
              </a:defRPr>
            </a:pPr>
            <a:r>
              <a:rPr sz="14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分支线不宜过长，</a:t>
            </a:r>
            <a:endParaRPr sz="14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300">
                <a:latin typeface="微软雅黑" panose="020B0503020204020204" charset="-122"/>
              </a:defRPr>
            </a:pPr>
            <a:r>
              <a:rPr sz="14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以免影响信号质量。</a:t>
            </a:r>
            <a:endParaRPr sz="14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本页总结背景"/>
          <p:cNvSpPr/>
          <p:nvPr/>
        </p:nvSpPr>
        <p:spPr>
          <a:xfrm>
            <a:off x="585216" y="5833872"/>
            <a:ext cx="11064240" cy="630936"/>
          </a:xfrm>
          <a:prstGeom prst="roundRect">
            <a:avLst>
              <a:gd name="adj" fmla="val 21739"/>
            </a:avLst>
          </a:prstGeom>
          <a:gradFill>
            <a:gsLst>
              <a:gs pos="0">
                <a:srgbClr val="F0F7FE"/>
              </a:gs>
              <a:gs pos="100000">
                <a:srgbClr val="E9F3F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可编辑曲线"/>
          <p:cNvSpPr/>
          <p:nvPr/>
        </p:nvSpPr>
        <p:spPr>
          <a:xfrm>
            <a:off x="907999" y="5972495"/>
            <a:ext cx="310621" cy="133685"/>
          </a:xfrm>
          <a:custGeom>
            <a:avLst/>
            <a:gdLst/>
            <a:ahLst/>
            <a:cxnLst/>
            <a:rect l="l" t="t" r="r" b="b"/>
            <a:pathLst>
              <a:path w="310621" h="133685">
                <a:moveTo>
                  <a:pt x="0" y="133685"/>
                </a:moveTo>
                <a:lnTo>
                  <a:pt x="51115" y="0"/>
                </a:lnTo>
                <a:lnTo>
                  <a:pt x="251643" y="0"/>
                </a:lnTo>
                <a:lnTo>
                  <a:pt x="310621" y="133685"/>
                </a:lnTo>
              </a:path>
            </a:pathLst>
          </a:custGeom>
          <a:noFill/>
          <a:ln w="254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矩形"/>
          <p:cNvSpPr/>
          <p:nvPr/>
        </p:nvSpPr>
        <p:spPr>
          <a:xfrm>
            <a:off x="896203" y="6094384"/>
            <a:ext cx="338145" cy="165140"/>
          </a:xfrm>
          <a:prstGeom prst="roundRect">
            <a:avLst>
              <a:gd name="adj" fmla="val 19047"/>
            </a:avLst>
          </a:prstGeom>
          <a:noFill/>
          <a:ln w="254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连线"/>
          <p:cNvCxnSpPr/>
          <p:nvPr/>
        </p:nvCxnSpPr>
        <p:spPr>
          <a:xfrm>
            <a:off x="915863" y="6102248"/>
            <a:ext cx="302757" cy="0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圆形"/>
          <p:cNvSpPr/>
          <p:nvPr/>
        </p:nvSpPr>
        <p:spPr>
          <a:xfrm>
            <a:off x="935522" y="6153363"/>
            <a:ext cx="51114" cy="5111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圆形"/>
          <p:cNvSpPr/>
          <p:nvPr/>
        </p:nvSpPr>
        <p:spPr>
          <a:xfrm>
            <a:off x="1136050" y="6153363"/>
            <a:ext cx="51114" cy="5111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连线"/>
          <p:cNvCxnSpPr/>
          <p:nvPr/>
        </p:nvCxnSpPr>
        <p:spPr>
          <a:xfrm>
            <a:off x="943386" y="6255593"/>
            <a:ext cx="0" cy="51115"/>
          </a:xfrm>
          <a:prstGeom prst="line">
            <a:avLst/>
          </a:prstGeom>
          <a:ln w="381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连线"/>
          <p:cNvCxnSpPr/>
          <p:nvPr/>
        </p:nvCxnSpPr>
        <p:spPr>
          <a:xfrm>
            <a:off x="1183233" y="6255593"/>
            <a:ext cx="0" cy="51115"/>
          </a:xfrm>
          <a:prstGeom prst="line">
            <a:avLst/>
          </a:prstGeom>
          <a:ln w="381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连线"/>
          <p:cNvCxnSpPr/>
          <p:nvPr/>
        </p:nvCxnSpPr>
        <p:spPr>
          <a:xfrm>
            <a:off x="1435608" y="5925312"/>
            <a:ext cx="0" cy="448056"/>
          </a:xfrm>
          <a:prstGeom prst="line">
            <a:avLst/>
          </a:prstGeom>
          <a:ln w="15875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本页总结"/>
          <p:cNvSpPr txBox="1"/>
          <p:nvPr/>
        </p:nvSpPr>
        <p:spPr>
          <a:xfrm>
            <a:off x="1655064" y="5925312"/>
            <a:ext cx="9692640" cy="484631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100">
                <a:latin typeface="微软雅黑" panose="020B0503020204020204" charset="-122"/>
              </a:defRPr>
            </a:pPr>
            <a:r>
              <a:rPr sz="21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总线型拓扑</a:t>
            </a:r>
            <a:r>
              <a:rPr sz="21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是 CAN 简化接线和支持多节点通信的重要基础。</a:t>
            </a:r>
            <a:endParaRPr sz="21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白色背景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右下角淡蓝装饰"/>
          <p:cNvSpPr/>
          <p:nvPr/>
        </p:nvSpPr>
        <p:spPr>
          <a:xfrm>
            <a:off x="10774679" y="5440680"/>
            <a:ext cx="1417320" cy="1417320"/>
          </a:xfrm>
          <a:custGeom>
            <a:avLst/>
            <a:gdLst/>
            <a:ahLst/>
            <a:cxnLst/>
            <a:rect l="l" t="t" r="r" b="b"/>
            <a:pathLst>
              <a:path w="1417320" h="1417320">
                <a:moveTo>
                  <a:pt x="1417320" y="1417320"/>
                </a:moveTo>
                <a:lnTo>
                  <a:pt x="0" y="1417320"/>
                </a:lnTo>
                <a:lnTo>
                  <a:pt x="700" y="1372800"/>
                </a:lnTo>
                <a:lnTo>
                  <a:pt x="2797" y="1328325"/>
                </a:lnTo>
                <a:lnTo>
                  <a:pt x="6290" y="1283938"/>
                </a:lnTo>
                <a:lnTo>
                  <a:pt x="11176" y="1239682"/>
                </a:lnTo>
                <a:lnTo>
                  <a:pt x="17450" y="1195602"/>
                </a:lnTo>
                <a:lnTo>
                  <a:pt x="25105" y="1151740"/>
                </a:lnTo>
                <a:lnTo>
                  <a:pt x="34134" y="1108141"/>
                </a:lnTo>
                <a:lnTo>
                  <a:pt x="44528" y="1064846"/>
                </a:lnTo>
                <a:lnTo>
                  <a:pt x="56277" y="1021900"/>
                </a:lnTo>
                <a:lnTo>
                  <a:pt x="69369" y="979344"/>
                </a:lnTo>
                <a:lnTo>
                  <a:pt x="83791" y="937219"/>
                </a:lnTo>
                <a:lnTo>
                  <a:pt x="99529" y="895569"/>
                </a:lnTo>
                <a:lnTo>
                  <a:pt x="116568" y="854434"/>
                </a:lnTo>
                <a:lnTo>
                  <a:pt x="134891" y="813854"/>
                </a:lnTo>
                <a:lnTo>
                  <a:pt x="154479" y="773870"/>
                </a:lnTo>
                <a:lnTo>
                  <a:pt x="175313" y="734520"/>
                </a:lnTo>
                <a:lnTo>
                  <a:pt x="197373" y="695845"/>
                </a:lnTo>
                <a:lnTo>
                  <a:pt x="220637" y="657881"/>
                </a:lnTo>
                <a:lnTo>
                  <a:pt x="245082" y="620667"/>
                </a:lnTo>
                <a:lnTo>
                  <a:pt x="270684" y="584240"/>
                </a:lnTo>
                <a:lnTo>
                  <a:pt x="297418" y="548634"/>
                </a:lnTo>
                <a:lnTo>
                  <a:pt x="325256" y="513886"/>
                </a:lnTo>
                <a:lnTo>
                  <a:pt x="354173" y="480029"/>
                </a:lnTo>
                <a:lnTo>
                  <a:pt x="384138" y="447097"/>
                </a:lnTo>
                <a:lnTo>
                  <a:pt x="415124" y="415123"/>
                </a:lnTo>
                <a:lnTo>
                  <a:pt x="447098" y="384138"/>
                </a:lnTo>
                <a:lnTo>
                  <a:pt x="480030" y="354172"/>
                </a:lnTo>
                <a:lnTo>
                  <a:pt x="513886" y="325256"/>
                </a:lnTo>
                <a:lnTo>
                  <a:pt x="548635" y="297417"/>
                </a:lnTo>
                <a:lnTo>
                  <a:pt x="584240" y="270684"/>
                </a:lnTo>
                <a:lnTo>
                  <a:pt x="620668" y="245082"/>
                </a:lnTo>
                <a:lnTo>
                  <a:pt x="657882" y="220637"/>
                </a:lnTo>
                <a:lnTo>
                  <a:pt x="695846" y="197373"/>
                </a:lnTo>
                <a:lnTo>
                  <a:pt x="734521" y="175313"/>
                </a:lnTo>
                <a:lnTo>
                  <a:pt x="773870" y="154478"/>
                </a:lnTo>
                <a:lnTo>
                  <a:pt x="813855" y="134890"/>
                </a:lnTo>
                <a:lnTo>
                  <a:pt x="854435" y="116568"/>
                </a:lnTo>
                <a:lnTo>
                  <a:pt x="895570" y="99529"/>
                </a:lnTo>
                <a:lnTo>
                  <a:pt x="937220" y="83790"/>
                </a:lnTo>
                <a:lnTo>
                  <a:pt x="979344" y="69368"/>
                </a:lnTo>
                <a:lnTo>
                  <a:pt x="1021901" y="56276"/>
                </a:lnTo>
                <a:lnTo>
                  <a:pt x="1064847" y="44527"/>
                </a:lnTo>
                <a:lnTo>
                  <a:pt x="1108141" y="34133"/>
                </a:lnTo>
                <a:lnTo>
                  <a:pt x="1151741" y="25104"/>
                </a:lnTo>
                <a:lnTo>
                  <a:pt x="1195602" y="17449"/>
                </a:lnTo>
                <a:lnTo>
                  <a:pt x="1239683" y="11175"/>
                </a:lnTo>
                <a:lnTo>
                  <a:pt x="1283939" y="6290"/>
                </a:lnTo>
                <a:lnTo>
                  <a:pt x="1328326" y="2796"/>
                </a:lnTo>
                <a:lnTo>
                  <a:pt x="1372801" y="699"/>
                </a:lnTo>
                <a:lnTo>
                  <a:pt x="1417320" y="0"/>
                </a:lnTo>
                <a:lnTo>
                  <a:pt x="1417320" y="1417320"/>
                </a:lnTo>
                <a:close/>
              </a:path>
            </a:pathLst>
          </a:custGeom>
          <a:solidFill>
            <a:srgbClr val="F4F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右下角淡蓝装饰"/>
          <p:cNvSpPr/>
          <p:nvPr/>
        </p:nvSpPr>
        <p:spPr>
          <a:xfrm>
            <a:off x="11076431" y="5742432"/>
            <a:ext cx="1115568" cy="1115568"/>
          </a:xfrm>
          <a:custGeom>
            <a:avLst/>
            <a:gdLst/>
            <a:ahLst/>
            <a:cxnLst/>
            <a:rect l="l" t="t" r="r" b="b"/>
            <a:pathLst>
              <a:path w="1115568" h="1115568">
                <a:moveTo>
                  <a:pt x="1115568" y="1115568"/>
                </a:moveTo>
                <a:lnTo>
                  <a:pt x="0" y="1115568"/>
                </a:lnTo>
                <a:lnTo>
                  <a:pt x="551" y="1080527"/>
                </a:lnTo>
                <a:lnTo>
                  <a:pt x="2202" y="1045520"/>
                </a:lnTo>
                <a:lnTo>
                  <a:pt x="4951" y="1010583"/>
                </a:lnTo>
                <a:lnTo>
                  <a:pt x="8797" y="975750"/>
                </a:lnTo>
                <a:lnTo>
                  <a:pt x="13735" y="941054"/>
                </a:lnTo>
                <a:lnTo>
                  <a:pt x="19760" y="906531"/>
                </a:lnTo>
                <a:lnTo>
                  <a:pt x="26867" y="872214"/>
                </a:lnTo>
                <a:lnTo>
                  <a:pt x="35048" y="838137"/>
                </a:lnTo>
                <a:lnTo>
                  <a:pt x="44295" y="804334"/>
                </a:lnTo>
                <a:lnTo>
                  <a:pt x="54600" y="770838"/>
                </a:lnTo>
                <a:lnTo>
                  <a:pt x="65952" y="737682"/>
                </a:lnTo>
                <a:lnTo>
                  <a:pt x="78339" y="704900"/>
                </a:lnTo>
                <a:lnTo>
                  <a:pt x="91751" y="672522"/>
                </a:lnTo>
                <a:lnTo>
                  <a:pt x="106172" y="640582"/>
                </a:lnTo>
                <a:lnTo>
                  <a:pt x="121590" y="609110"/>
                </a:lnTo>
                <a:lnTo>
                  <a:pt x="137989" y="578139"/>
                </a:lnTo>
                <a:lnTo>
                  <a:pt x="155352" y="547697"/>
                </a:lnTo>
                <a:lnTo>
                  <a:pt x="173663" y="517816"/>
                </a:lnTo>
                <a:lnTo>
                  <a:pt x="192904" y="488525"/>
                </a:lnTo>
                <a:lnTo>
                  <a:pt x="213055" y="459853"/>
                </a:lnTo>
                <a:lnTo>
                  <a:pt x="234097" y="431828"/>
                </a:lnTo>
                <a:lnTo>
                  <a:pt x="256008" y="404478"/>
                </a:lnTo>
                <a:lnTo>
                  <a:pt x="278768" y="377829"/>
                </a:lnTo>
                <a:lnTo>
                  <a:pt x="302354" y="351909"/>
                </a:lnTo>
                <a:lnTo>
                  <a:pt x="326742" y="326742"/>
                </a:lnTo>
                <a:lnTo>
                  <a:pt x="351909" y="302353"/>
                </a:lnTo>
                <a:lnTo>
                  <a:pt x="377830" y="278768"/>
                </a:lnTo>
                <a:lnTo>
                  <a:pt x="404478" y="256008"/>
                </a:lnTo>
                <a:lnTo>
                  <a:pt x="431829" y="234096"/>
                </a:lnTo>
                <a:lnTo>
                  <a:pt x="459854" y="213054"/>
                </a:lnTo>
                <a:lnTo>
                  <a:pt x="488526" y="192903"/>
                </a:lnTo>
                <a:lnTo>
                  <a:pt x="517817" y="173662"/>
                </a:lnTo>
                <a:lnTo>
                  <a:pt x="547698" y="155351"/>
                </a:lnTo>
                <a:lnTo>
                  <a:pt x="578139" y="137988"/>
                </a:lnTo>
                <a:lnTo>
                  <a:pt x="609111" y="121589"/>
                </a:lnTo>
                <a:lnTo>
                  <a:pt x="640582" y="106171"/>
                </a:lnTo>
                <a:lnTo>
                  <a:pt x="672523" y="91750"/>
                </a:lnTo>
                <a:lnTo>
                  <a:pt x="704900" y="78339"/>
                </a:lnTo>
                <a:lnTo>
                  <a:pt x="737683" y="65951"/>
                </a:lnTo>
                <a:lnTo>
                  <a:pt x="770839" y="54599"/>
                </a:lnTo>
                <a:lnTo>
                  <a:pt x="804335" y="44295"/>
                </a:lnTo>
                <a:lnTo>
                  <a:pt x="838138" y="35047"/>
                </a:lnTo>
                <a:lnTo>
                  <a:pt x="872215" y="26866"/>
                </a:lnTo>
                <a:lnTo>
                  <a:pt x="906532" y="19759"/>
                </a:lnTo>
                <a:lnTo>
                  <a:pt x="941055" y="13734"/>
                </a:lnTo>
                <a:lnTo>
                  <a:pt x="975750" y="8796"/>
                </a:lnTo>
                <a:lnTo>
                  <a:pt x="1010584" y="4950"/>
                </a:lnTo>
                <a:lnTo>
                  <a:pt x="1045521" y="2201"/>
                </a:lnTo>
                <a:lnTo>
                  <a:pt x="1080527" y="550"/>
                </a:lnTo>
                <a:lnTo>
                  <a:pt x="1115568" y="0"/>
                </a:lnTo>
                <a:lnTo>
                  <a:pt x="1115568" y="1115568"/>
                </a:lnTo>
                <a:close/>
              </a:path>
            </a:pathLst>
          </a:custGeom>
          <a:solidFill>
            <a:srgbClr val="F8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圆形"/>
          <p:cNvSpPr/>
          <p:nvPr/>
        </p:nvSpPr>
        <p:spPr>
          <a:xfrm>
            <a:off x="1038758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圆形"/>
          <p:cNvSpPr/>
          <p:nvPr/>
        </p:nvSpPr>
        <p:spPr>
          <a:xfrm>
            <a:off x="1038758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圆形"/>
          <p:cNvSpPr/>
          <p:nvPr/>
        </p:nvSpPr>
        <p:spPr>
          <a:xfrm>
            <a:off x="1038758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圆形"/>
          <p:cNvSpPr/>
          <p:nvPr/>
        </p:nvSpPr>
        <p:spPr>
          <a:xfrm>
            <a:off x="1055217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圆形"/>
          <p:cNvSpPr/>
          <p:nvPr/>
        </p:nvSpPr>
        <p:spPr>
          <a:xfrm>
            <a:off x="1055217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圆形"/>
          <p:cNvSpPr/>
          <p:nvPr/>
        </p:nvSpPr>
        <p:spPr>
          <a:xfrm>
            <a:off x="1055217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圆形"/>
          <p:cNvSpPr/>
          <p:nvPr/>
        </p:nvSpPr>
        <p:spPr>
          <a:xfrm>
            <a:off x="10716767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圆形"/>
          <p:cNvSpPr/>
          <p:nvPr/>
        </p:nvSpPr>
        <p:spPr>
          <a:xfrm>
            <a:off x="10716767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圆形"/>
          <p:cNvSpPr/>
          <p:nvPr/>
        </p:nvSpPr>
        <p:spPr>
          <a:xfrm>
            <a:off x="10716767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圆形"/>
          <p:cNvSpPr/>
          <p:nvPr/>
        </p:nvSpPr>
        <p:spPr>
          <a:xfrm>
            <a:off x="10881359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圆形"/>
          <p:cNvSpPr/>
          <p:nvPr/>
        </p:nvSpPr>
        <p:spPr>
          <a:xfrm>
            <a:off x="10881359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圆形"/>
          <p:cNvSpPr/>
          <p:nvPr/>
        </p:nvSpPr>
        <p:spPr>
          <a:xfrm>
            <a:off x="10881359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圆形"/>
          <p:cNvSpPr/>
          <p:nvPr/>
        </p:nvSpPr>
        <p:spPr>
          <a:xfrm>
            <a:off x="11045952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圆形"/>
          <p:cNvSpPr/>
          <p:nvPr/>
        </p:nvSpPr>
        <p:spPr>
          <a:xfrm>
            <a:off x="11045952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圆形"/>
          <p:cNvSpPr/>
          <p:nvPr/>
        </p:nvSpPr>
        <p:spPr>
          <a:xfrm>
            <a:off x="11045952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圆形"/>
          <p:cNvSpPr/>
          <p:nvPr/>
        </p:nvSpPr>
        <p:spPr>
          <a:xfrm>
            <a:off x="1121054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圆形"/>
          <p:cNvSpPr/>
          <p:nvPr/>
        </p:nvSpPr>
        <p:spPr>
          <a:xfrm>
            <a:off x="1121054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圆形"/>
          <p:cNvSpPr/>
          <p:nvPr/>
        </p:nvSpPr>
        <p:spPr>
          <a:xfrm>
            <a:off x="1121054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圆形"/>
          <p:cNvSpPr/>
          <p:nvPr/>
        </p:nvSpPr>
        <p:spPr>
          <a:xfrm>
            <a:off x="1137513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圆形"/>
          <p:cNvSpPr/>
          <p:nvPr/>
        </p:nvSpPr>
        <p:spPr>
          <a:xfrm>
            <a:off x="1137513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圆形"/>
          <p:cNvSpPr/>
          <p:nvPr/>
        </p:nvSpPr>
        <p:spPr>
          <a:xfrm>
            <a:off x="1137513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圆形"/>
          <p:cNvSpPr/>
          <p:nvPr/>
        </p:nvSpPr>
        <p:spPr>
          <a:xfrm>
            <a:off x="11539728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圆形"/>
          <p:cNvSpPr/>
          <p:nvPr/>
        </p:nvSpPr>
        <p:spPr>
          <a:xfrm>
            <a:off x="11539728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圆形"/>
          <p:cNvSpPr/>
          <p:nvPr/>
        </p:nvSpPr>
        <p:spPr>
          <a:xfrm>
            <a:off x="11539728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标题蓝色竖线"/>
          <p:cNvSpPr/>
          <p:nvPr/>
        </p:nvSpPr>
        <p:spPr>
          <a:xfrm>
            <a:off x="274320" y="356616"/>
            <a:ext cx="109728" cy="585216"/>
          </a:xfrm>
          <a:prstGeom prst="roundRect">
            <a:avLst>
              <a:gd name="adj" fmla="val 41666"/>
            </a:avLst>
          </a:prstGeom>
          <a:gradFill>
            <a:gsLst>
              <a:gs pos="0">
                <a:srgbClr val="3A92D5"/>
              </a:gs>
              <a:gs pos="100000">
                <a:srgbClr val="146FB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标题"/>
          <p:cNvSpPr txBox="1"/>
          <p:nvPr/>
        </p:nvSpPr>
        <p:spPr>
          <a:xfrm>
            <a:off x="621792" y="301752"/>
            <a:ext cx="9390888" cy="64922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3600">
                <a:latin typeface="微软雅黑" panose="020B0503020204020204" charset="-122"/>
              </a:defRPr>
            </a:pPr>
            <a:r>
              <a:rPr sz="35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CAN总线传输数据帧</a:t>
            </a:r>
            <a:endParaRPr sz="35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标题分隔线"/>
          <p:cNvSpPr/>
          <p:nvPr/>
        </p:nvSpPr>
        <p:spPr>
          <a:xfrm>
            <a:off x="621792" y="1051560"/>
            <a:ext cx="11109960" cy="18288"/>
          </a:xfrm>
          <a:prstGeom prst="rect">
            <a:avLst/>
          </a:prstGeom>
          <a:gradFill>
            <a:gsLst>
              <a:gs pos="0">
                <a:srgbClr val="3A92D5"/>
              </a:gs>
              <a:gs pos="100000">
                <a:srgbClr val="E3EFF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tongji_wordm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4" y="256032"/>
            <a:ext cx="1554480" cy="385298"/>
          </a:xfrm>
          <a:prstGeom prst="rect">
            <a:avLst/>
          </a:prstGeom>
          <a:effectLst/>
        </p:spPr>
      </p:pic>
      <p:sp>
        <p:nvSpPr>
          <p:cNvPr id="33" name="导入句"/>
          <p:cNvSpPr txBox="1"/>
          <p:nvPr/>
        </p:nvSpPr>
        <p:spPr>
          <a:xfrm>
            <a:off x="621792" y="1271016"/>
            <a:ext cx="10972800" cy="57607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000">
                <a:latin typeface="微软雅黑" panose="020B0503020204020204" charset="-122"/>
              </a:defRPr>
            </a:pPr>
            <a:r>
              <a:rPr sz="20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CAN 报文</a:t>
            </a:r>
            <a:r>
              <a:rPr sz="20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采用固定结构组织，便于识别、仲裁、校验与确认。</a:t>
            </a:r>
            <a:endParaRPr sz="20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容器"/>
          <p:cNvSpPr/>
          <p:nvPr/>
        </p:nvSpPr>
        <p:spPr>
          <a:xfrm>
            <a:off x="594360" y="2724912"/>
            <a:ext cx="758013" cy="905256"/>
          </a:xfrm>
          <a:prstGeom prst="rect">
            <a:avLst/>
          </a:prstGeom>
          <a:solidFill>
            <a:srgbClr val="E8F2FA"/>
          </a:solidFill>
          <a:ln w="10160">
            <a:solidFill>
              <a:srgbClr val="CAD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讲授内容｜起始 SOF"/>
          <p:cNvSpPr txBox="1"/>
          <p:nvPr/>
        </p:nvSpPr>
        <p:spPr>
          <a:xfrm>
            <a:off x="617220" y="2816352"/>
            <a:ext cx="712293" cy="69494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起始</a:t>
            </a:r>
            <a:endParaRPr sz="165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SOF</a:t>
            </a:r>
            <a:endParaRPr sz="165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讲授内容｜1 bit"/>
          <p:cNvSpPr txBox="1"/>
          <p:nvPr/>
        </p:nvSpPr>
        <p:spPr>
          <a:xfrm>
            <a:off x="594360" y="3767328"/>
            <a:ext cx="758013" cy="2743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1 bit</a:t>
            </a:r>
            <a:endParaRPr sz="145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容器"/>
          <p:cNvSpPr/>
          <p:nvPr/>
        </p:nvSpPr>
        <p:spPr>
          <a:xfrm>
            <a:off x="1388949" y="2724912"/>
            <a:ext cx="1428149" cy="905256"/>
          </a:xfrm>
          <a:prstGeom prst="rect">
            <a:avLst/>
          </a:prstGeom>
          <a:solidFill>
            <a:srgbClr val="DDEDFC"/>
          </a:solidFill>
          <a:ln w="10160">
            <a:solidFill>
              <a:srgbClr val="CAD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讲授内容｜标识符 ID"/>
          <p:cNvSpPr txBox="1"/>
          <p:nvPr/>
        </p:nvSpPr>
        <p:spPr>
          <a:xfrm>
            <a:off x="1411809" y="2816352"/>
            <a:ext cx="1382429" cy="69494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标识符</a:t>
            </a:r>
            <a:endParaRPr sz="165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ID</a:t>
            </a:r>
            <a:endParaRPr sz="165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讲授内容｜11 / 29 bit"/>
          <p:cNvSpPr txBox="1"/>
          <p:nvPr/>
        </p:nvSpPr>
        <p:spPr>
          <a:xfrm>
            <a:off x="1388949" y="3767328"/>
            <a:ext cx="1428149" cy="2743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11 / 29 bit</a:t>
            </a:r>
            <a:endParaRPr sz="145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容器"/>
          <p:cNvSpPr/>
          <p:nvPr/>
        </p:nvSpPr>
        <p:spPr>
          <a:xfrm>
            <a:off x="2853675" y="2724912"/>
            <a:ext cx="652706" cy="905256"/>
          </a:xfrm>
          <a:prstGeom prst="rect">
            <a:avLst/>
          </a:prstGeom>
          <a:solidFill>
            <a:srgbClr val="DDEDFC"/>
          </a:solidFill>
          <a:ln w="10160">
            <a:solidFill>
              <a:srgbClr val="CAD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讲授内容｜RTR"/>
          <p:cNvSpPr txBox="1"/>
          <p:nvPr/>
        </p:nvSpPr>
        <p:spPr>
          <a:xfrm>
            <a:off x="2876535" y="2816352"/>
            <a:ext cx="606986" cy="69494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RTR</a:t>
            </a:r>
            <a:endParaRPr sz="18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讲授内容｜1 bit"/>
          <p:cNvSpPr txBox="1"/>
          <p:nvPr/>
        </p:nvSpPr>
        <p:spPr>
          <a:xfrm>
            <a:off x="2853675" y="3767328"/>
            <a:ext cx="652706" cy="2743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1 bit</a:t>
            </a:r>
            <a:endParaRPr sz="145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容器"/>
          <p:cNvSpPr/>
          <p:nvPr/>
        </p:nvSpPr>
        <p:spPr>
          <a:xfrm>
            <a:off x="3542958" y="2724912"/>
            <a:ext cx="652706" cy="905256"/>
          </a:xfrm>
          <a:prstGeom prst="rect">
            <a:avLst/>
          </a:prstGeom>
          <a:solidFill>
            <a:srgbClr val="E7F5F8"/>
          </a:solidFill>
          <a:ln w="10160">
            <a:solidFill>
              <a:srgbClr val="CAD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讲授内容｜IDE"/>
          <p:cNvSpPr txBox="1"/>
          <p:nvPr/>
        </p:nvSpPr>
        <p:spPr>
          <a:xfrm>
            <a:off x="3565818" y="2816352"/>
            <a:ext cx="606986" cy="69494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IDE</a:t>
            </a:r>
            <a:endParaRPr sz="18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讲授内容｜1 bit"/>
          <p:cNvSpPr txBox="1"/>
          <p:nvPr/>
        </p:nvSpPr>
        <p:spPr>
          <a:xfrm>
            <a:off x="3542958" y="3767328"/>
            <a:ext cx="652706" cy="2743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1 bit</a:t>
            </a:r>
            <a:endParaRPr sz="145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容器"/>
          <p:cNvSpPr/>
          <p:nvPr/>
        </p:nvSpPr>
        <p:spPr>
          <a:xfrm>
            <a:off x="4232240" y="2724912"/>
            <a:ext cx="844174" cy="905256"/>
          </a:xfrm>
          <a:prstGeom prst="rect">
            <a:avLst/>
          </a:prstGeom>
          <a:solidFill>
            <a:srgbClr val="E7F5F8"/>
          </a:solidFill>
          <a:ln w="10160">
            <a:solidFill>
              <a:srgbClr val="CAD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讲授内容｜DLC"/>
          <p:cNvSpPr txBox="1"/>
          <p:nvPr/>
        </p:nvSpPr>
        <p:spPr>
          <a:xfrm>
            <a:off x="4255100" y="2816352"/>
            <a:ext cx="798454" cy="69494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DLC</a:t>
            </a:r>
            <a:endParaRPr sz="18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讲授内容｜4 bit"/>
          <p:cNvSpPr txBox="1"/>
          <p:nvPr/>
        </p:nvSpPr>
        <p:spPr>
          <a:xfrm>
            <a:off x="4232240" y="3767328"/>
            <a:ext cx="844174" cy="2743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4 bit</a:t>
            </a:r>
            <a:endParaRPr sz="145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容器"/>
          <p:cNvSpPr/>
          <p:nvPr/>
        </p:nvSpPr>
        <p:spPr>
          <a:xfrm>
            <a:off x="5112990" y="2724912"/>
            <a:ext cx="1811084" cy="905256"/>
          </a:xfrm>
          <a:prstGeom prst="rect">
            <a:avLst/>
          </a:prstGeom>
          <a:solidFill>
            <a:srgbClr val="E7F5F8"/>
          </a:solidFill>
          <a:ln w="10160">
            <a:solidFill>
              <a:srgbClr val="CAD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讲授内容｜数据 0～8 byte"/>
          <p:cNvSpPr txBox="1"/>
          <p:nvPr/>
        </p:nvSpPr>
        <p:spPr>
          <a:xfrm>
            <a:off x="5135850" y="2816352"/>
            <a:ext cx="1765364" cy="69494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endParaRPr sz="165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0～8 byte</a:t>
            </a:r>
            <a:endParaRPr sz="165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讲授内容｜0～64 bit"/>
          <p:cNvSpPr txBox="1"/>
          <p:nvPr/>
        </p:nvSpPr>
        <p:spPr>
          <a:xfrm>
            <a:off x="5112990" y="3767328"/>
            <a:ext cx="1811084" cy="2743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0～64 bit</a:t>
            </a:r>
            <a:endParaRPr sz="145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容器"/>
          <p:cNvSpPr/>
          <p:nvPr/>
        </p:nvSpPr>
        <p:spPr>
          <a:xfrm>
            <a:off x="6960651" y="2724912"/>
            <a:ext cx="1169668" cy="905256"/>
          </a:xfrm>
          <a:prstGeom prst="rect">
            <a:avLst/>
          </a:prstGeom>
          <a:solidFill>
            <a:srgbClr val="D5EEF7"/>
          </a:solidFill>
          <a:ln w="10160">
            <a:solidFill>
              <a:srgbClr val="CAD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讲授内容｜CRC序列"/>
          <p:cNvSpPr txBox="1"/>
          <p:nvPr/>
        </p:nvSpPr>
        <p:spPr>
          <a:xfrm>
            <a:off x="6983511" y="2816352"/>
            <a:ext cx="1123948" cy="69494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CRC序列</a:t>
            </a:r>
            <a:endParaRPr sz="18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讲授内容｜15 bit"/>
          <p:cNvSpPr txBox="1"/>
          <p:nvPr/>
        </p:nvSpPr>
        <p:spPr>
          <a:xfrm>
            <a:off x="6960651" y="3767328"/>
            <a:ext cx="1169668" cy="2743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15 bit</a:t>
            </a:r>
            <a:endParaRPr sz="145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容器"/>
          <p:cNvSpPr/>
          <p:nvPr/>
        </p:nvSpPr>
        <p:spPr>
          <a:xfrm>
            <a:off x="8166896" y="2724912"/>
            <a:ext cx="853747" cy="905256"/>
          </a:xfrm>
          <a:prstGeom prst="rect">
            <a:avLst/>
          </a:prstGeom>
          <a:solidFill>
            <a:srgbClr val="E3EAF8"/>
          </a:solidFill>
          <a:ln w="10160">
            <a:solidFill>
              <a:srgbClr val="CAD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讲授内容｜CRC 界定符"/>
          <p:cNvSpPr txBox="1"/>
          <p:nvPr/>
        </p:nvSpPr>
        <p:spPr>
          <a:xfrm>
            <a:off x="8189756" y="2816352"/>
            <a:ext cx="808027" cy="69494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CRC</a:t>
            </a:r>
            <a:endParaRPr sz="165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界定符</a:t>
            </a:r>
            <a:endParaRPr sz="165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讲授内容｜1 bit"/>
          <p:cNvSpPr txBox="1"/>
          <p:nvPr/>
        </p:nvSpPr>
        <p:spPr>
          <a:xfrm>
            <a:off x="8166896" y="3767328"/>
            <a:ext cx="853747" cy="2743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1 bit</a:t>
            </a:r>
            <a:endParaRPr sz="145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容器"/>
          <p:cNvSpPr/>
          <p:nvPr/>
        </p:nvSpPr>
        <p:spPr>
          <a:xfrm>
            <a:off x="9057219" y="2724912"/>
            <a:ext cx="729293" cy="905256"/>
          </a:xfrm>
          <a:prstGeom prst="rect">
            <a:avLst/>
          </a:prstGeom>
          <a:solidFill>
            <a:srgbClr val="E3EAF8"/>
          </a:solidFill>
          <a:ln w="10160">
            <a:solidFill>
              <a:srgbClr val="CAD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讲授内容｜ACK 槽"/>
          <p:cNvSpPr txBox="1"/>
          <p:nvPr/>
        </p:nvSpPr>
        <p:spPr>
          <a:xfrm>
            <a:off x="9080079" y="2816352"/>
            <a:ext cx="683573" cy="69494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ACK</a:t>
            </a:r>
            <a:endParaRPr sz="165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槽</a:t>
            </a:r>
            <a:endParaRPr sz="165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讲授内容｜1 bit"/>
          <p:cNvSpPr txBox="1"/>
          <p:nvPr/>
        </p:nvSpPr>
        <p:spPr>
          <a:xfrm>
            <a:off x="9057219" y="3767328"/>
            <a:ext cx="729293" cy="2743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1 bit</a:t>
            </a:r>
            <a:endParaRPr sz="145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容器"/>
          <p:cNvSpPr/>
          <p:nvPr/>
        </p:nvSpPr>
        <p:spPr>
          <a:xfrm>
            <a:off x="9823089" y="2724912"/>
            <a:ext cx="853747" cy="905256"/>
          </a:xfrm>
          <a:prstGeom prst="rect">
            <a:avLst/>
          </a:prstGeom>
          <a:solidFill>
            <a:srgbClr val="ECF2FA"/>
          </a:solidFill>
          <a:ln w="10160">
            <a:solidFill>
              <a:srgbClr val="CAD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讲授内容｜ACK 界定符"/>
          <p:cNvSpPr txBox="1"/>
          <p:nvPr/>
        </p:nvSpPr>
        <p:spPr>
          <a:xfrm>
            <a:off x="9845949" y="2816352"/>
            <a:ext cx="808027" cy="69494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ACK</a:t>
            </a:r>
            <a:endParaRPr sz="165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界定符</a:t>
            </a:r>
            <a:endParaRPr sz="165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讲授内容｜1 bit"/>
          <p:cNvSpPr txBox="1"/>
          <p:nvPr/>
        </p:nvSpPr>
        <p:spPr>
          <a:xfrm>
            <a:off x="9823089" y="3767328"/>
            <a:ext cx="853747" cy="2743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1 bit</a:t>
            </a:r>
            <a:endParaRPr sz="145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容器"/>
          <p:cNvSpPr/>
          <p:nvPr/>
        </p:nvSpPr>
        <p:spPr>
          <a:xfrm>
            <a:off x="10713412" y="2724912"/>
            <a:ext cx="853747" cy="905256"/>
          </a:xfrm>
          <a:prstGeom prst="rect">
            <a:avLst/>
          </a:prstGeom>
          <a:solidFill>
            <a:srgbClr val="ECF2FA"/>
          </a:solidFill>
          <a:ln w="10160">
            <a:solidFill>
              <a:srgbClr val="CAD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讲授内容｜帧结束 EOF"/>
          <p:cNvSpPr txBox="1"/>
          <p:nvPr/>
        </p:nvSpPr>
        <p:spPr>
          <a:xfrm>
            <a:off x="10736272" y="2816352"/>
            <a:ext cx="808027" cy="69494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帧结束</a:t>
            </a:r>
            <a:endParaRPr sz="165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EOF</a:t>
            </a:r>
            <a:endParaRPr sz="165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讲授内容｜7 bit"/>
          <p:cNvSpPr txBox="1"/>
          <p:nvPr/>
        </p:nvSpPr>
        <p:spPr>
          <a:xfrm>
            <a:off x="10713412" y="3767328"/>
            <a:ext cx="853747" cy="2743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7 bit</a:t>
            </a:r>
            <a:endParaRPr sz="145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可编辑曲线"/>
          <p:cNvSpPr/>
          <p:nvPr/>
        </p:nvSpPr>
        <p:spPr>
          <a:xfrm>
            <a:off x="1388974" y="2496312"/>
            <a:ext cx="2797150" cy="137160"/>
          </a:xfrm>
          <a:custGeom>
            <a:avLst/>
            <a:gdLst/>
            <a:ahLst/>
            <a:cxnLst/>
            <a:rect l="l" t="t" r="r" b="b"/>
            <a:pathLst>
              <a:path w="3059" h="150">
                <a:moveTo>
                  <a:pt x="0" y="150"/>
                </a:moveTo>
                <a:lnTo>
                  <a:pt x="0" y="0"/>
                </a:lnTo>
                <a:lnTo>
                  <a:pt x="3059" y="0"/>
                </a:lnTo>
                <a:lnTo>
                  <a:pt x="3059" y="150"/>
                </a:lnTo>
              </a:path>
            </a:pathLst>
          </a:custGeom>
          <a:noFill/>
          <a:ln w="17780" cap="rnd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讲授内容｜仲裁域"/>
          <p:cNvSpPr txBox="1"/>
          <p:nvPr/>
        </p:nvSpPr>
        <p:spPr>
          <a:xfrm>
            <a:off x="1388949" y="2112264"/>
            <a:ext cx="2797571" cy="28346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仲裁域</a:t>
            </a:r>
            <a:endParaRPr sz="18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可编辑曲线"/>
          <p:cNvSpPr/>
          <p:nvPr/>
        </p:nvSpPr>
        <p:spPr>
          <a:xfrm>
            <a:off x="4231843" y="2496312"/>
            <a:ext cx="835762" cy="137160"/>
          </a:xfrm>
          <a:custGeom>
            <a:avLst/>
            <a:gdLst/>
            <a:ahLst/>
            <a:cxnLst/>
            <a:rect l="l" t="t" r="r" b="b"/>
            <a:pathLst>
              <a:path w="914" h="150">
                <a:moveTo>
                  <a:pt x="0" y="150"/>
                </a:moveTo>
                <a:lnTo>
                  <a:pt x="0" y="0"/>
                </a:lnTo>
                <a:lnTo>
                  <a:pt x="914" y="0"/>
                </a:lnTo>
                <a:lnTo>
                  <a:pt x="914" y="150"/>
                </a:lnTo>
              </a:path>
            </a:pathLst>
          </a:custGeom>
          <a:noFill/>
          <a:ln w="17780" cap="rnd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讲授内容｜控制域"/>
          <p:cNvSpPr txBox="1"/>
          <p:nvPr/>
        </p:nvSpPr>
        <p:spPr>
          <a:xfrm>
            <a:off x="4232240" y="2112264"/>
            <a:ext cx="835030" cy="28346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控制域</a:t>
            </a:r>
            <a:endParaRPr sz="18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可编辑曲线"/>
          <p:cNvSpPr/>
          <p:nvPr/>
        </p:nvSpPr>
        <p:spPr>
          <a:xfrm>
            <a:off x="5113325" y="2496312"/>
            <a:ext cx="1801368" cy="137160"/>
          </a:xfrm>
          <a:custGeom>
            <a:avLst/>
            <a:gdLst/>
            <a:ahLst/>
            <a:cxnLst/>
            <a:rect l="l" t="t" r="r" b="b"/>
            <a:pathLst>
              <a:path w="1970" h="150">
                <a:moveTo>
                  <a:pt x="0" y="150"/>
                </a:moveTo>
                <a:lnTo>
                  <a:pt x="0" y="0"/>
                </a:lnTo>
                <a:lnTo>
                  <a:pt x="1970" y="0"/>
                </a:lnTo>
                <a:lnTo>
                  <a:pt x="1970" y="150"/>
                </a:lnTo>
              </a:path>
            </a:pathLst>
          </a:custGeom>
          <a:noFill/>
          <a:ln w="17780" cap="rnd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讲授内容｜数据域"/>
          <p:cNvSpPr txBox="1"/>
          <p:nvPr/>
        </p:nvSpPr>
        <p:spPr>
          <a:xfrm>
            <a:off x="5112990" y="2112264"/>
            <a:ext cx="1801940" cy="28346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数据域</a:t>
            </a:r>
            <a:endParaRPr sz="18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可编辑曲线"/>
          <p:cNvSpPr/>
          <p:nvPr/>
        </p:nvSpPr>
        <p:spPr>
          <a:xfrm>
            <a:off x="6960413" y="2496312"/>
            <a:ext cx="2050999" cy="137160"/>
          </a:xfrm>
          <a:custGeom>
            <a:avLst/>
            <a:gdLst/>
            <a:ahLst/>
            <a:cxnLst/>
            <a:rect l="l" t="t" r="r" b="b"/>
            <a:pathLst>
              <a:path w="2243" h="150">
                <a:moveTo>
                  <a:pt x="0" y="150"/>
                </a:moveTo>
                <a:lnTo>
                  <a:pt x="0" y="0"/>
                </a:lnTo>
                <a:lnTo>
                  <a:pt x="2243" y="0"/>
                </a:lnTo>
                <a:lnTo>
                  <a:pt x="2243" y="150"/>
                </a:lnTo>
              </a:path>
            </a:pathLst>
          </a:custGeom>
          <a:noFill/>
          <a:ln w="17780" cap="rnd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讲授内容｜CRC域"/>
          <p:cNvSpPr txBox="1"/>
          <p:nvPr/>
        </p:nvSpPr>
        <p:spPr>
          <a:xfrm>
            <a:off x="6960651" y="2112264"/>
            <a:ext cx="2050848" cy="28346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CRC域</a:t>
            </a:r>
            <a:endParaRPr sz="18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可编辑曲线"/>
          <p:cNvSpPr/>
          <p:nvPr/>
        </p:nvSpPr>
        <p:spPr>
          <a:xfrm>
            <a:off x="9057132" y="2496312"/>
            <a:ext cx="1610258" cy="137160"/>
          </a:xfrm>
          <a:custGeom>
            <a:avLst/>
            <a:gdLst/>
            <a:ahLst/>
            <a:cxnLst/>
            <a:rect l="l" t="t" r="r" b="b"/>
            <a:pathLst>
              <a:path w="1761" h="150">
                <a:moveTo>
                  <a:pt x="0" y="150"/>
                </a:moveTo>
                <a:lnTo>
                  <a:pt x="0" y="0"/>
                </a:lnTo>
                <a:lnTo>
                  <a:pt x="1761" y="0"/>
                </a:lnTo>
                <a:lnTo>
                  <a:pt x="1761" y="150"/>
                </a:lnTo>
              </a:path>
            </a:pathLst>
          </a:custGeom>
          <a:noFill/>
          <a:ln w="17780" cap="rnd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讲授内容｜ACK域"/>
          <p:cNvSpPr txBox="1"/>
          <p:nvPr/>
        </p:nvSpPr>
        <p:spPr>
          <a:xfrm>
            <a:off x="9057219" y="2112264"/>
            <a:ext cx="1610473" cy="28346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ACK域</a:t>
            </a:r>
            <a:endParaRPr sz="18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容器"/>
          <p:cNvSpPr/>
          <p:nvPr/>
        </p:nvSpPr>
        <p:spPr>
          <a:xfrm>
            <a:off x="594360" y="4599432"/>
            <a:ext cx="2551176" cy="1645920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 w="10160">
            <a:solidFill>
              <a:srgbClr val="CAD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讲授内容｜ID识别与仲裁"/>
          <p:cNvSpPr txBox="1"/>
          <p:nvPr/>
        </p:nvSpPr>
        <p:spPr>
          <a:xfrm>
            <a:off x="722376" y="4727448"/>
            <a:ext cx="2295144" cy="39319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ID识别与仲裁</a:t>
            </a:r>
            <a:endParaRPr sz="18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讲授内容｜标识符区分报文并参与仲裁； 同格式数据帧中，数值小者优先。"/>
          <p:cNvSpPr txBox="1"/>
          <p:nvPr/>
        </p:nvSpPr>
        <p:spPr>
          <a:xfrm>
            <a:off x="722376" y="5257800"/>
            <a:ext cx="2295144" cy="886968"/>
          </a:xfrm>
          <a:prstGeom prst="rect">
            <a:avLst/>
          </a:prstGeom>
          <a:noFill/>
          <a:effectLst/>
        </p:spPr>
        <p:txBody>
          <a:bodyPr wrap="square" lIns="18288" tIns="9144" rIns="18288" bIns="9144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区分报文，并参与仲裁。</a:t>
            </a:r>
            <a:endParaRPr sz="155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同格式数据帧比较时，</a:t>
            </a:r>
            <a:endParaRPr sz="155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数值较小者优先。</a:t>
            </a:r>
            <a:endParaRPr sz="155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容器"/>
          <p:cNvSpPr/>
          <p:nvPr/>
        </p:nvSpPr>
        <p:spPr>
          <a:xfrm>
            <a:off x="3410712" y="4599432"/>
            <a:ext cx="2551176" cy="1645920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 w="10160">
            <a:solidFill>
              <a:srgbClr val="CAD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讲授内容｜RTR区分帧类型"/>
          <p:cNvSpPr txBox="1"/>
          <p:nvPr/>
        </p:nvSpPr>
        <p:spPr>
          <a:xfrm>
            <a:off x="3538728" y="4727448"/>
            <a:ext cx="2295144" cy="39319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RTR区分帧类型</a:t>
            </a:r>
            <a:endParaRPr sz="18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讲授内容｜RTR = 0：数据帧 RTR = 1：远程帧"/>
          <p:cNvSpPr txBox="1"/>
          <p:nvPr/>
        </p:nvSpPr>
        <p:spPr>
          <a:xfrm>
            <a:off x="3538728" y="5257800"/>
            <a:ext cx="2295144" cy="78638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RTR = 0：数据帧</a:t>
            </a:r>
            <a:endParaRPr sz="16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RTR = 1：远程帧</a:t>
            </a:r>
            <a:endParaRPr sz="16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容器"/>
          <p:cNvSpPr/>
          <p:nvPr/>
        </p:nvSpPr>
        <p:spPr>
          <a:xfrm>
            <a:off x="6227064" y="4599432"/>
            <a:ext cx="2551176" cy="1645920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 w="10160">
            <a:solidFill>
              <a:srgbClr val="CAD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讲授内容｜DLC表示数据长度"/>
          <p:cNvSpPr txBox="1"/>
          <p:nvPr/>
        </p:nvSpPr>
        <p:spPr>
          <a:xfrm>
            <a:off x="6355080" y="4727448"/>
            <a:ext cx="2295144" cy="39319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DLC表示数据长度</a:t>
            </a:r>
            <a:endParaRPr sz="18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讲授内容｜DLC说明数据域字节数； 本章经典CAN为0～8字节。"/>
          <p:cNvSpPr txBox="1"/>
          <p:nvPr/>
        </p:nvSpPr>
        <p:spPr>
          <a:xfrm>
            <a:off x="6355080" y="5257800"/>
            <a:ext cx="2295144" cy="886968"/>
          </a:xfrm>
          <a:prstGeom prst="rect">
            <a:avLst/>
          </a:prstGeom>
          <a:noFill/>
          <a:effectLst/>
        </p:spPr>
        <p:txBody>
          <a:bodyPr wrap="square" lIns="18288" tIns="9144" rIns="18288" bIns="9144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DLC说明数据域字节数；</a:t>
            </a:r>
            <a:endParaRPr sz="155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经典CAN的数据域：</a:t>
            </a:r>
            <a:endParaRPr sz="155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0～8字节。</a:t>
            </a:r>
            <a:endParaRPr sz="155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容器"/>
          <p:cNvSpPr/>
          <p:nvPr/>
        </p:nvSpPr>
        <p:spPr>
          <a:xfrm>
            <a:off x="9043416" y="4599432"/>
            <a:ext cx="2551176" cy="1645920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 w="10160">
            <a:solidFill>
              <a:srgbClr val="CAD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讲授内容｜CRC用于差错检测"/>
          <p:cNvSpPr txBox="1"/>
          <p:nvPr/>
        </p:nvSpPr>
        <p:spPr>
          <a:xfrm>
            <a:off x="9171432" y="4727448"/>
            <a:ext cx="2295144" cy="39319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CRC用于差错检测</a:t>
            </a:r>
            <a:endParaRPr sz="18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讲授内容｜发送方计算，接收方重算比较， 检查传输过程中是否出现差错。"/>
          <p:cNvSpPr txBox="1"/>
          <p:nvPr/>
        </p:nvSpPr>
        <p:spPr>
          <a:xfrm>
            <a:off x="9171432" y="5257800"/>
            <a:ext cx="2295144" cy="88798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62B42"/>
                </a:solidFill>
                <a:latin typeface="微软雅黑" panose="020B0503020204020204" charset="-122"/>
              </a:rPr>
              <a:t>发送方计算，接收方重算；</a:t>
            </a:r>
            <a:endParaRPr sz="1550" b="0">
              <a:solidFill>
                <a:srgbClr val="162B42"/>
              </a:solidFill>
              <a:latin typeface="微软雅黑" panose="020B0503020204020204" charset="-122"/>
            </a:endParaRP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62B42"/>
                </a:solidFill>
                <a:latin typeface="微软雅黑" panose="020B0503020204020204" charset="-122"/>
              </a:rPr>
              <a:t>通过比较结果，</a:t>
            </a:r>
            <a:endParaRPr sz="1550" b="0">
              <a:solidFill>
                <a:srgbClr val="162B42"/>
              </a:solidFill>
              <a:latin typeface="微软雅黑" panose="020B0503020204020204" charset="-122"/>
            </a:endParaRP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62B42"/>
                </a:solidFill>
                <a:latin typeface="微软雅黑" panose="020B0503020204020204" charset="-122"/>
              </a:rPr>
              <a:t>检查传输中的差错。</a:t>
            </a:r>
            <a:endParaRPr sz="1550" b="0">
              <a:solidFill>
                <a:srgbClr val="162B42"/>
              </a:solidFill>
              <a:latin typeface="微软雅黑" panose="020B0503020204020204" charset="-122"/>
            </a:endParaRPr>
          </a:p>
        </p:txBody>
      </p:sp>
      <p:sp>
        <p:nvSpPr>
          <p:cNvPr id="34" name="容器"/>
          <p:cNvSpPr/>
          <p:nvPr/>
        </p:nvSpPr>
        <p:spPr>
          <a:xfrm>
            <a:off x="8226806" y="963168"/>
            <a:ext cx="3493008" cy="1069848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讲授内容｜ACK不等于动作已完成"/>
          <p:cNvSpPr txBox="1"/>
          <p:nvPr/>
        </p:nvSpPr>
        <p:spPr>
          <a:xfrm>
            <a:off x="8382254" y="1054608"/>
            <a:ext cx="3182112" cy="34747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ACK不等于动作已完成</a:t>
            </a:r>
            <a:endParaRPr sz="18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讲授内容｜ACK是帧级确认。 灯光状态还需应用层反馈。"/>
          <p:cNvSpPr txBox="1"/>
          <p:nvPr/>
        </p:nvSpPr>
        <p:spPr>
          <a:xfrm>
            <a:off x="8382254" y="1429512"/>
            <a:ext cx="3182112" cy="557783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ACK是帧级确认。</a:t>
            </a:r>
            <a:endParaRPr sz="16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灯光状态还需应用层反馈。</a:t>
            </a:r>
            <a:endParaRPr sz="16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白色背景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右下角淡蓝装饰"/>
          <p:cNvSpPr/>
          <p:nvPr/>
        </p:nvSpPr>
        <p:spPr>
          <a:xfrm>
            <a:off x="10774679" y="5440680"/>
            <a:ext cx="1417320" cy="1417320"/>
          </a:xfrm>
          <a:custGeom>
            <a:avLst/>
            <a:gdLst/>
            <a:ahLst/>
            <a:cxnLst/>
            <a:rect l="l" t="t" r="r" b="b"/>
            <a:pathLst>
              <a:path w="1417320" h="1417320">
                <a:moveTo>
                  <a:pt x="1417320" y="1417320"/>
                </a:moveTo>
                <a:lnTo>
                  <a:pt x="0" y="1417320"/>
                </a:lnTo>
                <a:lnTo>
                  <a:pt x="700" y="1372800"/>
                </a:lnTo>
                <a:lnTo>
                  <a:pt x="2797" y="1328325"/>
                </a:lnTo>
                <a:lnTo>
                  <a:pt x="6290" y="1283938"/>
                </a:lnTo>
                <a:lnTo>
                  <a:pt x="11176" y="1239682"/>
                </a:lnTo>
                <a:lnTo>
                  <a:pt x="17450" y="1195602"/>
                </a:lnTo>
                <a:lnTo>
                  <a:pt x="25105" y="1151740"/>
                </a:lnTo>
                <a:lnTo>
                  <a:pt x="34134" y="1108141"/>
                </a:lnTo>
                <a:lnTo>
                  <a:pt x="44528" y="1064846"/>
                </a:lnTo>
                <a:lnTo>
                  <a:pt x="56277" y="1021900"/>
                </a:lnTo>
                <a:lnTo>
                  <a:pt x="69369" y="979344"/>
                </a:lnTo>
                <a:lnTo>
                  <a:pt x="83791" y="937219"/>
                </a:lnTo>
                <a:lnTo>
                  <a:pt x="99529" y="895569"/>
                </a:lnTo>
                <a:lnTo>
                  <a:pt x="116568" y="854434"/>
                </a:lnTo>
                <a:lnTo>
                  <a:pt x="134891" y="813854"/>
                </a:lnTo>
                <a:lnTo>
                  <a:pt x="154479" y="773870"/>
                </a:lnTo>
                <a:lnTo>
                  <a:pt x="175313" y="734520"/>
                </a:lnTo>
                <a:lnTo>
                  <a:pt x="197373" y="695845"/>
                </a:lnTo>
                <a:lnTo>
                  <a:pt x="220637" y="657881"/>
                </a:lnTo>
                <a:lnTo>
                  <a:pt x="245082" y="620667"/>
                </a:lnTo>
                <a:lnTo>
                  <a:pt x="270684" y="584240"/>
                </a:lnTo>
                <a:lnTo>
                  <a:pt x="297418" y="548634"/>
                </a:lnTo>
                <a:lnTo>
                  <a:pt x="325256" y="513886"/>
                </a:lnTo>
                <a:lnTo>
                  <a:pt x="354173" y="480029"/>
                </a:lnTo>
                <a:lnTo>
                  <a:pt x="384138" y="447097"/>
                </a:lnTo>
                <a:lnTo>
                  <a:pt x="415124" y="415123"/>
                </a:lnTo>
                <a:lnTo>
                  <a:pt x="447098" y="384138"/>
                </a:lnTo>
                <a:lnTo>
                  <a:pt x="480030" y="354172"/>
                </a:lnTo>
                <a:lnTo>
                  <a:pt x="513886" y="325256"/>
                </a:lnTo>
                <a:lnTo>
                  <a:pt x="548635" y="297417"/>
                </a:lnTo>
                <a:lnTo>
                  <a:pt x="584240" y="270684"/>
                </a:lnTo>
                <a:lnTo>
                  <a:pt x="620668" y="245082"/>
                </a:lnTo>
                <a:lnTo>
                  <a:pt x="657882" y="220637"/>
                </a:lnTo>
                <a:lnTo>
                  <a:pt x="695846" y="197373"/>
                </a:lnTo>
                <a:lnTo>
                  <a:pt x="734521" y="175313"/>
                </a:lnTo>
                <a:lnTo>
                  <a:pt x="773870" y="154478"/>
                </a:lnTo>
                <a:lnTo>
                  <a:pt x="813855" y="134890"/>
                </a:lnTo>
                <a:lnTo>
                  <a:pt x="854435" y="116568"/>
                </a:lnTo>
                <a:lnTo>
                  <a:pt x="895570" y="99529"/>
                </a:lnTo>
                <a:lnTo>
                  <a:pt x="937220" y="83790"/>
                </a:lnTo>
                <a:lnTo>
                  <a:pt x="979344" y="69368"/>
                </a:lnTo>
                <a:lnTo>
                  <a:pt x="1021901" y="56276"/>
                </a:lnTo>
                <a:lnTo>
                  <a:pt x="1064847" y="44527"/>
                </a:lnTo>
                <a:lnTo>
                  <a:pt x="1108141" y="34133"/>
                </a:lnTo>
                <a:lnTo>
                  <a:pt x="1151741" y="25104"/>
                </a:lnTo>
                <a:lnTo>
                  <a:pt x="1195602" y="17449"/>
                </a:lnTo>
                <a:lnTo>
                  <a:pt x="1239683" y="11175"/>
                </a:lnTo>
                <a:lnTo>
                  <a:pt x="1283939" y="6290"/>
                </a:lnTo>
                <a:lnTo>
                  <a:pt x="1328326" y="2796"/>
                </a:lnTo>
                <a:lnTo>
                  <a:pt x="1372801" y="699"/>
                </a:lnTo>
                <a:lnTo>
                  <a:pt x="1417320" y="0"/>
                </a:lnTo>
                <a:lnTo>
                  <a:pt x="1417320" y="1417320"/>
                </a:lnTo>
                <a:close/>
              </a:path>
            </a:pathLst>
          </a:custGeom>
          <a:solidFill>
            <a:srgbClr val="F4F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右下角淡蓝装饰"/>
          <p:cNvSpPr/>
          <p:nvPr/>
        </p:nvSpPr>
        <p:spPr>
          <a:xfrm>
            <a:off x="11076431" y="5742432"/>
            <a:ext cx="1115568" cy="1115568"/>
          </a:xfrm>
          <a:custGeom>
            <a:avLst/>
            <a:gdLst/>
            <a:ahLst/>
            <a:cxnLst/>
            <a:rect l="l" t="t" r="r" b="b"/>
            <a:pathLst>
              <a:path w="1115568" h="1115568">
                <a:moveTo>
                  <a:pt x="1115568" y="1115568"/>
                </a:moveTo>
                <a:lnTo>
                  <a:pt x="0" y="1115568"/>
                </a:lnTo>
                <a:lnTo>
                  <a:pt x="551" y="1080527"/>
                </a:lnTo>
                <a:lnTo>
                  <a:pt x="2202" y="1045520"/>
                </a:lnTo>
                <a:lnTo>
                  <a:pt x="4951" y="1010583"/>
                </a:lnTo>
                <a:lnTo>
                  <a:pt x="8797" y="975750"/>
                </a:lnTo>
                <a:lnTo>
                  <a:pt x="13735" y="941054"/>
                </a:lnTo>
                <a:lnTo>
                  <a:pt x="19760" y="906531"/>
                </a:lnTo>
                <a:lnTo>
                  <a:pt x="26867" y="872214"/>
                </a:lnTo>
                <a:lnTo>
                  <a:pt x="35048" y="838137"/>
                </a:lnTo>
                <a:lnTo>
                  <a:pt x="44295" y="804334"/>
                </a:lnTo>
                <a:lnTo>
                  <a:pt x="54600" y="770838"/>
                </a:lnTo>
                <a:lnTo>
                  <a:pt x="65952" y="737682"/>
                </a:lnTo>
                <a:lnTo>
                  <a:pt x="78339" y="704900"/>
                </a:lnTo>
                <a:lnTo>
                  <a:pt x="91751" y="672522"/>
                </a:lnTo>
                <a:lnTo>
                  <a:pt x="106172" y="640582"/>
                </a:lnTo>
                <a:lnTo>
                  <a:pt x="121590" y="609110"/>
                </a:lnTo>
                <a:lnTo>
                  <a:pt x="137989" y="578139"/>
                </a:lnTo>
                <a:lnTo>
                  <a:pt x="155352" y="547697"/>
                </a:lnTo>
                <a:lnTo>
                  <a:pt x="173663" y="517816"/>
                </a:lnTo>
                <a:lnTo>
                  <a:pt x="192904" y="488525"/>
                </a:lnTo>
                <a:lnTo>
                  <a:pt x="213055" y="459853"/>
                </a:lnTo>
                <a:lnTo>
                  <a:pt x="234097" y="431828"/>
                </a:lnTo>
                <a:lnTo>
                  <a:pt x="256008" y="404478"/>
                </a:lnTo>
                <a:lnTo>
                  <a:pt x="278768" y="377829"/>
                </a:lnTo>
                <a:lnTo>
                  <a:pt x="302354" y="351909"/>
                </a:lnTo>
                <a:lnTo>
                  <a:pt x="326742" y="326742"/>
                </a:lnTo>
                <a:lnTo>
                  <a:pt x="351909" y="302353"/>
                </a:lnTo>
                <a:lnTo>
                  <a:pt x="377830" y="278768"/>
                </a:lnTo>
                <a:lnTo>
                  <a:pt x="404478" y="256008"/>
                </a:lnTo>
                <a:lnTo>
                  <a:pt x="431829" y="234096"/>
                </a:lnTo>
                <a:lnTo>
                  <a:pt x="459854" y="213054"/>
                </a:lnTo>
                <a:lnTo>
                  <a:pt x="488526" y="192903"/>
                </a:lnTo>
                <a:lnTo>
                  <a:pt x="517817" y="173662"/>
                </a:lnTo>
                <a:lnTo>
                  <a:pt x="547698" y="155351"/>
                </a:lnTo>
                <a:lnTo>
                  <a:pt x="578139" y="137988"/>
                </a:lnTo>
                <a:lnTo>
                  <a:pt x="609111" y="121589"/>
                </a:lnTo>
                <a:lnTo>
                  <a:pt x="640582" y="106171"/>
                </a:lnTo>
                <a:lnTo>
                  <a:pt x="672523" y="91750"/>
                </a:lnTo>
                <a:lnTo>
                  <a:pt x="704900" y="78339"/>
                </a:lnTo>
                <a:lnTo>
                  <a:pt x="737683" y="65951"/>
                </a:lnTo>
                <a:lnTo>
                  <a:pt x="770839" y="54599"/>
                </a:lnTo>
                <a:lnTo>
                  <a:pt x="804335" y="44295"/>
                </a:lnTo>
                <a:lnTo>
                  <a:pt x="838138" y="35047"/>
                </a:lnTo>
                <a:lnTo>
                  <a:pt x="872215" y="26866"/>
                </a:lnTo>
                <a:lnTo>
                  <a:pt x="906532" y="19759"/>
                </a:lnTo>
                <a:lnTo>
                  <a:pt x="941055" y="13734"/>
                </a:lnTo>
                <a:lnTo>
                  <a:pt x="975750" y="8796"/>
                </a:lnTo>
                <a:lnTo>
                  <a:pt x="1010584" y="4950"/>
                </a:lnTo>
                <a:lnTo>
                  <a:pt x="1045521" y="2201"/>
                </a:lnTo>
                <a:lnTo>
                  <a:pt x="1080527" y="550"/>
                </a:lnTo>
                <a:lnTo>
                  <a:pt x="1115568" y="0"/>
                </a:lnTo>
                <a:lnTo>
                  <a:pt x="1115568" y="1115568"/>
                </a:lnTo>
                <a:close/>
              </a:path>
            </a:pathLst>
          </a:custGeom>
          <a:solidFill>
            <a:srgbClr val="F8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圆形"/>
          <p:cNvSpPr/>
          <p:nvPr/>
        </p:nvSpPr>
        <p:spPr>
          <a:xfrm>
            <a:off x="1038758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圆形"/>
          <p:cNvSpPr/>
          <p:nvPr/>
        </p:nvSpPr>
        <p:spPr>
          <a:xfrm>
            <a:off x="1038758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圆形"/>
          <p:cNvSpPr/>
          <p:nvPr/>
        </p:nvSpPr>
        <p:spPr>
          <a:xfrm>
            <a:off x="1038758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圆形"/>
          <p:cNvSpPr/>
          <p:nvPr/>
        </p:nvSpPr>
        <p:spPr>
          <a:xfrm>
            <a:off x="1055217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圆形"/>
          <p:cNvSpPr/>
          <p:nvPr/>
        </p:nvSpPr>
        <p:spPr>
          <a:xfrm>
            <a:off x="1055217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圆形"/>
          <p:cNvSpPr/>
          <p:nvPr/>
        </p:nvSpPr>
        <p:spPr>
          <a:xfrm>
            <a:off x="1055217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圆形"/>
          <p:cNvSpPr/>
          <p:nvPr/>
        </p:nvSpPr>
        <p:spPr>
          <a:xfrm>
            <a:off x="10716767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圆形"/>
          <p:cNvSpPr/>
          <p:nvPr/>
        </p:nvSpPr>
        <p:spPr>
          <a:xfrm>
            <a:off x="10716767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圆形"/>
          <p:cNvSpPr/>
          <p:nvPr/>
        </p:nvSpPr>
        <p:spPr>
          <a:xfrm>
            <a:off x="10716767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圆形"/>
          <p:cNvSpPr/>
          <p:nvPr/>
        </p:nvSpPr>
        <p:spPr>
          <a:xfrm>
            <a:off x="10881359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圆形"/>
          <p:cNvSpPr/>
          <p:nvPr/>
        </p:nvSpPr>
        <p:spPr>
          <a:xfrm>
            <a:off x="10881359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圆形"/>
          <p:cNvSpPr/>
          <p:nvPr/>
        </p:nvSpPr>
        <p:spPr>
          <a:xfrm>
            <a:off x="10881359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圆形"/>
          <p:cNvSpPr/>
          <p:nvPr/>
        </p:nvSpPr>
        <p:spPr>
          <a:xfrm>
            <a:off x="11045952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圆形"/>
          <p:cNvSpPr/>
          <p:nvPr/>
        </p:nvSpPr>
        <p:spPr>
          <a:xfrm>
            <a:off x="11045952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圆形"/>
          <p:cNvSpPr/>
          <p:nvPr/>
        </p:nvSpPr>
        <p:spPr>
          <a:xfrm>
            <a:off x="11045952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圆形"/>
          <p:cNvSpPr/>
          <p:nvPr/>
        </p:nvSpPr>
        <p:spPr>
          <a:xfrm>
            <a:off x="1121054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圆形"/>
          <p:cNvSpPr/>
          <p:nvPr/>
        </p:nvSpPr>
        <p:spPr>
          <a:xfrm>
            <a:off x="1121054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圆形"/>
          <p:cNvSpPr/>
          <p:nvPr/>
        </p:nvSpPr>
        <p:spPr>
          <a:xfrm>
            <a:off x="1121054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圆形"/>
          <p:cNvSpPr/>
          <p:nvPr/>
        </p:nvSpPr>
        <p:spPr>
          <a:xfrm>
            <a:off x="1137513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圆形"/>
          <p:cNvSpPr/>
          <p:nvPr/>
        </p:nvSpPr>
        <p:spPr>
          <a:xfrm>
            <a:off x="1137513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圆形"/>
          <p:cNvSpPr/>
          <p:nvPr/>
        </p:nvSpPr>
        <p:spPr>
          <a:xfrm>
            <a:off x="1137513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圆形"/>
          <p:cNvSpPr/>
          <p:nvPr/>
        </p:nvSpPr>
        <p:spPr>
          <a:xfrm>
            <a:off x="11539728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圆形"/>
          <p:cNvSpPr/>
          <p:nvPr/>
        </p:nvSpPr>
        <p:spPr>
          <a:xfrm>
            <a:off x="11539728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圆形"/>
          <p:cNvSpPr/>
          <p:nvPr/>
        </p:nvSpPr>
        <p:spPr>
          <a:xfrm>
            <a:off x="11539728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标题蓝色竖线"/>
          <p:cNvSpPr/>
          <p:nvPr/>
        </p:nvSpPr>
        <p:spPr>
          <a:xfrm>
            <a:off x="274320" y="356616"/>
            <a:ext cx="109728" cy="585216"/>
          </a:xfrm>
          <a:prstGeom prst="roundRect">
            <a:avLst>
              <a:gd name="adj" fmla="val 41666"/>
            </a:avLst>
          </a:prstGeom>
          <a:gradFill>
            <a:gsLst>
              <a:gs pos="0">
                <a:srgbClr val="3A92D5"/>
              </a:gs>
              <a:gs pos="100000">
                <a:srgbClr val="146FB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标题"/>
          <p:cNvSpPr txBox="1"/>
          <p:nvPr/>
        </p:nvSpPr>
        <p:spPr>
          <a:xfrm>
            <a:off x="621792" y="301752"/>
            <a:ext cx="9390888" cy="64922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3600">
                <a:latin typeface="微软雅黑" panose="020B0503020204020204" charset="-122"/>
              </a:defRPr>
            </a:pPr>
            <a:r>
              <a:rPr sz="35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仲裁机制</a:t>
            </a:r>
            <a:endParaRPr sz="35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标题分隔线"/>
          <p:cNvSpPr/>
          <p:nvPr/>
        </p:nvSpPr>
        <p:spPr>
          <a:xfrm>
            <a:off x="621792" y="1051560"/>
            <a:ext cx="11109960" cy="18288"/>
          </a:xfrm>
          <a:prstGeom prst="rect">
            <a:avLst/>
          </a:prstGeom>
          <a:gradFill>
            <a:gsLst>
              <a:gs pos="0">
                <a:srgbClr val="3A92D5"/>
              </a:gs>
              <a:gs pos="100000">
                <a:srgbClr val="E3EFF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tongji_wordm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4" y="256032"/>
            <a:ext cx="1554480" cy="385298"/>
          </a:xfrm>
          <a:prstGeom prst="rect">
            <a:avLst/>
          </a:prstGeom>
          <a:effectLst/>
        </p:spPr>
      </p:pic>
      <p:sp>
        <p:nvSpPr>
          <p:cNvPr id="33" name="导入句"/>
          <p:cNvSpPr txBox="1"/>
          <p:nvPr/>
        </p:nvSpPr>
        <p:spPr>
          <a:xfrm>
            <a:off x="621792" y="1271016"/>
            <a:ext cx="10972800" cy="57607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000">
                <a:latin typeface="微软雅黑" panose="020B0503020204020204" charset="-122"/>
              </a:defRPr>
            </a:pPr>
            <a:r>
              <a:rPr sz="20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当多个节点同时发送报文时，CAN 通过</a:t>
            </a:r>
            <a:r>
              <a:rPr sz="20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按位仲裁</a:t>
            </a:r>
            <a:r>
              <a:rPr sz="20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决定谁继续发送，</a:t>
            </a:r>
            <a:r>
              <a:rPr sz="20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优先级高的报文获胜</a:t>
            </a:r>
            <a:r>
              <a:rPr sz="20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20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容器"/>
          <p:cNvSpPr/>
          <p:nvPr/>
        </p:nvSpPr>
        <p:spPr>
          <a:xfrm>
            <a:off x="594360" y="1911095"/>
            <a:ext cx="11009376" cy="3648456"/>
          </a:xfrm>
          <a:prstGeom prst="roundRect">
            <a:avLst>
              <a:gd name="adj" fmla="val 12000"/>
            </a:avLst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讲授内容｜位时间"/>
          <p:cNvSpPr txBox="1"/>
          <p:nvPr/>
        </p:nvSpPr>
        <p:spPr>
          <a:xfrm>
            <a:off x="813816" y="2066543"/>
            <a:ext cx="1097280" cy="32004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位时间</a:t>
            </a:r>
            <a:endParaRPr sz="18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容器"/>
          <p:cNvSpPr/>
          <p:nvPr/>
        </p:nvSpPr>
        <p:spPr>
          <a:xfrm>
            <a:off x="2286000" y="2596896"/>
            <a:ext cx="612648" cy="2779776"/>
          </a:xfrm>
          <a:prstGeom prst="rect">
            <a:avLst/>
          </a:prstGeom>
          <a:solidFill>
            <a:srgbClr val="E5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讲授内容｜bit 10"/>
          <p:cNvSpPr txBox="1"/>
          <p:nvPr/>
        </p:nvSpPr>
        <p:spPr>
          <a:xfrm>
            <a:off x="2286000" y="2075688"/>
            <a:ext cx="612648" cy="30175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bit 10</a:t>
            </a:r>
            <a:endParaRPr sz="145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容器"/>
          <p:cNvSpPr/>
          <p:nvPr/>
        </p:nvSpPr>
        <p:spPr>
          <a:xfrm>
            <a:off x="2898648" y="2596896"/>
            <a:ext cx="612648" cy="2779776"/>
          </a:xfrm>
          <a:prstGeom prst="rect">
            <a:avLst/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讲授内容｜bit 9"/>
          <p:cNvSpPr txBox="1"/>
          <p:nvPr/>
        </p:nvSpPr>
        <p:spPr>
          <a:xfrm>
            <a:off x="2898648" y="2075688"/>
            <a:ext cx="612648" cy="30175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bit 9</a:t>
            </a:r>
            <a:endParaRPr sz="145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容器"/>
          <p:cNvSpPr/>
          <p:nvPr/>
        </p:nvSpPr>
        <p:spPr>
          <a:xfrm>
            <a:off x="3511296" y="2596896"/>
            <a:ext cx="612648" cy="2779776"/>
          </a:xfrm>
          <a:prstGeom prst="rect">
            <a:avLst/>
          </a:prstGeom>
          <a:solidFill>
            <a:srgbClr val="E5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讲授内容｜bit 8"/>
          <p:cNvSpPr txBox="1"/>
          <p:nvPr/>
        </p:nvSpPr>
        <p:spPr>
          <a:xfrm>
            <a:off x="3511296" y="2075688"/>
            <a:ext cx="612648" cy="30175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bit 8</a:t>
            </a:r>
            <a:endParaRPr sz="145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容器"/>
          <p:cNvSpPr/>
          <p:nvPr/>
        </p:nvSpPr>
        <p:spPr>
          <a:xfrm>
            <a:off x="4123944" y="2596896"/>
            <a:ext cx="612648" cy="2779776"/>
          </a:xfrm>
          <a:prstGeom prst="rect">
            <a:avLst/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讲授内容｜bit 7"/>
          <p:cNvSpPr txBox="1"/>
          <p:nvPr/>
        </p:nvSpPr>
        <p:spPr>
          <a:xfrm>
            <a:off x="4123944" y="2075688"/>
            <a:ext cx="612648" cy="30175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bit 7</a:t>
            </a:r>
            <a:endParaRPr sz="145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容器"/>
          <p:cNvSpPr/>
          <p:nvPr/>
        </p:nvSpPr>
        <p:spPr>
          <a:xfrm>
            <a:off x="4736592" y="2596896"/>
            <a:ext cx="612648" cy="2779776"/>
          </a:xfrm>
          <a:prstGeom prst="rect">
            <a:avLst/>
          </a:prstGeom>
          <a:solidFill>
            <a:srgbClr val="E5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讲授内容｜bit 6"/>
          <p:cNvSpPr txBox="1"/>
          <p:nvPr/>
        </p:nvSpPr>
        <p:spPr>
          <a:xfrm>
            <a:off x="4736592" y="2075688"/>
            <a:ext cx="612648" cy="30175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bit 6</a:t>
            </a:r>
            <a:endParaRPr sz="145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容器"/>
          <p:cNvSpPr/>
          <p:nvPr/>
        </p:nvSpPr>
        <p:spPr>
          <a:xfrm>
            <a:off x="5349240" y="2596896"/>
            <a:ext cx="612648" cy="2779776"/>
          </a:xfrm>
          <a:prstGeom prst="rect">
            <a:avLst/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讲授内容｜bit 5"/>
          <p:cNvSpPr txBox="1"/>
          <p:nvPr/>
        </p:nvSpPr>
        <p:spPr>
          <a:xfrm>
            <a:off x="5349240" y="2075688"/>
            <a:ext cx="612648" cy="30175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bit 5</a:t>
            </a:r>
            <a:endParaRPr sz="145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容器"/>
          <p:cNvSpPr/>
          <p:nvPr/>
        </p:nvSpPr>
        <p:spPr>
          <a:xfrm>
            <a:off x="5961888" y="2596896"/>
            <a:ext cx="612648" cy="2779776"/>
          </a:xfrm>
          <a:prstGeom prst="rect">
            <a:avLst/>
          </a:prstGeom>
          <a:solidFill>
            <a:srgbClr val="E5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讲授内容｜bit 4"/>
          <p:cNvSpPr txBox="1"/>
          <p:nvPr/>
        </p:nvSpPr>
        <p:spPr>
          <a:xfrm>
            <a:off x="5961888" y="2075688"/>
            <a:ext cx="612648" cy="30175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bit 4</a:t>
            </a:r>
            <a:endParaRPr sz="145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容器"/>
          <p:cNvSpPr/>
          <p:nvPr/>
        </p:nvSpPr>
        <p:spPr>
          <a:xfrm>
            <a:off x="6574536" y="2596896"/>
            <a:ext cx="612648" cy="2779776"/>
          </a:xfrm>
          <a:prstGeom prst="rect">
            <a:avLst/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讲授内容｜bit 3"/>
          <p:cNvSpPr txBox="1"/>
          <p:nvPr/>
        </p:nvSpPr>
        <p:spPr>
          <a:xfrm>
            <a:off x="6574536" y="2075688"/>
            <a:ext cx="612648" cy="30175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bit 3</a:t>
            </a:r>
            <a:endParaRPr sz="145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容器"/>
          <p:cNvSpPr/>
          <p:nvPr/>
        </p:nvSpPr>
        <p:spPr>
          <a:xfrm>
            <a:off x="7187184" y="2596896"/>
            <a:ext cx="612648" cy="2779776"/>
          </a:xfrm>
          <a:prstGeom prst="rect">
            <a:avLst/>
          </a:prstGeom>
          <a:solidFill>
            <a:srgbClr val="E5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讲授内容｜bit 2"/>
          <p:cNvSpPr txBox="1"/>
          <p:nvPr/>
        </p:nvSpPr>
        <p:spPr>
          <a:xfrm>
            <a:off x="7187184" y="2075688"/>
            <a:ext cx="612648" cy="30175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bit 2</a:t>
            </a:r>
            <a:endParaRPr sz="145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容器"/>
          <p:cNvSpPr/>
          <p:nvPr/>
        </p:nvSpPr>
        <p:spPr>
          <a:xfrm>
            <a:off x="7799832" y="2596896"/>
            <a:ext cx="612648" cy="2779776"/>
          </a:xfrm>
          <a:prstGeom prst="rect">
            <a:avLst/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讲授内容｜bit 1"/>
          <p:cNvSpPr txBox="1"/>
          <p:nvPr/>
        </p:nvSpPr>
        <p:spPr>
          <a:xfrm>
            <a:off x="7799832" y="2075688"/>
            <a:ext cx="612648" cy="30175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bit 1</a:t>
            </a:r>
            <a:endParaRPr sz="145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容器"/>
          <p:cNvSpPr/>
          <p:nvPr/>
        </p:nvSpPr>
        <p:spPr>
          <a:xfrm>
            <a:off x="8412480" y="2596896"/>
            <a:ext cx="612648" cy="2779776"/>
          </a:xfrm>
          <a:prstGeom prst="rect">
            <a:avLst/>
          </a:prstGeom>
          <a:solidFill>
            <a:srgbClr val="E5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讲授内容｜bit 0"/>
          <p:cNvSpPr txBox="1"/>
          <p:nvPr/>
        </p:nvSpPr>
        <p:spPr>
          <a:xfrm>
            <a:off x="8412480" y="2075688"/>
            <a:ext cx="612648" cy="30175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bit 0</a:t>
            </a:r>
            <a:endParaRPr sz="145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讲授内容｜本次仲裁结果"/>
          <p:cNvSpPr txBox="1"/>
          <p:nvPr/>
        </p:nvSpPr>
        <p:spPr>
          <a:xfrm>
            <a:off x="9436608" y="2075688"/>
            <a:ext cx="1947672" cy="31089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本次仲裁结果</a:t>
            </a:r>
            <a:endParaRPr sz="18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讲授内容｜节点 A"/>
          <p:cNvSpPr txBox="1"/>
          <p:nvPr/>
        </p:nvSpPr>
        <p:spPr>
          <a:xfrm>
            <a:off x="795528" y="2660904"/>
            <a:ext cx="1280160" cy="2997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节点 A</a:t>
            </a:r>
            <a:endParaRPr sz="20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讲授内容｜ID 0x67C"/>
          <p:cNvSpPr txBox="1"/>
          <p:nvPr/>
        </p:nvSpPr>
        <p:spPr>
          <a:xfrm>
            <a:off x="795528" y="2944368"/>
            <a:ext cx="1325880" cy="26517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ID 0x67C</a:t>
            </a:r>
            <a:endParaRPr sz="16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讲授内容｜11001111100"/>
          <p:cNvSpPr txBox="1"/>
          <p:nvPr/>
        </p:nvSpPr>
        <p:spPr>
          <a:xfrm>
            <a:off x="777240" y="3172968"/>
            <a:ext cx="1353312" cy="18288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11001111100</a:t>
            </a:r>
            <a:endParaRPr sz="125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讲授内容｜1"/>
          <p:cNvSpPr txBox="1"/>
          <p:nvPr/>
        </p:nvSpPr>
        <p:spPr>
          <a:xfrm>
            <a:off x="2039112" y="2679192"/>
            <a:ext cx="182880" cy="21031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30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讲授内容｜0"/>
          <p:cNvSpPr txBox="1"/>
          <p:nvPr/>
        </p:nvSpPr>
        <p:spPr>
          <a:xfrm>
            <a:off x="2039112" y="2999232"/>
            <a:ext cx="182880" cy="21031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sz="130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节点A逐位发送波形"/>
          <p:cNvSpPr/>
          <p:nvPr/>
        </p:nvSpPr>
        <p:spPr>
          <a:xfrm>
            <a:off x="2286000" y="2770632"/>
            <a:ext cx="3369564" cy="320040"/>
          </a:xfrm>
          <a:custGeom>
            <a:avLst/>
            <a:gdLst/>
            <a:ahLst/>
            <a:cxnLst/>
            <a:rect l="l" t="t" r="r" b="b"/>
            <a:pathLst>
              <a:path w="3685" h="350">
                <a:moveTo>
                  <a:pt x="0" y="0"/>
                </a:moveTo>
                <a:lnTo>
                  <a:pt x="670" y="0"/>
                </a:lnTo>
                <a:lnTo>
                  <a:pt x="1340" y="0"/>
                </a:lnTo>
                <a:lnTo>
                  <a:pt x="1340" y="350"/>
                </a:lnTo>
                <a:lnTo>
                  <a:pt x="2010" y="350"/>
                </a:lnTo>
                <a:lnTo>
                  <a:pt x="2680" y="350"/>
                </a:lnTo>
                <a:lnTo>
                  <a:pt x="2680" y="0"/>
                </a:lnTo>
                <a:lnTo>
                  <a:pt x="3350" y="0"/>
                </a:lnTo>
                <a:lnTo>
                  <a:pt x="3685" y="0"/>
                </a:lnTo>
              </a:path>
            </a:pathLst>
          </a:custGeom>
          <a:noFill/>
          <a:ln w="31115" cap="rnd">
            <a:solidFill>
              <a:srgbClr val="103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连接点"/>
          <p:cNvSpPr/>
          <p:nvPr/>
        </p:nvSpPr>
        <p:spPr>
          <a:xfrm>
            <a:off x="5605272" y="2720340"/>
            <a:ext cx="100584" cy="100584"/>
          </a:xfrm>
          <a:prstGeom prst="ellipse">
            <a:avLst/>
          </a:prstGeom>
          <a:solidFill>
            <a:srgbClr val="103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连线"/>
          <p:cNvCxnSpPr/>
          <p:nvPr/>
        </p:nvCxnSpPr>
        <p:spPr>
          <a:xfrm>
            <a:off x="5655564" y="2770632"/>
            <a:ext cx="3369564" cy="0"/>
          </a:xfrm>
          <a:prstGeom prst="line">
            <a:avLst/>
          </a:prstGeom>
          <a:ln w="15240" cap="rnd">
            <a:solidFill>
              <a:srgbClr val="103F73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容器"/>
          <p:cNvSpPr/>
          <p:nvPr/>
        </p:nvSpPr>
        <p:spPr>
          <a:xfrm>
            <a:off x="9262872" y="2688336"/>
            <a:ext cx="2176272" cy="566928"/>
          </a:xfrm>
          <a:prstGeom prst="roundRect">
            <a:avLst>
              <a:gd name="adj" fmla="val 12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讲授内容｜bit 5退出 转为接收"/>
          <p:cNvSpPr txBox="1"/>
          <p:nvPr/>
        </p:nvSpPr>
        <p:spPr>
          <a:xfrm>
            <a:off x="9363456" y="2729484"/>
            <a:ext cx="1984248" cy="49377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bit 5退出</a:t>
            </a:r>
            <a:endParaRPr sz="165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转为接收</a:t>
            </a:r>
            <a:endParaRPr sz="165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1" name="连线"/>
          <p:cNvCxnSpPr/>
          <p:nvPr/>
        </p:nvCxnSpPr>
        <p:spPr>
          <a:xfrm>
            <a:off x="786384" y="3374136"/>
            <a:ext cx="10588752" cy="0"/>
          </a:xfrm>
          <a:prstGeom prst="line">
            <a:avLst/>
          </a:prstGeom>
          <a:ln w="8890" cap="rnd">
            <a:solidFill>
              <a:srgbClr val="CADDE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讲授内容｜节点 B"/>
          <p:cNvSpPr txBox="1"/>
          <p:nvPr/>
        </p:nvSpPr>
        <p:spPr>
          <a:xfrm>
            <a:off x="795528" y="3374136"/>
            <a:ext cx="1280160" cy="2997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节点 B</a:t>
            </a:r>
            <a:endParaRPr sz="20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讲授内容｜ID 0x65A"/>
          <p:cNvSpPr txBox="1"/>
          <p:nvPr/>
        </p:nvSpPr>
        <p:spPr>
          <a:xfrm>
            <a:off x="795528" y="3657600"/>
            <a:ext cx="1325880" cy="26517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ID 0x65A</a:t>
            </a:r>
            <a:endParaRPr sz="16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讲授内容｜11001011010"/>
          <p:cNvSpPr txBox="1"/>
          <p:nvPr/>
        </p:nvSpPr>
        <p:spPr>
          <a:xfrm>
            <a:off x="777240" y="3886200"/>
            <a:ext cx="1353312" cy="18288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11001011010</a:t>
            </a:r>
            <a:endParaRPr sz="125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讲授内容｜1"/>
          <p:cNvSpPr txBox="1"/>
          <p:nvPr/>
        </p:nvSpPr>
        <p:spPr>
          <a:xfrm>
            <a:off x="2039112" y="3392424"/>
            <a:ext cx="182880" cy="21031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30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讲授内容｜0"/>
          <p:cNvSpPr txBox="1"/>
          <p:nvPr/>
        </p:nvSpPr>
        <p:spPr>
          <a:xfrm>
            <a:off x="2039112" y="3712464"/>
            <a:ext cx="182880" cy="21031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sz="130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节点B逐位发送波形"/>
          <p:cNvSpPr/>
          <p:nvPr/>
        </p:nvSpPr>
        <p:spPr>
          <a:xfrm>
            <a:off x="2286000" y="3483864"/>
            <a:ext cx="6739128" cy="320040"/>
          </a:xfrm>
          <a:custGeom>
            <a:avLst/>
            <a:gdLst/>
            <a:ahLst/>
            <a:cxnLst/>
            <a:rect l="l" t="t" r="r" b="b"/>
            <a:pathLst>
              <a:path w="7370" h="350">
                <a:moveTo>
                  <a:pt x="0" y="0"/>
                </a:moveTo>
                <a:lnTo>
                  <a:pt x="670" y="0"/>
                </a:lnTo>
                <a:lnTo>
                  <a:pt x="1340" y="0"/>
                </a:lnTo>
                <a:lnTo>
                  <a:pt x="1340" y="350"/>
                </a:lnTo>
                <a:lnTo>
                  <a:pt x="2010" y="350"/>
                </a:lnTo>
                <a:lnTo>
                  <a:pt x="2680" y="350"/>
                </a:lnTo>
                <a:lnTo>
                  <a:pt x="2680" y="0"/>
                </a:lnTo>
                <a:lnTo>
                  <a:pt x="3350" y="0"/>
                </a:lnTo>
                <a:lnTo>
                  <a:pt x="3350" y="350"/>
                </a:lnTo>
                <a:lnTo>
                  <a:pt x="4020" y="350"/>
                </a:lnTo>
                <a:lnTo>
                  <a:pt x="4020" y="0"/>
                </a:lnTo>
                <a:lnTo>
                  <a:pt x="4690" y="0"/>
                </a:lnTo>
                <a:lnTo>
                  <a:pt x="5360" y="0"/>
                </a:lnTo>
                <a:lnTo>
                  <a:pt x="5360" y="350"/>
                </a:lnTo>
                <a:lnTo>
                  <a:pt x="6030" y="350"/>
                </a:lnTo>
                <a:lnTo>
                  <a:pt x="6030" y="0"/>
                </a:lnTo>
                <a:lnTo>
                  <a:pt x="6700" y="0"/>
                </a:lnTo>
                <a:lnTo>
                  <a:pt x="6700" y="350"/>
                </a:lnTo>
                <a:lnTo>
                  <a:pt x="7370" y="350"/>
                </a:lnTo>
              </a:path>
            </a:pathLst>
          </a:custGeom>
          <a:noFill/>
          <a:ln w="31115" cap="rnd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容器"/>
          <p:cNvSpPr/>
          <p:nvPr/>
        </p:nvSpPr>
        <p:spPr>
          <a:xfrm>
            <a:off x="9262872" y="3401568"/>
            <a:ext cx="2176272" cy="566928"/>
          </a:xfrm>
          <a:prstGeom prst="roundRect">
            <a:avLst>
              <a:gd name="adj" fmla="val 12000"/>
            </a:avLst>
          </a:prstGeom>
          <a:solidFill>
            <a:srgbClr val="E1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讲授内容｜仲裁获胜 继续发送"/>
          <p:cNvSpPr txBox="1"/>
          <p:nvPr/>
        </p:nvSpPr>
        <p:spPr>
          <a:xfrm>
            <a:off x="9363456" y="3442716"/>
            <a:ext cx="1984248" cy="49377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仲裁获胜</a:t>
            </a:r>
            <a:endParaRPr sz="165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继续发送</a:t>
            </a:r>
            <a:endParaRPr sz="165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0" name="连线"/>
          <p:cNvCxnSpPr/>
          <p:nvPr/>
        </p:nvCxnSpPr>
        <p:spPr>
          <a:xfrm>
            <a:off x="786384" y="4087368"/>
            <a:ext cx="10588752" cy="0"/>
          </a:xfrm>
          <a:prstGeom prst="line">
            <a:avLst/>
          </a:prstGeom>
          <a:ln w="8890" cap="rnd">
            <a:solidFill>
              <a:srgbClr val="CADDE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讲授内容｜节点 C"/>
          <p:cNvSpPr txBox="1"/>
          <p:nvPr/>
        </p:nvSpPr>
        <p:spPr>
          <a:xfrm>
            <a:off x="795528" y="4087368"/>
            <a:ext cx="1280160" cy="2997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98E9D"/>
                </a:solidFill>
                <a:latin typeface="微软雅黑" panose="020B0503020204020204" charset="-122"/>
                <a:ea typeface="微软雅黑" panose="020B0503020204020204" charset="-122"/>
              </a:rPr>
              <a:t>节点 C</a:t>
            </a:r>
            <a:endParaRPr sz="2000" b="1">
              <a:solidFill>
                <a:srgbClr val="298E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讲授内容｜ID 0x65D"/>
          <p:cNvSpPr txBox="1"/>
          <p:nvPr/>
        </p:nvSpPr>
        <p:spPr>
          <a:xfrm>
            <a:off x="795528" y="4370832"/>
            <a:ext cx="1325880" cy="26517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98E9D"/>
                </a:solidFill>
                <a:latin typeface="微软雅黑" panose="020B0503020204020204" charset="-122"/>
                <a:ea typeface="微软雅黑" panose="020B0503020204020204" charset="-122"/>
              </a:rPr>
              <a:t>ID 0x65D</a:t>
            </a:r>
            <a:endParaRPr sz="1600" b="1">
              <a:solidFill>
                <a:srgbClr val="298E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讲授内容｜11001011101"/>
          <p:cNvSpPr txBox="1"/>
          <p:nvPr/>
        </p:nvSpPr>
        <p:spPr>
          <a:xfrm>
            <a:off x="777240" y="4599432"/>
            <a:ext cx="1353312" cy="18288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11001011101</a:t>
            </a:r>
            <a:endParaRPr sz="125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讲授内容｜1"/>
          <p:cNvSpPr txBox="1"/>
          <p:nvPr/>
        </p:nvSpPr>
        <p:spPr>
          <a:xfrm>
            <a:off x="2039112" y="4105656"/>
            <a:ext cx="182880" cy="21031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30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讲授内容｜0"/>
          <p:cNvSpPr txBox="1"/>
          <p:nvPr/>
        </p:nvSpPr>
        <p:spPr>
          <a:xfrm>
            <a:off x="2039112" y="4425696"/>
            <a:ext cx="182880" cy="21031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sz="130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节点C逐位发送波形"/>
          <p:cNvSpPr/>
          <p:nvPr/>
        </p:nvSpPr>
        <p:spPr>
          <a:xfrm>
            <a:off x="2286000" y="4197096"/>
            <a:ext cx="5207508" cy="320040"/>
          </a:xfrm>
          <a:custGeom>
            <a:avLst/>
            <a:gdLst/>
            <a:ahLst/>
            <a:cxnLst/>
            <a:rect l="l" t="t" r="r" b="b"/>
            <a:pathLst>
              <a:path w="5695" h="350">
                <a:moveTo>
                  <a:pt x="0" y="0"/>
                </a:moveTo>
                <a:lnTo>
                  <a:pt x="670" y="0"/>
                </a:lnTo>
                <a:lnTo>
                  <a:pt x="1340" y="0"/>
                </a:lnTo>
                <a:lnTo>
                  <a:pt x="1340" y="350"/>
                </a:lnTo>
                <a:lnTo>
                  <a:pt x="2010" y="350"/>
                </a:lnTo>
                <a:lnTo>
                  <a:pt x="2680" y="350"/>
                </a:lnTo>
                <a:lnTo>
                  <a:pt x="2680" y="0"/>
                </a:lnTo>
                <a:lnTo>
                  <a:pt x="3350" y="0"/>
                </a:lnTo>
                <a:lnTo>
                  <a:pt x="3350" y="350"/>
                </a:lnTo>
                <a:lnTo>
                  <a:pt x="4020" y="350"/>
                </a:lnTo>
                <a:lnTo>
                  <a:pt x="4020" y="0"/>
                </a:lnTo>
                <a:lnTo>
                  <a:pt x="4690" y="0"/>
                </a:lnTo>
                <a:lnTo>
                  <a:pt x="5360" y="0"/>
                </a:lnTo>
                <a:lnTo>
                  <a:pt x="5695" y="0"/>
                </a:lnTo>
              </a:path>
            </a:pathLst>
          </a:custGeom>
          <a:noFill/>
          <a:ln w="31115" cap="rnd">
            <a:solidFill>
              <a:srgbClr val="298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连接点"/>
          <p:cNvSpPr/>
          <p:nvPr/>
        </p:nvSpPr>
        <p:spPr>
          <a:xfrm>
            <a:off x="7443216" y="4146804"/>
            <a:ext cx="100584" cy="100584"/>
          </a:xfrm>
          <a:prstGeom prst="ellipse">
            <a:avLst/>
          </a:prstGeom>
          <a:solidFill>
            <a:srgbClr val="298E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连线"/>
          <p:cNvCxnSpPr/>
          <p:nvPr/>
        </p:nvCxnSpPr>
        <p:spPr>
          <a:xfrm>
            <a:off x="7493508" y="4197096"/>
            <a:ext cx="1531620" cy="0"/>
          </a:xfrm>
          <a:prstGeom prst="line">
            <a:avLst/>
          </a:prstGeom>
          <a:ln w="15240" cap="rnd">
            <a:solidFill>
              <a:srgbClr val="298E9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容器"/>
          <p:cNvSpPr/>
          <p:nvPr/>
        </p:nvSpPr>
        <p:spPr>
          <a:xfrm>
            <a:off x="9262872" y="4114800"/>
            <a:ext cx="2176272" cy="566928"/>
          </a:xfrm>
          <a:prstGeom prst="roundRect">
            <a:avLst>
              <a:gd name="adj" fmla="val 12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讲授内容｜bit 2退出 转为接收"/>
          <p:cNvSpPr txBox="1"/>
          <p:nvPr/>
        </p:nvSpPr>
        <p:spPr>
          <a:xfrm>
            <a:off x="9363456" y="4155948"/>
            <a:ext cx="1984248" cy="49377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98E9D"/>
                </a:solidFill>
                <a:latin typeface="微软雅黑" panose="020B0503020204020204" charset="-122"/>
                <a:ea typeface="微软雅黑" panose="020B0503020204020204" charset="-122"/>
              </a:rPr>
              <a:t>bit 2退出</a:t>
            </a:r>
            <a:endParaRPr sz="1650" b="1">
              <a:solidFill>
                <a:srgbClr val="298E9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98E9D"/>
                </a:solidFill>
                <a:latin typeface="微软雅黑" panose="020B0503020204020204" charset="-122"/>
                <a:ea typeface="微软雅黑" panose="020B0503020204020204" charset="-122"/>
              </a:rPr>
              <a:t>转为接收</a:t>
            </a:r>
            <a:endParaRPr sz="1650" b="1">
              <a:solidFill>
                <a:srgbClr val="298E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讲授内容｜总线电平 （实际值）"/>
          <p:cNvSpPr txBox="1"/>
          <p:nvPr/>
        </p:nvSpPr>
        <p:spPr>
          <a:xfrm>
            <a:off x="795528" y="4928616"/>
            <a:ext cx="1252728" cy="46634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总线电平</a:t>
            </a:r>
            <a:endParaRPr sz="16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（实际值）</a:t>
            </a:r>
            <a:endParaRPr sz="16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仲裁后的总线实际电平"/>
          <p:cNvSpPr/>
          <p:nvPr/>
        </p:nvSpPr>
        <p:spPr>
          <a:xfrm>
            <a:off x="2286000" y="5001768"/>
            <a:ext cx="6739128" cy="347472"/>
          </a:xfrm>
          <a:custGeom>
            <a:avLst/>
            <a:gdLst/>
            <a:ahLst/>
            <a:cxnLst/>
            <a:rect l="l" t="t" r="r" b="b"/>
            <a:pathLst>
              <a:path w="7370" h="380">
                <a:moveTo>
                  <a:pt x="0" y="0"/>
                </a:moveTo>
                <a:lnTo>
                  <a:pt x="670" y="0"/>
                </a:lnTo>
                <a:lnTo>
                  <a:pt x="1340" y="0"/>
                </a:lnTo>
                <a:lnTo>
                  <a:pt x="1340" y="380"/>
                </a:lnTo>
                <a:lnTo>
                  <a:pt x="2010" y="380"/>
                </a:lnTo>
                <a:lnTo>
                  <a:pt x="2680" y="380"/>
                </a:lnTo>
                <a:lnTo>
                  <a:pt x="2680" y="0"/>
                </a:lnTo>
                <a:lnTo>
                  <a:pt x="3350" y="0"/>
                </a:lnTo>
                <a:lnTo>
                  <a:pt x="3350" y="380"/>
                </a:lnTo>
                <a:lnTo>
                  <a:pt x="4020" y="380"/>
                </a:lnTo>
                <a:lnTo>
                  <a:pt x="4020" y="0"/>
                </a:lnTo>
                <a:lnTo>
                  <a:pt x="4690" y="0"/>
                </a:lnTo>
                <a:lnTo>
                  <a:pt x="5360" y="0"/>
                </a:lnTo>
                <a:lnTo>
                  <a:pt x="5360" y="380"/>
                </a:lnTo>
                <a:lnTo>
                  <a:pt x="6030" y="380"/>
                </a:lnTo>
                <a:lnTo>
                  <a:pt x="6030" y="0"/>
                </a:lnTo>
                <a:lnTo>
                  <a:pt x="6700" y="0"/>
                </a:lnTo>
                <a:lnTo>
                  <a:pt x="6700" y="380"/>
                </a:lnTo>
                <a:lnTo>
                  <a:pt x="7370" y="380"/>
                </a:lnTo>
              </a:path>
            </a:pathLst>
          </a:custGeom>
          <a:noFill/>
          <a:ln w="31750" cap="rnd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讲授内容｜显性0 覆盖隐性1"/>
          <p:cNvSpPr txBox="1"/>
          <p:nvPr/>
        </p:nvSpPr>
        <p:spPr>
          <a:xfrm>
            <a:off x="9409176" y="4910328"/>
            <a:ext cx="1911095" cy="51206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显性0</a:t>
            </a:r>
            <a:endParaRPr sz="18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覆盖隐性1</a:t>
            </a:r>
            <a:endParaRPr sz="18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容器"/>
          <p:cNvSpPr/>
          <p:nvPr/>
        </p:nvSpPr>
        <p:spPr>
          <a:xfrm>
            <a:off x="594360" y="5669280"/>
            <a:ext cx="3493008" cy="914400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讲授内容｜按位比较，不破坏报文"/>
          <p:cNvSpPr txBox="1"/>
          <p:nvPr/>
        </p:nvSpPr>
        <p:spPr>
          <a:xfrm>
            <a:off x="749808" y="5760720"/>
            <a:ext cx="3182112" cy="34747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按位比较，不破坏报文</a:t>
            </a:r>
            <a:endParaRPr sz="18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讲授内容｜发送1却检测到0时退出； 已经发送的共同前缀保持有效。"/>
          <p:cNvSpPr txBox="1"/>
          <p:nvPr/>
        </p:nvSpPr>
        <p:spPr>
          <a:xfrm>
            <a:off x="749808" y="6135624"/>
            <a:ext cx="3182112" cy="402335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发送1却检测到0时退出；</a:t>
            </a:r>
            <a:endParaRPr sz="145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已经发送的共同前缀保持有效。</a:t>
            </a:r>
            <a:endParaRPr sz="145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容器"/>
          <p:cNvSpPr/>
          <p:nvPr/>
        </p:nvSpPr>
        <p:spPr>
          <a:xfrm>
            <a:off x="4361688" y="5669280"/>
            <a:ext cx="3493008" cy="914400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讲授内容｜同格式数据帧：小ID优先"/>
          <p:cNvSpPr txBox="1"/>
          <p:nvPr/>
        </p:nvSpPr>
        <p:spPr>
          <a:xfrm>
            <a:off x="4517136" y="5760720"/>
            <a:ext cx="3182112" cy="34747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同格式数据帧：小ID优先</a:t>
            </a:r>
            <a:endParaRPr sz="18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讲授内容｜A在bit5退出，C在bit2退出； B = 0x65A获得本次发送权"/>
          <p:cNvSpPr txBox="1"/>
          <p:nvPr/>
        </p:nvSpPr>
        <p:spPr>
          <a:xfrm>
            <a:off x="4517136" y="6135624"/>
            <a:ext cx="3182112" cy="402335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A在bit5退出，C在bit2退出；</a:t>
            </a:r>
            <a:endParaRPr sz="145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B = 0x65A获得本次发送权。</a:t>
            </a:r>
            <a:endParaRPr sz="145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容器"/>
          <p:cNvSpPr/>
          <p:nvPr/>
        </p:nvSpPr>
        <p:spPr>
          <a:xfrm>
            <a:off x="8129016" y="5669280"/>
            <a:ext cx="3493008" cy="914400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讲授内容｜获胜者继续发送完整报文"/>
          <p:cNvSpPr txBox="1"/>
          <p:nvPr/>
        </p:nvSpPr>
        <p:spPr>
          <a:xfrm>
            <a:off x="8284464" y="5760720"/>
            <a:ext cx="3182112" cy="34747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获胜者继续发送完整报文</a:t>
            </a:r>
            <a:endParaRPr sz="18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讲授内容｜失败节点转为接收并等待； 不能抢占已经传输中的一帧。"/>
          <p:cNvSpPr txBox="1"/>
          <p:nvPr/>
        </p:nvSpPr>
        <p:spPr>
          <a:xfrm>
            <a:off x="8284464" y="6135624"/>
            <a:ext cx="3182112" cy="402335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失败节点转为接收并等待；</a:t>
            </a:r>
            <a:endParaRPr sz="145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不能抢占已经传输中的一帧。</a:t>
            </a:r>
            <a:endParaRPr sz="145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白色背景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右下角淡蓝装饰"/>
          <p:cNvSpPr/>
          <p:nvPr/>
        </p:nvSpPr>
        <p:spPr>
          <a:xfrm>
            <a:off x="10774679" y="5440680"/>
            <a:ext cx="1417320" cy="1417320"/>
          </a:xfrm>
          <a:custGeom>
            <a:avLst/>
            <a:gdLst/>
            <a:ahLst/>
            <a:cxnLst/>
            <a:rect l="l" t="t" r="r" b="b"/>
            <a:pathLst>
              <a:path w="1417320" h="1417320">
                <a:moveTo>
                  <a:pt x="1417320" y="1417320"/>
                </a:moveTo>
                <a:lnTo>
                  <a:pt x="0" y="1417320"/>
                </a:lnTo>
                <a:lnTo>
                  <a:pt x="700" y="1372800"/>
                </a:lnTo>
                <a:lnTo>
                  <a:pt x="2797" y="1328325"/>
                </a:lnTo>
                <a:lnTo>
                  <a:pt x="6290" y="1283938"/>
                </a:lnTo>
                <a:lnTo>
                  <a:pt x="11176" y="1239682"/>
                </a:lnTo>
                <a:lnTo>
                  <a:pt x="17450" y="1195602"/>
                </a:lnTo>
                <a:lnTo>
                  <a:pt x="25105" y="1151740"/>
                </a:lnTo>
                <a:lnTo>
                  <a:pt x="34134" y="1108141"/>
                </a:lnTo>
                <a:lnTo>
                  <a:pt x="44528" y="1064846"/>
                </a:lnTo>
                <a:lnTo>
                  <a:pt x="56277" y="1021900"/>
                </a:lnTo>
                <a:lnTo>
                  <a:pt x="69369" y="979344"/>
                </a:lnTo>
                <a:lnTo>
                  <a:pt x="83791" y="937219"/>
                </a:lnTo>
                <a:lnTo>
                  <a:pt x="99529" y="895569"/>
                </a:lnTo>
                <a:lnTo>
                  <a:pt x="116568" y="854434"/>
                </a:lnTo>
                <a:lnTo>
                  <a:pt x="134891" y="813854"/>
                </a:lnTo>
                <a:lnTo>
                  <a:pt x="154479" y="773870"/>
                </a:lnTo>
                <a:lnTo>
                  <a:pt x="175313" y="734520"/>
                </a:lnTo>
                <a:lnTo>
                  <a:pt x="197373" y="695845"/>
                </a:lnTo>
                <a:lnTo>
                  <a:pt x="220637" y="657881"/>
                </a:lnTo>
                <a:lnTo>
                  <a:pt x="245082" y="620667"/>
                </a:lnTo>
                <a:lnTo>
                  <a:pt x="270684" y="584240"/>
                </a:lnTo>
                <a:lnTo>
                  <a:pt x="297418" y="548634"/>
                </a:lnTo>
                <a:lnTo>
                  <a:pt x="325256" y="513886"/>
                </a:lnTo>
                <a:lnTo>
                  <a:pt x="354173" y="480029"/>
                </a:lnTo>
                <a:lnTo>
                  <a:pt x="384138" y="447097"/>
                </a:lnTo>
                <a:lnTo>
                  <a:pt x="415124" y="415123"/>
                </a:lnTo>
                <a:lnTo>
                  <a:pt x="447098" y="384138"/>
                </a:lnTo>
                <a:lnTo>
                  <a:pt x="480030" y="354172"/>
                </a:lnTo>
                <a:lnTo>
                  <a:pt x="513886" y="325256"/>
                </a:lnTo>
                <a:lnTo>
                  <a:pt x="548635" y="297417"/>
                </a:lnTo>
                <a:lnTo>
                  <a:pt x="584240" y="270684"/>
                </a:lnTo>
                <a:lnTo>
                  <a:pt x="620668" y="245082"/>
                </a:lnTo>
                <a:lnTo>
                  <a:pt x="657882" y="220637"/>
                </a:lnTo>
                <a:lnTo>
                  <a:pt x="695846" y="197373"/>
                </a:lnTo>
                <a:lnTo>
                  <a:pt x="734521" y="175313"/>
                </a:lnTo>
                <a:lnTo>
                  <a:pt x="773870" y="154478"/>
                </a:lnTo>
                <a:lnTo>
                  <a:pt x="813855" y="134890"/>
                </a:lnTo>
                <a:lnTo>
                  <a:pt x="854435" y="116568"/>
                </a:lnTo>
                <a:lnTo>
                  <a:pt x="895570" y="99529"/>
                </a:lnTo>
                <a:lnTo>
                  <a:pt x="937220" y="83790"/>
                </a:lnTo>
                <a:lnTo>
                  <a:pt x="979344" y="69368"/>
                </a:lnTo>
                <a:lnTo>
                  <a:pt x="1021901" y="56276"/>
                </a:lnTo>
                <a:lnTo>
                  <a:pt x="1064847" y="44527"/>
                </a:lnTo>
                <a:lnTo>
                  <a:pt x="1108141" y="34133"/>
                </a:lnTo>
                <a:lnTo>
                  <a:pt x="1151741" y="25104"/>
                </a:lnTo>
                <a:lnTo>
                  <a:pt x="1195602" y="17449"/>
                </a:lnTo>
                <a:lnTo>
                  <a:pt x="1239683" y="11175"/>
                </a:lnTo>
                <a:lnTo>
                  <a:pt x="1283939" y="6290"/>
                </a:lnTo>
                <a:lnTo>
                  <a:pt x="1328326" y="2796"/>
                </a:lnTo>
                <a:lnTo>
                  <a:pt x="1372801" y="699"/>
                </a:lnTo>
                <a:lnTo>
                  <a:pt x="1417320" y="0"/>
                </a:lnTo>
                <a:lnTo>
                  <a:pt x="1417320" y="1417320"/>
                </a:lnTo>
                <a:close/>
              </a:path>
            </a:pathLst>
          </a:custGeom>
          <a:solidFill>
            <a:srgbClr val="F4F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右下角淡蓝装饰"/>
          <p:cNvSpPr/>
          <p:nvPr/>
        </p:nvSpPr>
        <p:spPr>
          <a:xfrm>
            <a:off x="11076431" y="5742432"/>
            <a:ext cx="1115568" cy="1115568"/>
          </a:xfrm>
          <a:custGeom>
            <a:avLst/>
            <a:gdLst/>
            <a:ahLst/>
            <a:cxnLst/>
            <a:rect l="l" t="t" r="r" b="b"/>
            <a:pathLst>
              <a:path w="1115568" h="1115568">
                <a:moveTo>
                  <a:pt x="1115568" y="1115568"/>
                </a:moveTo>
                <a:lnTo>
                  <a:pt x="0" y="1115568"/>
                </a:lnTo>
                <a:lnTo>
                  <a:pt x="551" y="1080527"/>
                </a:lnTo>
                <a:lnTo>
                  <a:pt x="2202" y="1045520"/>
                </a:lnTo>
                <a:lnTo>
                  <a:pt x="4951" y="1010583"/>
                </a:lnTo>
                <a:lnTo>
                  <a:pt x="8797" y="975750"/>
                </a:lnTo>
                <a:lnTo>
                  <a:pt x="13735" y="941054"/>
                </a:lnTo>
                <a:lnTo>
                  <a:pt x="19760" y="906531"/>
                </a:lnTo>
                <a:lnTo>
                  <a:pt x="26867" y="872214"/>
                </a:lnTo>
                <a:lnTo>
                  <a:pt x="35048" y="838137"/>
                </a:lnTo>
                <a:lnTo>
                  <a:pt x="44295" y="804334"/>
                </a:lnTo>
                <a:lnTo>
                  <a:pt x="54600" y="770838"/>
                </a:lnTo>
                <a:lnTo>
                  <a:pt x="65952" y="737682"/>
                </a:lnTo>
                <a:lnTo>
                  <a:pt x="78339" y="704900"/>
                </a:lnTo>
                <a:lnTo>
                  <a:pt x="91751" y="672522"/>
                </a:lnTo>
                <a:lnTo>
                  <a:pt x="106172" y="640582"/>
                </a:lnTo>
                <a:lnTo>
                  <a:pt x="121590" y="609110"/>
                </a:lnTo>
                <a:lnTo>
                  <a:pt x="137989" y="578139"/>
                </a:lnTo>
                <a:lnTo>
                  <a:pt x="155352" y="547697"/>
                </a:lnTo>
                <a:lnTo>
                  <a:pt x="173663" y="517816"/>
                </a:lnTo>
                <a:lnTo>
                  <a:pt x="192904" y="488525"/>
                </a:lnTo>
                <a:lnTo>
                  <a:pt x="213055" y="459853"/>
                </a:lnTo>
                <a:lnTo>
                  <a:pt x="234097" y="431828"/>
                </a:lnTo>
                <a:lnTo>
                  <a:pt x="256008" y="404478"/>
                </a:lnTo>
                <a:lnTo>
                  <a:pt x="278768" y="377829"/>
                </a:lnTo>
                <a:lnTo>
                  <a:pt x="302354" y="351909"/>
                </a:lnTo>
                <a:lnTo>
                  <a:pt x="326742" y="326742"/>
                </a:lnTo>
                <a:lnTo>
                  <a:pt x="351909" y="302353"/>
                </a:lnTo>
                <a:lnTo>
                  <a:pt x="377830" y="278768"/>
                </a:lnTo>
                <a:lnTo>
                  <a:pt x="404478" y="256008"/>
                </a:lnTo>
                <a:lnTo>
                  <a:pt x="431829" y="234096"/>
                </a:lnTo>
                <a:lnTo>
                  <a:pt x="459854" y="213054"/>
                </a:lnTo>
                <a:lnTo>
                  <a:pt x="488526" y="192903"/>
                </a:lnTo>
                <a:lnTo>
                  <a:pt x="517817" y="173662"/>
                </a:lnTo>
                <a:lnTo>
                  <a:pt x="547698" y="155351"/>
                </a:lnTo>
                <a:lnTo>
                  <a:pt x="578139" y="137988"/>
                </a:lnTo>
                <a:lnTo>
                  <a:pt x="609111" y="121589"/>
                </a:lnTo>
                <a:lnTo>
                  <a:pt x="640582" y="106171"/>
                </a:lnTo>
                <a:lnTo>
                  <a:pt x="672523" y="91750"/>
                </a:lnTo>
                <a:lnTo>
                  <a:pt x="704900" y="78339"/>
                </a:lnTo>
                <a:lnTo>
                  <a:pt x="737683" y="65951"/>
                </a:lnTo>
                <a:lnTo>
                  <a:pt x="770839" y="54599"/>
                </a:lnTo>
                <a:lnTo>
                  <a:pt x="804335" y="44295"/>
                </a:lnTo>
                <a:lnTo>
                  <a:pt x="838138" y="35047"/>
                </a:lnTo>
                <a:lnTo>
                  <a:pt x="872215" y="26866"/>
                </a:lnTo>
                <a:lnTo>
                  <a:pt x="906532" y="19759"/>
                </a:lnTo>
                <a:lnTo>
                  <a:pt x="941055" y="13734"/>
                </a:lnTo>
                <a:lnTo>
                  <a:pt x="975750" y="8796"/>
                </a:lnTo>
                <a:lnTo>
                  <a:pt x="1010584" y="4950"/>
                </a:lnTo>
                <a:lnTo>
                  <a:pt x="1045521" y="2201"/>
                </a:lnTo>
                <a:lnTo>
                  <a:pt x="1080527" y="550"/>
                </a:lnTo>
                <a:lnTo>
                  <a:pt x="1115568" y="0"/>
                </a:lnTo>
                <a:lnTo>
                  <a:pt x="1115568" y="1115568"/>
                </a:lnTo>
                <a:close/>
              </a:path>
            </a:pathLst>
          </a:custGeom>
          <a:solidFill>
            <a:srgbClr val="F8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圆形"/>
          <p:cNvSpPr/>
          <p:nvPr/>
        </p:nvSpPr>
        <p:spPr>
          <a:xfrm>
            <a:off x="1038758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圆形"/>
          <p:cNvSpPr/>
          <p:nvPr/>
        </p:nvSpPr>
        <p:spPr>
          <a:xfrm>
            <a:off x="1038758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圆形"/>
          <p:cNvSpPr/>
          <p:nvPr/>
        </p:nvSpPr>
        <p:spPr>
          <a:xfrm>
            <a:off x="1038758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圆形"/>
          <p:cNvSpPr/>
          <p:nvPr/>
        </p:nvSpPr>
        <p:spPr>
          <a:xfrm>
            <a:off x="1055217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圆形"/>
          <p:cNvSpPr/>
          <p:nvPr/>
        </p:nvSpPr>
        <p:spPr>
          <a:xfrm>
            <a:off x="1055217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圆形"/>
          <p:cNvSpPr/>
          <p:nvPr/>
        </p:nvSpPr>
        <p:spPr>
          <a:xfrm>
            <a:off x="1055217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圆形"/>
          <p:cNvSpPr/>
          <p:nvPr/>
        </p:nvSpPr>
        <p:spPr>
          <a:xfrm>
            <a:off x="10716767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圆形"/>
          <p:cNvSpPr/>
          <p:nvPr/>
        </p:nvSpPr>
        <p:spPr>
          <a:xfrm>
            <a:off x="10716767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圆形"/>
          <p:cNvSpPr/>
          <p:nvPr/>
        </p:nvSpPr>
        <p:spPr>
          <a:xfrm>
            <a:off x="10716767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圆形"/>
          <p:cNvSpPr/>
          <p:nvPr/>
        </p:nvSpPr>
        <p:spPr>
          <a:xfrm>
            <a:off x="10881359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圆形"/>
          <p:cNvSpPr/>
          <p:nvPr/>
        </p:nvSpPr>
        <p:spPr>
          <a:xfrm>
            <a:off x="10881359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圆形"/>
          <p:cNvSpPr/>
          <p:nvPr/>
        </p:nvSpPr>
        <p:spPr>
          <a:xfrm>
            <a:off x="10881359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圆形"/>
          <p:cNvSpPr/>
          <p:nvPr/>
        </p:nvSpPr>
        <p:spPr>
          <a:xfrm>
            <a:off x="11045952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圆形"/>
          <p:cNvSpPr/>
          <p:nvPr/>
        </p:nvSpPr>
        <p:spPr>
          <a:xfrm>
            <a:off x="11045952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圆形"/>
          <p:cNvSpPr/>
          <p:nvPr/>
        </p:nvSpPr>
        <p:spPr>
          <a:xfrm>
            <a:off x="11045952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圆形"/>
          <p:cNvSpPr/>
          <p:nvPr/>
        </p:nvSpPr>
        <p:spPr>
          <a:xfrm>
            <a:off x="1121054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圆形"/>
          <p:cNvSpPr/>
          <p:nvPr/>
        </p:nvSpPr>
        <p:spPr>
          <a:xfrm>
            <a:off x="1121054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圆形"/>
          <p:cNvSpPr/>
          <p:nvPr/>
        </p:nvSpPr>
        <p:spPr>
          <a:xfrm>
            <a:off x="1121054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圆形"/>
          <p:cNvSpPr/>
          <p:nvPr/>
        </p:nvSpPr>
        <p:spPr>
          <a:xfrm>
            <a:off x="1137513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圆形"/>
          <p:cNvSpPr/>
          <p:nvPr/>
        </p:nvSpPr>
        <p:spPr>
          <a:xfrm>
            <a:off x="1137513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圆形"/>
          <p:cNvSpPr/>
          <p:nvPr/>
        </p:nvSpPr>
        <p:spPr>
          <a:xfrm>
            <a:off x="1137513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圆形"/>
          <p:cNvSpPr/>
          <p:nvPr/>
        </p:nvSpPr>
        <p:spPr>
          <a:xfrm>
            <a:off x="11539728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圆形"/>
          <p:cNvSpPr/>
          <p:nvPr/>
        </p:nvSpPr>
        <p:spPr>
          <a:xfrm>
            <a:off x="11539728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圆形"/>
          <p:cNvSpPr/>
          <p:nvPr/>
        </p:nvSpPr>
        <p:spPr>
          <a:xfrm>
            <a:off x="11539728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标题蓝色竖线"/>
          <p:cNvSpPr/>
          <p:nvPr/>
        </p:nvSpPr>
        <p:spPr>
          <a:xfrm>
            <a:off x="274320" y="356616"/>
            <a:ext cx="109728" cy="585216"/>
          </a:xfrm>
          <a:prstGeom prst="roundRect">
            <a:avLst>
              <a:gd name="adj" fmla="val 41666"/>
            </a:avLst>
          </a:prstGeom>
          <a:gradFill>
            <a:gsLst>
              <a:gs pos="0">
                <a:srgbClr val="3A92D5"/>
              </a:gs>
              <a:gs pos="100000">
                <a:srgbClr val="146FB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标题"/>
          <p:cNvSpPr txBox="1"/>
          <p:nvPr/>
        </p:nvSpPr>
        <p:spPr>
          <a:xfrm>
            <a:off x="621792" y="301752"/>
            <a:ext cx="9390888" cy="64922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3600">
                <a:latin typeface="微软雅黑" panose="020B0503020204020204" charset="-122"/>
              </a:defRPr>
            </a:pPr>
            <a:r>
              <a:rPr sz="35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CAN总线的优势</a:t>
            </a:r>
            <a:endParaRPr sz="35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标题分隔线"/>
          <p:cNvSpPr/>
          <p:nvPr/>
        </p:nvSpPr>
        <p:spPr>
          <a:xfrm>
            <a:off x="621792" y="1051560"/>
            <a:ext cx="11109960" cy="18288"/>
          </a:xfrm>
          <a:prstGeom prst="rect">
            <a:avLst/>
          </a:prstGeom>
          <a:gradFill>
            <a:gsLst>
              <a:gs pos="0">
                <a:srgbClr val="3A92D5"/>
              </a:gs>
              <a:gs pos="100000">
                <a:srgbClr val="E3EFF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tongji_wordm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4" y="256032"/>
            <a:ext cx="1554480" cy="385298"/>
          </a:xfrm>
          <a:prstGeom prst="rect">
            <a:avLst/>
          </a:prstGeom>
          <a:effectLst/>
        </p:spPr>
      </p:pic>
      <p:sp>
        <p:nvSpPr>
          <p:cNvPr id="33" name="导入句"/>
          <p:cNvSpPr txBox="1"/>
          <p:nvPr/>
        </p:nvSpPr>
        <p:spPr>
          <a:xfrm>
            <a:off x="621792" y="1271016"/>
            <a:ext cx="10972800" cy="57607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000">
                <a:latin typeface="微软雅黑" panose="020B0503020204020204" charset="-122"/>
              </a:defRPr>
            </a:pPr>
            <a:r>
              <a:rPr sz="20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CAN 通过</a:t>
            </a:r>
            <a:r>
              <a:rPr sz="20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共享总线</a:t>
            </a:r>
            <a:r>
              <a:rPr sz="20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sz="20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差分传输</a:t>
            </a:r>
            <a:r>
              <a:rPr sz="20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，能够减少线束、降低成本，并提高系统抗干扰能力。</a:t>
            </a:r>
            <a:endParaRPr sz="20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容器"/>
          <p:cNvSpPr/>
          <p:nvPr/>
        </p:nvSpPr>
        <p:spPr>
          <a:xfrm>
            <a:off x="594360" y="1892807"/>
            <a:ext cx="5175504" cy="3538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AD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容器"/>
          <p:cNvSpPr/>
          <p:nvPr/>
        </p:nvSpPr>
        <p:spPr>
          <a:xfrm>
            <a:off x="594360" y="1892807"/>
            <a:ext cx="5175504" cy="493776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讲授内容｜1  减少线束：点对点与共享总线"/>
          <p:cNvSpPr txBox="1"/>
          <p:nvPr/>
        </p:nvSpPr>
        <p:spPr>
          <a:xfrm>
            <a:off x="749808" y="1961388"/>
            <a:ext cx="4864608" cy="32918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1  减少线束：点对点与共享总线</a:t>
            </a:r>
            <a:endParaRPr sz="20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容器"/>
          <p:cNvSpPr/>
          <p:nvPr/>
        </p:nvSpPr>
        <p:spPr>
          <a:xfrm>
            <a:off x="5961888" y="1892807"/>
            <a:ext cx="2404872" cy="3538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AD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容器"/>
          <p:cNvSpPr/>
          <p:nvPr/>
        </p:nvSpPr>
        <p:spPr>
          <a:xfrm>
            <a:off x="5961888" y="1892807"/>
            <a:ext cx="2404872" cy="493776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讲授内容｜2  双绞线"/>
          <p:cNvSpPr txBox="1"/>
          <p:nvPr/>
        </p:nvSpPr>
        <p:spPr>
          <a:xfrm>
            <a:off x="6117336" y="1961388"/>
            <a:ext cx="2093976" cy="32918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2  双绞线</a:t>
            </a:r>
            <a:endParaRPr sz="20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容器"/>
          <p:cNvSpPr/>
          <p:nvPr/>
        </p:nvSpPr>
        <p:spPr>
          <a:xfrm>
            <a:off x="8558784" y="1892807"/>
            <a:ext cx="3044952" cy="3538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AD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容器"/>
          <p:cNvSpPr/>
          <p:nvPr/>
        </p:nvSpPr>
        <p:spPr>
          <a:xfrm>
            <a:off x="8558784" y="1892807"/>
            <a:ext cx="3044952" cy="493776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讲授内容｜3  差分信号"/>
          <p:cNvSpPr txBox="1"/>
          <p:nvPr/>
        </p:nvSpPr>
        <p:spPr>
          <a:xfrm>
            <a:off x="8714232" y="1961388"/>
            <a:ext cx="2734056" cy="32918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3  差分信号</a:t>
            </a:r>
            <a:endParaRPr sz="20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讲授内容｜不使用CAN总线"/>
          <p:cNvSpPr txBox="1"/>
          <p:nvPr/>
        </p:nvSpPr>
        <p:spPr>
          <a:xfrm>
            <a:off x="758952" y="2578608"/>
            <a:ext cx="2331720" cy="28346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不使用CAN总线</a:t>
            </a:r>
            <a:endParaRPr sz="17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可编辑曲线"/>
          <p:cNvSpPr/>
          <p:nvPr/>
        </p:nvSpPr>
        <p:spPr>
          <a:xfrm>
            <a:off x="996696" y="3438144"/>
            <a:ext cx="0" cy="722376"/>
          </a:xfrm>
          <a:custGeom>
            <a:avLst/>
            <a:gdLst/>
            <a:ahLst/>
            <a:cxnLst/>
            <a:rect l="l" t="t" r="r" b="b"/>
            <a:pathLst>
              <a:path h="790">
                <a:moveTo>
                  <a:pt x="0" y="0"/>
                </a:moveTo>
                <a:lnTo>
                  <a:pt x="0" y="200"/>
                </a:lnTo>
                <a:lnTo>
                  <a:pt x="0" y="200"/>
                </a:lnTo>
                <a:lnTo>
                  <a:pt x="0" y="790"/>
                </a:lnTo>
              </a:path>
            </a:pathLst>
          </a:custGeom>
          <a:noFill/>
          <a:ln w="8890" cap="rnd">
            <a:solidFill>
              <a:srgbClr val="586D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可编辑曲线"/>
          <p:cNvSpPr/>
          <p:nvPr/>
        </p:nvSpPr>
        <p:spPr>
          <a:xfrm>
            <a:off x="996696" y="3438144"/>
            <a:ext cx="877824" cy="722376"/>
          </a:xfrm>
          <a:custGeom>
            <a:avLst/>
            <a:gdLst/>
            <a:ahLst/>
            <a:cxnLst/>
            <a:rect l="l" t="t" r="r" b="b"/>
            <a:pathLst>
              <a:path w="960" h="790">
                <a:moveTo>
                  <a:pt x="0" y="0"/>
                </a:moveTo>
                <a:lnTo>
                  <a:pt x="0" y="224"/>
                </a:lnTo>
                <a:lnTo>
                  <a:pt x="960" y="224"/>
                </a:lnTo>
                <a:lnTo>
                  <a:pt x="960" y="790"/>
                </a:lnTo>
              </a:path>
            </a:pathLst>
          </a:custGeom>
          <a:noFill/>
          <a:ln w="8890" cap="rnd">
            <a:solidFill>
              <a:srgbClr val="586D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可编辑曲线"/>
          <p:cNvSpPr/>
          <p:nvPr/>
        </p:nvSpPr>
        <p:spPr>
          <a:xfrm>
            <a:off x="996696" y="3438144"/>
            <a:ext cx="1316736" cy="722376"/>
          </a:xfrm>
          <a:custGeom>
            <a:avLst/>
            <a:gdLst/>
            <a:ahLst/>
            <a:cxnLst/>
            <a:rect l="l" t="t" r="r" b="b"/>
            <a:pathLst>
              <a:path w="1440" h="790">
                <a:moveTo>
                  <a:pt x="0" y="0"/>
                </a:moveTo>
                <a:lnTo>
                  <a:pt x="0" y="236"/>
                </a:lnTo>
                <a:lnTo>
                  <a:pt x="1440" y="236"/>
                </a:lnTo>
                <a:lnTo>
                  <a:pt x="1440" y="790"/>
                </a:lnTo>
              </a:path>
            </a:pathLst>
          </a:custGeom>
          <a:noFill/>
          <a:ln w="8890" cap="rnd">
            <a:solidFill>
              <a:srgbClr val="586D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可编辑曲线"/>
          <p:cNvSpPr/>
          <p:nvPr/>
        </p:nvSpPr>
        <p:spPr>
          <a:xfrm>
            <a:off x="1435608" y="3438144"/>
            <a:ext cx="0" cy="722376"/>
          </a:xfrm>
          <a:custGeom>
            <a:avLst/>
            <a:gdLst/>
            <a:ahLst/>
            <a:cxnLst/>
            <a:rect l="l" t="t" r="r" b="b"/>
            <a:pathLst>
              <a:path h="790">
                <a:moveTo>
                  <a:pt x="0" y="0"/>
                </a:moveTo>
                <a:lnTo>
                  <a:pt x="0" y="248"/>
                </a:lnTo>
                <a:lnTo>
                  <a:pt x="0" y="248"/>
                </a:lnTo>
                <a:lnTo>
                  <a:pt x="0" y="790"/>
                </a:lnTo>
              </a:path>
            </a:pathLst>
          </a:custGeom>
          <a:noFill/>
          <a:ln w="8890" cap="rnd">
            <a:solidFill>
              <a:srgbClr val="586D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可编辑曲线"/>
          <p:cNvSpPr/>
          <p:nvPr/>
        </p:nvSpPr>
        <p:spPr>
          <a:xfrm>
            <a:off x="1435608" y="3438144"/>
            <a:ext cx="877824" cy="722376"/>
          </a:xfrm>
          <a:custGeom>
            <a:avLst/>
            <a:gdLst/>
            <a:ahLst/>
            <a:cxnLst/>
            <a:rect l="l" t="t" r="r" b="b"/>
            <a:pathLst>
              <a:path w="960" h="790">
                <a:moveTo>
                  <a:pt x="0" y="0"/>
                </a:moveTo>
                <a:lnTo>
                  <a:pt x="0" y="272"/>
                </a:lnTo>
                <a:lnTo>
                  <a:pt x="960" y="272"/>
                </a:lnTo>
                <a:lnTo>
                  <a:pt x="960" y="790"/>
                </a:lnTo>
              </a:path>
            </a:pathLst>
          </a:custGeom>
          <a:noFill/>
          <a:ln w="8890" cap="rnd">
            <a:solidFill>
              <a:srgbClr val="586D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可编辑曲线"/>
          <p:cNvSpPr/>
          <p:nvPr/>
        </p:nvSpPr>
        <p:spPr>
          <a:xfrm>
            <a:off x="1435608" y="3438144"/>
            <a:ext cx="1316736" cy="722376"/>
          </a:xfrm>
          <a:custGeom>
            <a:avLst/>
            <a:gdLst/>
            <a:ahLst/>
            <a:cxnLst/>
            <a:rect l="l" t="t" r="r" b="b"/>
            <a:pathLst>
              <a:path w="1440" h="790">
                <a:moveTo>
                  <a:pt x="0" y="0"/>
                </a:moveTo>
                <a:lnTo>
                  <a:pt x="0" y="284"/>
                </a:lnTo>
                <a:lnTo>
                  <a:pt x="1440" y="284"/>
                </a:lnTo>
                <a:lnTo>
                  <a:pt x="1440" y="790"/>
                </a:lnTo>
              </a:path>
            </a:pathLst>
          </a:custGeom>
          <a:noFill/>
          <a:ln w="8890" cap="rnd">
            <a:solidFill>
              <a:srgbClr val="586D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可编辑曲线"/>
          <p:cNvSpPr/>
          <p:nvPr/>
        </p:nvSpPr>
        <p:spPr>
          <a:xfrm>
            <a:off x="1874520" y="3438144"/>
            <a:ext cx="0" cy="722376"/>
          </a:xfrm>
          <a:custGeom>
            <a:avLst/>
            <a:gdLst/>
            <a:ahLst/>
            <a:cxnLst/>
            <a:rect l="l" t="t" r="r" b="b"/>
            <a:pathLst>
              <a:path h="790">
                <a:moveTo>
                  <a:pt x="0" y="0"/>
                </a:moveTo>
                <a:lnTo>
                  <a:pt x="0" y="296"/>
                </a:lnTo>
                <a:lnTo>
                  <a:pt x="0" y="296"/>
                </a:lnTo>
                <a:lnTo>
                  <a:pt x="0" y="790"/>
                </a:lnTo>
              </a:path>
            </a:pathLst>
          </a:custGeom>
          <a:noFill/>
          <a:ln w="8890" cap="rnd">
            <a:solidFill>
              <a:srgbClr val="586D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可编辑曲线"/>
          <p:cNvSpPr/>
          <p:nvPr/>
        </p:nvSpPr>
        <p:spPr>
          <a:xfrm>
            <a:off x="1874520" y="3438144"/>
            <a:ext cx="877824" cy="722376"/>
          </a:xfrm>
          <a:custGeom>
            <a:avLst/>
            <a:gdLst/>
            <a:ahLst/>
            <a:cxnLst/>
            <a:rect l="l" t="t" r="r" b="b"/>
            <a:pathLst>
              <a:path w="960" h="790">
                <a:moveTo>
                  <a:pt x="0" y="0"/>
                </a:moveTo>
                <a:lnTo>
                  <a:pt x="0" y="320"/>
                </a:lnTo>
                <a:lnTo>
                  <a:pt x="960" y="320"/>
                </a:lnTo>
                <a:lnTo>
                  <a:pt x="960" y="790"/>
                </a:lnTo>
              </a:path>
            </a:pathLst>
          </a:custGeom>
          <a:noFill/>
          <a:ln w="8890" cap="rnd">
            <a:solidFill>
              <a:srgbClr val="586D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可编辑曲线"/>
          <p:cNvSpPr/>
          <p:nvPr/>
        </p:nvSpPr>
        <p:spPr>
          <a:xfrm>
            <a:off x="996696" y="3438144"/>
            <a:ext cx="877824" cy="722376"/>
          </a:xfrm>
          <a:custGeom>
            <a:avLst/>
            <a:gdLst/>
            <a:ahLst/>
            <a:cxnLst/>
            <a:rect l="l" t="t" r="r" b="b"/>
            <a:pathLst>
              <a:path w="960" h="790">
                <a:moveTo>
                  <a:pt x="960" y="0"/>
                </a:moveTo>
                <a:lnTo>
                  <a:pt x="960" y="272"/>
                </a:lnTo>
                <a:lnTo>
                  <a:pt x="0" y="272"/>
                </a:lnTo>
                <a:lnTo>
                  <a:pt x="0" y="790"/>
                </a:lnTo>
              </a:path>
            </a:pathLst>
          </a:custGeom>
          <a:noFill/>
          <a:ln w="8890" cap="rnd">
            <a:solidFill>
              <a:srgbClr val="586D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可编辑曲线"/>
          <p:cNvSpPr/>
          <p:nvPr/>
        </p:nvSpPr>
        <p:spPr>
          <a:xfrm>
            <a:off x="2313432" y="3438144"/>
            <a:ext cx="0" cy="722376"/>
          </a:xfrm>
          <a:custGeom>
            <a:avLst/>
            <a:gdLst/>
            <a:ahLst/>
            <a:cxnLst/>
            <a:rect l="l" t="t" r="r" b="b"/>
            <a:pathLst>
              <a:path h="790">
                <a:moveTo>
                  <a:pt x="0" y="0"/>
                </a:moveTo>
                <a:lnTo>
                  <a:pt x="0" y="344"/>
                </a:lnTo>
                <a:lnTo>
                  <a:pt x="0" y="344"/>
                </a:lnTo>
                <a:lnTo>
                  <a:pt x="0" y="790"/>
                </a:lnTo>
              </a:path>
            </a:pathLst>
          </a:custGeom>
          <a:noFill/>
          <a:ln w="8890" cap="rnd">
            <a:solidFill>
              <a:srgbClr val="586D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可编辑曲线"/>
          <p:cNvSpPr/>
          <p:nvPr/>
        </p:nvSpPr>
        <p:spPr>
          <a:xfrm>
            <a:off x="996696" y="3438144"/>
            <a:ext cx="1316736" cy="722376"/>
          </a:xfrm>
          <a:custGeom>
            <a:avLst/>
            <a:gdLst/>
            <a:ahLst/>
            <a:cxnLst/>
            <a:rect l="l" t="t" r="r" b="b"/>
            <a:pathLst>
              <a:path w="1440" h="790">
                <a:moveTo>
                  <a:pt x="1440" y="0"/>
                </a:moveTo>
                <a:lnTo>
                  <a:pt x="1440" y="308"/>
                </a:lnTo>
                <a:lnTo>
                  <a:pt x="0" y="308"/>
                </a:lnTo>
                <a:lnTo>
                  <a:pt x="0" y="790"/>
                </a:lnTo>
              </a:path>
            </a:pathLst>
          </a:custGeom>
          <a:noFill/>
          <a:ln w="8890" cap="rnd">
            <a:solidFill>
              <a:srgbClr val="586D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可编辑曲线"/>
          <p:cNvSpPr/>
          <p:nvPr/>
        </p:nvSpPr>
        <p:spPr>
          <a:xfrm>
            <a:off x="1435608" y="3438144"/>
            <a:ext cx="877824" cy="722376"/>
          </a:xfrm>
          <a:custGeom>
            <a:avLst/>
            <a:gdLst/>
            <a:ahLst/>
            <a:cxnLst/>
            <a:rect l="l" t="t" r="r" b="b"/>
            <a:pathLst>
              <a:path w="960" h="790">
                <a:moveTo>
                  <a:pt x="960" y="0"/>
                </a:moveTo>
                <a:lnTo>
                  <a:pt x="960" y="320"/>
                </a:lnTo>
                <a:lnTo>
                  <a:pt x="0" y="320"/>
                </a:lnTo>
                <a:lnTo>
                  <a:pt x="0" y="790"/>
                </a:lnTo>
              </a:path>
            </a:pathLst>
          </a:custGeom>
          <a:noFill/>
          <a:ln w="8890" cap="rnd">
            <a:solidFill>
              <a:srgbClr val="586D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可编辑曲线"/>
          <p:cNvSpPr/>
          <p:nvPr/>
        </p:nvSpPr>
        <p:spPr>
          <a:xfrm>
            <a:off x="2752344" y="3438144"/>
            <a:ext cx="0" cy="722376"/>
          </a:xfrm>
          <a:custGeom>
            <a:avLst/>
            <a:gdLst/>
            <a:ahLst/>
            <a:cxnLst/>
            <a:rect l="l" t="t" r="r" b="b"/>
            <a:pathLst>
              <a:path h="790">
                <a:moveTo>
                  <a:pt x="0" y="0"/>
                </a:moveTo>
                <a:lnTo>
                  <a:pt x="0" y="392"/>
                </a:lnTo>
                <a:lnTo>
                  <a:pt x="0" y="392"/>
                </a:lnTo>
                <a:lnTo>
                  <a:pt x="0" y="790"/>
                </a:lnTo>
              </a:path>
            </a:pathLst>
          </a:custGeom>
          <a:noFill/>
          <a:ln w="8890" cap="rnd">
            <a:solidFill>
              <a:srgbClr val="586D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可编辑曲线"/>
          <p:cNvSpPr/>
          <p:nvPr/>
        </p:nvSpPr>
        <p:spPr>
          <a:xfrm>
            <a:off x="1435608" y="3438144"/>
            <a:ext cx="1316736" cy="722376"/>
          </a:xfrm>
          <a:custGeom>
            <a:avLst/>
            <a:gdLst/>
            <a:ahLst/>
            <a:cxnLst/>
            <a:rect l="l" t="t" r="r" b="b"/>
            <a:pathLst>
              <a:path w="1440" h="790">
                <a:moveTo>
                  <a:pt x="1440" y="0"/>
                </a:moveTo>
                <a:lnTo>
                  <a:pt x="1440" y="356"/>
                </a:lnTo>
                <a:lnTo>
                  <a:pt x="0" y="356"/>
                </a:lnTo>
                <a:lnTo>
                  <a:pt x="0" y="790"/>
                </a:lnTo>
              </a:path>
            </a:pathLst>
          </a:custGeom>
          <a:noFill/>
          <a:ln w="8890" cap="rnd">
            <a:solidFill>
              <a:srgbClr val="586D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可编辑曲线"/>
          <p:cNvSpPr/>
          <p:nvPr/>
        </p:nvSpPr>
        <p:spPr>
          <a:xfrm>
            <a:off x="1874520" y="3438144"/>
            <a:ext cx="877824" cy="722376"/>
          </a:xfrm>
          <a:custGeom>
            <a:avLst/>
            <a:gdLst/>
            <a:ahLst/>
            <a:cxnLst/>
            <a:rect l="l" t="t" r="r" b="b"/>
            <a:pathLst>
              <a:path w="960" h="790">
                <a:moveTo>
                  <a:pt x="960" y="0"/>
                </a:moveTo>
                <a:lnTo>
                  <a:pt x="960" y="368"/>
                </a:lnTo>
                <a:lnTo>
                  <a:pt x="0" y="368"/>
                </a:lnTo>
                <a:lnTo>
                  <a:pt x="0" y="790"/>
                </a:lnTo>
              </a:path>
            </a:pathLst>
          </a:custGeom>
          <a:noFill/>
          <a:ln w="8890" cap="rnd">
            <a:solidFill>
              <a:srgbClr val="586D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容器"/>
          <p:cNvSpPr/>
          <p:nvPr/>
        </p:nvSpPr>
        <p:spPr>
          <a:xfrm>
            <a:off x="818388" y="3099816"/>
            <a:ext cx="356616" cy="338328"/>
          </a:xfrm>
          <a:prstGeom prst="rect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讲授内容｜ECU"/>
          <p:cNvSpPr txBox="1"/>
          <p:nvPr/>
        </p:nvSpPr>
        <p:spPr>
          <a:xfrm>
            <a:off x="818388" y="3136392"/>
            <a:ext cx="356616" cy="23774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ECU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容器"/>
          <p:cNvSpPr/>
          <p:nvPr/>
        </p:nvSpPr>
        <p:spPr>
          <a:xfrm>
            <a:off x="818388" y="4160520"/>
            <a:ext cx="356616" cy="338328"/>
          </a:xfrm>
          <a:prstGeom prst="rect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讲授内容｜ECU"/>
          <p:cNvSpPr txBox="1"/>
          <p:nvPr/>
        </p:nvSpPr>
        <p:spPr>
          <a:xfrm>
            <a:off x="818388" y="4197096"/>
            <a:ext cx="356616" cy="23774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ECU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容器"/>
          <p:cNvSpPr/>
          <p:nvPr/>
        </p:nvSpPr>
        <p:spPr>
          <a:xfrm>
            <a:off x="1257300" y="3099816"/>
            <a:ext cx="356616" cy="338328"/>
          </a:xfrm>
          <a:prstGeom prst="rect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讲授内容｜ECU"/>
          <p:cNvSpPr txBox="1"/>
          <p:nvPr/>
        </p:nvSpPr>
        <p:spPr>
          <a:xfrm>
            <a:off x="1257300" y="3136392"/>
            <a:ext cx="356616" cy="23774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ECU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容器"/>
          <p:cNvSpPr/>
          <p:nvPr/>
        </p:nvSpPr>
        <p:spPr>
          <a:xfrm>
            <a:off x="1257300" y="4160520"/>
            <a:ext cx="356616" cy="338328"/>
          </a:xfrm>
          <a:prstGeom prst="rect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讲授内容｜ECU"/>
          <p:cNvSpPr txBox="1"/>
          <p:nvPr/>
        </p:nvSpPr>
        <p:spPr>
          <a:xfrm>
            <a:off x="1257300" y="4197096"/>
            <a:ext cx="356616" cy="23774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ECU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容器"/>
          <p:cNvSpPr/>
          <p:nvPr/>
        </p:nvSpPr>
        <p:spPr>
          <a:xfrm>
            <a:off x="1696212" y="3099816"/>
            <a:ext cx="356616" cy="338328"/>
          </a:xfrm>
          <a:prstGeom prst="rect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讲授内容｜ECU"/>
          <p:cNvSpPr txBox="1"/>
          <p:nvPr/>
        </p:nvSpPr>
        <p:spPr>
          <a:xfrm>
            <a:off x="1696212" y="3136392"/>
            <a:ext cx="356616" cy="23774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ECU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容器"/>
          <p:cNvSpPr/>
          <p:nvPr/>
        </p:nvSpPr>
        <p:spPr>
          <a:xfrm>
            <a:off x="1696212" y="4160520"/>
            <a:ext cx="356616" cy="338328"/>
          </a:xfrm>
          <a:prstGeom prst="rect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讲授内容｜ECU"/>
          <p:cNvSpPr txBox="1"/>
          <p:nvPr/>
        </p:nvSpPr>
        <p:spPr>
          <a:xfrm>
            <a:off x="1696212" y="4197096"/>
            <a:ext cx="356616" cy="23774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ECU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容器"/>
          <p:cNvSpPr/>
          <p:nvPr/>
        </p:nvSpPr>
        <p:spPr>
          <a:xfrm>
            <a:off x="2135124" y="3099816"/>
            <a:ext cx="356616" cy="338328"/>
          </a:xfrm>
          <a:prstGeom prst="rect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讲授内容｜ECU"/>
          <p:cNvSpPr txBox="1"/>
          <p:nvPr/>
        </p:nvSpPr>
        <p:spPr>
          <a:xfrm>
            <a:off x="2135124" y="3136392"/>
            <a:ext cx="356616" cy="23774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ECU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容器"/>
          <p:cNvSpPr/>
          <p:nvPr/>
        </p:nvSpPr>
        <p:spPr>
          <a:xfrm>
            <a:off x="2135124" y="4160520"/>
            <a:ext cx="356616" cy="338328"/>
          </a:xfrm>
          <a:prstGeom prst="rect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讲授内容｜ECU"/>
          <p:cNvSpPr txBox="1"/>
          <p:nvPr/>
        </p:nvSpPr>
        <p:spPr>
          <a:xfrm>
            <a:off x="2135124" y="4197096"/>
            <a:ext cx="356616" cy="23774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ECU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容器"/>
          <p:cNvSpPr/>
          <p:nvPr/>
        </p:nvSpPr>
        <p:spPr>
          <a:xfrm>
            <a:off x="2574036" y="3099816"/>
            <a:ext cx="356616" cy="338328"/>
          </a:xfrm>
          <a:prstGeom prst="rect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讲授内容｜ECU"/>
          <p:cNvSpPr txBox="1"/>
          <p:nvPr/>
        </p:nvSpPr>
        <p:spPr>
          <a:xfrm>
            <a:off x="2574036" y="3136392"/>
            <a:ext cx="356616" cy="23774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ECU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容器"/>
          <p:cNvSpPr/>
          <p:nvPr/>
        </p:nvSpPr>
        <p:spPr>
          <a:xfrm>
            <a:off x="2574036" y="4160520"/>
            <a:ext cx="356616" cy="338328"/>
          </a:xfrm>
          <a:prstGeom prst="rect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讲授内容｜ECU"/>
          <p:cNvSpPr txBox="1"/>
          <p:nvPr/>
        </p:nvSpPr>
        <p:spPr>
          <a:xfrm>
            <a:off x="2574036" y="4197096"/>
            <a:ext cx="356616" cy="23774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ECU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讲授内容｜大量点对点线束"/>
          <p:cNvSpPr txBox="1"/>
          <p:nvPr/>
        </p:nvSpPr>
        <p:spPr>
          <a:xfrm>
            <a:off x="795528" y="4837176"/>
            <a:ext cx="2267712" cy="32004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大量点对点线束</a:t>
            </a:r>
            <a:endParaRPr sz="165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讲授内容｜使用CAN总线"/>
          <p:cNvSpPr txBox="1"/>
          <p:nvPr/>
        </p:nvSpPr>
        <p:spPr>
          <a:xfrm>
            <a:off x="3255264" y="2578608"/>
            <a:ext cx="2331720" cy="28346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使用CAN总线</a:t>
            </a:r>
            <a:endParaRPr sz="17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3" name="连线"/>
          <p:cNvCxnSpPr/>
          <p:nvPr/>
        </p:nvCxnSpPr>
        <p:spPr>
          <a:xfrm>
            <a:off x="3493008" y="3776472"/>
            <a:ext cx="1755648" cy="0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连线"/>
          <p:cNvCxnSpPr/>
          <p:nvPr/>
        </p:nvCxnSpPr>
        <p:spPr>
          <a:xfrm>
            <a:off x="3493008" y="3438144"/>
            <a:ext cx="0" cy="722376"/>
          </a:xfrm>
          <a:prstGeom prst="line">
            <a:avLst/>
          </a:prstGeom>
          <a:ln w="1524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连线"/>
          <p:cNvCxnSpPr/>
          <p:nvPr/>
        </p:nvCxnSpPr>
        <p:spPr>
          <a:xfrm>
            <a:off x="3931920" y="3438144"/>
            <a:ext cx="0" cy="722376"/>
          </a:xfrm>
          <a:prstGeom prst="line">
            <a:avLst/>
          </a:prstGeom>
          <a:ln w="1524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连线"/>
          <p:cNvCxnSpPr/>
          <p:nvPr/>
        </p:nvCxnSpPr>
        <p:spPr>
          <a:xfrm>
            <a:off x="4370832" y="3438144"/>
            <a:ext cx="0" cy="722376"/>
          </a:xfrm>
          <a:prstGeom prst="line">
            <a:avLst/>
          </a:prstGeom>
          <a:ln w="1524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连线"/>
          <p:cNvCxnSpPr/>
          <p:nvPr/>
        </p:nvCxnSpPr>
        <p:spPr>
          <a:xfrm>
            <a:off x="4809744" y="3438144"/>
            <a:ext cx="0" cy="722376"/>
          </a:xfrm>
          <a:prstGeom prst="line">
            <a:avLst/>
          </a:prstGeom>
          <a:ln w="1524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连线"/>
          <p:cNvCxnSpPr/>
          <p:nvPr/>
        </p:nvCxnSpPr>
        <p:spPr>
          <a:xfrm>
            <a:off x="5248656" y="3438144"/>
            <a:ext cx="0" cy="722376"/>
          </a:xfrm>
          <a:prstGeom prst="line">
            <a:avLst/>
          </a:prstGeom>
          <a:ln w="1524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容器"/>
          <p:cNvSpPr/>
          <p:nvPr/>
        </p:nvSpPr>
        <p:spPr>
          <a:xfrm>
            <a:off x="3314700" y="3099816"/>
            <a:ext cx="356616" cy="338328"/>
          </a:xfrm>
          <a:prstGeom prst="rect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讲授内容｜ECU"/>
          <p:cNvSpPr txBox="1"/>
          <p:nvPr/>
        </p:nvSpPr>
        <p:spPr>
          <a:xfrm>
            <a:off x="3314700" y="3136392"/>
            <a:ext cx="356616" cy="23774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ECU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容器"/>
          <p:cNvSpPr/>
          <p:nvPr/>
        </p:nvSpPr>
        <p:spPr>
          <a:xfrm>
            <a:off x="3314700" y="4160520"/>
            <a:ext cx="356616" cy="338328"/>
          </a:xfrm>
          <a:prstGeom prst="rect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讲授内容｜ECU"/>
          <p:cNvSpPr txBox="1"/>
          <p:nvPr/>
        </p:nvSpPr>
        <p:spPr>
          <a:xfrm>
            <a:off x="3314700" y="4197096"/>
            <a:ext cx="356616" cy="23774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ECU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容器"/>
          <p:cNvSpPr/>
          <p:nvPr/>
        </p:nvSpPr>
        <p:spPr>
          <a:xfrm>
            <a:off x="3753612" y="3099816"/>
            <a:ext cx="356616" cy="338328"/>
          </a:xfrm>
          <a:prstGeom prst="rect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讲授内容｜ECU"/>
          <p:cNvSpPr txBox="1"/>
          <p:nvPr/>
        </p:nvSpPr>
        <p:spPr>
          <a:xfrm>
            <a:off x="3753612" y="3136392"/>
            <a:ext cx="356616" cy="23774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ECU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容器"/>
          <p:cNvSpPr/>
          <p:nvPr/>
        </p:nvSpPr>
        <p:spPr>
          <a:xfrm>
            <a:off x="3753612" y="4160520"/>
            <a:ext cx="356616" cy="338328"/>
          </a:xfrm>
          <a:prstGeom prst="rect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讲授内容｜ECU"/>
          <p:cNvSpPr txBox="1"/>
          <p:nvPr/>
        </p:nvSpPr>
        <p:spPr>
          <a:xfrm>
            <a:off x="3753612" y="4197096"/>
            <a:ext cx="356616" cy="23774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ECU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容器"/>
          <p:cNvSpPr/>
          <p:nvPr/>
        </p:nvSpPr>
        <p:spPr>
          <a:xfrm>
            <a:off x="4192524" y="3099816"/>
            <a:ext cx="356616" cy="338328"/>
          </a:xfrm>
          <a:prstGeom prst="rect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讲授内容｜ECU"/>
          <p:cNvSpPr txBox="1"/>
          <p:nvPr/>
        </p:nvSpPr>
        <p:spPr>
          <a:xfrm>
            <a:off x="4192524" y="3136392"/>
            <a:ext cx="356616" cy="23774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ECU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容器"/>
          <p:cNvSpPr/>
          <p:nvPr/>
        </p:nvSpPr>
        <p:spPr>
          <a:xfrm>
            <a:off x="4192524" y="4160520"/>
            <a:ext cx="356616" cy="338328"/>
          </a:xfrm>
          <a:prstGeom prst="rect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讲授内容｜ECU"/>
          <p:cNvSpPr txBox="1"/>
          <p:nvPr/>
        </p:nvSpPr>
        <p:spPr>
          <a:xfrm>
            <a:off x="4192524" y="4197096"/>
            <a:ext cx="356616" cy="23774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ECU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容器"/>
          <p:cNvSpPr/>
          <p:nvPr/>
        </p:nvSpPr>
        <p:spPr>
          <a:xfrm>
            <a:off x="4631436" y="3099816"/>
            <a:ext cx="356616" cy="338328"/>
          </a:xfrm>
          <a:prstGeom prst="rect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讲授内容｜ECU"/>
          <p:cNvSpPr txBox="1"/>
          <p:nvPr/>
        </p:nvSpPr>
        <p:spPr>
          <a:xfrm>
            <a:off x="4631436" y="3136392"/>
            <a:ext cx="356616" cy="23774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ECU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容器"/>
          <p:cNvSpPr/>
          <p:nvPr/>
        </p:nvSpPr>
        <p:spPr>
          <a:xfrm>
            <a:off x="4631436" y="4160520"/>
            <a:ext cx="356616" cy="338328"/>
          </a:xfrm>
          <a:prstGeom prst="rect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讲授内容｜ECU"/>
          <p:cNvSpPr txBox="1"/>
          <p:nvPr/>
        </p:nvSpPr>
        <p:spPr>
          <a:xfrm>
            <a:off x="4631436" y="4197096"/>
            <a:ext cx="356616" cy="23774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ECU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容器"/>
          <p:cNvSpPr/>
          <p:nvPr/>
        </p:nvSpPr>
        <p:spPr>
          <a:xfrm>
            <a:off x="5070348" y="3099816"/>
            <a:ext cx="356616" cy="338328"/>
          </a:xfrm>
          <a:prstGeom prst="rect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讲授内容｜ECU"/>
          <p:cNvSpPr txBox="1"/>
          <p:nvPr/>
        </p:nvSpPr>
        <p:spPr>
          <a:xfrm>
            <a:off x="5070348" y="3136392"/>
            <a:ext cx="356616" cy="23774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ECU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容器"/>
          <p:cNvSpPr/>
          <p:nvPr/>
        </p:nvSpPr>
        <p:spPr>
          <a:xfrm>
            <a:off x="5070348" y="4160520"/>
            <a:ext cx="356616" cy="338328"/>
          </a:xfrm>
          <a:prstGeom prst="rect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讲授内容｜ECU"/>
          <p:cNvSpPr txBox="1"/>
          <p:nvPr/>
        </p:nvSpPr>
        <p:spPr>
          <a:xfrm>
            <a:off x="5070348" y="4197096"/>
            <a:ext cx="356616" cy="23774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ECU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" name="讲授内容｜共享一条CAN总线"/>
          <p:cNvSpPr txBox="1"/>
          <p:nvPr/>
        </p:nvSpPr>
        <p:spPr>
          <a:xfrm>
            <a:off x="3291840" y="4837176"/>
            <a:ext cx="2267712" cy="32004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共享一条CAN总线</a:t>
            </a:r>
            <a:endParaRPr sz="165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" name="可编辑曲线"/>
          <p:cNvSpPr/>
          <p:nvPr/>
        </p:nvSpPr>
        <p:spPr>
          <a:xfrm>
            <a:off x="6172200" y="3474720"/>
            <a:ext cx="1993392" cy="329184"/>
          </a:xfrm>
          <a:custGeom>
            <a:avLst/>
            <a:gdLst/>
            <a:ahLst/>
            <a:cxnLst/>
            <a:rect l="l" t="t" r="r" b="b"/>
            <a:pathLst>
              <a:path w="2180" h="360">
                <a:moveTo>
                  <a:pt x="0" y="180"/>
                </a:moveTo>
                <a:lnTo>
                  <a:pt x="16" y="198"/>
                </a:lnTo>
                <a:lnTo>
                  <a:pt x="31" y="216"/>
                </a:lnTo>
                <a:lnTo>
                  <a:pt x="47" y="234"/>
                </a:lnTo>
                <a:lnTo>
                  <a:pt x="62" y="251"/>
                </a:lnTo>
                <a:lnTo>
                  <a:pt x="78" y="267"/>
                </a:lnTo>
                <a:lnTo>
                  <a:pt x="93" y="283"/>
                </a:lnTo>
                <a:lnTo>
                  <a:pt x="109" y="297"/>
                </a:lnTo>
                <a:lnTo>
                  <a:pt x="125" y="310"/>
                </a:lnTo>
                <a:lnTo>
                  <a:pt x="140" y="322"/>
                </a:lnTo>
                <a:lnTo>
                  <a:pt x="156" y="332"/>
                </a:lnTo>
                <a:lnTo>
                  <a:pt x="171" y="341"/>
                </a:lnTo>
                <a:lnTo>
                  <a:pt x="187" y="349"/>
                </a:lnTo>
                <a:lnTo>
                  <a:pt x="202" y="354"/>
                </a:lnTo>
                <a:lnTo>
                  <a:pt x="218" y="358"/>
                </a:lnTo>
                <a:lnTo>
                  <a:pt x="234" y="360"/>
                </a:lnTo>
                <a:lnTo>
                  <a:pt x="249" y="360"/>
                </a:lnTo>
                <a:lnTo>
                  <a:pt x="265" y="358"/>
                </a:lnTo>
                <a:lnTo>
                  <a:pt x="280" y="355"/>
                </a:lnTo>
                <a:lnTo>
                  <a:pt x="296" y="349"/>
                </a:lnTo>
                <a:lnTo>
                  <a:pt x="311" y="342"/>
                </a:lnTo>
                <a:lnTo>
                  <a:pt x="327" y="333"/>
                </a:lnTo>
                <a:lnTo>
                  <a:pt x="343" y="323"/>
                </a:lnTo>
                <a:lnTo>
                  <a:pt x="358" y="311"/>
                </a:lnTo>
                <a:lnTo>
                  <a:pt x="374" y="298"/>
                </a:lnTo>
                <a:lnTo>
                  <a:pt x="389" y="284"/>
                </a:lnTo>
                <a:lnTo>
                  <a:pt x="405" y="269"/>
                </a:lnTo>
                <a:lnTo>
                  <a:pt x="420" y="253"/>
                </a:lnTo>
                <a:lnTo>
                  <a:pt x="436" y="236"/>
                </a:lnTo>
                <a:lnTo>
                  <a:pt x="452" y="218"/>
                </a:lnTo>
                <a:lnTo>
                  <a:pt x="467" y="200"/>
                </a:lnTo>
                <a:lnTo>
                  <a:pt x="483" y="182"/>
                </a:lnTo>
                <a:lnTo>
                  <a:pt x="498" y="164"/>
                </a:lnTo>
                <a:lnTo>
                  <a:pt x="514" y="146"/>
                </a:lnTo>
                <a:lnTo>
                  <a:pt x="529" y="128"/>
                </a:lnTo>
                <a:lnTo>
                  <a:pt x="545" y="111"/>
                </a:lnTo>
                <a:lnTo>
                  <a:pt x="561" y="95"/>
                </a:lnTo>
                <a:lnTo>
                  <a:pt x="576" y="79"/>
                </a:lnTo>
                <a:lnTo>
                  <a:pt x="592" y="65"/>
                </a:lnTo>
                <a:lnTo>
                  <a:pt x="607" y="51"/>
                </a:lnTo>
                <a:lnTo>
                  <a:pt x="623" y="39"/>
                </a:lnTo>
                <a:lnTo>
                  <a:pt x="638" y="29"/>
                </a:lnTo>
                <a:lnTo>
                  <a:pt x="654" y="20"/>
                </a:lnTo>
                <a:lnTo>
                  <a:pt x="670" y="12"/>
                </a:lnTo>
                <a:lnTo>
                  <a:pt x="685" y="6"/>
                </a:lnTo>
                <a:lnTo>
                  <a:pt x="701" y="3"/>
                </a:lnTo>
                <a:lnTo>
                  <a:pt x="716" y="0"/>
                </a:lnTo>
                <a:lnTo>
                  <a:pt x="732" y="0"/>
                </a:lnTo>
                <a:lnTo>
                  <a:pt x="747" y="2"/>
                </a:lnTo>
                <a:lnTo>
                  <a:pt x="763" y="5"/>
                </a:lnTo>
                <a:lnTo>
                  <a:pt x="779" y="10"/>
                </a:lnTo>
                <a:lnTo>
                  <a:pt x="794" y="17"/>
                </a:lnTo>
                <a:lnTo>
                  <a:pt x="810" y="25"/>
                </a:lnTo>
                <a:lnTo>
                  <a:pt x="825" y="36"/>
                </a:lnTo>
                <a:lnTo>
                  <a:pt x="841" y="47"/>
                </a:lnTo>
                <a:lnTo>
                  <a:pt x="856" y="60"/>
                </a:lnTo>
                <a:lnTo>
                  <a:pt x="872" y="74"/>
                </a:lnTo>
                <a:lnTo>
                  <a:pt x="888" y="89"/>
                </a:lnTo>
                <a:lnTo>
                  <a:pt x="903" y="106"/>
                </a:lnTo>
                <a:lnTo>
                  <a:pt x="919" y="122"/>
                </a:lnTo>
                <a:lnTo>
                  <a:pt x="934" y="140"/>
                </a:lnTo>
                <a:lnTo>
                  <a:pt x="950" y="158"/>
                </a:lnTo>
                <a:lnTo>
                  <a:pt x="965" y="176"/>
                </a:lnTo>
                <a:lnTo>
                  <a:pt x="981" y="194"/>
                </a:lnTo>
                <a:lnTo>
                  <a:pt x="997" y="212"/>
                </a:lnTo>
                <a:lnTo>
                  <a:pt x="1012" y="230"/>
                </a:lnTo>
                <a:lnTo>
                  <a:pt x="1028" y="247"/>
                </a:lnTo>
                <a:lnTo>
                  <a:pt x="1043" y="264"/>
                </a:lnTo>
                <a:lnTo>
                  <a:pt x="1059" y="279"/>
                </a:lnTo>
                <a:lnTo>
                  <a:pt x="1074" y="294"/>
                </a:lnTo>
                <a:lnTo>
                  <a:pt x="1090" y="307"/>
                </a:lnTo>
                <a:lnTo>
                  <a:pt x="1106" y="319"/>
                </a:lnTo>
                <a:lnTo>
                  <a:pt x="1121" y="330"/>
                </a:lnTo>
                <a:lnTo>
                  <a:pt x="1137" y="339"/>
                </a:lnTo>
                <a:lnTo>
                  <a:pt x="1152" y="347"/>
                </a:lnTo>
                <a:lnTo>
                  <a:pt x="1168" y="353"/>
                </a:lnTo>
                <a:lnTo>
                  <a:pt x="1183" y="357"/>
                </a:lnTo>
                <a:lnTo>
                  <a:pt x="1199" y="359"/>
                </a:lnTo>
                <a:lnTo>
                  <a:pt x="1215" y="360"/>
                </a:lnTo>
                <a:lnTo>
                  <a:pt x="1230" y="359"/>
                </a:lnTo>
                <a:lnTo>
                  <a:pt x="1246" y="355"/>
                </a:lnTo>
                <a:lnTo>
                  <a:pt x="1261" y="351"/>
                </a:lnTo>
                <a:lnTo>
                  <a:pt x="1277" y="344"/>
                </a:lnTo>
                <a:lnTo>
                  <a:pt x="1292" y="336"/>
                </a:lnTo>
                <a:lnTo>
                  <a:pt x="1308" y="326"/>
                </a:lnTo>
                <a:lnTo>
                  <a:pt x="1324" y="314"/>
                </a:lnTo>
                <a:lnTo>
                  <a:pt x="1339" y="301"/>
                </a:lnTo>
                <a:lnTo>
                  <a:pt x="1355" y="287"/>
                </a:lnTo>
                <a:lnTo>
                  <a:pt x="1370" y="272"/>
                </a:lnTo>
                <a:lnTo>
                  <a:pt x="1386" y="256"/>
                </a:lnTo>
                <a:lnTo>
                  <a:pt x="1401" y="239"/>
                </a:lnTo>
                <a:lnTo>
                  <a:pt x="1417" y="222"/>
                </a:lnTo>
                <a:lnTo>
                  <a:pt x="1433" y="204"/>
                </a:lnTo>
                <a:lnTo>
                  <a:pt x="1448" y="186"/>
                </a:lnTo>
                <a:lnTo>
                  <a:pt x="1464" y="168"/>
                </a:lnTo>
                <a:lnTo>
                  <a:pt x="1479" y="150"/>
                </a:lnTo>
                <a:lnTo>
                  <a:pt x="1495" y="132"/>
                </a:lnTo>
                <a:lnTo>
                  <a:pt x="1510" y="115"/>
                </a:lnTo>
                <a:lnTo>
                  <a:pt x="1526" y="98"/>
                </a:lnTo>
                <a:lnTo>
                  <a:pt x="1542" y="83"/>
                </a:lnTo>
                <a:lnTo>
                  <a:pt x="1557" y="68"/>
                </a:lnTo>
                <a:lnTo>
                  <a:pt x="1573" y="54"/>
                </a:lnTo>
                <a:lnTo>
                  <a:pt x="1588" y="42"/>
                </a:lnTo>
                <a:lnTo>
                  <a:pt x="1604" y="31"/>
                </a:lnTo>
                <a:lnTo>
                  <a:pt x="1619" y="21"/>
                </a:lnTo>
                <a:lnTo>
                  <a:pt x="1635" y="14"/>
                </a:lnTo>
                <a:lnTo>
                  <a:pt x="1651" y="8"/>
                </a:lnTo>
                <a:lnTo>
                  <a:pt x="1666" y="3"/>
                </a:lnTo>
                <a:lnTo>
                  <a:pt x="1682" y="1"/>
                </a:lnTo>
                <a:lnTo>
                  <a:pt x="1697" y="0"/>
                </a:lnTo>
                <a:lnTo>
                  <a:pt x="1713" y="1"/>
                </a:lnTo>
                <a:lnTo>
                  <a:pt x="1728" y="4"/>
                </a:lnTo>
                <a:lnTo>
                  <a:pt x="1744" y="9"/>
                </a:lnTo>
                <a:lnTo>
                  <a:pt x="1760" y="15"/>
                </a:lnTo>
                <a:lnTo>
                  <a:pt x="1775" y="23"/>
                </a:lnTo>
                <a:lnTo>
                  <a:pt x="1791" y="33"/>
                </a:lnTo>
                <a:lnTo>
                  <a:pt x="1806" y="44"/>
                </a:lnTo>
                <a:lnTo>
                  <a:pt x="1822" y="57"/>
                </a:lnTo>
                <a:lnTo>
                  <a:pt x="1837" y="71"/>
                </a:lnTo>
                <a:lnTo>
                  <a:pt x="1853" y="86"/>
                </a:lnTo>
                <a:lnTo>
                  <a:pt x="1869" y="102"/>
                </a:lnTo>
                <a:lnTo>
                  <a:pt x="1884" y="119"/>
                </a:lnTo>
                <a:lnTo>
                  <a:pt x="1900" y="136"/>
                </a:lnTo>
                <a:lnTo>
                  <a:pt x="1915" y="154"/>
                </a:lnTo>
                <a:lnTo>
                  <a:pt x="1931" y="172"/>
                </a:lnTo>
                <a:lnTo>
                  <a:pt x="1946" y="190"/>
                </a:lnTo>
                <a:lnTo>
                  <a:pt x="1962" y="208"/>
                </a:lnTo>
                <a:lnTo>
                  <a:pt x="1978" y="226"/>
                </a:lnTo>
                <a:lnTo>
                  <a:pt x="1993" y="243"/>
                </a:lnTo>
                <a:lnTo>
                  <a:pt x="2009" y="260"/>
                </a:lnTo>
                <a:lnTo>
                  <a:pt x="2024" y="276"/>
                </a:lnTo>
                <a:lnTo>
                  <a:pt x="2040" y="291"/>
                </a:lnTo>
                <a:lnTo>
                  <a:pt x="2055" y="304"/>
                </a:lnTo>
                <a:lnTo>
                  <a:pt x="2071" y="317"/>
                </a:lnTo>
                <a:lnTo>
                  <a:pt x="2087" y="328"/>
                </a:lnTo>
                <a:lnTo>
                  <a:pt x="2102" y="338"/>
                </a:lnTo>
                <a:lnTo>
                  <a:pt x="2118" y="346"/>
                </a:lnTo>
                <a:lnTo>
                  <a:pt x="2133" y="352"/>
                </a:lnTo>
                <a:lnTo>
                  <a:pt x="2149" y="356"/>
                </a:lnTo>
                <a:lnTo>
                  <a:pt x="2164" y="359"/>
                </a:lnTo>
                <a:lnTo>
                  <a:pt x="2180" y="360"/>
                </a:lnTo>
              </a:path>
            </a:pathLst>
          </a:custGeom>
          <a:noFill/>
          <a:ln w="66040" cap="rnd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可编辑曲线"/>
          <p:cNvSpPr/>
          <p:nvPr/>
        </p:nvSpPr>
        <p:spPr>
          <a:xfrm>
            <a:off x="6172200" y="3474720"/>
            <a:ext cx="1993392" cy="329184"/>
          </a:xfrm>
          <a:custGeom>
            <a:avLst/>
            <a:gdLst/>
            <a:ahLst/>
            <a:cxnLst/>
            <a:rect l="l" t="t" r="r" b="b"/>
            <a:pathLst>
              <a:path w="2180" h="360">
                <a:moveTo>
                  <a:pt x="0" y="180"/>
                </a:moveTo>
                <a:lnTo>
                  <a:pt x="16" y="162"/>
                </a:lnTo>
                <a:lnTo>
                  <a:pt x="31" y="144"/>
                </a:lnTo>
                <a:lnTo>
                  <a:pt x="47" y="126"/>
                </a:lnTo>
                <a:lnTo>
                  <a:pt x="62" y="109"/>
                </a:lnTo>
                <a:lnTo>
                  <a:pt x="78" y="93"/>
                </a:lnTo>
                <a:lnTo>
                  <a:pt x="93" y="77"/>
                </a:lnTo>
                <a:lnTo>
                  <a:pt x="109" y="63"/>
                </a:lnTo>
                <a:lnTo>
                  <a:pt x="125" y="50"/>
                </a:lnTo>
                <a:lnTo>
                  <a:pt x="140" y="38"/>
                </a:lnTo>
                <a:lnTo>
                  <a:pt x="156" y="28"/>
                </a:lnTo>
                <a:lnTo>
                  <a:pt x="171" y="19"/>
                </a:lnTo>
                <a:lnTo>
                  <a:pt x="187" y="11"/>
                </a:lnTo>
                <a:lnTo>
                  <a:pt x="202" y="6"/>
                </a:lnTo>
                <a:lnTo>
                  <a:pt x="218" y="2"/>
                </a:lnTo>
                <a:lnTo>
                  <a:pt x="234" y="0"/>
                </a:lnTo>
                <a:lnTo>
                  <a:pt x="249" y="0"/>
                </a:lnTo>
                <a:lnTo>
                  <a:pt x="265" y="2"/>
                </a:lnTo>
                <a:lnTo>
                  <a:pt x="280" y="5"/>
                </a:lnTo>
                <a:lnTo>
                  <a:pt x="296" y="11"/>
                </a:lnTo>
                <a:lnTo>
                  <a:pt x="311" y="18"/>
                </a:lnTo>
                <a:lnTo>
                  <a:pt x="327" y="27"/>
                </a:lnTo>
                <a:lnTo>
                  <a:pt x="343" y="37"/>
                </a:lnTo>
                <a:lnTo>
                  <a:pt x="358" y="49"/>
                </a:lnTo>
                <a:lnTo>
                  <a:pt x="374" y="62"/>
                </a:lnTo>
                <a:lnTo>
                  <a:pt x="389" y="76"/>
                </a:lnTo>
                <a:lnTo>
                  <a:pt x="405" y="91"/>
                </a:lnTo>
                <a:lnTo>
                  <a:pt x="420" y="107"/>
                </a:lnTo>
                <a:lnTo>
                  <a:pt x="436" y="124"/>
                </a:lnTo>
                <a:lnTo>
                  <a:pt x="452" y="142"/>
                </a:lnTo>
                <a:lnTo>
                  <a:pt x="467" y="160"/>
                </a:lnTo>
                <a:lnTo>
                  <a:pt x="483" y="178"/>
                </a:lnTo>
                <a:lnTo>
                  <a:pt x="498" y="196"/>
                </a:lnTo>
                <a:lnTo>
                  <a:pt x="514" y="214"/>
                </a:lnTo>
                <a:lnTo>
                  <a:pt x="529" y="232"/>
                </a:lnTo>
                <a:lnTo>
                  <a:pt x="545" y="249"/>
                </a:lnTo>
                <a:lnTo>
                  <a:pt x="561" y="265"/>
                </a:lnTo>
                <a:lnTo>
                  <a:pt x="576" y="281"/>
                </a:lnTo>
                <a:lnTo>
                  <a:pt x="592" y="295"/>
                </a:lnTo>
                <a:lnTo>
                  <a:pt x="607" y="309"/>
                </a:lnTo>
                <a:lnTo>
                  <a:pt x="623" y="321"/>
                </a:lnTo>
                <a:lnTo>
                  <a:pt x="638" y="331"/>
                </a:lnTo>
                <a:lnTo>
                  <a:pt x="654" y="340"/>
                </a:lnTo>
                <a:lnTo>
                  <a:pt x="670" y="348"/>
                </a:lnTo>
                <a:lnTo>
                  <a:pt x="685" y="354"/>
                </a:lnTo>
                <a:lnTo>
                  <a:pt x="701" y="357"/>
                </a:lnTo>
                <a:lnTo>
                  <a:pt x="716" y="360"/>
                </a:lnTo>
                <a:lnTo>
                  <a:pt x="732" y="360"/>
                </a:lnTo>
                <a:lnTo>
                  <a:pt x="747" y="358"/>
                </a:lnTo>
                <a:lnTo>
                  <a:pt x="763" y="355"/>
                </a:lnTo>
                <a:lnTo>
                  <a:pt x="779" y="350"/>
                </a:lnTo>
                <a:lnTo>
                  <a:pt x="794" y="343"/>
                </a:lnTo>
                <a:lnTo>
                  <a:pt x="810" y="335"/>
                </a:lnTo>
                <a:lnTo>
                  <a:pt x="825" y="324"/>
                </a:lnTo>
                <a:lnTo>
                  <a:pt x="841" y="313"/>
                </a:lnTo>
                <a:lnTo>
                  <a:pt x="856" y="300"/>
                </a:lnTo>
                <a:lnTo>
                  <a:pt x="872" y="286"/>
                </a:lnTo>
                <a:lnTo>
                  <a:pt x="888" y="271"/>
                </a:lnTo>
                <a:lnTo>
                  <a:pt x="903" y="254"/>
                </a:lnTo>
                <a:lnTo>
                  <a:pt x="919" y="238"/>
                </a:lnTo>
                <a:lnTo>
                  <a:pt x="934" y="220"/>
                </a:lnTo>
                <a:lnTo>
                  <a:pt x="950" y="202"/>
                </a:lnTo>
                <a:lnTo>
                  <a:pt x="965" y="184"/>
                </a:lnTo>
                <a:lnTo>
                  <a:pt x="981" y="166"/>
                </a:lnTo>
                <a:lnTo>
                  <a:pt x="997" y="148"/>
                </a:lnTo>
                <a:lnTo>
                  <a:pt x="1012" y="130"/>
                </a:lnTo>
                <a:lnTo>
                  <a:pt x="1028" y="113"/>
                </a:lnTo>
                <a:lnTo>
                  <a:pt x="1043" y="96"/>
                </a:lnTo>
                <a:lnTo>
                  <a:pt x="1059" y="81"/>
                </a:lnTo>
                <a:lnTo>
                  <a:pt x="1074" y="66"/>
                </a:lnTo>
                <a:lnTo>
                  <a:pt x="1090" y="53"/>
                </a:lnTo>
                <a:lnTo>
                  <a:pt x="1106" y="41"/>
                </a:lnTo>
                <a:lnTo>
                  <a:pt x="1121" y="30"/>
                </a:lnTo>
                <a:lnTo>
                  <a:pt x="1137" y="21"/>
                </a:lnTo>
                <a:lnTo>
                  <a:pt x="1152" y="13"/>
                </a:lnTo>
                <a:lnTo>
                  <a:pt x="1168" y="7"/>
                </a:lnTo>
                <a:lnTo>
                  <a:pt x="1183" y="3"/>
                </a:lnTo>
                <a:lnTo>
                  <a:pt x="1199" y="1"/>
                </a:lnTo>
                <a:lnTo>
                  <a:pt x="1215" y="0"/>
                </a:lnTo>
                <a:lnTo>
                  <a:pt x="1230" y="1"/>
                </a:lnTo>
                <a:lnTo>
                  <a:pt x="1246" y="5"/>
                </a:lnTo>
                <a:lnTo>
                  <a:pt x="1261" y="9"/>
                </a:lnTo>
                <a:lnTo>
                  <a:pt x="1277" y="16"/>
                </a:lnTo>
                <a:lnTo>
                  <a:pt x="1292" y="24"/>
                </a:lnTo>
                <a:lnTo>
                  <a:pt x="1308" y="34"/>
                </a:lnTo>
                <a:lnTo>
                  <a:pt x="1324" y="46"/>
                </a:lnTo>
                <a:lnTo>
                  <a:pt x="1339" y="59"/>
                </a:lnTo>
                <a:lnTo>
                  <a:pt x="1355" y="73"/>
                </a:lnTo>
                <a:lnTo>
                  <a:pt x="1370" y="88"/>
                </a:lnTo>
                <a:lnTo>
                  <a:pt x="1386" y="104"/>
                </a:lnTo>
                <a:lnTo>
                  <a:pt x="1401" y="121"/>
                </a:lnTo>
                <a:lnTo>
                  <a:pt x="1417" y="138"/>
                </a:lnTo>
                <a:lnTo>
                  <a:pt x="1433" y="156"/>
                </a:lnTo>
                <a:lnTo>
                  <a:pt x="1448" y="174"/>
                </a:lnTo>
                <a:lnTo>
                  <a:pt x="1464" y="192"/>
                </a:lnTo>
                <a:lnTo>
                  <a:pt x="1479" y="210"/>
                </a:lnTo>
                <a:lnTo>
                  <a:pt x="1495" y="228"/>
                </a:lnTo>
                <a:lnTo>
                  <a:pt x="1510" y="245"/>
                </a:lnTo>
                <a:lnTo>
                  <a:pt x="1526" y="262"/>
                </a:lnTo>
                <a:lnTo>
                  <a:pt x="1542" y="277"/>
                </a:lnTo>
                <a:lnTo>
                  <a:pt x="1557" y="292"/>
                </a:lnTo>
                <a:lnTo>
                  <a:pt x="1573" y="306"/>
                </a:lnTo>
                <a:lnTo>
                  <a:pt x="1588" y="318"/>
                </a:lnTo>
                <a:lnTo>
                  <a:pt x="1604" y="329"/>
                </a:lnTo>
                <a:lnTo>
                  <a:pt x="1619" y="339"/>
                </a:lnTo>
                <a:lnTo>
                  <a:pt x="1635" y="346"/>
                </a:lnTo>
                <a:lnTo>
                  <a:pt x="1651" y="352"/>
                </a:lnTo>
                <a:lnTo>
                  <a:pt x="1666" y="357"/>
                </a:lnTo>
                <a:lnTo>
                  <a:pt x="1682" y="359"/>
                </a:lnTo>
                <a:lnTo>
                  <a:pt x="1697" y="360"/>
                </a:lnTo>
                <a:lnTo>
                  <a:pt x="1713" y="359"/>
                </a:lnTo>
                <a:lnTo>
                  <a:pt x="1728" y="356"/>
                </a:lnTo>
                <a:lnTo>
                  <a:pt x="1744" y="351"/>
                </a:lnTo>
                <a:lnTo>
                  <a:pt x="1760" y="345"/>
                </a:lnTo>
                <a:lnTo>
                  <a:pt x="1775" y="337"/>
                </a:lnTo>
                <a:lnTo>
                  <a:pt x="1791" y="327"/>
                </a:lnTo>
                <a:lnTo>
                  <a:pt x="1806" y="316"/>
                </a:lnTo>
                <a:lnTo>
                  <a:pt x="1822" y="303"/>
                </a:lnTo>
                <a:lnTo>
                  <a:pt x="1837" y="289"/>
                </a:lnTo>
                <a:lnTo>
                  <a:pt x="1853" y="274"/>
                </a:lnTo>
                <a:lnTo>
                  <a:pt x="1869" y="258"/>
                </a:lnTo>
                <a:lnTo>
                  <a:pt x="1884" y="241"/>
                </a:lnTo>
                <a:lnTo>
                  <a:pt x="1900" y="224"/>
                </a:lnTo>
                <a:lnTo>
                  <a:pt x="1915" y="206"/>
                </a:lnTo>
                <a:lnTo>
                  <a:pt x="1931" y="188"/>
                </a:lnTo>
                <a:lnTo>
                  <a:pt x="1946" y="170"/>
                </a:lnTo>
                <a:lnTo>
                  <a:pt x="1962" y="152"/>
                </a:lnTo>
                <a:lnTo>
                  <a:pt x="1978" y="134"/>
                </a:lnTo>
                <a:lnTo>
                  <a:pt x="1993" y="117"/>
                </a:lnTo>
                <a:lnTo>
                  <a:pt x="2009" y="100"/>
                </a:lnTo>
                <a:lnTo>
                  <a:pt x="2024" y="84"/>
                </a:lnTo>
                <a:lnTo>
                  <a:pt x="2040" y="69"/>
                </a:lnTo>
                <a:lnTo>
                  <a:pt x="2055" y="56"/>
                </a:lnTo>
                <a:lnTo>
                  <a:pt x="2071" y="43"/>
                </a:lnTo>
                <a:lnTo>
                  <a:pt x="2087" y="32"/>
                </a:lnTo>
                <a:lnTo>
                  <a:pt x="2102" y="22"/>
                </a:lnTo>
                <a:lnTo>
                  <a:pt x="2118" y="14"/>
                </a:lnTo>
                <a:lnTo>
                  <a:pt x="2133" y="8"/>
                </a:lnTo>
                <a:lnTo>
                  <a:pt x="2149" y="4"/>
                </a:lnTo>
                <a:lnTo>
                  <a:pt x="2164" y="1"/>
                </a:lnTo>
                <a:lnTo>
                  <a:pt x="2180" y="0"/>
                </a:lnTo>
              </a:path>
            </a:pathLst>
          </a:custGeom>
          <a:noFill/>
          <a:ln w="66040" cap="rnd">
            <a:solidFill>
              <a:srgbClr val="298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讲授内容｜CAN_High"/>
          <p:cNvSpPr txBox="1"/>
          <p:nvPr/>
        </p:nvSpPr>
        <p:spPr>
          <a:xfrm>
            <a:off x="6181344" y="2871216"/>
            <a:ext cx="1965960" cy="29260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CAN_High</a:t>
            </a:r>
            <a:endParaRPr sz="17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讲授内容｜CAN_Low"/>
          <p:cNvSpPr txBox="1"/>
          <p:nvPr/>
        </p:nvSpPr>
        <p:spPr>
          <a:xfrm>
            <a:off x="6181344" y="4178808"/>
            <a:ext cx="1965960" cy="29260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98E9D"/>
                </a:solidFill>
                <a:latin typeface="微软雅黑" panose="020B0503020204020204" charset="-122"/>
                <a:ea typeface="微软雅黑" panose="020B0503020204020204" charset="-122"/>
              </a:rPr>
              <a:t>CAN_Low</a:t>
            </a:r>
            <a:endParaRPr sz="1700" b="1">
              <a:solidFill>
                <a:srgbClr val="298E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讲授内容｜两根信号线相互缠绕， 配合差分接收抑制干扰。"/>
          <p:cNvSpPr txBox="1"/>
          <p:nvPr/>
        </p:nvSpPr>
        <p:spPr>
          <a:xfrm>
            <a:off x="6153912" y="4727448"/>
            <a:ext cx="2011680" cy="55778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两根信号线相互缠绕，</a:t>
            </a:r>
            <a:endParaRPr sz="14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配合差分接收抑制干扰。</a:t>
            </a:r>
            <a:endParaRPr sz="14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5" name="连线"/>
          <p:cNvCxnSpPr/>
          <p:nvPr/>
        </p:nvCxnSpPr>
        <p:spPr>
          <a:xfrm>
            <a:off x="8924544" y="3429000"/>
            <a:ext cx="2295144" cy="0"/>
          </a:xfrm>
          <a:prstGeom prst="line">
            <a:avLst/>
          </a:prstGeom>
          <a:ln w="2794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连线"/>
          <p:cNvCxnSpPr/>
          <p:nvPr/>
        </p:nvCxnSpPr>
        <p:spPr>
          <a:xfrm>
            <a:off x="8924544" y="4014215"/>
            <a:ext cx="2295144" cy="0"/>
          </a:xfrm>
          <a:prstGeom prst="line">
            <a:avLst/>
          </a:prstGeom>
          <a:ln w="27940" cap="rnd">
            <a:solidFill>
              <a:srgbClr val="298E9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连线"/>
          <p:cNvCxnSpPr/>
          <p:nvPr/>
        </p:nvCxnSpPr>
        <p:spPr>
          <a:xfrm>
            <a:off x="8924544" y="3429000"/>
            <a:ext cx="0" cy="128016"/>
          </a:xfrm>
          <a:prstGeom prst="line">
            <a:avLst/>
          </a:prstGeom>
          <a:ln w="19050" cap="rnd">
            <a:solidFill>
              <a:srgbClr val="586D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连线"/>
          <p:cNvCxnSpPr/>
          <p:nvPr/>
        </p:nvCxnSpPr>
        <p:spPr>
          <a:xfrm>
            <a:off x="8924544" y="3867912"/>
            <a:ext cx="0" cy="146303"/>
          </a:xfrm>
          <a:prstGeom prst="line">
            <a:avLst/>
          </a:prstGeom>
          <a:ln w="19050" cap="rnd">
            <a:solidFill>
              <a:srgbClr val="586D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容器"/>
          <p:cNvSpPr/>
          <p:nvPr/>
        </p:nvSpPr>
        <p:spPr>
          <a:xfrm>
            <a:off x="8851392" y="3557016"/>
            <a:ext cx="146304" cy="310896"/>
          </a:xfrm>
          <a:prstGeom prst="rect">
            <a:avLst/>
          </a:prstGeom>
          <a:solidFill>
            <a:srgbClr val="FFFFFF"/>
          </a:solidFill>
          <a:ln w="15240">
            <a:solidFill>
              <a:srgbClr val="586D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讲授内容｜120 Ω"/>
          <p:cNvSpPr txBox="1"/>
          <p:nvPr/>
        </p:nvSpPr>
        <p:spPr>
          <a:xfrm>
            <a:off x="8622792" y="4114800"/>
            <a:ext cx="621792" cy="25603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120 Ω</a:t>
            </a:r>
            <a:endParaRPr sz="130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21" name="连线"/>
          <p:cNvCxnSpPr/>
          <p:nvPr/>
        </p:nvCxnSpPr>
        <p:spPr>
          <a:xfrm>
            <a:off x="11219688" y="3429000"/>
            <a:ext cx="0" cy="128016"/>
          </a:xfrm>
          <a:prstGeom prst="line">
            <a:avLst/>
          </a:prstGeom>
          <a:ln w="19050" cap="rnd">
            <a:solidFill>
              <a:srgbClr val="586D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连线"/>
          <p:cNvCxnSpPr/>
          <p:nvPr/>
        </p:nvCxnSpPr>
        <p:spPr>
          <a:xfrm>
            <a:off x="11219688" y="3867912"/>
            <a:ext cx="0" cy="146303"/>
          </a:xfrm>
          <a:prstGeom prst="line">
            <a:avLst/>
          </a:prstGeom>
          <a:ln w="19050" cap="rnd">
            <a:solidFill>
              <a:srgbClr val="586D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容器"/>
          <p:cNvSpPr/>
          <p:nvPr/>
        </p:nvSpPr>
        <p:spPr>
          <a:xfrm>
            <a:off x="11146536" y="3557016"/>
            <a:ext cx="146304" cy="310896"/>
          </a:xfrm>
          <a:prstGeom prst="rect">
            <a:avLst/>
          </a:prstGeom>
          <a:solidFill>
            <a:srgbClr val="FFFFFF"/>
          </a:solidFill>
          <a:ln w="15240">
            <a:solidFill>
              <a:srgbClr val="586D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讲授内容｜120 Ω"/>
          <p:cNvSpPr txBox="1"/>
          <p:nvPr/>
        </p:nvSpPr>
        <p:spPr>
          <a:xfrm>
            <a:off x="10917936" y="4114800"/>
            <a:ext cx="621792" cy="25603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120 Ω</a:t>
            </a:r>
            <a:endParaRPr sz="130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5" name="容器"/>
          <p:cNvSpPr/>
          <p:nvPr/>
        </p:nvSpPr>
        <p:spPr>
          <a:xfrm>
            <a:off x="9701784" y="2624328"/>
            <a:ext cx="914400" cy="402336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 w="10160">
            <a:solidFill>
              <a:srgbClr val="CAD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讲授内容｜ECU"/>
          <p:cNvSpPr txBox="1"/>
          <p:nvPr/>
        </p:nvSpPr>
        <p:spPr>
          <a:xfrm>
            <a:off x="9765792" y="2656332"/>
            <a:ext cx="786384" cy="33832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ECU</a:t>
            </a:r>
            <a:endParaRPr sz="16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27" name="连线"/>
          <p:cNvCxnSpPr/>
          <p:nvPr/>
        </p:nvCxnSpPr>
        <p:spPr>
          <a:xfrm>
            <a:off x="9994392" y="3026664"/>
            <a:ext cx="0" cy="402336"/>
          </a:xfrm>
          <a:prstGeom prst="line">
            <a:avLst/>
          </a:prstGeom>
          <a:ln w="1905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连线"/>
          <p:cNvCxnSpPr/>
          <p:nvPr/>
        </p:nvCxnSpPr>
        <p:spPr>
          <a:xfrm>
            <a:off x="10314432" y="3026664"/>
            <a:ext cx="0" cy="987551"/>
          </a:xfrm>
          <a:prstGeom prst="line">
            <a:avLst/>
          </a:prstGeom>
          <a:ln w="19050" cap="rnd">
            <a:solidFill>
              <a:srgbClr val="298E9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讲授内容｜CAN_H：约3.5 V"/>
          <p:cNvSpPr txBox="1"/>
          <p:nvPr/>
        </p:nvSpPr>
        <p:spPr>
          <a:xfrm>
            <a:off x="9061704" y="3163824"/>
            <a:ext cx="850392" cy="237744"/>
          </a:xfrm>
          <a:prstGeom prst="rect">
            <a:avLst/>
          </a:prstGeom>
          <a:noFill/>
          <a:effectLst/>
        </p:spPr>
        <p:txBody>
          <a:bodyPr wrap="square" lIns="18288" tIns="9144" rIns="18288" bIns="9144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CAN_H</a:t>
            </a:r>
            <a:endParaRPr sz="14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" name="讲授内容｜CAN_L：约1.5 V"/>
          <p:cNvSpPr txBox="1"/>
          <p:nvPr/>
        </p:nvSpPr>
        <p:spPr>
          <a:xfrm>
            <a:off x="9006840" y="4416552"/>
            <a:ext cx="2121408" cy="25603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98E9D"/>
                </a:solidFill>
                <a:latin typeface="微软雅黑" panose="020B0503020204020204" charset="-122"/>
                <a:ea typeface="微软雅黑" panose="020B0503020204020204" charset="-122"/>
              </a:rPr>
              <a:t>CAN_L：约1.5 V</a:t>
            </a:r>
            <a:endParaRPr sz="1500" b="1">
              <a:solidFill>
                <a:srgbClr val="298E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1" name="讲授内容｜典型显性状态；两端终端匹配， 改善信号质量与抗干扰能力。"/>
          <p:cNvSpPr txBox="1"/>
          <p:nvPr/>
        </p:nvSpPr>
        <p:spPr>
          <a:xfrm>
            <a:off x="8778240" y="4745736"/>
            <a:ext cx="2560320" cy="55778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典型显性状态；两端终端匹配，</a:t>
            </a:r>
            <a:endParaRPr sz="14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改善信号质量与抗干扰能力。</a:t>
            </a:r>
            <a:endParaRPr sz="14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" name="容器"/>
          <p:cNvSpPr/>
          <p:nvPr/>
        </p:nvSpPr>
        <p:spPr>
          <a:xfrm>
            <a:off x="594360" y="5596128"/>
            <a:ext cx="3493008" cy="420624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 w="10160">
            <a:solidFill>
              <a:srgbClr val="CAD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讲授内容｜减少线束长度"/>
          <p:cNvSpPr txBox="1"/>
          <p:nvPr/>
        </p:nvSpPr>
        <p:spPr>
          <a:xfrm>
            <a:off x="658368" y="5628132"/>
            <a:ext cx="3364991" cy="35661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减少线束长度</a:t>
            </a:r>
            <a:endParaRPr sz="175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" name="容器"/>
          <p:cNvSpPr/>
          <p:nvPr/>
        </p:nvSpPr>
        <p:spPr>
          <a:xfrm>
            <a:off x="4361688" y="5596128"/>
            <a:ext cx="3493008" cy="420624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 w="10160">
            <a:solidFill>
              <a:srgbClr val="CAD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讲授内容｜结构清晰，便于维护"/>
          <p:cNvSpPr txBox="1"/>
          <p:nvPr/>
        </p:nvSpPr>
        <p:spPr>
          <a:xfrm>
            <a:off x="4425696" y="5628132"/>
            <a:ext cx="3364991" cy="35661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结构清晰，便于维护</a:t>
            </a:r>
            <a:endParaRPr sz="175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" name="容器"/>
          <p:cNvSpPr/>
          <p:nvPr/>
        </p:nvSpPr>
        <p:spPr>
          <a:xfrm>
            <a:off x="8129016" y="5596128"/>
            <a:ext cx="3493008" cy="420624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 w="10160">
            <a:solidFill>
              <a:srgbClr val="CAD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讲授内容｜差分传输提升抗干扰能力"/>
          <p:cNvSpPr txBox="1"/>
          <p:nvPr/>
        </p:nvSpPr>
        <p:spPr>
          <a:xfrm>
            <a:off x="8193024" y="5628132"/>
            <a:ext cx="3364991" cy="35661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差分传输提升抗干扰能力</a:t>
            </a:r>
            <a:endParaRPr sz="175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8" name="容器"/>
          <p:cNvSpPr/>
          <p:nvPr/>
        </p:nvSpPr>
        <p:spPr>
          <a:xfrm>
            <a:off x="594360" y="6126480"/>
            <a:ext cx="11018520" cy="576072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可编辑曲线"/>
          <p:cNvSpPr/>
          <p:nvPr/>
        </p:nvSpPr>
        <p:spPr>
          <a:xfrm>
            <a:off x="877824" y="6236208"/>
            <a:ext cx="320040" cy="146304"/>
          </a:xfrm>
          <a:custGeom>
            <a:avLst/>
            <a:gdLst/>
            <a:ahLst/>
            <a:cxnLst/>
            <a:rect l="l" t="t" r="r" b="b"/>
            <a:pathLst>
              <a:path w="350" h="160">
                <a:moveTo>
                  <a:pt x="0" y="160"/>
                </a:moveTo>
                <a:lnTo>
                  <a:pt x="50" y="0"/>
                </a:lnTo>
                <a:lnTo>
                  <a:pt x="290" y="0"/>
                </a:lnTo>
                <a:lnTo>
                  <a:pt x="350" y="160"/>
                </a:lnTo>
              </a:path>
            </a:pathLst>
          </a:custGeom>
          <a:noFill/>
          <a:ln w="22860" cap="rnd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容器"/>
          <p:cNvSpPr/>
          <p:nvPr/>
        </p:nvSpPr>
        <p:spPr>
          <a:xfrm>
            <a:off x="859536" y="6373368"/>
            <a:ext cx="356616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连接点"/>
          <p:cNvSpPr/>
          <p:nvPr/>
        </p:nvSpPr>
        <p:spPr>
          <a:xfrm>
            <a:off x="888796" y="6512356"/>
            <a:ext cx="69494" cy="6949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连接点"/>
          <p:cNvSpPr/>
          <p:nvPr/>
        </p:nvSpPr>
        <p:spPr>
          <a:xfrm>
            <a:off x="1117396" y="6512356"/>
            <a:ext cx="69494" cy="6949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3" name="连线"/>
          <p:cNvCxnSpPr/>
          <p:nvPr/>
        </p:nvCxnSpPr>
        <p:spPr>
          <a:xfrm>
            <a:off x="1444752" y="6245352"/>
            <a:ext cx="0" cy="347472"/>
          </a:xfrm>
          <a:prstGeom prst="line">
            <a:avLst/>
          </a:prstGeom>
          <a:ln w="12700" cap="rnd">
            <a:solidFill>
              <a:srgbClr val="CADD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讲授内容｜CAN适合车内多ECU通信；实时性仍需结合负载、优先级与时序设计。"/>
          <p:cNvSpPr txBox="1"/>
          <p:nvPr/>
        </p:nvSpPr>
        <p:spPr>
          <a:xfrm>
            <a:off x="1636776" y="6190488"/>
            <a:ext cx="9646920" cy="45720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CAN适合车内多ECU通信；实时性仍需结合负载、优先级与时序设计。</a:t>
            </a:r>
            <a:endParaRPr sz="19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10424160" y="3163824"/>
            <a:ext cx="832104" cy="237744"/>
          </a:xfrm>
          <a:prstGeom prst="rect">
            <a:avLst/>
          </a:prstGeom>
          <a:noFill/>
        </p:spPr>
        <p:txBody>
          <a:bodyPr wrap="square" lIns="18288" tIns="9144" rIns="18288" bIns="9144" anchor="ctr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约3.5 V</a:t>
            </a:r>
            <a:endParaRPr sz="14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白色背景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右下角淡蓝装饰"/>
          <p:cNvSpPr/>
          <p:nvPr/>
        </p:nvSpPr>
        <p:spPr>
          <a:xfrm>
            <a:off x="10774679" y="5440680"/>
            <a:ext cx="1417320" cy="1417320"/>
          </a:xfrm>
          <a:custGeom>
            <a:avLst/>
            <a:gdLst/>
            <a:ahLst/>
            <a:cxnLst/>
            <a:rect l="l" t="t" r="r" b="b"/>
            <a:pathLst>
              <a:path w="1417320" h="1417320">
                <a:moveTo>
                  <a:pt x="1417320" y="1417320"/>
                </a:moveTo>
                <a:lnTo>
                  <a:pt x="0" y="1417320"/>
                </a:lnTo>
                <a:lnTo>
                  <a:pt x="700" y="1372800"/>
                </a:lnTo>
                <a:lnTo>
                  <a:pt x="2797" y="1328325"/>
                </a:lnTo>
                <a:lnTo>
                  <a:pt x="6290" y="1283938"/>
                </a:lnTo>
                <a:lnTo>
                  <a:pt x="11176" y="1239682"/>
                </a:lnTo>
                <a:lnTo>
                  <a:pt x="17450" y="1195602"/>
                </a:lnTo>
                <a:lnTo>
                  <a:pt x="25105" y="1151740"/>
                </a:lnTo>
                <a:lnTo>
                  <a:pt x="34134" y="1108141"/>
                </a:lnTo>
                <a:lnTo>
                  <a:pt x="44528" y="1064846"/>
                </a:lnTo>
                <a:lnTo>
                  <a:pt x="56277" y="1021900"/>
                </a:lnTo>
                <a:lnTo>
                  <a:pt x="69369" y="979344"/>
                </a:lnTo>
                <a:lnTo>
                  <a:pt x="83791" y="937219"/>
                </a:lnTo>
                <a:lnTo>
                  <a:pt x="99529" y="895569"/>
                </a:lnTo>
                <a:lnTo>
                  <a:pt x="116568" y="854434"/>
                </a:lnTo>
                <a:lnTo>
                  <a:pt x="134891" y="813854"/>
                </a:lnTo>
                <a:lnTo>
                  <a:pt x="154479" y="773870"/>
                </a:lnTo>
                <a:lnTo>
                  <a:pt x="175313" y="734520"/>
                </a:lnTo>
                <a:lnTo>
                  <a:pt x="197373" y="695845"/>
                </a:lnTo>
                <a:lnTo>
                  <a:pt x="220637" y="657881"/>
                </a:lnTo>
                <a:lnTo>
                  <a:pt x="245082" y="620667"/>
                </a:lnTo>
                <a:lnTo>
                  <a:pt x="270684" y="584240"/>
                </a:lnTo>
                <a:lnTo>
                  <a:pt x="297418" y="548634"/>
                </a:lnTo>
                <a:lnTo>
                  <a:pt x="325256" y="513886"/>
                </a:lnTo>
                <a:lnTo>
                  <a:pt x="354173" y="480029"/>
                </a:lnTo>
                <a:lnTo>
                  <a:pt x="384138" y="447097"/>
                </a:lnTo>
                <a:lnTo>
                  <a:pt x="415124" y="415123"/>
                </a:lnTo>
                <a:lnTo>
                  <a:pt x="447098" y="384138"/>
                </a:lnTo>
                <a:lnTo>
                  <a:pt x="480030" y="354172"/>
                </a:lnTo>
                <a:lnTo>
                  <a:pt x="513886" y="325256"/>
                </a:lnTo>
                <a:lnTo>
                  <a:pt x="548635" y="297417"/>
                </a:lnTo>
                <a:lnTo>
                  <a:pt x="584240" y="270684"/>
                </a:lnTo>
                <a:lnTo>
                  <a:pt x="620668" y="245082"/>
                </a:lnTo>
                <a:lnTo>
                  <a:pt x="657882" y="220637"/>
                </a:lnTo>
                <a:lnTo>
                  <a:pt x="695846" y="197373"/>
                </a:lnTo>
                <a:lnTo>
                  <a:pt x="734521" y="175313"/>
                </a:lnTo>
                <a:lnTo>
                  <a:pt x="773870" y="154478"/>
                </a:lnTo>
                <a:lnTo>
                  <a:pt x="813855" y="134890"/>
                </a:lnTo>
                <a:lnTo>
                  <a:pt x="854435" y="116568"/>
                </a:lnTo>
                <a:lnTo>
                  <a:pt x="895570" y="99529"/>
                </a:lnTo>
                <a:lnTo>
                  <a:pt x="937220" y="83790"/>
                </a:lnTo>
                <a:lnTo>
                  <a:pt x="979344" y="69368"/>
                </a:lnTo>
                <a:lnTo>
                  <a:pt x="1021901" y="56276"/>
                </a:lnTo>
                <a:lnTo>
                  <a:pt x="1064847" y="44527"/>
                </a:lnTo>
                <a:lnTo>
                  <a:pt x="1108141" y="34133"/>
                </a:lnTo>
                <a:lnTo>
                  <a:pt x="1151741" y="25104"/>
                </a:lnTo>
                <a:lnTo>
                  <a:pt x="1195602" y="17449"/>
                </a:lnTo>
                <a:lnTo>
                  <a:pt x="1239683" y="11175"/>
                </a:lnTo>
                <a:lnTo>
                  <a:pt x="1283939" y="6290"/>
                </a:lnTo>
                <a:lnTo>
                  <a:pt x="1328326" y="2796"/>
                </a:lnTo>
                <a:lnTo>
                  <a:pt x="1372801" y="699"/>
                </a:lnTo>
                <a:lnTo>
                  <a:pt x="1417320" y="0"/>
                </a:lnTo>
                <a:lnTo>
                  <a:pt x="1417320" y="1417320"/>
                </a:lnTo>
                <a:close/>
              </a:path>
            </a:pathLst>
          </a:custGeom>
          <a:solidFill>
            <a:srgbClr val="F4F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右下角淡蓝装饰"/>
          <p:cNvSpPr/>
          <p:nvPr/>
        </p:nvSpPr>
        <p:spPr>
          <a:xfrm>
            <a:off x="11076431" y="5742432"/>
            <a:ext cx="1115568" cy="1115568"/>
          </a:xfrm>
          <a:custGeom>
            <a:avLst/>
            <a:gdLst/>
            <a:ahLst/>
            <a:cxnLst/>
            <a:rect l="l" t="t" r="r" b="b"/>
            <a:pathLst>
              <a:path w="1115568" h="1115568">
                <a:moveTo>
                  <a:pt x="1115568" y="1115568"/>
                </a:moveTo>
                <a:lnTo>
                  <a:pt x="0" y="1115568"/>
                </a:lnTo>
                <a:lnTo>
                  <a:pt x="551" y="1080527"/>
                </a:lnTo>
                <a:lnTo>
                  <a:pt x="2202" y="1045520"/>
                </a:lnTo>
                <a:lnTo>
                  <a:pt x="4951" y="1010583"/>
                </a:lnTo>
                <a:lnTo>
                  <a:pt x="8797" y="975750"/>
                </a:lnTo>
                <a:lnTo>
                  <a:pt x="13735" y="941054"/>
                </a:lnTo>
                <a:lnTo>
                  <a:pt x="19760" y="906531"/>
                </a:lnTo>
                <a:lnTo>
                  <a:pt x="26867" y="872214"/>
                </a:lnTo>
                <a:lnTo>
                  <a:pt x="35048" y="838137"/>
                </a:lnTo>
                <a:lnTo>
                  <a:pt x="44295" y="804334"/>
                </a:lnTo>
                <a:lnTo>
                  <a:pt x="54600" y="770838"/>
                </a:lnTo>
                <a:lnTo>
                  <a:pt x="65952" y="737682"/>
                </a:lnTo>
                <a:lnTo>
                  <a:pt x="78339" y="704900"/>
                </a:lnTo>
                <a:lnTo>
                  <a:pt x="91751" y="672522"/>
                </a:lnTo>
                <a:lnTo>
                  <a:pt x="106172" y="640582"/>
                </a:lnTo>
                <a:lnTo>
                  <a:pt x="121590" y="609110"/>
                </a:lnTo>
                <a:lnTo>
                  <a:pt x="137989" y="578139"/>
                </a:lnTo>
                <a:lnTo>
                  <a:pt x="155352" y="547697"/>
                </a:lnTo>
                <a:lnTo>
                  <a:pt x="173663" y="517816"/>
                </a:lnTo>
                <a:lnTo>
                  <a:pt x="192904" y="488525"/>
                </a:lnTo>
                <a:lnTo>
                  <a:pt x="213055" y="459853"/>
                </a:lnTo>
                <a:lnTo>
                  <a:pt x="234097" y="431828"/>
                </a:lnTo>
                <a:lnTo>
                  <a:pt x="256008" y="404478"/>
                </a:lnTo>
                <a:lnTo>
                  <a:pt x="278768" y="377829"/>
                </a:lnTo>
                <a:lnTo>
                  <a:pt x="302354" y="351909"/>
                </a:lnTo>
                <a:lnTo>
                  <a:pt x="326742" y="326742"/>
                </a:lnTo>
                <a:lnTo>
                  <a:pt x="351909" y="302353"/>
                </a:lnTo>
                <a:lnTo>
                  <a:pt x="377830" y="278768"/>
                </a:lnTo>
                <a:lnTo>
                  <a:pt x="404478" y="256008"/>
                </a:lnTo>
                <a:lnTo>
                  <a:pt x="431829" y="234096"/>
                </a:lnTo>
                <a:lnTo>
                  <a:pt x="459854" y="213054"/>
                </a:lnTo>
                <a:lnTo>
                  <a:pt x="488526" y="192903"/>
                </a:lnTo>
                <a:lnTo>
                  <a:pt x="517817" y="173662"/>
                </a:lnTo>
                <a:lnTo>
                  <a:pt x="547698" y="155351"/>
                </a:lnTo>
                <a:lnTo>
                  <a:pt x="578139" y="137988"/>
                </a:lnTo>
                <a:lnTo>
                  <a:pt x="609111" y="121589"/>
                </a:lnTo>
                <a:lnTo>
                  <a:pt x="640582" y="106171"/>
                </a:lnTo>
                <a:lnTo>
                  <a:pt x="672523" y="91750"/>
                </a:lnTo>
                <a:lnTo>
                  <a:pt x="704900" y="78339"/>
                </a:lnTo>
                <a:lnTo>
                  <a:pt x="737683" y="65951"/>
                </a:lnTo>
                <a:lnTo>
                  <a:pt x="770839" y="54599"/>
                </a:lnTo>
                <a:lnTo>
                  <a:pt x="804335" y="44295"/>
                </a:lnTo>
                <a:lnTo>
                  <a:pt x="838138" y="35047"/>
                </a:lnTo>
                <a:lnTo>
                  <a:pt x="872215" y="26866"/>
                </a:lnTo>
                <a:lnTo>
                  <a:pt x="906532" y="19759"/>
                </a:lnTo>
                <a:lnTo>
                  <a:pt x="941055" y="13734"/>
                </a:lnTo>
                <a:lnTo>
                  <a:pt x="975750" y="8796"/>
                </a:lnTo>
                <a:lnTo>
                  <a:pt x="1010584" y="4950"/>
                </a:lnTo>
                <a:lnTo>
                  <a:pt x="1045521" y="2201"/>
                </a:lnTo>
                <a:lnTo>
                  <a:pt x="1080527" y="550"/>
                </a:lnTo>
                <a:lnTo>
                  <a:pt x="1115568" y="0"/>
                </a:lnTo>
                <a:lnTo>
                  <a:pt x="1115568" y="1115568"/>
                </a:lnTo>
                <a:close/>
              </a:path>
            </a:pathLst>
          </a:custGeom>
          <a:solidFill>
            <a:srgbClr val="F8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圆形"/>
          <p:cNvSpPr/>
          <p:nvPr/>
        </p:nvSpPr>
        <p:spPr>
          <a:xfrm>
            <a:off x="1038758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圆形"/>
          <p:cNvSpPr/>
          <p:nvPr/>
        </p:nvSpPr>
        <p:spPr>
          <a:xfrm>
            <a:off x="1038758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圆形"/>
          <p:cNvSpPr/>
          <p:nvPr/>
        </p:nvSpPr>
        <p:spPr>
          <a:xfrm>
            <a:off x="1038758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圆形"/>
          <p:cNvSpPr/>
          <p:nvPr/>
        </p:nvSpPr>
        <p:spPr>
          <a:xfrm>
            <a:off x="1055217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圆形"/>
          <p:cNvSpPr/>
          <p:nvPr/>
        </p:nvSpPr>
        <p:spPr>
          <a:xfrm>
            <a:off x="1055217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圆形"/>
          <p:cNvSpPr/>
          <p:nvPr/>
        </p:nvSpPr>
        <p:spPr>
          <a:xfrm>
            <a:off x="1055217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圆形"/>
          <p:cNvSpPr/>
          <p:nvPr/>
        </p:nvSpPr>
        <p:spPr>
          <a:xfrm>
            <a:off x="10716767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圆形"/>
          <p:cNvSpPr/>
          <p:nvPr/>
        </p:nvSpPr>
        <p:spPr>
          <a:xfrm>
            <a:off x="10716767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圆形"/>
          <p:cNvSpPr/>
          <p:nvPr/>
        </p:nvSpPr>
        <p:spPr>
          <a:xfrm>
            <a:off x="10716767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圆形"/>
          <p:cNvSpPr/>
          <p:nvPr/>
        </p:nvSpPr>
        <p:spPr>
          <a:xfrm>
            <a:off x="10881359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圆形"/>
          <p:cNvSpPr/>
          <p:nvPr/>
        </p:nvSpPr>
        <p:spPr>
          <a:xfrm>
            <a:off x="10881359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圆形"/>
          <p:cNvSpPr/>
          <p:nvPr/>
        </p:nvSpPr>
        <p:spPr>
          <a:xfrm>
            <a:off x="10881359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圆形"/>
          <p:cNvSpPr/>
          <p:nvPr/>
        </p:nvSpPr>
        <p:spPr>
          <a:xfrm>
            <a:off x="11045952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圆形"/>
          <p:cNvSpPr/>
          <p:nvPr/>
        </p:nvSpPr>
        <p:spPr>
          <a:xfrm>
            <a:off x="11045952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圆形"/>
          <p:cNvSpPr/>
          <p:nvPr/>
        </p:nvSpPr>
        <p:spPr>
          <a:xfrm>
            <a:off x="11045952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圆形"/>
          <p:cNvSpPr/>
          <p:nvPr/>
        </p:nvSpPr>
        <p:spPr>
          <a:xfrm>
            <a:off x="1121054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圆形"/>
          <p:cNvSpPr/>
          <p:nvPr/>
        </p:nvSpPr>
        <p:spPr>
          <a:xfrm>
            <a:off x="1121054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圆形"/>
          <p:cNvSpPr/>
          <p:nvPr/>
        </p:nvSpPr>
        <p:spPr>
          <a:xfrm>
            <a:off x="1121054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圆形"/>
          <p:cNvSpPr/>
          <p:nvPr/>
        </p:nvSpPr>
        <p:spPr>
          <a:xfrm>
            <a:off x="1137513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圆形"/>
          <p:cNvSpPr/>
          <p:nvPr/>
        </p:nvSpPr>
        <p:spPr>
          <a:xfrm>
            <a:off x="1137513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圆形"/>
          <p:cNvSpPr/>
          <p:nvPr/>
        </p:nvSpPr>
        <p:spPr>
          <a:xfrm>
            <a:off x="1137513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圆形"/>
          <p:cNvSpPr/>
          <p:nvPr/>
        </p:nvSpPr>
        <p:spPr>
          <a:xfrm>
            <a:off x="11539728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圆形"/>
          <p:cNvSpPr/>
          <p:nvPr/>
        </p:nvSpPr>
        <p:spPr>
          <a:xfrm>
            <a:off x="11539728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圆形"/>
          <p:cNvSpPr/>
          <p:nvPr/>
        </p:nvSpPr>
        <p:spPr>
          <a:xfrm>
            <a:off x="11539728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标题蓝色竖线"/>
          <p:cNvSpPr/>
          <p:nvPr/>
        </p:nvSpPr>
        <p:spPr>
          <a:xfrm>
            <a:off x="274320" y="356616"/>
            <a:ext cx="109728" cy="585216"/>
          </a:xfrm>
          <a:prstGeom prst="roundRect">
            <a:avLst>
              <a:gd name="adj" fmla="val 41666"/>
            </a:avLst>
          </a:prstGeom>
          <a:gradFill>
            <a:gsLst>
              <a:gs pos="0">
                <a:srgbClr val="3A92D5"/>
              </a:gs>
              <a:gs pos="100000">
                <a:srgbClr val="146FB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标题"/>
          <p:cNvSpPr txBox="1"/>
          <p:nvPr/>
        </p:nvSpPr>
        <p:spPr>
          <a:xfrm>
            <a:off x="621792" y="301752"/>
            <a:ext cx="9390888" cy="64922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3600">
                <a:latin typeface="微软雅黑" panose="020B0503020204020204" charset="-122"/>
              </a:defRPr>
            </a:pPr>
            <a:r>
              <a:rPr sz="35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LIN数据总线介绍</a:t>
            </a:r>
            <a:endParaRPr sz="35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标题分隔线"/>
          <p:cNvSpPr/>
          <p:nvPr/>
        </p:nvSpPr>
        <p:spPr>
          <a:xfrm>
            <a:off x="621792" y="1051560"/>
            <a:ext cx="11109960" cy="18288"/>
          </a:xfrm>
          <a:prstGeom prst="rect">
            <a:avLst/>
          </a:prstGeom>
          <a:gradFill>
            <a:gsLst>
              <a:gs pos="0">
                <a:srgbClr val="3A92D5"/>
              </a:gs>
              <a:gs pos="100000">
                <a:srgbClr val="E3EFF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tongji_wordm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4" y="256032"/>
            <a:ext cx="1554480" cy="385298"/>
          </a:xfrm>
          <a:prstGeom prst="rect">
            <a:avLst/>
          </a:prstGeom>
          <a:effectLst/>
        </p:spPr>
      </p:pic>
      <p:sp>
        <p:nvSpPr>
          <p:cNvPr id="33" name="导入句"/>
          <p:cNvSpPr txBox="1"/>
          <p:nvPr/>
        </p:nvSpPr>
        <p:spPr>
          <a:xfrm>
            <a:off x="621792" y="1271016"/>
            <a:ext cx="10972800" cy="57607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000">
                <a:latin typeface="微软雅黑" panose="020B0503020204020204" charset="-122"/>
              </a:defRPr>
            </a:pPr>
            <a:r>
              <a:rPr sz="20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LIN（Local Interconnect Network）</a:t>
            </a:r>
            <a:r>
              <a:rPr sz="20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：面向低成本局部通信的总线。</a:t>
            </a:r>
            <a:endParaRPr sz="20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先记住三个特点卡片"/>
          <p:cNvSpPr/>
          <p:nvPr/>
        </p:nvSpPr>
        <p:spPr>
          <a:xfrm>
            <a:off x="621792" y="1984248"/>
            <a:ext cx="3941063" cy="3383280"/>
          </a:xfrm>
          <a:prstGeom prst="roundRect">
            <a:avLst>
              <a:gd name="adj" fmla="val 4324"/>
            </a:avLst>
          </a:prstGeom>
          <a:solidFill>
            <a:srgbClr val="F6FAFE"/>
          </a:solidFill>
          <a:ln w="10160">
            <a:solidFill>
              <a:srgbClr val="B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卡片标题条"/>
          <p:cNvSpPr/>
          <p:nvPr/>
        </p:nvSpPr>
        <p:spPr>
          <a:xfrm>
            <a:off x="621792" y="1984248"/>
            <a:ext cx="3941063" cy="585216"/>
          </a:xfrm>
          <a:prstGeom prst="roundRect">
            <a:avLst>
              <a:gd name="adj" fmla="val 20312"/>
            </a:avLst>
          </a:prstGeom>
          <a:gradFill>
            <a:gsLst>
              <a:gs pos="0">
                <a:srgbClr val="EDF5FD"/>
              </a:gs>
              <a:gs pos="100000">
                <a:srgbClr val="F7FBF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文字"/>
          <p:cNvSpPr txBox="1"/>
          <p:nvPr/>
        </p:nvSpPr>
        <p:spPr>
          <a:xfrm>
            <a:off x="804672" y="2103120"/>
            <a:ext cx="3602735" cy="33832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200">
                <a:latin typeface="微软雅黑" panose="020B0503020204020204" charset="-122"/>
              </a:defRPr>
            </a:pPr>
            <a:r>
              <a:rPr sz="22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先记住三个特点</a:t>
            </a:r>
            <a:endParaRPr sz="22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圆形"/>
          <p:cNvSpPr/>
          <p:nvPr/>
        </p:nvSpPr>
        <p:spPr>
          <a:xfrm>
            <a:off x="850392" y="2779776"/>
            <a:ext cx="301752" cy="301752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文字"/>
          <p:cNvSpPr txBox="1"/>
          <p:nvPr/>
        </p:nvSpPr>
        <p:spPr>
          <a:xfrm>
            <a:off x="850392" y="2793492"/>
            <a:ext cx="301752" cy="22860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400">
                <a:latin typeface="微软雅黑" panose="020B0503020204020204" charset="-122"/>
              </a:defRPr>
            </a:pPr>
            <a:r>
              <a:rPr sz="1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5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字"/>
          <p:cNvSpPr txBox="1"/>
          <p:nvPr/>
        </p:nvSpPr>
        <p:spPr>
          <a:xfrm>
            <a:off x="1353312" y="2761488"/>
            <a:ext cx="2907792" cy="2997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000">
                <a:latin typeface="微软雅黑" panose="020B0503020204020204" charset="-122"/>
              </a:defRPr>
            </a:pPr>
            <a:r>
              <a:rPr sz="20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主节点组织通信</a:t>
            </a:r>
            <a:endParaRPr sz="20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字"/>
          <p:cNvSpPr txBox="1"/>
          <p:nvPr/>
        </p:nvSpPr>
        <p:spPr>
          <a:xfrm>
            <a:off x="1353312" y="3099816"/>
            <a:ext cx="2898648" cy="28346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500">
                <a:latin typeface="微软雅黑" panose="020B0503020204020204" charset="-122"/>
              </a:defRPr>
            </a:pPr>
            <a:r>
              <a:rPr sz="170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按预先安排的规则启动通信。</a:t>
            </a:r>
            <a:endParaRPr sz="170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圆形"/>
          <p:cNvSpPr/>
          <p:nvPr/>
        </p:nvSpPr>
        <p:spPr>
          <a:xfrm>
            <a:off x="850392" y="3529584"/>
            <a:ext cx="301752" cy="301752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文字"/>
          <p:cNvSpPr txBox="1"/>
          <p:nvPr/>
        </p:nvSpPr>
        <p:spPr>
          <a:xfrm>
            <a:off x="850392" y="3543300"/>
            <a:ext cx="301752" cy="22860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400">
                <a:latin typeface="微软雅黑" panose="020B0503020204020204" charset="-122"/>
              </a:defRPr>
            </a:pPr>
            <a:r>
              <a:rPr sz="1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5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字"/>
          <p:cNvSpPr txBox="1"/>
          <p:nvPr/>
        </p:nvSpPr>
        <p:spPr>
          <a:xfrm>
            <a:off x="1353312" y="3511296"/>
            <a:ext cx="2907792" cy="2997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000">
                <a:latin typeface="微软雅黑" panose="020B0503020204020204" charset="-122"/>
              </a:defRPr>
            </a:pPr>
            <a:r>
              <a:rPr sz="20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单根通信信号线</a:t>
            </a:r>
            <a:endParaRPr sz="20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文字"/>
          <p:cNvSpPr txBox="1"/>
          <p:nvPr/>
        </p:nvSpPr>
        <p:spPr>
          <a:xfrm>
            <a:off x="1353312" y="3849624"/>
            <a:ext cx="2898648" cy="28346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500">
                <a:latin typeface="微软雅黑" panose="020B0503020204020204" charset="-122"/>
              </a:defRPr>
            </a:pPr>
            <a:r>
              <a:rPr sz="170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结构简单，适合较小数据量。</a:t>
            </a:r>
            <a:endParaRPr sz="170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圆形"/>
          <p:cNvSpPr/>
          <p:nvPr/>
        </p:nvSpPr>
        <p:spPr>
          <a:xfrm>
            <a:off x="850392" y="4279392"/>
            <a:ext cx="301752" cy="301752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文字"/>
          <p:cNvSpPr txBox="1"/>
          <p:nvPr/>
        </p:nvSpPr>
        <p:spPr>
          <a:xfrm>
            <a:off x="850392" y="4293108"/>
            <a:ext cx="301752" cy="22860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400">
                <a:latin typeface="微软雅黑" panose="020B0503020204020204" charset="-122"/>
              </a:defRPr>
            </a:pPr>
            <a:r>
              <a:rPr sz="1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5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字"/>
          <p:cNvSpPr txBox="1"/>
          <p:nvPr/>
        </p:nvSpPr>
        <p:spPr>
          <a:xfrm>
            <a:off x="1353312" y="4261104"/>
            <a:ext cx="2907792" cy="2997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000">
                <a:latin typeface="微软雅黑" panose="020B0503020204020204" charset="-122"/>
              </a:defRPr>
            </a:pPr>
            <a:r>
              <a:rPr sz="20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主从协同工作</a:t>
            </a:r>
            <a:endParaRPr sz="20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字"/>
          <p:cNvSpPr txBox="1"/>
          <p:nvPr/>
        </p:nvSpPr>
        <p:spPr>
          <a:xfrm>
            <a:off x="1353312" y="4599432"/>
            <a:ext cx="2898648" cy="28346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500">
                <a:latin typeface="微软雅黑" panose="020B0503020204020204" charset="-122"/>
              </a:defRPr>
            </a:pPr>
            <a:r>
              <a:rPr sz="160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从节点按约定发送或接收数据。</a:t>
            </a:r>
            <a:endParaRPr sz="160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LIN与CAN的关系卡片"/>
          <p:cNvSpPr/>
          <p:nvPr/>
        </p:nvSpPr>
        <p:spPr>
          <a:xfrm>
            <a:off x="4773168" y="1984248"/>
            <a:ext cx="6784848" cy="3383280"/>
          </a:xfrm>
          <a:prstGeom prst="roundRect">
            <a:avLst>
              <a:gd name="adj" fmla="val 4324"/>
            </a:avLst>
          </a:prstGeom>
          <a:solidFill>
            <a:srgbClr val="F6FAFE"/>
          </a:solidFill>
          <a:ln w="10160">
            <a:solidFill>
              <a:srgbClr val="B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卡片标题条"/>
          <p:cNvSpPr/>
          <p:nvPr/>
        </p:nvSpPr>
        <p:spPr>
          <a:xfrm>
            <a:off x="4773168" y="1984248"/>
            <a:ext cx="6784848" cy="585216"/>
          </a:xfrm>
          <a:prstGeom prst="roundRect">
            <a:avLst>
              <a:gd name="adj" fmla="val 20312"/>
            </a:avLst>
          </a:prstGeom>
          <a:gradFill>
            <a:gsLst>
              <a:gs pos="0">
                <a:srgbClr val="EDF5FD"/>
              </a:gs>
              <a:gs pos="100000">
                <a:srgbClr val="F7FBF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文字"/>
          <p:cNvSpPr txBox="1"/>
          <p:nvPr/>
        </p:nvSpPr>
        <p:spPr>
          <a:xfrm>
            <a:off x="4956048" y="2103120"/>
            <a:ext cx="6446520" cy="33832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200">
                <a:latin typeface="微软雅黑" panose="020B0503020204020204" charset="-122"/>
              </a:defRPr>
            </a:pPr>
            <a:r>
              <a:rPr sz="22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LIN与CAN的关系</a:t>
            </a:r>
            <a:endParaRPr sz="22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4" name="连线"/>
          <p:cNvCxnSpPr/>
          <p:nvPr/>
        </p:nvCxnSpPr>
        <p:spPr>
          <a:xfrm>
            <a:off x="5148072" y="2898648"/>
            <a:ext cx="6025896" cy="0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连线"/>
          <p:cNvCxnSpPr/>
          <p:nvPr/>
        </p:nvCxnSpPr>
        <p:spPr>
          <a:xfrm>
            <a:off x="5148072" y="3063240"/>
            <a:ext cx="6025896" cy="0"/>
          </a:xfrm>
          <a:prstGeom prst="line">
            <a:avLst/>
          </a:prstGeom>
          <a:ln w="25400" cap="rnd">
            <a:solidFill>
              <a:srgbClr val="259D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字"/>
          <p:cNvSpPr txBox="1"/>
          <p:nvPr/>
        </p:nvSpPr>
        <p:spPr>
          <a:xfrm>
            <a:off x="10451592" y="2633472"/>
            <a:ext cx="649224" cy="28600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700">
                <a:latin typeface="微软雅黑" panose="020B0503020204020204" charset="-122"/>
              </a:defRPr>
            </a:pPr>
            <a:r>
              <a:rPr sz="19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CAN</a:t>
            </a:r>
            <a:endParaRPr sz="19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矩形"/>
          <p:cNvSpPr/>
          <p:nvPr/>
        </p:nvSpPr>
        <p:spPr>
          <a:xfrm>
            <a:off x="7434072" y="3374136"/>
            <a:ext cx="1481328" cy="704088"/>
          </a:xfrm>
          <a:prstGeom prst="roundRect">
            <a:avLst>
              <a:gd name="adj" fmla="val 15584"/>
            </a:avLst>
          </a:prstGeom>
          <a:solidFill>
            <a:srgbClr val="EDF5FD"/>
          </a:solidFill>
          <a:ln w="127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文字"/>
          <p:cNvSpPr txBox="1"/>
          <p:nvPr/>
        </p:nvSpPr>
        <p:spPr>
          <a:xfrm>
            <a:off x="7351775" y="3474720"/>
            <a:ext cx="1655064" cy="54864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450">
                <a:latin typeface="微软雅黑" panose="020B0503020204020204" charset="-122"/>
              </a:defRPr>
            </a:pPr>
            <a:r>
              <a:rPr sz="16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CAN–LIN</a:t>
            </a:r>
            <a:endParaRPr sz="16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450">
                <a:latin typeface="微软雅黑" panose="020B0503020204020204" charset="-122"/>
              </a:defRPr>
            </a:pPr>
            <a:r>
              <a:rPr sz="16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主节点 / 网关</a:t>
            </a:r>
            <a:endParaRPr sz="16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9" name="连线"/>
          <p:cNvCxnSpPr/>
          <p:nvPr/>
        </p:nvCxnSpPr>
        <p:spPr>
          <a:xfrm>
            <a:off x="8110727" y="2898648"/>
            <a:ext cx="0" cy="475488"/>
          </a:xfrm>
          <a:prstGeom prst="line">
            <a:avLst/>
          </a:prstGeom>
          <a:ln w="1651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连线"/>
          <p:cNvCxnSpPr/>
          <p:nvPr/>
        </p:nvCxnSpPr>
        <p:spPr>
          <a:xfrm>
            <a:off x="8238744" y="3063240"/>
            <a:ext cx="0" cy="310896"/>
          </a:xfrm>
          <a:prstGeom prst="line">
            <a:avLst/>
          </a:prstGeom>
          <a:ln w="16510" cap="rnd">
            <a:solidFill>
              <a:srgbClr val="259D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连线"/>
          <p:cNvCxnSpPr/>
          <p:nvPr/>
        </p:nvCxnSpPr>
        <p:spPr>
          <a:xfrm>
            <a:off x="8174736" y="4078224"/>
            <a:ext cx="0" cy="283464"/>
          </a:xfrm>
          <a:prstGeom prst="line">
            <a:avLst/>
          </a:prstGeom>
          <a:ln w="21590" cap="rnd">
            <a:solidFill>
              <a:srgbClr val="298E9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连线"/>
          <p:cNvCxnSpPr/>
          <p:nvPr/>
        </p:nvCxnSpPr>
        <p:spPr>
          <a:xfrm>
            <a:off x="5550408" y="4361688"/>
            <a:ext cx="5266944" cy="0"/>
          </a:xfrm>
          <a:prstGeom prst="line">
            <a:avLst/>
          </a:prstGeom>
          <a:ln w="25400" cap="rnd">
            <a:solidFill>
              <a:srgbClr val="298E9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字"/>
          <p:cNvSpPr txBox="1"/>
          <p:nvPr/>
        </p:nvSpPr>
        <p:spPr>
          <a:xfrm>
            <a:off x="10433304" y="4069080"/>
            <a:ext cx="694944" cy="286003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800">
                <a:latin typeface="微软雅黑" panose="020B0503020204020204" charset="-122"/>
              </a:defRPr>
            </a:pPr>
            <a:r>
              <a:rPr sz="1900" b="1">
                <a:solidFill>
                  <a:srgbClr val="298E9D"/>
                </a:solidFill>
                <a:latin typeface="微软雅黑" panose="020B0503020204020204" charset="-122"/>
                <a:ea typeface="微软雅黑" panose="020B0503020204020204" charset="-122"/>
              </a:rPr>
              <a:t>LIN</a:t>
            </a:r>
            <a:endParaRPr sz="1900" b="1">
              <a:solidFill>
                <a:srgbClr val="298E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4" name="连线"/>
          <p:cNvCxnSpPr/>
          <p:nvPr/>
        </p:nvCxnSpPr>
        <p:spPr>
          <a:xfrm>
            <a:off x="6089904" y="4361688"/>
            <a:ext cx="0" cy="283464"/>
          </a:xfrm>
          <a:prstGeom prst="line">
            <a:avLst/>
          </a:prstGeom>
          <a:ln w="19050" cap="rnd">
            <a:solidFill>
              <a:srgbClr val="298E9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LIN从节点1"/>
          <p:cNvSpPr/>
          <p:nvPr/>
        </p:nvSpPr>
        <p:spPr>
          <a:xfrm>
            <a:off x="5376672" y="4645152"/>
            <a:ext cx="1426464" cy="438912"/>
          </a:xfrm>
          <a:prstGeom prst="roundRect">
            <a:avLst>
              <a:gd name="adj" fmla="val 14583"/>
            </a:avLst>
          </a:prstGeom>
          <a:gradFill>
            <a:gsLst>
              <a:gs pos="0">
                <a:srgbClr val="EBF5FF"/>
              </a:gs>
              <a:gs pos="100000">
                <a:srgbClr val="CFE5F9"/>
              </a:gs>
            </a:gsLst>
            <a:lin ang="5400000" scaled="1"/>
          </a:gradFill>
          <a:ln w="1397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IN从节点1标签"/>
          <p:cNvSpPr txBox="1"/>
          <p:nvPr/>
        </p:nvSpPr>
        <p:spPr>
          <a:xfrm>
            <a:off x="5422392" y="4690872"/>
            <a:ext cx="1335024" cy="34747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600">
                <a:latin typeface="微软雅黑" panose="020B0503020204020204" charset="-122"/>
              </a:defRPr>
            </a:pPr>
            <a:r>
              <a:rPr sz="17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LIN从节点1</a:t>
            </a:r>
            <a:endParaRPr sz="17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7" name="连线"/>
          <p:cNvCxnSpPr/>
          <p:nvPr/>
        </p:nvCxnSpPr>
        <p:spPr>
          <a:xfrm>
            <a:off x="8183879" y="4361688"/>
            <a:ext cx="0" cy="283464"/>
          </a:xfrm>
          <a:prstGeom prst="line">
            <a:avLst/>
          </a:prstGeom>
          <a:ln w="19050" cap="rnd">
            <a:solidFill>
              <a:srgbClr val="298E9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LIN从节点2"/>
          <p:cNvSpPr/>
          <p:nvPr/>
        </p:nvSpPr>
        <p:spPr>
          <a:xfrm>
            <a:off x="7470648" y="4645152"/>
            <a:ext cx="1426464" cy="438912"/>
          </a:xfrm>
          <a:prstGeom prst="roundRect">
            <a:avLst>
              <a:gd name="adj" fmla="val 14583"/>
            </a:avLst>
          </a:prstGeom>
          <a:gradFill>
            <a:gsLst>
              <a:gs pos="0">
                <a:srgbClr val="EBF5FF"/>
              </a:gs>
              <a:gs pos="100000">
                <a:srgbClr val="CFE5F9"/>
              </a:gs>
            </a:gsLst>
            <a:lin ang="5400000" scaled="1"/>
          </a:gradFill>
          <a:ln w="1397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IN从节点2标签"/>
          <p:cNvSpPr txBox="1"/>
          <p:nvPr/>
        </p:nvSpPr>
        <p:spPr>
          <a:xfrm>
            <a:off x="7516368" y="4690872"/>
            <a:ext cx="1335024" cy="34747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600">
                <a:latin typeface="微软雅黑" panose="020B0503020204020204" charset="-122"/>
              </a:defRPr>
            </a:pPr>
            <a:r>
              <a:rPr sz="17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LIN从节点2</a:t>
            </a:r>
            <a:endParaRPr sz="17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0" name="连线"/>
          <p:cNvCxnSpPr/>
          <p:nvPr/>
        </p:nvCxnSpPr>
        <p:spPr>
          <a:xfrm>
            <a:off x="10277856" y="4361688"/>
            <a:ext cx="0" cy="283464"/>
          </a:xfrm>
          <a:prstGeom prst="line">
            <a:avLst/>
          </a:prstGeom>
          <a:ln w="19050" cap="rnd">
            <a:solidFill>
              <a:srgbClr val="298E9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LIN从节点3"/>
          <p:cNvSpPr/>
          <p:nvPr/>
        </p:nvSpPr>
        <p:spPr>
          <a:xfrm>
            <a:off x="9564624" y="4645152"/>
            <a:ext cx="1426464" cy="438912"/>
          </a:xfrm>
          <a:prstGeom prst="roundRect">
            <a:avLst>
              <a:gd name="adj" fmla="val 14583"/>
            </a:avLst>
          </a:prstGeom>
          <a:gradFill>
            <a:gsLst>
              <a:gs pos="0">
                <a:srgbClr val="EBF5FF"/>
              </a:gs>
              <a:gs pos="100000">
                <a:srgbClr val="CFE5F9"/>
              </a:gs>
            </a:gsLst>
            <a:lin ang="5400000" scaled="1"/>
          </a:gradFill>
          <a:ln w="1397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IN从节点3标签"/>
          <p:cNvSpPr txBox="1"/>
          <p:nvPr/>
        </p:nvSpPr>
        <p:spPr>
          <a:xfrm>
            <a:off x="9610344" y="4690872"/>
            <a:ext cx="1335024" cy="34747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600">
                <a:latin typeface="微软雅黑" panose="020B0503020204020204" charset="-122"/>
              </a:defRPr>
            </a:pPr>
            <a:r>
              <a:rPr sz="17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LIN从节点3</a:t>
            </a:r>
            <a:endParaRPr sz="17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本页总结背景"/>
          <p:cNvSpPr/>
          <p:nvPr/>
        </p:nvSpPr>
        <p:spPr>
          <a:xfrm>
            <a:off x="585216" y="5861304"/>
            <a:ext cx="11064240" cy="603504"/>
          </a:xfrm>
          <a:prstGeom prst="roundRect">
            <a:avLst>
              <a:gd name="adj" fmla="val 22727"/>
            </a:avLst>
          </a:prstGeom>
          <a:gradFill>
            <a:gsLst>
              <a:gs pos="0">
                <a:srgbClr val="F0F7FE"/>
              </a:gs>
              <a:gs pos="100000">
                <a:srgbClr val="E9F3F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可编辑曲线"/>
          <p:cNvSpPr/>
          <p:nvPr/>
        </p:nvSpPr>
        <p:spPr>
          <a:xfrm>
            <a:off x="907999" y="5999927"/>
            <a:ext cx="310621" cy="133685"/>
          </a:xfrm>
          <a:custGeom>
            <a:avLst/>
            <a:gdLst/>
            <a:ahLst/>
            <a:cxnLst/>
            <a:rect l="l" t="t" r="r" b="b"/>
            <a:pathLst>
              <a:path w="310621" h="133685">
                <a:moveTo>
                  <a:pt x="0" y="133685"/>
                </a:moveTo>
                <a:lnTo>
                  <a:pt x="51115" y="0"/>
                </a:lnTo>
                <a:lnTo>
                  <a:pt x="251643" y="0"/>
                </a:lnTo>
                <a:lnTo>
                  <a:pt x="310621" y="133685"/>
                </a:lnTo>
              </a:path>
            </a:pathLst>
          </a:custGeom>
          <a:noFill/>
          <a:ln w="254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矩形"/>
          <p:cNvSpPr/>
          <p:nvPr/>
        </p:nvSpPr>
        <p:spPr>
          <a:xfrm>
            <a:off x="896203" y="6121816"/>
            <a:ext cx="338145" cy="165140"/>
          </a:xfrm>
          <a:prstGeom prst="roundRect">
            <a:avLst>
              <a:gd name="adj" fmla="val 19047"/>
            </a:avLst>
          </a:prstGeom>
          <a:noFill/>
          <a:ln w="254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连线"/>
          <p:cNvCxnSpPr/>
          <p:nvPr/>
        </p:nvCxnSpPr>
        <p:spPr>
          <a:xfrm>
            <a:off x="915863" y="6129680"/>
            <a:ext cx="302757" cy="0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圆形"/>
          <p:cNvSpPr/>
          <p:nvPr/>
        </p:nvSpPr>
        <p:spPr>
          <a:xfrm>
            <a:off x="935522" y="6180795"/>
            <a:ext cx="51114" cy="5111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圆形"/>
          <p:cNvSpPr/>
          <p:nvPr/>
        </p:nvSpPr>
        <p:spPr>
          <a:xfrm>
            <a:off x="1136050" y="6180795"/>
            <a:ext cx="51114" cy="5111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连线"/>
          <p:cNvCxnSpPr/>
          <p:nvPr/>
        </p:nvCxnSpPr>
        <p:spPr>
          <a:xfrm>
            <a:off x="943386" y="6283025"/>
            <a:ext cx="0" cy="51115"/>
          </a:xfrm>
          <a:prstGeom prst="line">
            <a:avLst/>
          </a:prstGeom>
          <a:ln w="381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连线"/>
          <p:cNvCxnSpPr/>
          <p:nvPr/>
        </p:nvCxnSpPr>
        <p:spPr>
          <a:xfrm>
            <a:off x="1183233" y="6283025"/>
            <a:ext cx="0" cy="51115"/>
          </a:xfrm>
          <a:prstGeom prst="line">
            <a:avLst/>
          </a:prstGeom>
          <a:ln w="381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连线"/>
          <p:cNvCxnSpPr/>
          <p:nvPr/>
        </p:nvCxnSpPr>
        <p:spPr>
          <a:xfrm>
            <a:off x="1435608" y="5952744"/>
            <a:ext cx="0" cy="420624"/>
          </a:xfrm>
          <a:prstGeom prst="line">
            <a:avLst/>
          </a:prstGeom>
          <a:ln w="15875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本页总结"/>
          <p:cNvSpPr txBox="1"/>
          <p:nvPr/>
        </p:nvSpPr>
        <p:spPr>
          <a:xfrm>
            <a:off x="1655064" y="5952744"/>
            <a:ext cx="9692640" cy="45720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000">
                <a:latin typeface="微软雅黑" panose="020B0503020204020204" charset="-122"/>
              </a:defRPr>
            </a:pPr>
            <a:r>
              <a:rPr sz="20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CAN与LIN不是简单替代：</a:t>
            </a:r>
            <a:r>
              <a:rPr sz="20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根据数据量、时间要求和成本选择合适的通信方式。</a:t>
            </a:r>
            <a:endParaRPr sz="20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白色背景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右下角淡蓝装饰"/>
          <p:cNvSpPr/>
          <p:nvPr/>
        </p:nvSpPr>
        <p:spPr>
          <a:xfrm>
            <a:off x="10774679" y="5440680"/>
            <a:ext cx="1417320" cy="1417320"/>
          </a:xfrm>
          <a:custGeom>
            <a:avLst/>
            <a:gdLst/>
            <a:ahLst/>
            <a:cxnLst/>
            <a:rect l="l" t="t" r="r" b="b"/>
            <a:pathLst>
              <a:path w="1417320" h="1417320">
                <a:moveTo>
                  <a:pt x="1417320" y="1417320"/>
                </a:moveTo>
                <a:lnTo>
                  <a:pt x="0" y="1417320"/>
                </a:lnTo>
                <a:lnTo>
                  <a:pt x="700" y="1372800"/>
                </a:lnTo>
                <a:lnTo>
                  <a:pt x="2797" y="1328325"/>
                </a:lnTo>
                <a:lnTo>
                  <a:pt x="6290" y="1283938"/>
                </a:lnTo>
                <a:lnTo>
                  <a:pt x="11176" y="1239682"/>
                </a:lnTo>
                <a:lnTo>
                  <a:pt x="17450" y="1195602"/>
                </a:lnTo>
                <a:lnTo>
                  <a:pt x="25105" y="1151740"/>
                </a:lnTo>
                <a:lnTo>
                  <a:pt x="34134" y="1108141"/>
                </a:lnTo>
                <a:lnTo>
                  <a:pt x="44528" y="1064846"/>
                </a:lnTo>
                <a:lnTo>
                  <a:pt x="56277" y="1021900"/>
                </a:lnTo>
                <a:lnTo>
                  <a:pt x="69369" y="979344"/>
                </a:lnTo>
                <a:lnTo>
                  <a:pt x="83791" y="937219"/>
                </a:lnTo>
                <a:lnTo>
                  <a:pt x="99529" y="895569"/>
                </a:lnTo>
                <a:lnTo>
                  <a:pt x="116568" y="854434"/>
                </a:lnTo>
                <a:lnTo>
                  <a:pt x="134891" y="813854"/>
                </a:lnTo>
                <a:lnTo>
                  <a:pt x="154479" y="773870"/>
                </a:lnTo>
                <a:lnTo>
                  <a:pt x="175313" y="734520"/>
                </a:lnTo>
                <a:lnTo>
                  <a:pt x="197373" y="695845"/>
                </a:lnTo>
                <a:lnTo>
                  <a:pt x="220637" y="657881"/>
                </a:lnTo>
                <a:lnTo>
                  <a:pt x="245082" y="620667"/>
                </a:lnTo>
                <a:lnTo>
                  <a:pt x="270684" y="584240"/>
                </a:lnTo>
                <a:lnTo>
                  <a:pt x="297418" y="548634"/>
                </a:lnTo>
                <a:lnTo>
                  <a:pt x="325256" y="513886"/>
                </a:lnTo>
                <a:lnTo>
                  <a:pt x="354173" y="480029"/>
                </a:lnTo>
                <a:lnTo>
                  <a:pt x="384138" y="447097"/>
                </a:lnTo>
                <a:lnTo>
                  <a:pt x="415124" y="415123"/>
                </a:lnTo>
                <a:lnTo>
                  <a:pt x="447098" y="384138"/>
                </a:lnTo>
                <a:lnTo>
                  <a:pt x="480030" y="354172"/>
                </a:lnTo>
                <a:lnTo>
                  <a:pt x="513886" y="325256"/>
                </a:lnTo>
                <a:lnTo>
                  <a:pt x="548635" y="297417"/>
                </a:lnTo>
                <a:lnTo>
                  <a:pt x="584240" y="270684"/>
                </a:lnTo>
                <a:lnTo>
                  <a:pt x="620668" y="245082"/>
                </a:lnTo>
                <a:lnTo>
                  <a:pt x="657882" y="220637"/>
                </a:lnTo>
                <a:lnTo>
                  <a:pt x="695846" y="197373"/>
                </a:lnTo>
                <a:lnTo>
                  <a:pt x="734521" y="175313"/>
                </a:lnTo>
                <a:lnTo>
                  <a:pt x="773870" y="154478"/>
                </a:lnTo>
                <a:lnTo>
                  <a:pt x="813855" y="134890"/>
                </a:lnTo>
                <a:lnTo>
                  <a:pt x="854435" y="116568"/>
                </a:lnTo>
                <a:lnTo>
                  <a:pt x="895570" y="99529"/>
                </a:lnTo>
                <a:lnTo>
                  <a:pt x="937220" y="83790"/>
                </a:lnTo>
                <a:lnTo>
                  <a:pt x="979344" y="69368"/>
                </a:lnTo>
                <a:lnTo>
                  <a:pt x="1021901" y="56276"/>
                </a:lnTo>
                <a:lnTo>
                  <a:pt x="1064847" y="44527"/>
                </a:lnTo>
                <a:lnTo>
                  <a:pt x="1108141" y="34133"/>
                </a:lnTo>
                <a:lnTo>
                  <a:pt x="1151741" y="25104"/>
                </a:lnTo>
                <a:lnTo>
                  <a:pt x="1195602" y="17449"/>
                </a:lnTo>
                <a:lnTo>
                  <a:pt x="1239683" y="11175"/>
                </a:lnTo>
                <a:lnTo>
                  <a:pt x="1283939" y="6290"/>
                </a:lnTo>
                <a:lnTo>
                  <a:pt x="1328326" y="2796"/>
                </a:lnTo>
                <a:lnTo>
                  <a:pt x="1372801" y="699"/>
                </a:lnTo>
                <a:lnTo>
                  <a:pt x="1417320" y="0"/>
                </a:lnTo>
                <a:lnTo>
                  <a:pt x="1417320" y="1417320"/>
                </a:lnTo>
                <a:close/>
              </a:path>
            </a:pathLst>
          </a:custGeom>
          <a:solidFill>
            <a:srgbClr val="F4F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右下角淡蓝装饰"/>
          <p:cNvSpPr/>
          <p:nvPr/>
        </p:nvSpPr>
        <p:spPr>
          <a:xfrm>
            <a:off x="11076431" y="5742432"/>
            <a:ext cx="1115568" cy="1115568"/>
          </a:xfrm>
          <a:custGeom>
            <a:avLst/>
            <a:gdLst/>
            <a:ahLst/>
            <a:cxnLst/>
            <a:rect l="l" t="t" r="r" b="b"/>
            <a:pathLst>
              <a:path w="1115568" h="1115568">
                <a:moveTo>
                  <a:pt x="1115568" y="1115568"/>
                </a:moveTo>
                <a:lnTo>
                  <a:pt x="0" y="1115568"/>
                </a:lnTo>
                <a:lnTo>
                  <a:pt x="551" y="1080527"/>
                </a:lnTo>
                <a:lnTo>
                  <a:pt x="2202" y="1045520"/>
                </a:lnTo>
                <a:lnTo>
                  <a:pt x="4951" y="1010583"/>
                </a:lnTo>
                <a:lnTo>
                  <a:pt x="8797" y="975750"/>
                </a:lnTo>
                <a:lnTo>
                  <a:pt x="13735" y="941054"/>
                </a:lnTo>
                <a:lnTo>
                  <a:pt x="19760" y="906531"/>
                </a:lnTo>
                <a:lnTo>
                  <a:pt x="26867" y="872214"/>
                </a:lnTo>
                <a:lnTo>
                  <a:pt x="35048" y="838137"/>
                </a:lnTo>
                <a:lnTo>
                  <a:pt x="44295" y="804334"/>
                </a:lnTo>
                <a:lnTo>
                  <a:pt x="54600" y="770838"/>
                </a:lnTo>
                <a:lnTo>
                  <a:pt x="65952" y="737682"/>
                </a:lnTo>
                <a:lnTo>
                  <a:pt x="78339" y="704900"/>
                </a:lnTo>
                <a:lnTo>
                  <a:pt x="91751" y="672522"/>
                </a:lnTo>
                <a:lnTo>
                  <a:pt x="106172" y="640582"/>
                </a:lnTo>
                <a:lnTo>
                  <a:pt x="121590" y="609110"/>
                </a:lnTo>
                <a:lnTo>
                  <a:pt x="137989" y="578139"/>
                </a:lnTo>
                <a:lnTo>
                  <a:pt x="155352" y="547697"/>
                </a:lnTo>
                <a:lnTo>
                  <a:pt x="173663" y="517816"/>
                </a:lnTo>
                <a:lnTo>
                  <a:pt x="192904" y="488525"/>
                </a:lnTo>
                <a:lnTo>
                  <a:pt x="213055" y="459853"/>
                </a:lnTo>
                <a:lnTo>
                  <a:pt x="234097" y="431828"/>
                </a:lnTo>
                <a:lnTo>
                  <a:pt x="256008" y="404478"/>
                </a:lnTo>
                <a:lnTo>
                  <a:pt x="278768" y="377829"/>
                </a:lnTo>
                <a:lnTo>
                  <a:pt x="302354" y="351909"/>
                </a:lnTo>
                <a:lnTo>
                  <a:pt x="326742" y="326742"/>
                </a:lnTo>
                <a:lnTo>
                  <a:pt x="351909" y="302353"/>
                </a:lnTo>
                <a:lnTo>
                  <a:pt x="377830" y="278768"/>
                </a:lnTo>
                <a:lnTo>
                  <a:pt x="404478" y="256008"/>
                </a:lnTo>
                <a:lnTo>
                  <a:pt x="431829" y="234096"/>
                </a:lnTo>
                <a:lnTo>
                  <a:pt x="459854" y="213054"/>
                </a:lnTo>
                <a:lnTo>
                  <a:pt x="488526" y="192903"/>
                </a:lnTo>
                <a:lnTo>
                  <a:pt x="517817" y="173662"/>
                </a:lnTo>
                <a:lnTo>
                  <a:pt x="547698" y="155351"/>
                </a:lnTo>
                <a:lnTo>
                  <a:pt x="578139" y="137988"/>
                </a:lnTo>
                <a:lnTo>
                  <a:pt x="609111" y="121589"/>
                </a:lnTo>
                <a:lnTo>
                  <a:pt x="640582" y="106171"/>
                </a:lnTo>
                <a:lnTo>
                  <a:pt x="672523" y="91750"/>
                </a:lnTo>
                <a:lnTo>
                  <a:pt x="704900" y="78339"/>
                </a:lnTo>
                <a:lnTo>
                  <a:pt x="737683" y="65951"/>
                </a:lnTo>
                <a:lnTo>
                  <a:pt x="770839" y="54599"/>
                </a:lnTo>
                <a:lnTo>
                  <a:pt x="804335" y="44295"/>
                </a:lnTo>
                <a:lnTo>
                  <a:pt x="838138" y="35047"/>
                </a:lnTo>
                <a:lnTo>
                  <a:pt x="872215" y="26866"/>
                </a:lnTo>
                <a:lnTo>
                  <a:pt x="906532" y="19759"/>
                </a:lnTo>
                <a:lnTo>
                  <a:pt x="941055" y="13734"/>
                </a:lnTo>
                <a:lnTo>
                  <a:pt x="975750" y="8796"/>
                </a:lnTo>
                <a:lnTo>
                  <a:pt x="1010584" y="4950"/>
                </a:lnTo>
                <a:lnTo>
                  <a:pt x="1045521" y="2201"/>
                </a:lnTo>
                <a:lnTo>
                  <a:pt x="1080527" y="550"/>
                </a:lnTo>
                <a:lnTo>
                  <a:pt x="1115568" y="0"/>
                </a:lnTo>
                <a:lnTo>
                  <a:pt x="1115568" y="1115568"/>
                </a:lnTo>
                <a:close/>
              </a:path>
            </a:pathLst>
          </a:custGeom>
          <a:solidFill>
            <a:srgbClr val="F8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圆形"/>
          <p:cNvSpPr/>
          <p:nvPr/>
        </p:nvSpPr>
        <p:spPr>
          <a:xfrm>
            <a:off x="1038758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圆形"/>
          <p:cNvSpPr/>
          <p:nvPr/>
        </p:nvSpPr>
        <p:spPr>
          <a:xfrm>
            <a:off x="1038758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圆形"/>
          <p:cNvSpPr/>
          <p:nvPr/>
        </p:nvSpPr>
        <p:spPr>
          <a:xfrm>
            <a:off x="1038758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圆形"/>
          <p:cNvSpPr/>
          <p:nvPr/>
        </p:nvSpPr>
        <p:spPr>
          <a:xfrm>
            <a:off x="1055217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圆形"/>
          <p:cNvSpPr/>
          <p:nvPr/>
        </p:nvSpPr>
        <p:spPr>
          <a:xfrm>
            <a:off x="1055217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圆形"/>
          <p:cNvSpPr/>
          <p:nvPr/>
        </p:nvSpPr>
        <p:spPr>
          <a:xfrm>
            <a:off x="1055217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圆形"/>
          <p:cNvSpPr/>
          <p:nvPr/>
        </p:nvSpPr>
        <p:spPr>
          <a:xfrm>
            <a:off x="10716767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圆形"/>
          <p:cNvSpPr/>
          <p:nvPr/>
        </p:nvSpPr>
        <p:spPr>
          <a:xfrm>
            <a:off x="10716767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圆形"/>
          <p:cNvSpPr/>
          <p:nvPr/>
        </p:nvSpPr>
        <p:spPr>
          <a:xfrm>
            <a:off x="10716767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圆形"/>
          <p:cNvSpPr/>
          <p:nvPr/>
        </p:nvSpPr>
        <p:spPr>
          <a:xfrm>
            <a:off x="10881359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圆形"/>
          <p:cNvSpPr/>
          <p:nvPr/>
        </p:nvSpPr>
        <p:spPr>
          <a:xfrm>
            <a:off x="10881359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圆形"/>
          <p:cNvSpPr/>
          <p:nvPr/>
        </p:nvSpPr>
        <p:spPr>
          <a:xfrm>
            <a:off x="10881359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圆形"/>
          <p:cNvSpPr/>
          <p:nvPr/>
        </p:nvSpPr>
        <p:spPr>
          <a:xfrm>
            <a:off x="11045952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圆形"/>
          <p:cNvSpPr/>
          <p:nvPr/>
        </p:nvSpPr>
        <p:spPr>
          <a:xfrm>
            <a:off x="11045952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圆形"/>
          <p:cNvSpPr/>
          <p:nvPr/>
        </p:nvSpPr>
        <p:spPr>
          <a:xfrm>
            <a:off x="11045952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圆形"/>
          <p:cNvSpPr/>
          <p:nvPr/>
        </p:nvSpPr>
        <p:spPr>
          <a:xfrm>
            <a:off x="1121054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圆形"/>
          <p:cNvSpPr/>
          <p:nvPr/>
        </p:nvSpPr>
        <p:spPr>
          <a:xfrm>
            <a:off x="1121054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圆形"/>
          <p:cNvSpPr/>
          <p:nvPr/>
        </p:nvSpPr>
        <p:spPr>
          <a:xfrm>
            <a:off x="1121054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圆形"/>
          <p:cNvSpPr/>
          <p:nvPr/>
        </p:nvSpPr>
        <p:spPr>
          <a:xfrm>
            <a:off x="1137513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圆形"/>
          <p:cNvSpPr/>
          <p:nvPr/>
        </p:nvSpPr>
        <p:spPr>
          <a:xfrm>
            <a:off x="1137513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圆形"/>
          <p:cNvSpPr/>
          <p:nvPr/>
        </p:nvSpPr>
        <p:spPr>
          <a:xfrm>
            <a:off x="1137513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圆形"/>
          <p:cNvSpPr/>
          <p:nvPr/>
        </p:nvSpPr>
        <p:spPr>
          <a:xfrm>
            <a:off x="11539728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圆形"/>
          <p:cNvSpPr/>
          <p:nvPr/>
        </p:nvSpPr>
        <p:spPr>
          <a:xfrm>
            <a:off x="11539728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圆形"/>
          <p:cNvSpPr/>
          <p:nvPr/>
        </p:nvSpPr>
        <p:spPr>
          <a:xfrm>
            <a:off x="11539728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标题蓝色竖线"/>
          <p:cNvSpPr/>
          <p:nvPr/>
        </p:nvSpPr>
        <p:spPr>
          <a:xfrm>
            <a:off x="274320" y="356616"/>
            <a:ext cx="109728" cy="585216"/>
          </a:xfrm>
          <a:prstGeom prst="roundRect">
            <a:avLst>
              <a:gd name="adj" fmla="val 41666"/>
            </a:avLst>
          </a:prstGeom>
          <a:gradFill>
            <a:gsLst>
              <a:gs pos="0">
                <a:srgbClr val="3A92D5"/>
              </a:gs>
              <a:gs pos="100000">
                <a:srgbClr val="146FB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标题"/>
          <p:cNvSpPr txBox="1"/>
          <p:nvPr/>
        </p:nvSpPr>
        <p:spPr>
          <a:xfrm>
            <a:off x="621792" y="301752"/>
            <a:ext cx="9390888" cy="64922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3600">
                <a:latin typeface="微软雅黑" panose="020B0503020204020204" charset="-122"/>
              </a:defRPr>
            </a:pPr>
            <a:r>
              <a:rPr sz="35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LIN主控制单元：谁在安排通信？</a:t>
            </a:r>
            <a:endParaRPr sz="35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标题分隔线"/>
          <p:cNvSpPr/>
          <p:nvPr/>
        </p:nvSpPr>
        <p:spPr>
          <a:xfrm>
            <a:off x="621792" y="1051560"/>
            <a:ext cx="11109960" cy="18288"/>
          </a:xfrm>
          <a:prstGeom prst="rect">
            <a:avLst/>
          </a:prstGeom>
          <a:gradFill>
            <a:gsLst>
              <a:gs pos="0">
                <a:srgbClr val="3A92D5"/>
              </a:gs>
              <a:gs pos="100000">
                <a:srgbClr val="E3EFF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tongji_wordm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4" y="256032"/>
            <a:ext cx="1554480" cy="385298"/>
          </a:xfrm>
          <a:prstGeom prst="rect">
            <a:avLst/>
          </a:prstGeom>
          <a:effectLst/>
        </p:spPr>
      </p:pic>
      <p:sp>
        <p:nvSpPr>
          <p:cNvPr id="33" name="导入句"/>
          <p:cNvSpPr txBox="1"/>
          <p:nvPr/>
        </p:nvSpPr>
        <p:spPr>
          <a:xfrm>
            <a:off x="621792" y="1271016"/>
            <a:ext cx="10972800" cy="57607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000">
                <a:latin typeface="微软雅黑" panose="020B0503020204020204" charset="-122"/>
              </a:defRPr>
            </a:pPr>
            <a:r>
              <a:rPr sz="20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主节点管理通信节奏；在CAN–LIN架构中，还承担消息转换与诊断组织。</a:t>
            </a:r>
            <a:endParaRPr sz="20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按调度表安排：何时传、传什么卡片"/>
          <p:cNvSpPr/>
          <p:nvPr/>
        </p:nvSpPr>
        <p:spPr>
          <a:xfrm>
            <a:off x="621792" y="1975104"/>
            <a:ext cx="6867144" cy="3520440"/>
          </a:xfrm>
          <a:prstGeom prst="roundRect">
            <a:avLst>
              <a:gd name="adj" fmla="val 4155"/>
            </a:avLst>
          </a:prstGeom>
          <a:solidFill>
            <a:srgbClr val="F6FAFE"/>
          </a:solidFill>
          <a:ln w="10160">
            <a:solidFill>
              <a:srgbClr val="B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卡片标题条"/>
          <p:cNvSpPr/>
          <p:nvPr/>
        </p:nvSpPr>
        <p:spPr>
          <a:xfrm>
            <a:off x="621792" y="1975104"/>
            <a:ext cx="6867144" cy="585216"/>
          </a:xfrm>
          <a:prstGeom prst="roundRect">
            <a:avLst>
              <a:gd name="adj" fmla="val 20312"/>
            </a:avLst>
          </a:prstGeom>
          <a:gradFill>
            <a:gsLst>
              <a:gs pos="0">
                <a:srgbClr val="EDF5FD"/>
              </a:gs>
              <a:gs pos="100000">
                <a:srgbClr val="F7FBF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文字"/>
          <p:cNvSpPr txBox="1"/>
          <p:nvPr/>
        </p:nvSpPr>
        <p:spPr>
          <a:xfrm>
            <a:off x="804672" y="2093976"/>
            <a:ext cx="6528816" cy="33832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200">
                <a:latin typeface="微软雅黑" panose="020B0503020204020204" charset="-122"/>
              </a:defRPr>
            </a:pPr>
            <a:r>
              <a:rPr sz="22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按调度表安排：何时传、传什么</a:t>
            </a:r>
            <a:endParaRPr sz="22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字"/>
          <p:cNvSpPr txBox="1"/>
          <p:nvPr/>
        </p:nvSpPr>
        <p:spPr>
          <a:xfrm>
            <a:off x="868680" y="2761488"/>
            <a:ext cx="6373368" cy="34747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900">
                <a:latin typeface="微软雅黑" panose="020B0503020204020204" charset="-122"/>
              </a:defRPr>
            </a:pPr>
            <a:r>
              <a:rPr sz="20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调度表</a:t>
            </a:r>
            <a:endParaRPr sz="20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矩形"/>
          <p:cNvSpPr/>
          <p:nvPr/>
        </p:nvSpPr>
        <p:spPr>
          <a:xfrm>
            <a:off x="896112" y="3346704"/>
            <a:ext cx="1874519" cy="1014984"/>
          </a:xfrm>
          <a:prstGeom prst="roundRect">
            <a:avLst>
              <a:gd name="adj" fmla="val 7207"/>
            </a:avLst>
          </a:prstGeom>
          <a:solidFill>
            <a:srgbClr val="EDF5FD"/>
          </a:solidFill>
          <a:ln w="127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文字"/>
          <p:cNvSpPr txBox="1"/>
          <p:nvPr/>
        </p:nvSpPr>
        <p:spPr>
          <a:xfrm>
            <a:off x="1014983" y="3474720"/>
            <a:ext cx="1636776" cy="2997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000">
                <a:latin typeface="微软雅黑" panose="020B0503020204020204" charset="-122"/>
              </a:defRPr>
            </a:pPr>
            <a:r>
              <a:rPr sz="20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时隙1</a:t>
            </a:r>
            <a:endParaRPr sz="20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字"/>
          <p:cNvSpPr txBox="1"/>
          <p:nvPr/>
        </p:nvSpPr>
        <p:spPr>
          <a:xfrm>
            <a:off x="1005840" y="3886200"/>
            <a:ext cx="1655064" cy="28600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800">
                <a:latin typeface="微软雅黑" panose="020B0503020204020204" charset="-122"/>
              </a:defRPr>
            </a:pPr>
            <a:r>
              <a:rPr sz="19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读取温度</a:t>
            </a:r>
            <a:endParaRPr sz="19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3" name="连线"/>
          <p:cNvCxnSpPr/>
          <p:nvPr/>
        </p:nvCxnSpPr>
        <p:spPr>
          <a:xfrm>
            <a:off x="2788920" y="3840480"/>
            <a:ext cx="146304" cy="0"/>
          </a:xfrm>
          <a:prstGeom prst="line">
            <a:avLst/>
          </a:prstGeom>
          <a:ln w="20320" cap="rnd">
            <a:solidFill>
              <a:srgbClr val="146FB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"/>
          <p:cNvSpPr/>
          <p:nvPr/>
        </p:nvSpPr>
        <p:spPr>
          <a:xfrm>
            <a:off x="2971800" y="3346704"/>
            <a:ext cx="1874519" cy="1014984"/>
          </a:xfrm>
          <a:prstGeom prst="roundRect">
            <a:avLst>
              <a:gd name="adj" fmla="val 7207"/>
            </a:avLst>
          </a:prstGeom>
          <a:solidFill>
            <a:srgbClr val="EDF5FD"/>
          </a:solidFill>
          <a:ln w="127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文字"/>
          <p:cNvSpPr txBox="1"/>
          <p:nvPr/>
        </p:nvSpPr>
        <p:spPr>
          <a:xfrm>
            <a:off x="3090672" y="3474720"/>
            <a:ext cx="1636776" cy="2997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000">
                <a:latin typeface="微软雅黑" panose="020B0503020204020204" charset="-122"/>
              </a:defRPr>
            </a:pPr>
            <a:r>
              <a:rPr sz="20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时隙2</a:t>
            </a:r>
            <a:endParaRPr sz="20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文字"/>
          <p:cNvSpPr txBox="1"/>
          <p:nvPr/>
        </p:nvSpPr>
        <p:spPr>
          <a:xfrm>
            <a:off x="3081528" y="3886200"/>
            <a:ext cx="1655064" cy="28600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800">
                <a:latin typeface="微软雅黑" panose="020B0503020204020204" charset="-122"/>
              </a:defRPr>
            </a:pPr>
            <a:r>
              <a:rPr sz="19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更新风门</a:t>
            </a:r>
            <a:endParaRPr sz="19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7" name="连线"/>
          <p:cNvCxnSpPr/>
          <p:nvPr/>
        </p:nvCxnSpPr>
        <p:spPr>
          <a:xfrm>
            <a:off x="4864608" y="3840480"/>
            <a:ext cx="146304" cy="0"/>
          </a:xfrm>
          <a:prstGeom prst="line">
            <a:avLst/>
          </a:prstGeom>
          <a:ln w="20320" cap="rnd">
            <a:solidFill>
              <a:srgbClr val="146FB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"/>
          <p:cNvSpPr/>
          <p:nvPr/>
        </p:nvSpPr>
        <p:spPr>
          <a:xfrm>
            <a:off x="5047488" y="3346704"/>
            <a:ext cx="1874519" cy="1014984"/>
          </a:xfrm>
          <a:prstGeom prst="roundRect">
            <a:avLst>
              <a:gd name="adj" fmla="val 7207"/>
            </a:avLst>
          </a:prstGeom>
          <a:solidFill>
            <a:srgbClr val="EDF5FD"/>
          </a:solidFill>
          <a:ln w="127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文字"/>
          <p:cNvSpPr txBox="1"/>
          <p:nvPr/>
        </p:nvSpPr>
        <p:spPr>
          <a:xfrm>
            <a:off x="5166359" y="3474720"/>
            <a:ext cx="1636776" cy="2997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000">
                <a:latin typeface="微软雅黑" panose="020B0503020204020204" charset="-122"/>
              </a:defRPr>
            </a:pPr>
            <a:r>
              <a:rPr sz="20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时隙3</a:t>
            </a:r>
            <a:endParaRPr sz="20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字"/>
          <p:cNvSpPr txBox="1"/>
          <p:nvPr/>
        </p:nvSpPr>
        <p:spPr>
          <a:xfrm>
            <a:off x="5157216" y="3886200"/>
            <a:ext cx="1655064" cy="28600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800">
                <a:latin typeface="微软雅黑" panose="020B0503020204020204" charset="-122"/>
              </a:defRPr>
            </a:pPr>
            <a:r>
              <a:rPr sz="19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读取状态</a:t>
            </a:r>
            <a:endParaRPr sz="19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字"/>
          <p:cNvSpPr txBox="1"/>
          <p:nvPr/>
        </p:nvSpPr>
        <p:spPr>
          <a:xfrm>
            <a:off x="895985" y="4754880"/>
            <a:ext cx="6438265" cy="49403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750">
                <a:latin typeface="微软雅黑" panose="020B0503020204020204" charset="-122"/>
              </a:defRPr>
            </a:pPr>
            <a:r>
              <a:rPr sz="19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主节点发报文头 → 约定节点提供响应 → 进入下一通信时隙</a:t>
            </a:r>
            <a:endParaRPr sz="19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主控单元的四项工作卡片"/>
          <p:cNvSpPr/>
          <p:nvPr/>
        </p:nvSpPr>
        <p:spPr>
          <a:xfrm>
            <a:off x="7671816" y="1975104"/>
            <a:ext cx="3895344" cy="3520440"/>
          </a:xfrm>
          <a:prstGeom prst="roundRect">
            <a:avLst>
              <a:gd name="adj" fmla="val 4155"/>
            </a:avLst>
          </a:prstGeom>
          <a:solidFill>
            <a:srgbClr val="F6FAFE"/>
          </a:solidFill>
          <a:ln w="10160">
            <a:solidFill>
              <a:srgbClr val="B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卡片标题条"/>
          <p:cNvSpPr/>
          <p:nvPr/>
        </p:nvSpPr>
        <p:spPr>
          <a:xfrm>
            <a:off x="7671816" y="1975104"/>
            <a:ext cx="3895344" cy="585216"/>
          </a:xfrm>
          <a:prstGeom prst="roundRect">
            <a:avLst>
              <a:gd name="adj" fmla="val 20312"/>
            </a:avLst>
          </a:prstGeom>
          <a:gradFill>
            <a:gsLst>
              <a:gs pos="0">
                <a:srgbClr val="EDF5FD"/>
              </a:gs>
              <a:gs pos="100000">
                <a:srgbClr val="F7FBF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文字"/>
          <p:cNvSpPr txBox="1"/>
          <p:nvPr/>
        </p:nvSpPr>
        <p:spPr>
          <a:xfrm>
            <a:off x="7854696" y="2093976"/>
            <a:ext cx="3557016" cy="33832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200">
                <a:latin typeface="微软雅黑" panose="020B0503020204020204" charset="-122"/>
              </a:defRPr>
            </a:pPr>
            <a:r>
              <a:rPr sz="22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主控单元的四项工作</a:t>
            </a:r>
            <a:endParaRPr sz="22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矩形"/>
          <p:cNvSpPr/>
          <p:nvPr/>
        </p:nvSpPr>
        <p:spPr>
          <a:xfrm>
            <a:off x="7918704" y="2779776"/>
            <a:ext cx="722376" cy="310896"/>
          </a:xfrm>
          <a:prstGeom prst="roundRect">
            <a:avLst>
              <a:gd name="adj" fmla="val 47058"/>
            </a:avLst>
          </a:prstGeom>
          <a:solidFill>
            <a:srgbClr val="EDF5FD"/>
          </a:solidFill>
          <a:ln w="7620">
            <a:solidFill>
              <a:srgbClr val="B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文字"/>
          <p:cNvSpPr txBox="1"/>
          <p:nvPr/>
        </p:nvSpPr>
        <p:spPr>
          <a:xfrm>
            <a:off x="7973568" y="2798064"/>
            <a:ext cx="612648" cy="2743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600">
                <a:latin typeface="微软雅黑" panose="020B0503020204020204" charset="-122"/>
              </a:defRPr>
            </a:pPr>
            <a:r>
              <a:rPr sz="17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监控</a:t>
            </a:r>
            <a:endParaRPr sz="17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文字"/>
          <p:cNvSpPr txBox="1"/>
          <p:nvPr/>
        </p:nvSpPr>
        <p:spPr>
          <a:xfrm>
            <a:off x="8823960" y="2820924"/>
            <a:ext cx="2441448" cy="25603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600">
                <a:latin typeface="微软雅黑" panose="020B0503020204020204" charset="-122"/>
              </a:defRPr>
            </a:pPr>
            <a:r>
              <a:rPr sz="17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检查通信过程与状态</a:t>
            </a:r>
            <a:endParaRPr sz="17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矩形"/>
          <p:cNvSpPr/>
          <p:nvPr/>
        </p:nvSpPr>
        <p:spPr>
          <a:xfrm>
            <a:off x="7918704" y="3364992"/>
            <a:ext cx="722376" cy="310896"/>
          </a:xfrm>
          <a:prstGeom prst="roundRect">
            <a:avLst>
              <a:gd name="adj" fmla="val 47058"/>
            </a:avLst>
          </a:prstGeom>
          <a:solidFill>
            <a:srgbClr val="EDF5FD"/>
          </a:solidFill>
          <a:ln w="7620">
            <a:solidFill>
              <a:srgbClr val="B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文字"/>
          <p:cNvSpPr txBox="1"/>
          <p:nvPr/>
        </p:nvSpPr>
        <p:spPr>
          <a:xfrm>
            <a:off x="7973568" y="3383280"/>
            <a:ext cx="612648" cy="2743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600">
                <a:latin typeface="微软雅黑" panose="020B0503020204020204" charset="-122"/>
              </a:defRPr>
            </a:pPr>
            <a:r>
              <a:rPr sz="17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调度</a:t>
            </a:r>
            <a:endParaRPr sz="17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文字"/>
          <p:cNvSpPr txBox="1"/>
          <p:nvPr/>
        </p:nvSpPr>
        <p:spPr>
          <a:xfrm>
            <a:off x="8823960" y="3406140"/>
            <a:ext cx="2441448" cy="25603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600">
                <a:latin typeface="微软雅黑" panose="020B0503020204020204" charset="-122"/>
              </a:defRPr>
            </a:pPr>
            <a:r>
              <a:rPr sz="17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安排消息与发送周期</a:t>
            </a:r>
            <a:endParaRPr sz="17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矩形"/>
          <p:cNvSpPr/>
          <p:nvPr/>
        </p:nvSpPr>
        <p:spPr>
          <a:xfrm>
            <a:off x="7918704" y="3950208"/>
            <a:ext cx="722376" cy="310896"/>
          </a:xfrm>
          <a:prstGeom prst="roundRect">
            <a:avLst>
              <a:gd name="adj" fmla="val 47058"/>
            </a:avLst>
          </a:prstGeom>
          <a:solidFill>
            <a:srgbClr val="EDF5FD"/>
          </a:solidFill>
          <a:ln w="7620">
            <a:solidFill>
              <a:srgbClr val="B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文字"/>
          <p:cNvSpPr txBox="1"/>
          <p:nvPr/>
        </p:nvSpPr>
        <p:spPr>
          <a:xfrm>
            <a:off x="7973568" y="3968496"/>
            <a:ext cx="612648" cy="2743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600">
                <a:latin typeface="微软雅黑" panose="020B0503020204020204" charset="-122"/>
              </a:defRPr>
            </a:pPr>
            <a:r>
              <a:rPr sz="17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转换</a:t>
            </a:r>
            <a:endParaRPr sz="17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文字"/>
          <p:cNvSpPr txBox="1"/>
          <p:nvPr/>
        </p:nvSpPr>
        <p:spPr>
          <a:xfrm>
            <a:off x="8823960" y="3991356"/>
            <a:ext cx="2587752" cy="32004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实现 CAN–LIN 信息交换</a:t>
            </a:r>
            <a:endParaRPr sz="160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矩形"/>
          <p:cNvSpPr/>
          <p:nvPr/>
        </p:nvSpPr>
        <p:spPr>
          <a:xfrm>
            <a:off x="7918704" y="4535424"/>
            <a:ext cx="722376" cy="310896"/>
          </a:xfrm>
          <a:prstGeom prst="roundRect">
            <a:avLst>
              <a:gd name="adj" fmla="val 47058"/>
            </a:avLst>
          </a:prstGeom>
          <a:solidFill>
            <a:srgbClr val="EDF5FD"/>
          </a:solidFill>
          <a:ln w="7620">
            <a:solidFill>
              <a:srgbClr val="B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文字"/>
          <p:cNvSpPr txBox="1"/>
          <p:nvPr/>
        </p:nvSpPr>
        <p:spPr>
          <a:xfrm>
            <a:off x="7973568" y="4553712"/>
            <a:ext cx="612648" cy="2743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600">
                <a:latin typeface="微软雅黑" panose="020B0503020204020204" charset="-122"/>
              </a:defRPr>
            </a:pPr>
            <a:r>
              <a:rPr sz="17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诊断</a:t>
            </a:r>
            <a:endParaRPr sz="17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文字"/>
          <p:cNvSpPr txBox="1"/>
          <p:nvPr/>
        </p:nvSpPr>
        <p:spPr>
          <a:xfrm>
            <a:off x="8823960" y="4576572"/>
            <a:ext cx="2441448" cy="25603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600">
                <a:latin typeface="微软雅黑" panose="020B0503020204020204" charset="-122"/>
              </a:defRPr>
            </a:pPr>
            <a:r>
              <a:rPr sz="17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组织所连接从节点的诊断</a:t>
            </a:r>
            <a:endParaRPr sz="17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本页总结背景"/>
          <p:cNvSpPr/>
          <p:nvPr/>
        </p:nvSpPr>
        <p:spPr>
          <a:xfrm>
            <a:off x="585216" y="5852160"/>
            <a:ext cx="11064240" cy="603504"/>
          </a:xfrm>
          <a:prstGeom prst="roundRect">
            <a:avLst>
              <a:gd name="adj" fmla="val 22727"/>
            </a:avLst>
          </a:prstGeom>
          <a:gradFill>
            <a:gsLst>
              <a:gs pos="0">
                <a:srgbClr val="F0F7FE"/>
              </a:gs>
              <a:gs pos="100000">
                <a:srgbClr val="E9F3F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可编辑曲线"/>
          <p:cNvSpPr/>
          <p:nvPr/>
        </p:nvSpPr>
        <p:spPr>
          <a:xfrm>
            <a:off x="907999" y="5990783"/>
            <a:ext cx="310621" cy="133685"/>
          </a:xfrm>
          <a:custGeom>
            <a:avLst/>
            <a:gdLst/>
            <a:ahLst/>
            <a:cxnLst/>
            <a:rect l="l" t="t" r="r" b="b"/>
            <a:pathLst>
              <a:path w="310621" h="133685">
                <a:moveTo>
                  <a:pt x="0" y="133685"/>
                </a:moveTo>
                <a:lnTo>
                  <a:pt x="51115" y="0"/>
                </a:lnTo>
                <a:lnTo>
                  <a:pt x="251643" y="0"/>
                </a:lnTo>
                <a:lnTo>
                  <a:pt x="310621" y="133685"/>
                </a:lnTo>
              </a:path>
            </a:pathLst>
          </a:custGeom>
          <a:noFill/>
          <a:ln w="254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矩形"/>
          <p:cNvSpPr/>
          <p:nvPr/>
        </p:nvSpPr>
        <p:spPr>
          <a:xfrm>
            <a:off x="896203" y="6112672"/>
            <a:ext cx="338145" cy="165140"/>
          </a:xfrm>
          <a:prstGeom prst="roundRect">
            <a:avLst>
              <a:gd name="adj" fmla="val 19047"/>
            </a:avLst>
          </a:prstGeom>
          <a:noFill/>
          <a:ln w="254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连线"/>
          <p:cNvCxnSpPr/>
          <p:nvPr/>
        </p:nvCxnSpPr>
        <p:spPr>
          <a:xfrm>
            <a:off x="915863" y="6120536"/>
            <a:ext cx="302757" cy="0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圆形"/>
          <p:cNvSpPr/>
          <p:nvPr/>
        </p:nvSpPr>
        <p:spPr>
          <a:xfrm>
            <a:off x="935522" y="6171651"/>
            <a:ext cx="51114" cy="5111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圆形"/>
          <p:cNvSpPr/>
          <p:nvPr/>
        </p:nvSpPr>
        <p:spPr>
          <a:xfrm>
            <a:off x="1136050" y="6171651"/>
            <a:ext cx="51114" cy="5111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连线"/>
          <p:cNvCxnSpPr/>
          <p:nvPr/>
        </p:nvCxnSpPr>
        <p:spPr>
          <a:xfrm>
            <a:off x="943386" y="6273881"/>
            <a:ext cx="0" cy="51115"/>
          </a:xfrm>
          <a:prstGeom prst="line">
            <a:avLst/>
          </a:prstGeom>
          <a:ln w="381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连线"/>
          <p:cNvCxnSpPr/>
          <p:nvPr/>
        </p:nvCxnSpPr>
        <p:spPr>
          <a:xfrm>
            <a:off x="1183233" y="6273881"/>
            <a:ext cx="0" cy="51115"/>
          </a:xfrm>
          <a:prstGeom prst="line">
            <a:avLst/>
          </a:prstGeom>
          <a:ln w="381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连线"/>
          <p:cNvCxnSpPr/>
          <p:nvPr/>
        </p:nvCxnSpPr>
        <p:spPr>
          <a:xfrm>
            <a:off x="1435608" y="5943600"/>
            <a:ext cx="0" cy="420624"/>
          </a:xfrm>
          <a:prstGeom prst="line">
            <a:avLst/>
          </a:prstGeom>
          <a:ln w="15875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本页总结"/>
          <p:cNvSpPr txBox="1"/>
          <p:nvPr/>
        </p:nvSpPr>
        <p:spPr>
          <a:xfrm>
            <a:off x="1655064" y="5943600"/>
            <a:ext cx="9692640" cy="45720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000">
                <a:latin typeface="微软雅黑" panose="020B0503020204020204" charset="-122"/>
              </a:defRPr>
            </a:pPr>
            <a:r>
              <a:rPr sz="20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通俗理解：</a:t>
            </a:r>
            <a:r>
              <a:rPr sz="20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主节点负责“排节目单”，不等于每一段数据都必须由它来说。</a:t>
            </a:r>
            <a:endParaRPr sz="20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白色背景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右下角淡蓝装饰"/>
          <p:cNvSpPr/>
          <p:nvPr/>
        </p:nvSpPr>
        <p:spPr>
          <a:xfrm>
            <a:off x="10774679" y="5440680"/>
            <a:ext cx="1417320" cy="1417320"/>
          </a:xfrm>
          <a:custGeom>
            <a:avLst/>
            <a:gdLst/>
            <a:ahLst/>
            <a:cxnLst/>
            <a:rect l="l" t="t" r="r" b="b"/>
            <a:pathLst>
              <a:path w="1417320" h="1417320">
                <a:moveTo>
                  <a:pt x="1417320" y="1417320"/>
                </a:moveTo>
                <a:lnTo>
                  <a:pt x="0" y="1417320"/>
                </a:lnTo>
                <a:lnTo>
                  <a:pt x="700" y="1372800"/>
                </a:lnTo>
                <a:lnTo>
                  <a:pt x="2797" y="1328325"/>
                </a:lnTo>
                <a:lnTo>
                  <a:pt x="6290" y="1283938"/>
                </a:lnTo>
                <a:lnTo>
                  <a:pt x="11176" y="1239682"/>
                </a:lnTo>
                <a:lnTo>
                  <a:pt x="17450" y="1195602"/>
                </a:lnTo>
                <a:lnTo>
                  <a:pt x="25105" y="1151740"/>
                </a:lnTo>
                <a:lnTo>
                  <a:pt x="34134" y="1108141"/>
                </a:lnTo>
                <a:lnTo>
                  <a:pt x="44528" y="1064846"/>
                </a:lnTo>
                <a:lnTo>
                  <a:pt x="56277" y="1021900"/>
                </a:lnTo>
                <a:lnTo>
                  <a:pt x="69369" y="979344"/>
                </a:lnTo>
                <a:lnTo>
                  <a:pt x="83791" y="937219"/>
                </a:lnTo>
                <a:lnTo>
                  <a:pt x="99529" y="895569"/>
                </a:lnTo>
                <a:lnTo>
                  <a:pt x="116568" y="854434"/>
                </a:lnTo>
                <a:lnTo>
                  <a:pt x="134891" y="813854"/>
                </a:lnTo>
                <a:lnTo>
                  <a:pt x="154479" y="773870"/>
                </a:lnTo>
                <a:lnTo>
                  <a:pt x="175313" y="734520"/>
                </a:lnTo>
                <a:lnTo>
                  <a:pt x="197373" y="695845"/>
                </a:lnTo>
                <a:lnTo>
                  <a:pt x="220637" y="657881"/>
                </a:lnTo>
                <a:lnTo>
                  <a:pt x="245082" y="620667"/>
                </a:lnTo>
                <a:lnTo>
                  <a:pt x="270684" y="584240"/>
                </a:lnTo>
                <a:lnTo>
                  <a:pt x="297418" y="548634"/>
                </a:lnTo>
                <a:lnTo>
                  <a:pt x="325256" y="513886"/>
                </a:lnTo>
                <a:lnTo>
                  <a:pt x="354173" y="480029"/>
                </a:lnTo>
                <a:lnTo>
                  <a:pt x="384138" y="447097"/>
                </a:lnTo>
                <a:lnTo>
                  <a:pt x="415124" y="415123"/>
                </a:lnTo>
                <a:lnTo>
                  <a:pt x="447098" y="384138"/>
                </a:lnTo>
                <a:lnTo>
                  <a:pt x="480030" y="354172"/>
                </a:lnTo>
                <a:lnTo>
                  <a:pt x="513886" y="325256"/>
                </a:lnTo>
                <a:lnTo>
                  <a:pt x="548635" y="297417"/>
                </a:lnTo>
                <a:lnTo>
                  <a:pt x="584240" y="270684"/>
                </a:lnTo>
                <a:lnTo>
                  <a:pt x="620668" y="245082"/>
                </a:lnTo>
                <a:lnTo>
                  <a:pt x="657882" y="220637"/>
                </a:lnTo>
                <a:lnTo>
                  <a:pt x="695846" y="197373"/>
                </a:lnTo>
                <a:lnTo>
                  <a:pt x="734521" y="175313"/>
                </a:lnTo>
                <a:lnTo>
                  <a:pt x="773870" y="154478"/>
                </a:lnTo>
                <a:lnTo>
                  <a:pt x="813855" y="134890"/>
                </a:lnTo>
                <a:lnTo>
                  <a:pt x="854435" y="116568"/>
                </a:lnTo>
                <a:lnTo>
                  <a:pt x="895570" y="99529"/>
                </a:lnTo>
                <a:lnTo>
                  <a:pt x="937220" y="83790"/>
                </a:lnTo>
                <a:lnTo>
                  <a:pt x="979344" y="69368"/>
                </a:lnTo>
                <a:lnTo>
                  <a:pt x="1021901" y="56276"/>
                </a:lnTo>
                <a:lnTo>
                  <a:pt x="1064847" y="44527"/>
                </a:lnTo>
                <a:lnTo>
                  <a:pt x="1108141" y="34133"/>
                </a:lnTo>
                <a:lnTo>
                  <a:pt x="1151741" y="25104"/>
                </a:lnTo>
                <a:lnTo>
                  <a:pt x="1195602" y="17449"/>
                </a:lnTo>
                <a:lnTo>
                  <a:pt x="1239683" y="11175"/>
                </a:lnTo>
                <a:lnTo>
                  <a:pt x="1283939" y="6290"/>
                </a:lnTo>
                <a:lnTo>
                  <a:pt x="1328326" y="2796"/>
                </a:lnTo>
                <a:lnTo>
                  <a:pt x="1372801" y="699"/>
                </a:lnTo>
                <a:lnTo>
                  <a:pt x="1417320" y="0"/>
                </a:lnTo>
                <a:lnTo>
                  <a:pt x="1417320" y="1417320"/>
                </a:lnTo>
                <a:close/>
              </a:path>
            </a:pathLst>
          </a:custGeom>
          <a:solidFill>
            <a:srgbClr val="F4F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右下角淡蓝装饰"/>
          <p:cNvSpPr/>
          <p:nvPr/>
        </p:nvSpPr>
        <p:spPr>
          <a:xfrm>
            <a:off x="11076431" y="5742432"/>
            <a:ext cx="1115568" cy="1115568"/>
          </a:xfrm>
          <a:custGeom>
            <a:avLst/>
            <a:gdLst/>
            <a:ahLst/>
            <a:cxnLst/>
            <a:rect l="l" t="t" r="r" b="b"/>
            <a:pathLst>
              <a:path w="1115568" h="1115568">
                <a:moveTo>
                  <a:pt x="1115568" y="1115568"/>
                </a:moveTo>
                <a:lnTo>
                  <a:pt x="0" y="1115568"/>
                </a:lnTo>
                <a:lnTo>
                  <a:pt x="551" y="1080527"/>
                </a:lnTo>
                <a:lnTo>
                  <a:pt x="2202" y="1045520"/>
                </a:lnTo>
                <a:lnTo>
                  <a:pt x="4951" y="1010583"/>
                </a:lnTo>
                <a:lnTo>
                  <a:pt x="8797" y="975750"/>
                </a:lnTo>
                <a:lnTo>
                  <a:pt x="13735" y="941054"/>
                </a:lnTo>
                <a:lnTo>
                  <a:pt x="19760" y="906531"/>
                </a:lnTo>
                <a:lnTo>
                  <a:pt x="26867" y="872214"/>
                </a:lnTo>
                <a:lnTo>
                  <a:pt x="35048" y="838137"/>
                </a:lnTo>
                <a:lnTo>
                  <a:pt x="44295" y="804334"/>
                </a:lnTo>
                <a:lnTo>
                  <a:pt x="54600" y="770838"/>
                </a:lnTo>
                <a:lnTo>
                  <a:pt x="65952" y="737682"/>
                </a:lnTo>
                <a:lnTo>
                  <a:pt x="78339" y="704900"/>
                </a:lnTo>
                <a:lnTo>
                  <a:pt x="91751" y="672522"/>
                </a:lnTo>
                <a:lnTo>
                  <a:pt x="106172" y="640582"/>
                </a:lnTo>
                <a:lnTo>
                  <a:pt x="121590" y="609110"/>
                </a:lnTo>
                <a:lnTo>
                  <a:pt x="137989" y="578139"/>
                </a:lnTo>
                <a:lnTo>
                  <a:pt x="155352" y="547697"/>
                </a:lnTo>
                <a:lnTo>
                  <a:pt x="173663" y="517816"/>
                </a:lnTo>
                <a:lnTo>
                  <a:pt x="192904" y="488525"/>
                </a:lnTo>
                <a:lnTo>
                  <a:pt x="213055" y="459853"/>
                </a:lnTo>
                <a:lnTo>
                  <a:pt x="234097" y="431828"/>
                </a:lnTo>
                <a:lnTo>
                  <a:pt x="256008" y="404478"/>
                </a:lnTo>
                <a:lnTo>
                  <a:pt x="278768" y="377829"/>
                </a:lnTo>
                <a:lnTo>
                  <a:pt x="302354" y="351909"/>
                </a:lnTo>
                <a:lnTo>
                  <a:pt x="326742" y="326742"/>
                </a:lnTo>
                <a:lnTo>
                  <a:pt x="351909" y="302353"/>
                </a:lnTo>
                <a:lnTo>
                  <a:pt x="377830" y="278768"/>
                </a:lnTo>
                <a:lnTo>
                  <a:pt x="404478" y="256008"/>
                </a:lnTo>
                <a:lnTo>
                  <a:pt x="431829" y="234096"/>
                </a:lnTo>
                <a:lnTo>
                  <a:pt x="459854" y="213054"/>
                </a:lnTo>
                <a:lnTo>
                  <a:pt x="488526" y="192903"/>
                </a:lnTo>
                <a:lnTo>
                  <a:pt x="517817" y="173662"/>
                </a:lnTo>
                <a:lnTo>
                  <a:pt x="547698" y="155351"/>
                </a:lnTo>
                <a:lnTo>
                  <a:pt x="578139" y="137988"/>
                </a:lnTo>
                <a:lnTo>
                  <a:pt x="609111" y="121589"/>
                </a:lnTo>
                <a:lnTo>
                  <a:pt x="640582" y="106171"/>
                </a:lnTo>
                <a:lnTo>
                  <a:pt x="672523" y="91750"/>
                </a:lnTo>
                <a:lnTo>
                  <a:pt x="704900" y="78339"/>
                </a:lnTo>
                <a:lnTo>
                  <a:pt x="737683" y="65951"/>
                </a:lnTo>
                <a:lnTo>
                  <a:pt x="770839" y="54599"/>
                </a:lnTo>
                <a:lnTo>
                  <a:pt x="804335" y="44295"/>
                </a:lnTo>
                <a:lnTo>
                  <a:pt x="838138" y="35047"/>
                </a:lnTo>
                <a:lnTo>
                  <a:pt x="872215" y="26866"/>
                </a:lnTo>
                <a:lnTo>
                  <a:pt x="906532" y="19759"/>
                </a:lnTo>
                <a:lnTo>
                  <a:pt x="941055" y="13734"/>
                </a:lnTo>
                <a:lnTo>
                  <a:pt x="975750" y="8796"/>
                </a:lnTo>
                <a:lnTo>
                  <a:pt x="1010584" y="4950"/>
                </a:lnTo>
                <a:lnTo>
                  <a:pt x="1045521" y="2201"/>
                </a:lnTo>
                <a:lnTo>
                  <a:pt x="1080527" y="550"/>
                </a:lnTo>
                <a:lnTo>
                  <a:pt x="1115568" y="0"/>
                </a:lnTo>
                <a:lnTo>
                  <a:pt x="1115568" y="1115568"/>
                </a:lnTo>
                <a:close/>
              </a:path>
            </a:pathLst>
          </a:custGeom>
          <a:solidFill>
            <a:srgbClr val="F8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圆形"/>
          <p:cNvSpPr/>
          <p:nvPr/>
        </p:nvSpPr>
        <p:spPr>
          <a:xfrm>
            <a:off x="1038758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圆形"/>
          <p:cNvSpPr/>
          <p:nvPr/>
        </p:nvSpPr>
        <p:spPr>
          <a:xfrm>
            <a:off x="1038758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圆形"/>
          <p:cNvSpPr/>
          <p:nvPr/>
        </p:nvSpPr>
        <p:spPr>
          <a:xfrm>
            <a:off x="1038758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圆形"/>
          <p:cNvSpPr/>
          <p:nvPr/>
        </p:nvSpPr>
        <p:spPr>
          <a:xfrm>
            <a:off x="1055217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圆形"/>
          <p:cNvSpPr/>
          <p:nvPr/>
        </p:nvSpPr>
        <p:spPr>
          <a:xfrm>
            <a:off x="1055217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圆形"/>
          <p:cNvSpPr/>
          <p:nvPr/>
        </p:nvSpPr>
        <p:spPr>
          <a:xfrm>
            <a:off x="1055217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圆形"/>
          <p:cNvSpPr/>
          <p:nvPr/>
        </p:nvSpPr>
        <p:spPr>
          <a:xfrm>
            <a:off x="10716767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圆形"/>
          <p:cNvSpPr/>
          <p:nvPr/>
        </p:nvSpPr>
        <p:spPr>
          <a:xfrm>
            <a:off x="10716767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圆形"/>
          <p:cNvSpPr/>
          <p:nvPr/>
        </p:nvSpPr>
        <p:spPr>
          <a:xfrm>
            <a:off x="10716767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圆形"/>
          <p:cNvSpPr/>
          <p:nvPr/>
        </p:nvSpPr>
        <p:spPr>
          <a:xfrm>
            <a:off x="10881359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圆形"/>
          <p:cNvSpPr/>
          <p:nvPr/>
        </p:nvSpPr>
        <p:spPr>
          <a:xfrm>
            <a:off x="10881359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圆形"/>
          <p:cNvSpPr/>
          <p:nvPr/>
        </p:nvSpPr>
        <p:spPr>
          <a:xfrm>
            <a:off x="10881359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圆形"/>
          <p:cNvSpPr/>
          <p:nvPr/>
        </p:nvSpPr>
        <p:spPr>
          <a:xfrm>
            <a:off x="11045952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圆形"/>
          <p:cNvSpPr/>
          <p:nvPr/>
        </p:nvSpPr>
        <p:spPr>
          <a:xfrm>
            <a:off x="11045952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圆形"/>
          <p:cNvSpPr/>
          <p:nvPr/>
        </p:nvSpPr>
        <p:spPr>
          <a:xfrm>
            <a:off x="11045952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圆形"/>
          <p:cNvSpPr/>
          <p:nvPr/>
        </p:nvSpPr>
        <p:spPr>
          <a:xfrm>
            <a:off x="1121054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圆形"/>
          <p:cNvSpPr/>
          <p:nvPr/>
        </p:nvSpPr>
        <p:spPr>
          <a:xfrm>
            <a:off x="1121054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圆形"/>
          <p:cNvSpPr/>
          <p:nvPr/>
        </p:nvSpPr>
        <p:spPr>
          <a:xfrm>
            <a:off x="1121054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圆形"/>
          <p:cNvSpPr/>
          <p:nvPr/>
        </p:nvSpPr>
        <p:spPr>
          <a:xfrm>
            <a:off x="1137513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圆形"/>
          <p:cNvSpPr/>
          <p:nvPr/>
        </p:nvSpPr>
        <p:spPr>
          <a:xfrm>
            <a:off x="1137513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圆形"/>
          <p:cNvSpPr/>
          <p:nvPr/>
        </p:nvSpPr>
        <p:spPr>
          <a:xfrm>
            <a:off x="1137513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圆形"/>
          <p:cNvSpPr/>
          <p:nvPr/>
        </p:nvSpPr>
        <p:spPr>
          <a:xfrm>
            <a:off x="11539728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圆形"/>
          <p:cNvSpPr/>
          <p:nvPr/>
        </p:nvSpPr>
        <p:spPr>
          <a:xfrm>
            <a:off x="11539728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圆形"/>
          <p:cNvSpPr/>
          <p:nvPr/>
        </p:nvSpPr>
        <p:spPr>
          <a:xfrm>
            <a:off x="11539728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标题蓝色竖线"/>
          <p:cNvSpPr/>
          <p:nvPr/>
        </p:nvSpPr>
        <p:spPr>
          <a:xfrm>
            <a:off x="274320" y="356616"/>
            <a:ext cx="109728" cy="585216"/>
          </a:xfrm>
          <a:prstGeom prst="roundRect">
            <a:avLst>
              <a:gd name="adj" fmla="val 41666"/>
            </a:avLst>
          </a:prstGeom>
          <a:gradFill>
            <a:gsLst>
              <a:gs pos="0">
                <a:srgbClr val="3A92D5"/>
              </a:gs>
              <a:gs pos="100000">
                <a:srgbClr val="146FB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标题"/>
          <p:cNvSpPr txBox="1"/>
          <p:nvPr/>
        </p:nvSpPr>
        <p:spPr>
          <a:xfrm>
            <a:off x="621792" y="301752"/>
            <a:ext cx="9390888" cy="64922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3600">
                <a:latin typeface="微软雅黑" panose="020B0503020204020204" charset="-122"/>
              </a:defRPr>
            </a:pPr>
            <a:r>
              <a:rPr sz="35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LIN从控制单元：按约定响应，也能唤醒</a:t>
            </a:r>
            <a:endParaRPr sz="35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标题分隔线"/>
          <p:cNvSpPr/>
          <p:nvPr/>
        </p:nvSpPr>
        <p:spPr>
          <a:xfrm>
            <a:off x="621792" y="1051560"/>
            <a:ext cx="11109960" cy="18288"/>
          </a:xfrm>
          <a:prstGeom prst="rect">
            <a:avLst/>
          </a:prstGeom>
          <a:gradFill>
            <a:gsLst>
              <a:gs pos="0">
                <a:srgbClr val="3A92D5"/>
              </a:gs>
              <a:gs pos="100000">
                <a:srgbClr val="E3EFF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tongji_wordm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4" y="256032"/>
            <a:ext cx="1554480" cy="385298"/>
          </a:xfrm>
          <a:prstGeom prst="rect">
            <a:avLst/>
          </a:prstGeom>
          <a:effectLst/>
        </p:spPr>
      </p:pic>
      <p:sp>
        <p:nvSpPr>
          <p:cNvPr id="33" name="导入句"/>
          <p:cNvSpPr txBox="1"/>
          <p:nvPr/>
        </p:nvSpPr>
        <p:spPr>
          <a:xfrm>
            <a:off x="621792" y="1271016"/>
            <a:ext cx="10972800" cy="57607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000">
                <a:latin typeface="微软雅黑" panose="020B0503020204020204" charset="-122"/>
              </a:defRPr>
            </a:pPr>
            <a:r>
              <a:rPr sz="20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从节点承担传感或执行任务；通信时机由主节点组织。</a:t>
            </a:r>
            <a:endParaRPr sz="20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正常工作：听到报文头，再决定怎样响应卡片"/>
          <p:cNvSpPr/>
          <p:nvPr/>
        </p:nvSpPr>
        <p:spPr>
          <a:xfrm>
            <a:off x="621792" y="1993392"/>
            <a:ext cx="6629400" cy="3511296"/>
          </a:xfrm>
          <a:prstGeom prst="roundRect">
            <a:avLst>
              <a:gd name="adj" fmla="val 4166"/>
            </a:avLst>
          </a:prstGeom>
          <a:solidFill>
            <a:srgbClr val="F6FAFE"/>
          </a:solidFill>
          <a:ln w="10160">
            <a:solidFill>
              <a:srgbClr val="B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卡片标题条"/>
          <p:cNvSpPr/>
          <p:nvPr/>
        </p:nvSpPr>
        <p:spPr>
          <a:xfrm>
            <a:off x="621792" y="1993392"/>
            <a:ext cx="6629400" cy="585216"/>
          </a:xfrm>
          <a:prstGeom prst="roundRect">
            <a:avLst>
              <a:gd name="adj" fmla="val 20312"/>
            </a:avLst>
          </a:prstGeom>
          <a:gradFill>
            <a:gsLst>
              <a:gs pos="0">
                <a:srgbClr val="EDF5FD"/>
              </a:gs>
              <a:gs pos="100000">
                <a:srgbClr val="F7FBF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文字"/>
          <p:cNvSpPr txBox="1"/>
          <p:nvPr/>
        </p:nvSpPr>
        <p:spPr>
          <a:xfrm>
            <a:off x="804672" y="2112264"/>
            <a:ext cx="6291072" cy="33832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200">
                <a:latin typeface="微软雅黑" panose="020B0503020204020204" charset="-122"/>
              </a:defRPr>
            </a:pPr>
            <a:r>
              <a:rPr sz="22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正常工作：听到报文头，再决定怎样响应</a:t>
            </a:r>
            <a:endParaRPr sz="22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圆形"/>
          <p:cNvSpPr/>
          <p:nvPr/>
        </p:nvSpPr>
        <p:spPr>
          <a:xfrm>
            <a:off x="896112" y="2798064"/>
            <a:ext cx="356616" cy="356616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文字"/>
          <p:cNvSpPr txBox="1"/>
          <p:nvPr/>
        </p:nvSpPr>
        <p:spPr>
          <a:xfrm>
            <a:off x="896112" y="2839212"/>
            <a:ext cx="356616" cy="258571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500">
                <a:latin typeface="微软雅黑" panose="020B0503020204020204" charset="-122"/>
              </a:defRPr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字"/>
          <p:cNvSpPr txBox="1"/>
          <p:nvPr/>
        </p:nvSpPr>
        <p:spPr>
          <a:xfrm>
            <a:off x="1481328" y="2798064"/>
            <a:ext cx="5449824" cy="313435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100">
                <a:latin typeface="微软雅黑" panose="020B0503020204020204" charset="-122"/>
              </a:defRPr>
            </a:pPr>
            <a:r>
              <a:rPr sz="21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收到报文头</a:t>
            </a:r>
            <a:endParaRPr sz="21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字"/>
          <p:cNvSpPr txBox="1"/>
          <p:nvPr/>
        </p:nvSpPr>
        <p:spPr>
          <a:xfrm>
            <a:off x="1481328" y="3154680"/>
            <a:ext cx="5440680" cy="28346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700">
                <a:latin typeface="微软雅黑" panose="020B0503020204020204" charset="-122"/>
              </a:defRPr>
            </a:pPr>
            <a:r>
              <a:rPr sz="190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识别当前是哪类消息</a:t>
            </a:r>
            <a:endParaRPr sz="190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圆形"/>
          <p:cNvSpPr/>
          <p:nvPr/>
        </p:nvSpPr>
        <p:spPr>
          <a:xfrm>
            <a:off x="896112" y="3538728"/>
            <a:ext cx="356616" cy="356616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文字"/>
          <p:cNvSpPr txBox="1"/>
          <p:nvPr/>
        </p:nvSpPr>
        <p:spPr>
          <a:xfrm>
            <a:off x="896112" y="3579876"/>
            <a:ext cx="356616" cy="258571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500">
                <a:latin typeface="微软雅黑" panose="020B0503020204020204" charset="-122"/>
              </a:defRPr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字"/>
          <p:cNvSpPr txBox="1"/>
          <p:nvPr/>
        </p:nvSpPr>
        <p:spPr>
          <a:xfrm>
            <a:off x="1481328" y="3538728"/>
            <a:ext cx="5449824" cy="313435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100">
                <a:latin typeface="微软雅黑" panose="020B0503020204020204" charset="-122"/>
              </a:defRPr>
            </a:pPr>
            <a:r>
              <a:rPr sz="21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检查配置</a:t>
            </a:r>
            <a:endParaRPr sz="21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文字"/>
          <p:cNvSpPr txBox="1"/>
          <p:nvPr/>
        </p:nvSpPr>
        <p:spPr>
          <a:xfrm>
            <a:off x="1481328" y="3895344"/>
            <a:ext cx="5440680" cy="28346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700">
                <a:latin typeface="微软雅黑" panose="020B0503020204020204" charset="-122"/>
              </a:defRPr>
            </a:pPr>
            <a:r>
              <a:rPr sz="190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判断自己是发布者还是接收者</a:t>
            </a:r>
            <a:endParaRPr sz="190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圆形"/>
          <p:cNvSpPr/>
          <p:nvPr/>
        </p:nvSpPr>
        <p:spPr>
          <a:xfrm>
            <a:off x="896112" y="4279392"/>
            <a:ext cx="356616" cy="356616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文字"/>
          <p:cNvSpPr txBox="1"/>
          <p:nvPr/>
        </p:nvSpPr>
        <p:spPr>
          <a:xfrm>
            <a:off x="896112" y="4320540"/>
            <a:ext cx="356616" cy="258571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500">
                <a:latin typeface="微软雅黑" panose="020B0503020204020204" charset="-122"/>
              </a:defRPr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字"/>
          <p:cNvSpPr txBox="1"/>
          <p:nvPr/>
        </p:nvSpPr>
        <p:spPr>
          <a:xfrm>
            <a:off x="1481328" y="4279392"/>
            <a:ext cx="5449824" cy="313435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100">
                <a:latin typeface="微软雅黑" panose="020B0503020204020204" charset="-122"/>
              </a:defRPr>
            </a:pPr>
            <a:r>
              <a:rPr sz="21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发送 / 接收数据</a:t>
            </a:r>
            <a:endParaRPr sz="21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字"/>
          <p:cNvSpPr txBox="1"/>
          <p:nvPr/>
        </p:nvSpPr>
        <p:spPr>
          <a:xfrm>
            <a:off x="1481328" y="4636007"/>
            <a:ext cx="5440680" cy="28346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700">
                <a:latin typeface="微软雅黑" panose="020B0503020204020204" charset="-122"/>
              </a:defRPr>
            </a:pPr>
            <a:r>
              <a:rPr sz="190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完成本节点的功能交互</a:t>
            </a:r>
            <a:endParaRPr sz="190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休眠与唤醒卡片"/>
          <p:cNvSpPr/>
          <p:nvPr/>
        </p:nvSpPr>
        <p:spPr>
          <a:xfrm>
            <a:off x="7479792" y="1993392"/>
            <a:ext cx="4078224" cy="3511296"/>
          </a:xfrm>
          <a:prstGeom prst="roundRect">
            <a:avLst>
              <a:gd name="adj" fmla="val 4166"/>
            </a:avLst>
          </a:prstGeom>
          <a:solidFill>
            <a:srgbClr val="F6FAFE"/>
          </a:solidFill>
          <a:ln w="10160">
            <a:solidFill>
              <a:srgbClr val="B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卡片标题条"/>
          <p:cNvSpPr/>
          <p:nvPr/>
        </p:nvSpPr>
        <p:spPr>
          <a:xfrm>
            <a:off x="7479792" y="1993392"/>
            <a:ext cx="4078224" cy="585216"/>
          </a:xfrm>
          <a:prstGeom prst="roundRect">
            <a:avLst>
              <a:gd name="adj" fmla="val 20312"/>
            </a:avLst>
          </a:prstGeom>
          <a:gradFill>
            <a:gsLst>
              <a:gs pos="0">
                <a:srgbClr val="EDF5FD"/>
              </a:gs>
              <a:gs pos="100000">
                <a:srgbClr val="F7FBF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文字"/>
          <p:cNvSpPr txBox="1"/>
          <p:nvPr/>
        </p:nvSpPr>
        <p:spPr>
          <a:xfrm>
            <a:off x="7662671" y="2112264"/>
            <a:ext cx="3739896" cy="33832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200">
                <a:latin typeface="微软雅黑" panose="020B0503020204020204" charset="-122"/>
              </a:defRPr>
            </a:pPr>
            <a:r>
              <a:rPr sz="22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休眠与唤醒</a:t>
            </a:r>
            <a:endParaRPr sz="22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圆形"/>
          <p:cNvSpPr/>
          <p:nvPr/>
        </p:nvSpPr>
        <p:spPr>
          <a:xfrm>
            <a:off x="7754112" y="2798064"/>
            <a:ext cx="374904" cy="374904"/>
          </a:xfrm>
          <a:prstGeom prst="ellipse">
            <a:avLst/>
          </a:prstGeom>
          <a:noFill/>
          <a:ln w="254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连线"/>
          <p:cNvCxnSpPr/>
          <p:nvPr/>
        </p:nvCxnSpPr>
        <p:spPr>
          <a:xfrm>
            <a:off x="7941564" y="2854299"/>
            <a:ext cx="0" cy="131217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连线"/>
          <p:cNvCxnSpPr/>
          <p:nvPr/>
        </p:nvCxnSpPr>
        <p:spPr>
          <a:xfrm>
            <a:off x="7941564" y="2985516"/>
            <a:ext cx="93726" cy="44988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"/>
          <p:cNvSpPr txBox="1"/>
          <p:nvPr/>
        </p:nvSpPr>
        <p:spPr>
          <a:xfrm>
            <a:off x="8339327" y="2862072"/>
            <a:ext cx="2889504" cy="29260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000">
                <a:latin typeface="微软雅黑" panose="020B0503020204020204" charset="-122"/>
              </a:defRPr>
            </a:pPr>
            <a:r>
              <a:rPr sz="2000" b="1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休眠状态</a:t>
            </a:r>
            <a:endParaRPr sz="2000" b="1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8" name="连线"/>
          <p:cNvCxnSpPr/>
          <p:nvPr/>
        </p:nvCxnSpPr>
        <p:spPr>
          <a:xfrm>
            <a:off x="7946136" y="3227832"/>
            <a:ext cx="0" cy="228600"/>
          </a:xfrm>
          <a:prstGeom prst="line">
            <a:avLst/>
          </a:prstGeom>
          <a:ln w="15875" cap="rnd">
            <a:solidFill>
              <a:srgbClr val="B7D4EC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连线"/>
          <p:cNvCxnSpPr/>
          <p:nvPr/>
        </p:nvCxnSpPr>
        <p:spPr>
          <a:xfrm>
            <a:off x="7754112" y="3652845"/>
            <a:ext cx="337413" cy="0"/>
          </a:xfrm>
          <a:prstGeom prst="line">
            <a:avLst/>
          </a:prstGeom>
          <a:ln w="38100" cap="rnd">
            <a:solidFill>
              <a:srgbClr val="146FB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连线"/>
          <p:cNvCxnSpPr/>
          <p:nvPr/>
        </p:nvCxnSpPr>
        <p:spPr>
          <a:xfrm flipH="1">
            <a:off x="7772857" y="3817802"/>
            <a:ext cx="337413" cy="0"/>
          </a:xfrm>
          <a:prstGeom prst="line">
            <a:avLst/>
          </a:prstGeom>
          <a:ln w="38100" cap="rnd">
            <a:solidFill>
              <a:srgbClr val="146FB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字"/>
          <p:cNvSpPr txBox="1"/>
          <p:nvPr/>
        </p:nvSpPr>
        <p:spPr>
          <a:xfrm>
            <a:off x="8339327" y="3611879"/>
            <a:ext cx="2889504" cy="29260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000">
                <a:latin typeface="微软雅黑" panose="020B0503020204020204" charset="-122"/>
              </a:defRPr>
            </a:pPr>
            <a:r>
              <a:rPr sz="2000" b="1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发出唤醒信号</a:t>
            </a:r>
            <a:endParaRPr sz="2000" b="1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2" name="连线"/>
          <p:cNvCxnSpPr/>
          <p:nvPr/>
        </p:nvCxnSpPr>
        <p:spPr>
          <a:xfrm>
            <a:off x="7946136" y="3977639"/>
            <a:ext cx="0" cy="228601"/>
          </a:xfrm>
          <a:prstGeom prst="line">
            <a:avLst/>
          </a:prstGeom>
          <a:ln w="15875" cap="rnd">
            <a:solidFill>
              <a:srgbClr val="B7D4EC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"/>
          <p:cNvSpPr/>
          <p:nvPr/>
        </p:nvSpPr>
        <p:spPr>
          <a:xfrm>
            <a:off x="7904073" y="4316425"/>
            <a:ext cx="74980" cy="74980"/>
          </a:xfrm>
          <a:prstGeom prst="roundRect">
            <a:avLst>
              <a:gd name="adj" fmla="val 24390"/>
            </a:avLst>
          </a:prstGeom>
          <a:noFill/>
          <a:ln w="1778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矩形"/>
          <p:cNvSpPr/>
          <p:nvPr/>
        </p:nvSpPr>
        <p:spPr>
          <a:xfrm>
            <a:off x="7780355" y="4552614"/>
            <a:ext cx="74980" cy="74980"/>
          </a:xfrm>
          <a:prstGeom prst="roundRect">
            <a:avLst>
              <a:gd name="adj" fmla="val 24390"/>
            </a:avLst>
          </a:prstGeom>
          <a:noFill/>
          <a:ln w="1778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矩形"/>
          <p:cNvSpPr/>
          <p:nvPr/>
        </p:nvSpPr>
        <p:spPr>
          <a:xfrm>
            <a:off x="7904073" y="4552614"/>
            <a:ext cx="74980" cy="74980"/>
          </a:xfrm>
          <a:prstGeom prst="roundRect">
            <a:avLst>
              <a:gd name="adj" fmla="val 24390"/>
            </a:avLst>
          </a:prstGeom>
          <a:noFill/>
          <a:ln w="1778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矩形"/>
          <p:cNvSpPr/>
          <p:nvPr/>
        </p:nvSpPr>
        <p:spPr>
          <a:xfrm>
            <a:off x="8031540" y="4552614"/>
            <a:ext cx="74980" cy="74980"/>
          </a:xfrm>
          <a:prstGeom prst="roundRect">
            <a:avLst>
              <a:gd name="adj" fmla="val 24390"/>
            </a:avLst>
          </a:prstGeom>
          <a:noFill/>
          <a:ln w="1778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连线"/>
          <p:cNvCxnSpPr/>
          <p:nvPr/>
        </p:nvCxnSpPr>
        <p:spPr>
          <a:xfrm>
            <a:off x="7941564" y="4391406"/>
            <a:ext cx="0" cy="93726"/>
          </a:xfrm>
          <a:prstGeom prst="line">
            <a:avLst/>
          </a:prstGeom>
          <a:ln w="1905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连线"/>
          <p:cNvCxnSpPr/>
          <p:nvPr/>
        </p:nvCxnSpPr>
        <p:spPr>
          <a:xfrm>
            <a:off x="7817845" y="4485132"/>
            <a:ext cx="251186" cy="0"/>
          </a:xfrm>
          <a:prstGeom prst="line">
            <a:avLst/>
          </a:prstGeom>
          <a:ln w="1905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连线"/>
          <p:cNvCxnSpPr/>
          <p:nvPr/>
        </p:nvCxnSpPr>
        <p:spPr>
          <a:xfrm>
            <a:off x="7817845" y="4485132"/>
            <a:ext cx="0" cy="67482"/>
          </a:xfrm>
          <a:prstGeom prst="line">
            <a:avLst/>
          </a:prstGeom>
          <a:ln w="1905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连线"/>
          <p:cNvCxnSpPr/>
          <p:nvPr/>
        </p:nvCxnSpPr>
        <p:spPr>
          <a:xfrm>
            <a:off x="7941564" y="4485132"/>
            <a:ext cx="0" cy="67482"/>
          </a:xfrm>
          <a:prstGeom prst="line">
            <a:avLst/>
          </a:prstGeom>
          <a:ln w="1905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连线"/>
          <p:cNvCxnSpPr/>
          <p:nvPr/>
        </p:nvCxnSpPr>
        <p:spPr>
          <a:xfrm>
            <a:off x="8069031" y="4485132"/>
            <a:ext cx="0" cy="67482"/>
          </a:xfrm>
          <a:prstGeom prst="line">
            <a:avLst/>
          </a:prstGeom>
          <a:ln w="1905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字"/>
          <p:cNvSpPr txBox="1"/>
          <p:nvPr/>
        </p:nvSpPr>
        <p:spPr>
          <a:xfrm>
            <a:off x="8339327" y="4361688"/>
            <a:ext cx="2889504" cy="29260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000">
                <a:latin typeface="微软雅黑" panose="020B0503020204020204" charset="-122"/>
              </a:defRPr>
            </a:pPr>
            <a:r>
              <a:rPr sz="2000" b="1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恢复正常调度</a:t>
            </a:r>
            <a:endParaRPr sz="2000" b="1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本页总结背景"/>
          <p:cNvSpPr/>
          <p:nvPr/>
        </p:nvSpPr>
        <p:spPr>
          <a:xfrm>
            <a:off x="585216" y="5861304"/>
            <a:ext cx="11064240" cy="594360"/>
          </a:xfrm>
          <a:prstGeom prst="roundRect">
            <a:avLst>
              <a:gd name="adj" fmla="val 23076"/>
            </a:avLst>
          </a:prstGeom>
          <a:gradFill>
            <a:gsLst>
              <a:gs pos="0">
                <a:srgbClr val="F0F7FE"/>
              </a:gs>
              <a:gs pos="100000">
                <a:srgbClr val="E9F3F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可编辑曲线"/>
          <p:cNvSpPr/>
          <p:nvPr/>
        </p:nvSpPr>
        <p:spPr>
          <a:xfrm>
            <a:off x="907999" y="5999927"/>
            <a:ext cx="310621" cy="133685"/>
          </a:xfrm>
          <a:custGeom>
            <a:avLst/>
            <a:gdLst/>
            <a:ahLst/>
            <a:cxnLst/>
            <a:rect l="l" t="t" r="r" b="b"/>
            <a:pathLst>
              <a:path w="310621" h="133685">
                <a:moveTo>
                  <a:pt x="0" y="133685"/>
                </a:moveTo>
                <a:lnTo>
                  <a:pt x="51115" y="0"/>
                </a:lnTo>
                <a:lnTo>
                  <a:pt x="251643" y="0"/>
                </a:lnTo>
                <a:lnTo>
                  <a:pt x="310621" y="133685"/>
                </a:lnTo>
              </a:path>
            </a:pathLst>
          </a:custGeom>
          <a:noFill/>
          <a:ln w="254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矩形"/>
          <p:cNvSpPr/>
          <p:nvPr/>
        </p:nvSpPr>
        <p:spPr>
          <a:xfrm>
            <a:off x="896203" y="6121816"/>
            <a:ext cx="338145" cy="165140"/>
          </a:xfrm>
          <a:prstGeom prst="roundRect">
            <a:avLst>
              <a:gd name="adj" fmla="val 19047"/>
            </a:avLst>
          </a:prstGeom>
          <a:noFill/>
          <a:ln w="254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连线"/>
          <p:cNvCxnSpPr/>
          <p:nvPr/>
        </p:nvCxnSpPr>
        <p:spPr>
          <a:xfrm>
            <a:off x="915863" y="6129680"/>
            <a:ext cx="302757" cy="0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圆形"/>
          <p:cNvSpPr/>
          <p:nvPr/>
        </p:nvSpPr>
        <p:spPr>
          <a:xfrm>
            <a:off x="935522" y="6180795"/>
            <a:ext cx="51114" cy="5111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圆形"/>
          <p:cNvSpPr/>
          <p:nvPr/>
        </p:nvSpPr>
        <p:spPr>
          <a:xfrm>
            <a:off x="1136050" y="6180795"/>
            <a:ext cx="51114" cy="5111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连线"/>
          <p:cNvCxnSpPr/>
          <p:nvPr/>
        </p:nvCxnSpPr>
        <p:spPr>
          <a:xfrm>
            <a:off x="943386" y="6283025"/>
            <a:ext cx="0" cy="51115"/>
          </a:xfrm>
          <a:prstGeom prst="line">
            <a:avLst/>
          </a:prstGeom>
          <a:ln w="381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连线"/>
          <p:cNvCxnSpPr/>
          <p:nvPr/>
        </p:nvCxnSpPr>
        <p:spPr>
          <a:xfrm>
            <a:off x="1183233" y="6283025"/>
            <a:ext cx="0" cy="51115"/>
          </a:xfrm>
          <a:prstGeom prst="line">
            <a:avLst/>
          </a:prstGeom>
          <a:ln w="381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连线"/>
          <p:cNvCxnSpPr/>
          <p:nvPr/>
        </p:nvCxnSpPr>
        <p:spPr>
          <a:xfrm>
            <a:off x="1435608" y="5952744"/>
            <a:ext cx="0" cy="411480"/>
          </a:xfrm>
          <a:prstGeom prst="line">
            <a:avLst/>
          </a:prstGeom>
          <a:ln w="15875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本页总结"/>
          <p:cNvSpPr txBox="1"/>
          <p:nvPr/>
        </p:nvSpPr>
        <p:spPr>
          <a:xfrm>
            <a:off x="1655064" y="5952744"/>
            <a:ext cx="9692640" cy="448056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100">
                <a:latin typeface="微软雅黑" panose="020B0503020204020204" charset="-122"/>
              </a:defRPr>
            </a:pPr>
            <a:r>
              <a:rPr sz="21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能够唤醒总线 ≠ 可以随时抢发普通数据。</a:t>
            </a:r>
            <a:r>
              <a:rPr sz="21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正常通信仍需遵守调度规则。</a:t>
            </a:r>
            <a:endParaRPr sz="21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白色背景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右下角淡蓝装饰"/>
          <p:cNvSpPr/>
          <p:nvPr/>
        </p:nvSpPr>
        <p:spPr>
          <a:xfrm>
            <a:off x="10774679" y="5440680"/>
            <a:ext cx="1417320" cy="1417320"/>
          </a:xfrm>
          <a:custGeom>
            <a:avLst/>
            <a:gdLst/>
            <a:ahLst/>
            <a:cxnLst/>
            <a:rect l="l" t="t" r="r" b="b"/>
            <a:pathLst>
              <a:path w="1417320" h="1417320">
                <a:moveTo>
                  <a:pt x="1417320" y="1417320"/>
                </a:moveTo>
                <a:lnTo>
                  <a:pt x="0" y="1417320"/>
                </a:lnTo>
                <a:lnTo>
                  <a:pt x="700" y="1372800"/>
                </a:lnTo>
                <a:lnTo>
                  <a:pt x="2797" y="1328325"/>
                </a:lnTo>
                <a:lnTo>
                  <a:pt x="6290" y="1283938"/>
                </a:lnTo>
                <a:lnTo>
                  <a:pt x="11176" y="1239682"/>
                </a:lnTo>
                <a:lnTo>
                  <a:pt x="17450" y="1195602"/>
                </a:lnTo>
                <a:lnTo>
                  <a:pt x="25105" y="1151740"/>
                </a:lnTo>
                <a:lnTo>
                  <a:pt x="34134" y="1108141"/>
                </a:lnTo>
                <a:lnTo>
                  <a:pt x="44528" y="1064846"/>
                </a:lnTo>
                <a:lnTo>
                  <a:pt x="56277" y="1021900"/>
                </a:lnTo>
                <a:lnTo>
                  <a:pt x="69369" y="979344"/>
                </a:lnTo>
                <a:lnTo>
                  <a:pt x="83791" y="937219"/>
                </a:lnTo>
                <a:lnTo>
                  <a:pt x="99529" y="895569"/>
                </a:lnTo>
                <a:lnTo>
                  <a:pt x="116568" y="854434"/>
                </a:lnTo>
                <a:lnTo>
                  <a:pt x="134891" y="813854"/>
                </a:lnTo>
                <a:lnTo>
                  <a:pt x="154479" y="773870"/>
                </a:lnTo>
                <a:lnTo>
                  <a:pt x="175313" y="734520"/>
                </a:lnTo>
                <a:lnTo>
                  <a:pt x="197373" y="695845"/>
                </a:lnTo>
                <a:lnTo>
                  <a:pt x="220637" y="657881"/>
                </a:lnTo>
                <a:lnTo>
                  <a:pt x="245082" y="620667"/>
                </a:lnTo>
                <a:lnTo>
                  <a:pt x="270684" y="584240"/>
                </a:lnTo>
                <a:lnTo>
                  <a:pt x="297418" y="548634"/>
                </a:lnTo>
                <a:lnTo>
                  <a:pt x="325256" y="513886"/>
                </a:lnTo>
                <a:lnTo>
                  <a:pt x="354173" y="480029"/>
                </a:lnTo>
                <a:lnTo>
                  <a:pt x="384138" y="447097"/>
                </a:lnTo>
                <a:lnTo>
                  <a:pt x="415124" y="415123"/>
                </a:lnTo>
                <a:lnTo>
                  <a:pt x="447098" y="384138"/>
                </a:lnTo>
                <a:lnTo>
                  <a:pt x="480030" y="354172"/>
                </a:lnTo>
                <a:lnTo>
                  <a:pt x="513886" y="325256"/>
                </a:lnTo>
                <a:lnTo>
                  <a:pt x="548635" y="297417"/>
                </a:lnTo>
                <a:lnTo>
                  <a:pt x="584240" y="270684"/>
                </a:lnTo>
                <a:lnTo>
                  <a:pt x="620668" y="245082"/>
                </a:lnTo>
                <a:lnTo>
                  <a:pt x="657882" y="220637"/>
                </a:lnTo>
                <a:lnTo>
                  <a:pt x="695846" y="197373"/>
                </a:lnTo>
                <a:lnTo>
                  <a:pt x="734521" y="175313"/>
                </a:lnTo>
                <a:lnTo>
                  <a:pt x="773870" y="154478"/>
                </a:lnTo>
                <a:lnTo>
                  <a:pt x="813855" y="134890"/>
                </a:lnTo>
                <a:lnTo>
                  <a:pt x="854435" y="116568"/>
                </a:lnTo>
                <a:lnTo>
                  <a:pt x="895570" y="99529"/>
                </a:lnTo>
                <a:lnTo>
                  <a:pt x="937220" y="83790"/>
                </a:lnTo>
                <a:lnTo>
                  <a:pt x="979344" y="69368"/>
                </a:lnTo>
                <a:lnTo>
                  <a:pt x="1021901" y="56276"/>
                </a:lnTo>
                <a:lnTo>
                  <a:pt x="1064847" y="44527"/>
                </a:lnTo>
                <a:lnTo>
                  <a:pt x="1108141" y="34133"/>
                </a:lnTo>
                <a:lnTo>
                  <a:pt x="1151741" y="25104"/>
                </a:lnTo>
                <a:lnTo>
                  <a:pt x="1195602" y="17449"/>
                </a:lnTo>
                <a:lnTo>
                  <a:pt x="1239683" y="11175"/>
                </a:lnTo>
                <a:lnTo>
                  <a:pt x="1283939" y="6290"/>
                </a:lnTo>
                <a:lnTo>
                  <a:pt x="1328326" y="2796"/>
                </a:lnTo>
                <a:lnTo>
                  <a:pt x="1372801" y="699"/>
                </a:lnTo>
                <a:lnTo>
                  <a:pt x="1417320" y="0"/>
                </a:lnTo>
                <a:lnTo>
                  <a:pt x="1417320" y="1417320"/>
                </a:lnTo>
                <a:close/>
              </a:path>
            </a:pathLst>
          </a:custGeom>
          <a:solidFill>
            <a:srgbClr val="F4F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右下角淡蓝装饰"/>
          <p:cNvSpPr/>
          <p:nvPr/>
        </p:nvSpPr>
        <p:spPr>
          <a:xfrm>
            <a:off x="11076431" y="5742432"/>
            <a:ext cx="1115568" cy="1115568"/>
          </a:xfrm>
          <a:custGeom>
            <a:avLst/>
            <a:gdLst/>
            <a:ahLst/>
            <a:cxnLst/>
            <a:rect l="l" t="t" r="r" b="b"/>
            <a:pathLst>
              <a:path w="1115568" h="1115568">
                <a:moveTo>
                  <a:pt x="1115568" y="1115568"/>
                </a:moveTo>
                <a:lnTo>
                  <a:pt x="0" y="1115568"/>
                </a:lnTo>
                <a:lnTo>
                  <a:pt x="551" y="1080527"/>
                </a:lnTo>
                <a:lnTo>
                  <a:pt x="2202" y="1045520"/>
                </a:lnTo>
                <a:lnTo>
                  <a:pt x="4951" y="1010583"/>
                </a:lnTo>
                <a:lnTo>
                  <a:pt x="8797" y="975750"/>
                </a:lnTo>
                <a:lnTo>
                  <a:pt x="13735" y="941054"/>
                </a:lnTo>
                <a:lnTo>
                  <a:pt x="19760" y="906531"/>
                </a:lnTo>
                <a:lnTo>
                  <a:pt x="26867" y="872214"/>
                </a:lnTo>
                <a:lnTo>
                  <a:pt x="35048" y="838137"/>
                </a:lnTo>
                <a:lnTo>
                  <a:pt x="44295" y="804334"/>
                </a:lnTo>
                <a:lnTo>
                  <a:pt x="54600" y="770838"/>
                </a:lnTo>
                <a:lnTo>
                  <a:pt x="65952" y="737682"/>
                </a:lnTo>
                <a:lnTo>
                  <a:pt x="78339" y="704900"/>
                </a:lnTo>
                <a:lnTo>
                  <a:pt x="91751" y="672522"/>
                </a:lnTo>
                <a:lnTo>
                  <a:pt x="106172" y="640582"/>
                </a:lnTo>
                <a:lnTo>
                  <a:pt x="121590" y="609110"/>
                </a:lnTo>
                <a:lnTo>
                  <a:pt x="137989" y="578139"/>
                </a:lnTo>
                <a:lnTo>
                  <a:pt x="155352" y="547697"/>
                </a:lnTo>
                <a:lnTo>
                  <a:pt x="173663" y="517816"/>
                </a:lnTo>
                <a:lnTo>
                  <a:pt x="192904" y="488525"/>
                </a:lnTo>
                <a:lnTo>
                  <a:pt x="213055" y="459853"/>
                </a:lnTo>
                <a:lnTo>
                  <a:pt x="234097" y="431828"/>
                </a:lnTo>
                <a:lnTo>
                  <a:pt x="256008" y="404478"/>
                </a:lnTo>
                <a:lnTo>
                  <a:pt x="278768" y="377829"/>
                </a:lnTo>
                <a:lnTo>
                  <a:pt x="302354" y="351909"/>
                </a:lnTo>
                <a:lnTo>
                  <a:pt x="326742" y="326742"/>
                </a:lnTo>
                <a:lnTo>
                  <a:pt x="351909" y="302353"/>
                </a:lnTo>
                <a:lnTo>
                  <a:pt x="377830" y="278768"/>
                </a:lnTo>
                <a:lnTo>
                  <a:pt x="404478" y="256008"/>
                </a:lnTo>
                <a:lnTo>
                  <a:pt x="431829" y="234096"/>
                </a:lnTo>
                <a:lnTo>
                  <a:pt x="459854" y="213054"/>
                </a:lnTo>
                <a:lnTo>
                  <a:pt x="488526" y="192903"/>
                </a:lnTo>
                <a:lnTo>
                  <a:pt x="517817" y="173662"/>
                </a:lnTo>
                <a:lnTo>
                  <a:pt x="547698" y="155351"/>
                </a:lnTo>
                <a:lnTo>
                  <a:pt x="578139" y="137988"/>
                </a:lnTo>
                <a:lnTo>
                  <a:pt x="609111" y="121589"/>
                </a:lnTo>
                <a:lnTo>
                  <a:pt x="640582" y="106171"/>
                </a:lnTo>
                <a:lnTo>
                  <a:pt x="672523" y="91750"/>
                </a:lnTo>
                <a:lnTo>
                  <a:pt x="704900" y="78339"/>
                </a:lnTo>
                <a:lnTo>
                  <a:pt x="737683" y="65951"/>
                </a:lnTo>
                <a:lnTo>
                  <a:pt x="770839" y="54599"/>
                </a:lnTo>
                <a:lnTo>
                  <a:pt x="804335" y="44295"/>
                </a:lnTo>
                <a:lnTo>
                  <a:pt x="838138" y="35047"/>
                </a:lnTo>
                <a:lnTo>
                  <a:pt x="872215" y="26866"/>
                </a:lnTo>
                <a:lnTo>
                  <a:pt x="906532" y="19759"/>
                </a:lnTo>
                <a:lnTo>
                  <a:pt x="941055" y="13734"/>
                </a:lnTo>
                <a:lnTo>
                  <a:pt x="975750" y="8796"/>
                </a:lnTo>
                <a:lnTo>
                  <a:pt x="1010584" y="4950"/>
                </a:lnTo>
                <a:lnTo>
                  <a:pt x="1045521" y="2201"/>
                </a:lnTo>
                <a:lnTo>
                  <a:pt x="1080527" y="550"/>
                </a:lnTo>
                <a:lnTo>
                  <a:pt x="1115568" y="0"/>
                </a:lnTo>
                <a:lnTo>
                  <a:pt x="1115568" y="1115568"/>
                </a:lnTo>
                <a:close/>
              </a:path>
            </a:pathLst>
          </a:custGeom>
          <a:solidFill>
            <a:srgbClr val="F8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圆形"/>
          <p:cNvSpPr/>
          <p:nvPr/>
        </p:nvSpPr>
        <p:spPr>
          <a:xfrm>
            <a:off x="1038758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圆形"/>
          <p:cNvSpPr/>
          <p:nvPr/>
        </p:nvSpPr>
        <p:spPr>
          <a:xfrm>
            <a:off x="1038758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圆形"/>
          <p:cNvSpPr/>
          <p:nvPr/>
        </p:nvSpPr>
        <p:spPr>
          <a:xfrm>
            <a:off x="1038758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圆形"/>
          <p:cNvSpPr/>
          <p:nvPr/>
        </p:nvSpPr>
        <p:spPr>
          <a:xfrm>
            <a:off x="1055217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圆形"/>
          <p:cNvSpPr/>
          <p:nvPr/>
        </p:nvSpPr>
        <p:spPr>
          <a:xfrm>
            <a:off x="1055217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圆形"/>
          <p:cNvSpPr/>
          <p:nvPr/>
        </p:nvSpPr>
        <p:spPr>
          <a:xfrm>
            <a:off x="1055217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圆形"/>
          <p:cNvSpPr/>
          <p:nvPr/>
        </p:nvSpPr>
        <p:spPr>
          <a:xfrm>
            <a:off x="10716767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圆形"/>
          <p:cNvSpPr/>
          <p:nvPr/>
        </p:nvSpPr>
        <p:spPr>
          <a:xfrm>
            <a:off x="10716767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圆形"/>
          <p:cNvSpPr/>
          <p:nvPr/>
        </p:nvSpPr>
        <p:spPr>
          <a:xfrm>
            <a:off x="10716767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圆形"/>
          <p:cNvSpPr/>
          <p:nvPr/>
        </p:nvSpPr>
        <p:spPr>
          <a:xfrm>
            <a:off x="10881359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圆形"/>
          <p:cNvSpPr/>
          <p:nvPr/>
        </p:nvSpPr>
        <p:spPr>
          <a:xfrm>
            <a:off x="10881359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圆形"/>
          <p:cNvSpPr/>
          <p:nvPr/>
        </p:nvSpPr>
        <p:spPr>
          <a:xfrm>
            <a:off x="10881359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圆形"/>
          <p:cNvSpPr/>
          <p:nvPr/>
        </p:nvSpPr>
        <p:spPr>
          <a:xfrm>
            <a:off x="11045952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圆形"/>
          <p:cNvSpPr/>
          <p:nvPr/>
        </p:nvSpPr>
        <p:spPr>
          <a:xfrm>
            <a:off x="11045952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圆形"/>
          <p:cNvSpPr/>
          <p:nvPr/>
        </p:nvSpPr>
        <p:spPr>
          <a:xfrm>
            <a:off x="11045952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圆形"/>
          <p:cNvSpPr/>
          <p:nvPr/>
        </p:nvSpPr>
        <p:spPr>
          <a:xfrm>
            <a:off x="1121054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圆形"/>
          <p:cNvSpPr/>
          <p:nvPr/>
        </p:nvSpPr>
        <p:spPr>
          <a:xfrm>
            <a:off x="1121054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圆形"/>
          <p:cNvSpPr/>
          <p:nvPr/>
        </p:nvSpPr>
        <p:spPr>
          <a:xfrm>
            <a:off x="1121054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圆形"/>
          <p:cNvSpPr/>
          <p:nvPr/>
        </p:nvSpPr>
        <p:spPr>
          <a:xfrm>
            <a:off x="1137513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圆形"/>
          <p:cNvSpPr/>
          <p:nvPr/>
        </p:nvSpPr>
        <p:spPr>
          <a:xfrm>
            <a:off x="1137513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圆形"/>
          <p:cNvSpPr/>
          <p:nvPr/>
        </p:nvSpPr>
        <p:spPr>
          <a:xfrm>
            <a:off x="1137513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圆形"/>
          <p:cNvSpPr/>
          <p:nvPr/>
        </p:nvSpPr>
        <p:spPr>
          <a:xfrm>
            <a:off x="11539728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圆形"/>
          <p:cNvSpPr/>
          <p:nvPr/>
        </p:nvSpPr>
        <p:spPr>
          <a:xfrm>
            <a:off x="11539728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圆形"/>
          <p:cNvSpPr/>
          <p:nvPr/>
        </p:nvSpPr>
        <p:spPr>
          <a:xfrm>
            <a:off x="11539728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标题蓝色竖线"/>
          <p:cNvSpPr/>
          <p:nvPr/>
        </p:nvSpPr>
        <p:spPr>
          <a:xfrm>
            <a:off x="274320" y="356616"/>
            <a:ext cx="109728" cy="585216"/>
          </a:xfrm>
          <a:prstGeom prst="roundRect">
            <a:avLst>
              <a:gd name="adj" fmla="val 41666"/>
            </a:avLst>
          </a:prstGeom>
          <a:gradFill>
            <a:gsLst>
              <a:gs pos="0">
                <a:srgbClr val="3A92D5"/>
              </a:gs>
              <a:gs pos="100000">
                <a:srgbClr val="146FB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标题"/>
          <p:cNvSpPr txBox="1"/>
          <p:nvPr/>
        </p:nvSpPr>
        <p:spPr>
          <a:xfrm>
            <a:off x="621792" y="301752"/>
            <a:ext cx="9390888" cy="64922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3600">
                <a:latin typeface="微软雅黑" panose="020B0503020204020204" charset="-122"/>
              </a:defRPr>
            </a:pPr>
            <a:r>
              <a:rPr sz="35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LIN数据总线的应用</a:t>
            </a:r>
            <a:endParaRPr sz="35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标题分隔线"/>
          <p:cNvSpPr/>
          <p:nvPr/>
        </p:nvSpPr>
        <p:spPr>
          <a:xfrm>
            <a:off x="621792" y="1051560"/>
            <a:ext cx="11109960" cy="18288"/>
          </a:xfrm>
          <a:prstGeom prst="rect">
            <a:avLst/>
          </a:prstGeom>
          <a:gradFill>
            <a:gsLst>
              <a:gs pos="0">
                <a:srgbClr val="3A92D5"/>
              </a:gs>
              <a:gs pos="100000">
                <a:srgbClr val="E3EFF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tongji_wordm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4" y="256032"/>
            <a:ext cx="1554480" cy="385298"/>
          </a:xfrm>
          <a:prstGeom prst="rect">
            <a:avLst/>
          </a:prstGeom>
          <a:effectLst/>
        </p:spPr>
      </p:pic>
      <p:sp>
        <p:nvSpPr>
          <p:cNvPr id="33" name="导入句"/>
          <p:cNvSpPr txBox="1"/>
          <p:nvPr/>
        </p:nvSpPr>
        <p:spPr>
          <a:xfrm>
            <a:off x="621792" y="1271016"/>
            <a:ext cx="10972800" cy="57607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000">
                <a:latin typeface="微软雅黑" panose="020B0503020204020204" charset="-122"/>
              </a:defRPr>
            </a:pPr>
            <a:r>
              <a:rPr sz="20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少量数据、局部功能、成本敏感：先看任务需要，再选择通信方式。</a:t>
            </a:r>
            <a:endParaRPr sz="20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矩形"/>
          <p:cNvSpPr/>
          <p:nvPr/>
        </p:nvSpPr>
        <p:spPr>
          <a:xfrm>
            <a:off x="676656" y="2230374"/>
            <a:ext cx="2185416" cy="1325880"/>
          </a:xfrm>
          <a:prstGeom prst="roundRect">
            <a:avLst>
              <a:gd name="adj" fmla="val 10344"/>
            </a:avLst>
          </a:prstGeom>
          <a:solidFill>
            <a:srgbClr val="F6FAFE"/>
          </a:solidFill>
          <a:ln w="12700">
            <a:solidFill>
              <a:srgbClr val="B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可编辑曲线"/>
          <p:cNvSpPr/>
          <p:nvPr/>
        </p:nvSpPr>
        <p:spPr>
          <a:xfrm>
            <a:off x="907084" y="2486771"/>
            <a:ext cx="303398" cy="130577"/>
          </a:xfrm>
          <a:custGeom>
            <a:avLst/>
            <a:gdLst/>
            <a:ahLst/>
            <a:cxnLst/>
            <a:rect l="l" t="t" r="r" b="b"/>
            <a:pathLst>
              <a:path w="303398" h="130577">
                <a:moveTo>
                  <a:pt x="0" y="130577"/>
                </a:moveTo>
                <a:lnTo>
                  <a:pt x="49927" y="0"/>
                </a:lnTo>
                <a:lnTo>
                  <a:pt x="245791" y="0"/>
                </a:lnTo>
                <a:lnTo>
                  <a:pt x="303398" y="130577"/>
                </a:lnTo>
              </a:path>
            </a:pathLst>
          </a:custGeom>
          <a:noFill/>
          <a:ln w="254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矩形"/>
          <p:cNvSpPr/>
          <p:nvPr/>
        </p:nvSpPr>
        <p:spPr>
          <a:xfrm>
            <a:off x="895563" y="2605826"/>
            <a:ext cx="330281" cy="161300"/>
          </a:xfrm>
          <a:prstGeom prst="roundRect">
            <a:avLst>
              <a:gd name="adj" fmla="val 19047"/>
            </a:avLst>
          </a:prstGeom>
          <a:noFill/>
          <a:ln w="254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连线"/>
          <p:cNvCxnSpPr/>
          <p:nvPr/>
        </p:nvCxnSpPr>
        <p:spPr>
          <a:xfrm>
            <a:off x="914765" y="2613507"/>
            <a:ext cx="295717" cy="0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圆形"/>
          <p:cNvSpPr/>
          <p:nvPr/>
        </p:nvSpPr>
        <p:spPr>
          <a:xfrm>
            <a:off x="933968" y="2663433"/>
            <a:ext cx="49926" cy="49926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圆形"/>
          <p:cNvSpPr/>
          <p:nvPr/>
        </p:nvSpPr>
        <p:spPr>
          <a:xfrm>
            <a:off x="1129832" y="2663433"/>
            <a:ext cx="49926" cy="49926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连线"/>
          <p:cNvCxnSpPr/>
          <p:nvPr/>
        </p:nvCxnSpPr>
        <p:spPr>
          <a:xfrm>
            <a:off x="941649" y="2763286"/>
            <a:ext cx="0" cy="49926"/>
          </a:xfrm>
          <a:prstGeom prst="line">
            <a:avLst/>
          </a:prstGeom>
          <a:ln w="381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连线"/>
          <p:cNvCxnSpPr/>
          <p:nvPr/>
        </p:nvCxnSpPr>
        <p:spPr>
          <a:xfrm>
            <a:off x="1175918" y="2763286"/>
            <a:ext cx="0" cy="49926"/>
          </a:xfrm>
          <a:prstGeom prst="line">
            <a:avLst/>
          </a:prstGeom>
          <a:ln w="381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字"/>
          <p:cNvSpPr txBox="1"/>
          <p:nvPr/>
        </p:nvSpPr>
        <p:spPr>
          <a:xfrm>
            <a:off x="1417320" y="2458974"/>
            <a:ext cx="1316736" cy="2997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900">
                <a:latin typeface="微软雅黑" panose="020B0503020204020204" charset="-122"/>
              </a:defRPr>
            </a:pPr>
            <a:r>
              <a:rPr sz="20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天窗</a:t>
            </a:r>
            <a:endParaRPr sz="20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字"/>
          <p:cNvSpPr txBox="1"/>
          <p:nvPr/>
        </p:nvSpPr>
        <p:spPr>
          <a:xfrm>
            <a:off x="859536" y="3053334"/>
            <a:ext cx="1810512" cy="2743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700">
                <a:latin typeface="微软雅黑" panose="020B0503020204020204" charset="-122"/>
              </a:defRPr>
            </a:pPr>
            <a:r>
              <a:rPr sz="190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开闭 / 位置</a:t>
            </a:r>
            <a:endParaRPr sz="190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矩形"/>
          <p:cNvSpPr/>
          <p:nvPr/>
        </p:nvSpPr>
        <p:spPr>
          <a:xfrm>
            <a:off x="3044952" y="2230374"/>
            <a:ext cx="2185416" cy="1325880"/>
          </a:xfrm>
          <a:prstGeom prst="roundRect">
            <a:avLst>
              <a:gd name="adj" fmla="val 10344"/>
            </a:avLst>
          </a:prstGeom>
          <a:solidFill>
            <a:srgbClr val="F6FAFE"/>
          </a:solidFill>
          <a:ln w="12700">
            <a:solidFill>
              <a:srgbClr val="B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可编辑曲线"/>
          <p:cNvSpPr/>
          <p:nvPr/>
        </p:nvSpPr>
        <p:spPr>
          <a:xfrm>
            <a:off x="3275380" y="2440686"/>
            <a:ext cx="307239" cy="372526"/>
          </a:xfrm>
          <a:custGeom>
            <a:avLst/>
            <a:gdLst/>
            <a:ahLst/>
            <a:cxnLst/>
            <a:rect l="l" t="t" r="r" b="b"/>
            <a:pathLst>
              <a:path w="307239" h="372526">
                <a:moveTo>
                  <a:pt x="153620" y="0"/>
                </a:moveTo>
                <a:lnTo>
                  <a:pt x="307239" y="65288"/>
                </a:lnTo>
                <a:lnTo>
                  <a:pt x="288036" y="249631"/>
                </a:lnTo>
                <a:lnTo>
                  <a:pt x="153620" y="372526"/>
                </a:lnTo>
                <a:lnTo>
                  <a:pt x="19203" y="249631"/>
                </a:lnTo>
                <a:lnTo>
                  <a:pt x="0" y="65288"/>
                </a:lnTo>
                <a:close/>
              </a:path>
            </a:pathLst>
          </a:custGeom>
          <a:noFill/>
          <a:ln w="254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可编辑曲线"/>
          <p:cNvSpPr/>
          <p:nvPr/>
        </p:nvSpPr>
        <p:spPr>
          <a:xfrm>
            <a:off x="3348349" y="2567421"/>
            <a:ext cx="165141" cy="119055"/>
          </a:xfrm>
          <a:custGeom>
            <a:avLst/>
            <a:gdLst/>
            <a:ahLst/>
            <a:cxnLst/>
            <a:rect l="l" t="t" r="r" b="b"/>
            <a:pathLst>
              <a:path w="165141" h="119055">
                <a:moveTo>
                  <a:pt x="0" y="57608"/>
                </a:moveTo>
                <a:lnTo>
                  <a:pt x="61448" y="119055"/>
                </a:lnTo>
                <a:lnTo>
                  <a:pt x="165141" y="0"/>
                </a:lnTo>
              </a:path>
            </a:pathLst>
          </a:custGeom>
          <a:noFill/>
          <a:ln w="2794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文字"/>
          <p:cNvSpPr txBox="1"/>
          <p:nvPr/>
        </p:nvSpPr>
        <p:spPr>
          <a:xfrm>
            <a:off x="3785616" y="2458974"/>
            <a:ext cx="1316736" cy="2997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900">
                <a:latin typeface="微软雅黑" panose="020B0503020204020204" charset="-122"/>
              </a:defRPr>
            </a:pPr>
            <a:r>
              <a:rPr sz="20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门锁</a:t>
            </a:r>
            <a:endParaRPr sz="20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字"/>
          <p:cNvSpPr txBox="1"/>
          <p:nvPr/>
        </p:nvSpPr>
        <p:spPr>
          <a:xfrm>
            <a:off x="3227832" y="3053334"/>
            <a:ext cx="1810512" cy="2743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700">
                <a:latin typeface="微软雅黑" panose="020B0503020204020204" charset="-122"/>
              </a:defRPr>
            </a:pPr>
            <a:r>
              <a:rPr sz="190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锁止 / 解锁</a:t>
            </a:r>
            <a:endParaRPr sz="190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矩形"/>
          <p:cNvSpPr/>
          <p:nvPr/>
        </p:nvSpPr>
        <p:spPr>
          <a:xfrm>
            <a:off x="5413248" y="2230374"/>
            <a:ext cx="2185416" cy="1325880"/>
          </a:xfrm>
          <a:prstGeom prst="roundRect">
            <a:avLst>
              <a:gd name="adj" fmla="val 10344"/>
            </a:avLst>
          </a:prstGeom>
          <a:solidFill>
            <a:srgbClr val="F6FAFE"/>
          </a:solidFill>
          <a:ln w="12700">
            <a:solidFill>
              <a:srgbClr val="B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矩形"/>
          <p:cNvSpPr/>
          <p:nvPr/>
        </p:nvSpPr>
        <p:spPr>
          <a:xfrm>
            <a:off x="5605272" y="2690317"/>
            <a:ext cx="76809" cy="134416"/>
          </a:xfrm>
          <a:prstGeom prst="roundRect">
            <a:avLst>
              <a:gd name="adj" fmla="val 14999"/>
            </a:avLst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矩形"/>
          <p:cNvSpPr/>
          <p:nvPr/>
        </p:nvSpPr>
        <p:spPr>
          <a:xfrm>
            <a:off x="5720486" y="2605826"/>
            <a:ext cx="76809" cy="218907"/>
          </a:xfrm>
          <a:prstGeom prst="roundRect">
            <a:avLst>
              <a:gd name="adj" fmla="val 14999"/>
            </a:avLst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矩形"/>
          <p:cNvSpPr/>
          <p:nvPr/>
        </p:nvSpPr>
        <p:spPr>
          <a:xfrm>
            <a:off x="5835700" y="2498293"/>
            <a:ext cx="76809" cy="326440"/>
          </a:xfrm>
          <a:prstGeom prst="roundRect">
            <a:avLst>
              <a:gd name="adj" fmla="val 14999"/>
            </a:avLst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文字"/>
          <p:cNvSpPr txBox="1"/>
          <p:nvPr/>
        </p:nvSpPr>
        <p:spPr>
          <a:xfrm>
            <a:off x="6153912" y="2458974"/>
            <a:ext cx="1316736" cy="2997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900">
                <a:latin typeface="微软雅黑" panose="020B0503020204020204" charset="-122"/>
              </a:defRPr>
            </a:pPr>
            <a:r>
              <a:rPr sz="20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玻璃升降</a:t>
            </a:r>
            <a:endParaRPr sz="20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字"/>
          <p:cNvSpPr txBox="1"/>
          <p:nvPr/>
        </p:nvSpPr>
        <p:spPr>
          <a:xfrm>
            <a:off x="5596128" y="3053334"/>
            <a:ext cx="1810512" cy="2743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700">
                <a:latin typeface="微软雅黑" panose="020B0503020204020204" charset="-122"/>
              </a:defRPr>
            </a:pPr>
            <a:r>
              <a:rPr sz="190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上升 / 下降</a:t>
            </a:r>
            <a:endParaRPr sz="190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矩形"/>
          <p:cNvSpPr/>
          <p:nvPr/>
        </p:nvSpPr>
        <p:spPr>
          <a:xfrm>
            <a:off x="676656" y="3775710"/>
            <a:ext cx="2185416" cy="1325880"/>
          </a:xfrm>
          <a:prstGeom prst="roundRect">
            <a:avLst>
              <a:gd name="adj" fmla="val 10344"/>
            </a:avLst>
          </a:prstGeom>
          <a:solidFill>
            <a:srgbClr val="F6FAFE"/>
          </a:solidFill>
          <a:ln w="12700">
            <a:solidFill>
              <a:srgbClr val="B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可编辑曲线"/>
          <p:cNvSpPr/>
          <p:nvPr/>
        </p:nvSpPr>
        <p:spPr>
          <a:xfrm>
            <a:off x="907084" y="4032107"/>
            <a:ext cx="303398" cy="130577"/>
          </a:xfrm>
          <a:custGeom>
            <a:avLst/>
            <a:gdLst/>
            <a:ahLst/>
            <a:cxnLst/>
            <a:rect l="l" t="t" r="r" b="b"/>
            <a:pathLst>
              <a:path w="303398" h="130577">
                <a:moveTo>
                  <a:pt x="0" y="130577"/>
                </a:moveTo>
                <a:lnTo>
                  <a:pt x="49927" y="0"/>
                </a:lnTo>
                <a:lnTo>
                  <a:pt x="245791" y="0"/>
                </a:lnTo>
                <a:lnTo>
                  <a:pt x="303398" y="130577"/>
                </a:lnTo>
              </a:path>
            </a:pathLst>
          </a:custGeom>
          <a:noFill/>
          <a:ln w="254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矩形"/>
          <p:cNvSpPr/>
          <p:nvPr/>
        </p:nvSpPr>
        <p:spPr>
          <a:xfrm>
            <a:off x="895563" y="4151162"/>
            <a:ext cx="330281" cy="161300"/>
          </a:xfrm>
          <a:prstGeom prst="roundRect">
            <a:avLst>
              <a:gd name="adj" fmla="val 19047"/>
            </a:avLst>
          </a:prstGeom>
          <a:noFill/>
          <a:ln w="254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连线"/>
          <p:cNvCxnSpPr/>
          <p:nvPr/>
        </p:nvCxnSpPr>
        <p:spPr>
          <a:xfrm>
            <a:off x="914765" y="4158843"/>
            <a:ext cx="295717" cy="0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圆形"/>
          <p:cNvSpPr/>
          <p:nvPr/>
        </p:nvSpPr>
        <p:spPr>
          <a:xfrm>
            <a:off x="933968" y="4208769"/>
            <a:ext cx="49926" cy="49926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圆形"/>
          <p:cNvSpPr/>
          <p:nvPr/>
        </p:nvSpPr>
        <p:spPr>
          <a:xfrm>
            <a:off x="1129832" y="4208769"/>
            <a:ext cx="49926" cy="49926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连线"/>
          <p:cNvCxnSpPr/>
          <p:nvPr/>
        </p:nvCxnSpPr>
        <p:spPr>
          <a:xfrm>
            <a:off x="941649" y="4308622"/>
            <a:ext cx="0" cy="49926"/>
          </a:xfrm>
          <a:prstGeom prst="line">
            <a:avLst/>
          </a:prstGeom>
          <a:ln w="381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连线"/>
          <p:cNvCxnSpPr/>
          <p:nvPr/>
        </p:nvCxnSpPr>
        <p:spPr>
          <a:xfrm>
            <a:off x="1175918" y="4308622"/>
            <a:ext cx="0" cy="49926"/>
          </a:xfrm>
          <a:prstGeom prst="line">
            <a:avLst/>
          </a:prstGeom>
          <a:ln w="381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字"/>
          <p:cNvSpPr txBox="1"/>
          <p:nvPr/>
        </p:nvSpPr>
        <p:spPr>
          <a:xfrm>
            <a:off x="1417320" y="4004310"/>
            <a:ext cx="1316736" cy="2997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900">
                <a:latin typeface="微软雅黑" panose="020B0503020204020204" charset="-122"/>
              </a:defRPr>
            </a:pPr>
            <a:r>
              <a:rPr sz="20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外后视镜</a:t>
            </a:r>
            <a:endParaRPr sz="20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文字"/>
          <p:cNvSpPr txBox="1"/>
          <p:nvPr/>
        </p:nvSpPr>
        <p:spPr>
          <a:xfrm>
            <a:off x="859536" y="4598670"/>
            <a:ext cx="1810512" cy="2743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700">
                <a:latin typeface="微软雅黑" panose="020B0503020204020204" charset="-122"/>
              </a:defRPr>
            </a:pPr>
            <a:r>
              <a:rPr sz="190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角度 / 状态</a:t>
            </a:r>
            <a:endParaRPr sz="190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矩形"/>
          <p:cNvSpPr/>
          <p:nvPr/>
        </p:nvSpPr>
        <p:spPr>
          <a:xfrm>
            <a:off x="3044952" y="3775710"/>
            <a:ext cx="2185416" cy="1325880"/>
          </a:xfrm>
          <a:prstGeom prst="roundRect">
            <a:avLst>
              <a:gd name="adj" fmla="val 10344"/>
            </a:avLst>
          </a:prstGeom>
          <a:solidFill>
            <a:srgbClr val="F6FAFE"/>
          </a:solidFill>
          <a:ln w="12700">
            <a:solidFill>
              <a:srgbClr val="B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连线"/>
          <p:cNvCxnSpPr/>
          <p:nvPr/>
        </p:nvCxnSpPr>
        <p:spPr>
          <a:xfrm>
            <a:off x="3236976" y="4093555"/>
            <a:ext cx="345643" cy="0"/>
          </a:xfrm>
          <a:prstGeom prst="line">
            <a:avLst/>
          </a:prstGeom>
          <a:ln w="38100" cap="rnd">
            <a:solidFill>
              <a:srgbClr val="146FB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连线"/>
          <p:cNvCxnSpPr/>
          <p:nvPr/>
        </p:nvCxnSpPr>
        <p:spPr>
          <a:xfrm flipH="1">
            <a:off x="3256178" y="4262536"/>
            <a:ext cx="345643" cy="0"/>
          </a:xfrm>
          <a:prstGeom prst="line">
            <a:avLst/>
          </a:prstGeom>
          <a:ln w="38100" cap="rnd">
            <a:solidFill>
              <a:srgbClr val="146FB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字"/>
          <p:cNvSpPr txBox="1"/>
          <p:nvPr/>
        </p:nvSpPr>
        <p:spPr>
          <a:xfrm>
            <a:off x="3785616" y="4004310"/>
            <a:ext cx="1316736" cy="2997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900">
                <a:latin typeface="微软雅黑" panose="020B0503020204020204" charset="-122"/>
              </a:defRPr>
            </a:pPr>
            <a:r>
              <a:rPr sz="20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风门伺服</a:t>
            </a:r>
            <a:endParaRPr sz="20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文字"/>
          <p:cNvSpPr txBox="1"/>
          <p:nvPr/>
        </p:nvSpPr>
        <p:spPr>
          <a:xfrm>
            <a:off x="3227832" y="4598670"/>
            <a:ext cx="1810512" cy="2743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700">
                <a:latin typeface="微软雅黑" panose="020B0503020204020204" charset="-122"/>
              </a:defRPr>
            </a:pPr>
            <a:r>
              <a:rPr sz="190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目标位置 / 反馈</a:t>
            </a:r>
            <a:endParaRPr sz="190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矩形"/>
          <p:cNvSpPr/>
          <p:nvPr/>
        </p:nvSpPr>
        <p:spPr>
          <a:xfrm>
            <a:off x="5413248" y="3775710"/>
            <a:ext cx="2185416" cy="1325880"/>
          </a:xfrm>
          <a:prstGeom prst="roundRect">
            <a:avLst>
              <a:gd name="adj" fmla="val 10344"/>
            </a:avLst>
          </a:prstGeom>
          <a:solidFill>
            <a:srgbClr val="F6FAFE"/>
          </a:solidFill>
          <a:ln w="12700">
            <a:solidFill>
              <a:srgbClr val="B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矩形"/>
          <p:cNvSpPr/>
          <p:nvPr/>
        </p:nvSpPr>
        <p:spPr>
          <a:xfrm>
            <a:off x="5758891" y="4005224"/>
            <a:ext cx="76809" cy="76809"/>
          </a:xfrm>
          <a:prstGeom prst="roundRect">
            <a:avLst>
              <a:gd name="adj" fmla="val 23809"/>
            </a:avLst>
          </a:prstGeom>
          <a:noFill/>
          <a:ln w="1778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矩形"/>
          <p:cNvSpPr/>
          <p:nvPr/>
        </p:nvSpPr>
        <p:spPr>
          <a:xfrm>
            <a:off x="5632155" y="4247174"/>
            <a:ext cx="76809" cy="76809"/>
          </a:xfrm>
          <a:prstGeom prst="roundRect">
            <a:avLst>
              <a:gd name="adj" fmla="val 23809"/>
            </a:avLst>
          </a:prstGeom>
          <a:noFill/>
          <a:ln w="1778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矩形"/>
          <p:cNvSpPr/>
          <p:nvPr/>
        </p:nvSpPr>
        <p:spPr>
          <a:xfrm>
            <a:off x="5758891" y="4247174"/>
            <a:ext cx="76809" cy="76809"/>
          </a:xfrm>
          <a:prstGeom prst="roundRect">
            <a:avLst>
              <a:gd name="adj" fmla="val 23809"/>
            </a:avLst>
          </a:prstGeom>
          <a:noFill/>
          <a:ln w="1778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矩形"/>
          <p:cNvSpPr/>
          <p:nvPr/>
        </p:nvSpPr>
        <p:spPr>
          <a:xfrm>
            <a:off x="5889467" y="4247174"/>
            <a:ext cx="76809" cy="76809"/>
          </a:xfrm>
          <a:prstGeom prst="roundRect">
            <a:avLst>
              <a:gd name="adj" fmla="val 23809"/>
            </a:avLst>
          </a:prstGeom>
          <a:noFill/>
          <a:ln w="1778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连线"/>
          <p:cNvCxnSpPr/>
          <p:nvPr/>
        </p:nvCxnSpPr>
        <p:spPr>
          <a:xfrm>
            <a:off x="5797296" y="4082034"/>
            <a:ext cx="0" cy="96012"/>
          </a:xfrm>
          <a:prstGeom prst="line">
            <a:avLst/>
          </a:prstGeom>
          <a:ln w="1905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连线"/>
          <p:cNvCxnSpPr/>
          <p:nvPr/>
        </p:nvCxnSpPr>
        <p:spPr>
          <a:xfrm>
            <a:off x="5670560" y="4178046"/>
            <a:ext cx="257312" cy="0"/>
          </a:xfrm>
          <a:prstGeom prst="line">
            <a:avLst/>
          </a:prstGeom>
          <a:ln w="1905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连线"/>
          <p:cNvCxnSpPr/>
          <p:nvPr/>
        </p:nvCxnSpPr>
        <p:spPr>
          <a:xfrm>
            <a:off x="5670560" y="4178046"/>
            <a:ext cx="0" cy="69128"/>
          </a:xfrm>
          <a:prstGeom prst="line">
            <a:avLst/>
          </a:prstGeom>
          <a:ln w="1905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连线"/>
          <p:cNvCxnSpPr/>
          <p:nvPr/>
        </p:nvCxnSpPr>
        <p:spPr>
          <a:xfrm>
            <a:off x="5797296" y="4178046"/>
            <a:ext cx="0" cy="69128"/>
          </a:xfrm>
          <a:prstGeom prst="line">
            <a:avLst/>
          </a:prstGeom>
          <a:ln w="1905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连线"/>
          <p:cNvCxnSpPr/>
          <p:nvPr/>
        </p:nvCxnSpPr>
        <p:spPr>
          <a:xfrm>
            <a:off x="5927872" y="4178046"/>
            <a:ext cx="0" cy="69128"/>
          </a:xfrm>
          <a:prstGeom prst="line">
            <a:avLst/>
          </a:prstGeom>
          <a:ln w="1905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文字"/>
          <p:cNvSpPr txBox="1"/>
          <p:nvPr/>
        </p:nvSpPr>
        <p:spPr>
          <a:xfrm>
            <a:off x="6153912" y="4004310"/>
            <a:ext cx="1316736" cy="2997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900">
                <a:latin typeface="微软雅黑" panose="020B0503020204020204" charset="-122"/>
              </a:defRPr>
            </a:pPr>
            <a:r>
              <a:rPr sz="20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鼓风机</a:t>
            </a:r>
            <a:endParaRPr sz="20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文字"/>
          <p:cNvSpPr txBox="1"/>
          <p:nvPr/>
        </p:nvSpPr>
        <p:spPr>
          <a:xfrm>
            <a:off x="5596128" y="4598670"/>
            <a:ext cx="1810512" cy="27432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700">
                <a:latin typeface="微软雅黑" panose="020B0503020204020204" charset="-122"/>
              </a:defRPr>
            </a:pPr>
            <a:r>
              <a:rPr sz="1900" b="0">
                <a:solidFill>
                  <a:srgbClr val="586D82"/>
                </a:solidFill>
                <a:latin typeface="微软雅黑" panose="020B0503020204020204" charset="-122"/>
                <a:ea typeface="微软雅黑" panose="020B0503020204020204" charset="-122"/>
              </a:rPr>
              <a:t>风量 / 运行状态</a:t>
            </a:r>
            <a:endParaRPr sz="1900" b="0">
              <a:solidFill>
                <a:srgbClr val="586D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与CAN怎样比较？卡片"/>
          <p:cNvSpPr/>
          <p:nvPr/>
        </p:nvSpPr>
        <p:spPr>
          <a:xfrm>
            <a:off x="7964424" y="2230374"/>
            <a:ext cx="3575304" cy="2880360"/>
          </a:xfrm>
          <a:prstGeom prst="roundRect">
            <a:avLst>
              <a:gd name="adj" fmla="val 5079"/>
            </a:avLst>
          </a:prstGeom>
          <a:solidFill>
            <a:srgbClr val="F6FAFE"/>
          </a:solidFill>
          <a:ln w="10160">
            <a:solidFill>
              <a:srgbClr val="B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卡片标题条"/>
          <p:cNvSpPr/>
          <p:nvPr/>
        </p:nvSpPr>
        <p:spPr>
          <a:xfrm>
            <a:off x="7964424" y="2230374"/>
            <a:ext cx="3575304" cy="585216"/>
          </a:xfrm>
          <a:prstGeom prst="roundRect">
            <a:avLst>
              <a:gd name="adj" fmla="val 20312"/>
            </a:avLst>
          </a:prstGeom>
          <a:gradFill>
            <a:gsLst>
              <a:gs pos="0">
                <a:srgbClr val="EDF5FD"/>
              </a:gs>
              <a:gs pos="100000">
                <a:srgbClr val="F7FBF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文字"/>
          <p:cNvSpPr txBox="1"/>
          <p:nvPr/>
        </p:nvSpPr>
        <p:spPr>
          <a:xfrm>
            <a:off x="8147304" y="2349246"/>
            <a:ext cx="3236976" cy="33832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200">
                <a:latin typeface="微软雅黑" panose="020B0503020204020204" charset="-122"/>
              </a:defRPr>
            </a:pPr>
            <a:r>
              <a:rPr sz="22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与CAN怎样比较？</a:t>
            </a:r>
            <a:endParaRPr sz="22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文字"/>
          <p:cNvSpPr txBox="1"/>
          <p:nvPr/>
        </p:nvSpPr>
        <p:spPr>
          <a:xfrm>
            <a:off x="8247888" y="3062478"/>
            <a:ext cx="2999232" cy="42062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100">
                <a:latin typeface="微软雅黑" panose="020B0503020204020204" charset="-122"/>
              </a:defRPr>
            </a:pPr>
            <a:r>
              <a:rPr sz="2100" b="1">
                <a:solidFill>
                  <a:srgbClr val="298E9D"/>
                </a:solidFill>
                <a:latin typeface="微软雅黑" panose="020B0503020204020204" charset="-122"/>
                <a:ea typeface="微软雅黑" panose="020B0503020204020204" charset="-122"/>
              </a:rPr>
              <a:t>LIN：最高约 20 kbit/s</a:t>
            </a:r>
            <a:endParaRPr sz="2100" b="1">
              <a:solidFill>
                <a:srgbClr val="298E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文字"/>
          <p:cNvSpPr txBox="1"/>
          <p:nvPr/>
        </p:nvSpPr>
        <p:spPr>
          <a:xfrm>
            <a:off x="8247888" y="3757422"/>
            <a:ext cx="3017520" cy="54864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650">
                <a:latin typeface="微软雅黑" panose="020B0503020204020204" charset="-122"/>
              </a:defRPr>
            </a:pPr>
            <a:r>
              <a:rPr sz="17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CAN：500 kbit/s～1 Mbit/s</a:t>
            </a:r>
            <a:endParaRPr sz="17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文字"/>
          <p:cNvSpPr txBox="1"/>
          <p:nvPr/>
        </p:nvSpPr>
        <p:spPr>
          <a:xfrm>
            <a:off x="8266175" y="4525518"/>
            <a:ext cx="2962656" cy="37490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700">
                <a:latin typeface="微软雅黑" panose="020B0503020204020204" charset="-122"/>
              </a:defRPr>
            </a:pPr>
            <a:r>
              <a:rPr sz="19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速率只是选择因素之一。</a:t>
            </a:r>
            <a:endParaRPr sz="19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本页总结背景"/>
          <p:cNvSpPr/>
          <p:nvPr/>
        </p:nvSpPr>
        <p:spPr>
          <a:xfrm>
            <a:off x="585216" y="5879592"/>
            <a:ext cx="11064240" cy="576072"/>
          </a:xfrm>
          <a:prstGeom prst="roundRect">
            <a:avLst>
              <a:gd name="adj" fmla="val 23809"/>
            </a:avLst>
          </a:prstGeom>
          <a:gradFill>
            <a:gsLst>
              <a:gs pos="0">
                <a:srgbClr val="F0F7FE"/>
              </a:gs>
              <a:gs pos="100000">
                <a:srgbClr val="E9F3F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可编辑曲线"/>
          <p:cNvSpPr/>
          <p:nvPr/>
        </p:nvSpPr>
        <p:spPr>
          <a:xfrm>
            <a:off x="907999" y="6018215"/>
            <a:ext cx="310621" cy="133685"/>
          </a:xfrm>
          <a:custGeom>
            <a:avLst/>
            <a:gdLst/>
            <a:ahLst/>
            <a:cxnLst/>
            <a:rect l="l" t="t" r="r" b="b"/>
            <a:pathLst>
              <a:path w="310621" h="133685">
                <a:moveTo>
                  <a:pt x="0" y="133685"/>
                </a:moveTo>
                <a:lnTo>
                  <a:pt x="51115" y="0"/>
                </a:lnTo>
                <a:lnTo>
                  <a:pt x="251643" y="0"/>
                </a:lnTo>
                <a:lnTo>
                  <a:pt x="310621" y="133685"/>
                </a:lnTo>
              </a:path>
            </a:pathLst>
          </a:custGeom>
          <a:noFill/>
          <a:ln w="254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矩形"/>
          <p:cNvSpPr/>
          <p:nvPr/>
        </p:nvSpPr>
        <p:spPr>
          <a:xfrm>
            <a:off x="896203" y="6140104"/>
            <a:ext cx="338145" cy="165140"/>
          </a:xfrm>
          <a:prstGeom prst="roundRect">
            <a:avLst>
              <a:gd name="adj" fmla="val 19047"/>
            </a:avLst>
          </a:prstGeom>
          <a:noFill/>
          <a:ln w="254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" name="连线"/>
          <p:cNvCxnSpPr/>
          <p:nvPr/>
        </p:nvCxnSpPr>
        <p:spPr>
          <a:xfrm>
            <a:off x="915863" y="6147968"/>
            <a:ext cx="302757" cy="0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圆形"/>
          <p:cNvSpPr/>
          <p:nvPr/>
        </p:nvSpPr>
        <p:spPr>
          <a:xfrm>
            <a:off x="935522" y="6199083"/>
            <a:ext cx="51114" cy="5111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圆形"/>
          <p:cNvSpPr/>
          <p:nvPr/>
        </p:nvSpPr>
        <p:spPr>
          <a:xfrm>
            <a:off x="1136050" y="6199083"/>
            <a:ext cx="51114" cy="5111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" name="连线"/>
          <p:cNvCxnSpPr/>
          <p:nvPr/>
        </p:nvCxnSpPr>
        <p:spPr>
          <a:xfrm>
            <a:off x="943386" y="6301313"/>
            <a:ext cx="0" cy="51115"/>
          </a:xfrm>
          <a:prstGeom prst="line">
            <a:avLst/>
          </a:prstGeom>
          <a:ln w="381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连线"/>
          <p:cNvCxnSpPr/>
          <p:nvPr/>
        </p:nvCxnSpPr>
        <p:spPr>
          <a:xfrm>
            <a:off x="1183233" y="6301313"/>
            <a:ext cx="0" cy="51115"/>
          </a:xfrm>
          <a:prstGeom prst="line">
            <a:avLst/>
          </a:prstGeom>
          <a:ln w="381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连线"/>
          <p:cNvCxnSpPr/>
          <p:nvPr/>
        </p:nvCxnSpPr>
        <p:spPr>
          <a:xfrm>
            <a:off x="1435608" y="5971031"/>
            <a:ext cx="0" cy="393193"/>
          </a:xfrm>
          <a:prstGeom prst="line">
            <a:avLst/>
          </a:prstGeom>
          <a:ln w="15875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本页总结"/>
          <p:cNvSpPr txBox="1"/>
          <p:nvPr/>
        </p:nvSpPr>
        <p:spPr>
          <a:xfrm>
            <a:off x="1655064" y="5971031"/>
            <a:ext cx="9692640" cy="42976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200">
                <a:latin typeface="微软雅黑" panose="020B0503020204020204" charset="-122"/>
              </a:defRPr>
            </a:pPr>
            <a:r>
              <a:rPr sz="21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不是“快的一定更好”，而是“满足需求的方案更合适”。</a:t>
            </a:r>
            <a:endParaRPr sz="21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白色背景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右下角淡蓝装饰"/>
          <p:cNvSpPr/>
          <p:nvPr/>
        </p:nvSpPr>
        <p:spPr>
          <a:xfrm>
            <a:off x="10774679" y="5440680"/>
            <a:ext cx="1417320" cy="1417320"/>
          </a:xfrm>
          <a:custGeom>
            <a:avLst/>
            <a:gdLst/>
            <a:ahLst/>
            <a:cxnLst/>
            <a:rect l="l" t="t" r="r" b="b"/>
            <a:pathLst>
              <a:path w="1417320" h="1417320">
                <a:moveTo>
                  <a:pt x="1417320" y="1417320"/>
                </a:moveTo>
                <a:lnTo>
                  <a:pt x="0" y="1417320"/>
                </a:lnTo>
                <a:lnTo>
                  <a:pt x="700" y="1372800"/>
                </a:lnTo>
                <a:lnTo>
                  <a:pt x="2797" y="1328325"/>
                </a:lnTo>
                <a:lnTo>
                  <a:pt x="6290" y="1283938"/>
                </a:lnTo>
                <a:lnTo>
                  <a:pt x="11176" y="1239682"/>
                </a:lnTo>
                <a:lnTo>
                  <a:pt x="17450" y="1195602"/>
                </a:lnTo>
                <a:lnTo>
                  <a:pt x="25105" y="1151740"/>
                </a:lnTo>
                <a:lnTo>
                  <a:pt x="34134" y="1108141"/>
                </a:lnTo>
                <a:lnTo>
                  <a:pt x="44528" y="1064846"/>
                </a:lnTo>
                <a:lnTo>
                  <a:pt x="56277" y="1021900"/>
                </a:lnTo>
                <a:lnTo>
                  <a:pt x="69369" y="979344"/>
                </a:lnTo>
                <a:lnTo>
                  <a:pt x="83791" y="937219"/>
                </a:lnTo>
                <a:lnTo>
                  <a:pt x="99529" y="895569"/>
                </a:lnTo>
                <a:lnTo>
                  <a:pt x="116568" y="854434"/>
                </a:lnTo>
                <a:lnTo>
                  <a:pt x="134891" y="813854"/>
                </a:lnTo>
                <a:lnTo>
                  <a:pt x="154479" y="773870"/>
                </a:lnTo>
                <a:lnTo>
                  <a:pt x="175313" y="734520"/>
                </a:lnTo>
                <a:lnTo>
                  <a:pt x="197373" y="695845"/>
                </a:lnTo>
                <a:lnTo>
                  <a:pt x="220637" y="657881"/>
                </a:lnTo>
                <a:lnTo>
                  <a:pt x="245082" y="620667"/>
                </a:lnTo>
                <a:lnTo>
                  <a:pt x="270684" y="584240"/>
                </a:lnTo>
                <a:lnTo>
                  <a:pt x="297418" y="548634"/>
                </a:lnTo>
                <a:lnTo>
                  <a:pt x="325256" y="513886"/>
                </a:lnTo>
                <a:lnTo>
                  <a:pt x="354173" y="480029"/>
                </a:lnTo>
                <a:lnTo>
                  <a:pt x="384138" y="447097"/>
                </a:lnTo>
                <a:lnTo>
                  <a:pt x="415124" y="415123"/>
                </a:lnTo>
                <a:lnTo>
                  <a:pt x="447098" y="384138"/>
                </a:lnTo>
                <a:lnTo>
                  <a:pt x="480030" y="354172"/>
                </a:lnTo>
                <a:lnTo>
                  <a:pt x="513886" y="325256"/>
                </a:lnTo>
                <a:lnTo>
                  <a:pt x="548635" y="297417"/>
                </a:lnTo>
                <a:lnTo>
                  <a:pt x="584240" y="270684"/>
                </a:lnTo>
                <a:lnTo>
                  <a:pt x="620668" y="245082"/>
                </a:lnTo>
                <a:lnTo>
                  <a:pt x="657882" y="220637"/>
                </a:lnTo>
                <a:lnTo>
                  <a:pt x="695846" y="197373"/>
                </a:lnTo>
                <a:lnTo>
                  <a:pt x="734521" y="175313"/>
                </a:lnTo>
                <a:lnTo>
                  <a:pt x="773870" y="154478"/>
                </a:lnTo>
                <a:lnTo>
                  <a:pt x="813855" y="134890"/>
                </a:lnTo>
                <a:lnTo>
                  <a:pt x="854435" y="116568"/>
                </a:lnTo>
                <a:lnTo>
                  <a:pt x="895570" y="99529"/>
                </a:lnTo>
                <a:lnTo>
                  <a:pt x="937220" y="83790"/>
                </a:lnTo>
                <a:lnTo>
                  <a:pt x="979344" y="69368"/>
                </a:lnTo>
                <a:lnTo>
                  <a:pt x="1021901" y="56276"/>
                </a:lnTo>
                <a:lnTo>
                  <a:pt x="1064847" y="44527"/>
                </a:lnTo>
                <a:lnTo>
                  <a:pt x="1108141" y="34133"/>
                </a:lnTo>
                <a:lnTo>
                  <a:pt x="1151741" y="25104"/>
                </a:lnTo>
                <a:lnTo>
                  <a:pt x="1195602" y="17449"/>
                </a:lnTo>
                <a:lnTo>
                  <a:pt x="1239683" y="11175"/>
                </a:lnTo>
                <a:lnTo>
                  <a:pt x="1283939" y="6290"/>
                </a:lnTo>
                <a:lnTo>
                  <a:pt x="1328326" y="2796"/>
                </a:lnTo>
                <a:lnTo>
                  <a:pt x="1372801" y="699"/>
                </a:lnTo>
                <a:lnTo>
                  <a:pt x="1417320" y="0"/>
                </a:lnTo>
                <a:lnTo>
                  <a:pt x="1417320" y="1417320"/>
                </a:lnTo>
                <a:close/>
              </a:path>
            </a:pathLst>
          </a:custGeom>
          <a:solidFill>
            <a:srgbClr val="F4F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右下角淡蓝装饰"/>
          <p:cNvSpPr/>
          <p:nvPr/>
        </p:nvSpPr>
        <p:spPr>
          <a:xfrm>
            <a:off x="11076431" y="5742432"/>
            <a:ext cx="1115568" cy="1115568"/>
          </a:xfrm>
          <a:custGeom>
            <a:avLst/>
            <a:gdLst/>
            <a:ahLst/>
            <a:cxnLst/>
            <a:rect l="l" t="t" r="r" b="b"/>
            <a:pathLst>
              <a:path w="1115568" h="1115568">
                <a:moveTo>
                  <a:pt x="1115568" y="1115568"/>
                </a:moveTo>
                <a:lnTo>
                  <a:pt x="0" y="1115568"/>
                </a:lnTo>
                <a:lnTo>
                  <a:pt x="551" y="1080527"/>
                </a:lnTo>
                <a:lnTo>
                  <a:pt x="2202" y="1045520"/>
                </a:lnTo>
                <a:lnTo>
                  <a:pt x="4951" y="1010583"/>
                </a:lnTo>
                <a:lnTo>
                  <a:pt x="8797" y="975750"/>
                </a:lnTo>
                <a:lnTo>
                  <a:pt x="13735" y="941054"/>
                </a:lnTo>
                <a:lnTo>
                  <a:pt x="19760" y="906531"/>
                </a:lnTo>
                <a:lnTo>
                  <a:pt x="26867" y="872214"/>
                </a:lnTo>
                <a:lnTo>
                  <a:pt x="35048" y="838137"/>
                </a:lnTo>
                <a:lnTo>
                  <a:pt x="44295" y="804334"/>
                </a:lnTo>
                <a:lnTo>
                  <a:pt x="54600" y="770838"/>
                </a:lnTo>
                <a:lnTo>
                  <a:pt x="65952" y="737682"/>
                </a:lnTo>
                <a:lnTo>
                  <a:pt x="78339" y="704900"/>
                </a:lnTo>
                <a:lnTo>
                  <a:pt x="91751" y="672522"/>
                </a:lnTo>
                <a:lnTo>
                  <a:pt x="106172" y="640582"/>
                </a:lnTo>
                <a:lnTo>
                  <a:pt x="121590" y="609110"/>
                </a:lnTo>
                <a:lnTo>
                  <a:pt x="137989" y="578139"/>
                </a:lnTo>
                <a:lnTo>
                  <a:pt x="155352" y="547697"/>
                </a:lnTo>
                <a:lnTo>
                  <a:pt x="173663" y="517816"/>
                </a:lnTo>
                <a:lnTo>
                  <a:pt x="192904" y="488525"/>
                </a:lnTo>
                <a:lnTo>
                  <a:pt x="213055" y="459853"/>
                </a:lnTo>
                <a:lnTo>
                  <a:pt x="234097" y="431828"/>
                </a:lnTo>
                <a:lnTo>
                  <a:pt x="256008" y="404478"/>
                </a:lnTo>
                <a:lnTo>
                  <a:pt x="278768" y="377829"/>
                </a:lnTo>
                <a:lnTo>
                  <a:pt x="302354" y="351909"/>
                </a:lnTo>
                <a:lnTo>
                  <a:pt x="326742" y="326742"/>
                </a:lnTo>
                <a:lnTo>
                  <a:pt x="351909" y="302353"/>
                </a:lnTo>
                <a:lnTo>
                  <a:pt x="377830" y="278768"/>
                </a:lnTo>
                <a:lnTo>
                  <a:pt x="404478" y="256008"/>
                </a:lnTo>
                <a:lnTo>
                  <a:pt x="431829" y="234096"/>
                </a:lnTo>
                <a:lnTo>
                  <a:pt x="459854" y="213054"/>
                </a:lnTo>
                <a:lnTo>
                  <a:pt x="488526" y="192903"/>
                </a:lnTo>
                <a:lnTo>
                  <a:pt x="517817" y="173662"/>
                </a:lnTo>
                <a:lnTo>
                  <a:pt x="547698" y="155351"/>
                </a:lnTo>
                <a:lnTo>
                  <a:pt x="578139" y="137988"/>
                </a:lnTo>
                <a:lnTo>
                  <a:pt x="609111" y="121589"/>
                </a:lnTo>
                <a:lnTo>
                  <a:pt x="640582" y="106171"/>
                </a:lnTo>
                <a:lnTo>
                  <a:pt x="672523" y="91750"/>
                </a:lnTo>
                <a:lnTo>
                  <a:pt x="704900" y="78339"/>
                </a:lnTo>
                <a:lnTo>
                  <a:pt x="737683" y="65951"/>
                </a:lnTo>
                <a:lnTo>
                  <a:pt x="770839" y="54599"/>
                </a:lnTo>
                <a:lnTo>
                  <a:pt x="804335" y="44295"/>
                </a:lnTo>
                <a:lnTo>
                  <a:pt x="838138" y="35047"/>
                </a:lnTo>
                <a:lnTo>
                  <a:pt x="872215" y="26866"/>
                </a:lnTo>
                <a:lnTo>
                  <a:pt x="906532" y="19759"/>
                </a:lnTo>
                <a:lnTo>
                  <a:pt x="941055" y="13734"/>
                </a:lnTo>
                <a:lnTo>
                  <a:pt x="975750" y="8796"/>
                </a:lnTo>
                <a:lnTo>
                  <a:pt x="1010584" y="4950"/>
                </a:lnTo>
                <a:lnTo>
                  <a:pt x="1045521" y="2201"/>
                </a:lnTo>
                <a:lnTo>
                  <a:pt x="1080527" y="550"/>
                </a:lnTo>
                <a:lnTo>
                  <a:pt x="1115568" y="0"/>
                </a:lnTo>
                <a:lnTo>
                  <a:pt x="1115568" y="1115568"/>
                </a:lnTo>
                <a:close/>
              </a:path>
            </a:pathLst>
          </a:custGeom>
          <a:solidFill>
            <a:srgbClr val="F8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圆形"/>
          <p:cNvSpPr/>
          <p:nvPr/>
        </p:nvSpPr>
        <p:spPr>
          <a:xfrm>
            <a:off x="1038758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圆形"/>
          <p:cNvSpPr/>
          <p:nvPr/>
        </p:nvSpPr>
        <p:spPr>
          <a:xfrm>
            <a:off x="1038758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圆形"/>
          <p:cNvSpPr/>
          <p:nvPr/>
        </p:nvSpPr>
        <p:spPr>
          <a:xfrm>
            <a:off x="1038758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圆形"/>
          <p:cNvSpPr/>
          <p:nvPr/>
        </p:nvSpPr>
        <p:spPr>
          <a:xfrm>
            <a:off x="1055217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圆形"/>
          <p:cNvSpPr/>
          <p:nvPr/>
        </p:nvSpPr>
        <p:spPr>
          <a:xfrm>
            <a:off x="1055217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圆形"/>
          <p:cNvSpPr/>
          <p:nvPr/>
        </p:nvSpPr>
        <p:spPr>
          <a:xfrm>
            <a:off x="1055217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圆形"/>
          <p:cNvSpPr/>
          <p:nvPr/>
        </p:nvSpPr>
        <p:spPr>
          <a:xfrm>
            <a:off x="10716767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圆形"/>
          <p:cNvSpPr/>
          <p:nvPr/>
        </p:nvSpPr>
        <p:spPr>
          <a:xfrm>
            <a:off x="10716767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圆形"/>
          <p:cNvSpPr/>
          <p:nvPr/>
        </p:nvSpPr>
        <p:spPr>
          <a:xfrm>
            <a:off x="10716767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圆形"/>
          <p:cNvSpPr/>
          <p:nvPr/>
        </p:nvSpPr>
        <p:spPr>
          <a:xfrm>
            <a:off x="10881359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圆形"/>
          <p:cNvSpPr/>
          <p:nvPr/>
        </p:nvSpPr>
        <p:spPr>
          <a:xfrm>
            <a:off x="10881359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圆形"/>
          <p:cNvSpPr/>
          <p:nvPr/>
        </p:nvSpPr>
        <p:spPr>
          <a:xfrm>
            <a:off x="10881359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圆形"/>
          <p:cNvSpPr/>
          <p:nvPr/>
        </p:nvSpPr>
        <p:spPr>
          <a:xfrm>
            <a:off x="11045952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圆形"/>
          <p:cNvSpPr/>
          <p:nvPr/>
        </p:nvSpPr>
        <p:spPr>
          <a:xfrm>
            <a:off x="11045952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圆形"/>
          <p:cNvSpPr/>
          <p:nvPr/>
        </p:nvSpPr>
        <p:spPr>
          <a:xfrm>
            <a:off x="11045952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圆形"/>
          <p:cNvSpPr/>
          <p:nvPr/>
        </p:nvSpPr>
        <p:spPr>
          <a:xfrm>
            <a:off x="1121054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圆形"/>
          <p:cNvSpPr/>
          <p:nvPr/>
        </p:nvSpPr>
        <p:spPr>
          <a:xfrm>
            <a:off x="1121054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圆形"/>
          <p:cNvSpPr/>
          <p:nvPr/>
        </p:nvSpPr>
        <p:spPr>
          <a:xfrm>
            <a:off x="1121054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圆形"/>
          <p:cNvSpPr/>
          <p:nvPr/>
        </p:nvSpPr>
        <p:spPr>
          <a:xfrm>
            <a:off x="1137513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圆形"/>
          <p:cNvSpPr/>
          <p:nvPr/>
        </p:nvSpPr>
        <p:spPr>
          <a:xfrm>
            <a:off x="1137513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圆形"/>
          <p:cNvSpPr/>
          <p:nvPr/>
        </p:nvSpPr>
        <p:spPr>
          <a:xfrm>
            <a:off x="1137513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圆形"/>
          <p:cNvSpPr/>
          <p:nvPr/>
        </p:nvSpPr>
        <p:spPr>
          <a:xfrm>
            <a:off x="11539728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圆形"/>
          <p:cNvSpPr/>
          <p:nvPr/>
        </p:nvSpPr>
        <p:spPr>
          <a:xfrm>
            <a:off x="11539728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圆形"/>
          <p:cNvSpPr/>
          <p:nvPr/>
        </p:nvSpPr>
        <p:spPr>
          <a:xfrm>
            <a:off x="11539728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标题蓝色竖线"/>
          <p:cNvSpPr/>
          <p:nvPr/>
        </p:nvSpPr>
        <p:spPr>
          <a:xfrm>
            <a:off x="274320" y="356616"/>
            <a:ext cx="109728" cy="585216"/>
          </a:xfrm>
          <a:prstGeom prst="roundRect">
            <a:avLst>
              <a:gd name="adj" fmla="val 41666"/>
            </a:avLst>
          </a:prstGeom>
          <a:gradFill>
            <a:gsLst>
              <a:gs pos="0">
                <a:srgbClr val="3A92D5"/>
              </a:gs>
              <a:gs pos="100000">
                <a:srgbClr val="146FB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标题"/>
          <p:cNvSpPr txBox="1"/>
          <p:nvPr/>
        </p:nvSpPr>
        <p:spPr>
          <a:xfrm>
            <a:off x="621792" y="301752"/>
            <a:ext cx="9390888" cy="64922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3600">
                <a:latin typeface="微软雅黑" panose="020B0503020204020204" charset="-122"/>
              </a:defRPr>
            </a:pPr>
            <a:r>
              <a:rPr sz="35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LIN知识小结</a:t>
            </a:r>
            <a:endParaRPr sz="35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标题分隔线"/>
          <p:cNvSpPr/>
          <p:nvPr/>
        </p:nvSpPr>
        <p:spPr>
          <a:xfrm>
            <a:off x="621792" y="1051560"/>
            <a:ext cx="11109960" cy="18288"/>
          </a:xfrm>
          <a:prstGeom prst="rect">
            <a:avLst/>
          </a:prstGeom>
          <a:gradFill>
            <a:gsLst>
              <a:gs pos="0">
                <a:srgbClr val="3A92D5"/>
              </a:gs>
              <a:gs pos="100000">
                <a:srgbClr val="E3EFF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tongji_wordm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4" y="256032"/>
            <a:ext cx="1554480" cy="385298"/>
          </a:xfrm>
          <a:prstGeom prst="rect">
            <a:avLst/>
          </a:prstGeom>
          <a:effectLst/>
        </p:spPr>
      </p:pic>
      <p:sp>
        <p:nvSpPr>
          <p:cNvPr id="36" name="圆形"/>
          <p:cNvSpPr/>
          <p:nvPr/>
        </p:nvSpPr>
        <p:spPr>
          <a:xfrm>
            <a:off x="5230368" y="2807716"/>
            <a:ext cx="1773936" cy="1179576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文字"/>
          <p:cNvSpPr txBox="1"/>
          <p:nvPr/>
        </p:nvSpPr>
        <p:spPr>
          <a:xfrm>
            <a:off x="5385816" y="3036316"/>
            <a:ext cx="1463040" cy="65836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750">
                <a:latin typeface="微软雅黑" panose="020B0503020204020204" charset="-122"/>
              </a:defRPr>
            </a:pPr>
            <a:r>
              <a:rPr sz="1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LIN</a:t>
            </a:r>
            <a:endParaRPr sz="18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750">
                <a:latin typeface="微软雅黑" panose="020B0503020204020204" charset="-122"/>
              </a:defRPr>
            </a:pPr>
            <a:r>
              <a:rPr sz="1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局部互连网络</a:t>
            </a:r>
            <a:endParaRPr sz="18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8" name="连线"/>
          <p:cNvCxnSpPr/>
          <p:nvPr/>
        </p:nvCxnSpPr>
        <p:spPr>
          <a:xfrm flipH="1" flipV="1">
            <a:off x="4608576" y="2473833"/>
            <a:ext cx="777240" cy="506730"/>
          </a:xfrm>
          <a:prstGeom prst="line">
            <a:avLst/>
          </a:prstGeom>
          <a:ln w="19050" cap="rnd">
            <a:solidFill>
              <a:srgbClr val="B7D4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01  简介与应用卡片"/>
          <p:cNvSpPr/>
          <p:nvPr/>
        </p:nvSpPr>
        <p:spPr>
          <a:xfrm>
            <a:off x="667512" y="1728723"/>
            <a:ext cx="3941063" cy="1490472"/>
          </a:xfrm>
          <a:prstGeom prst="roundRect">
            <a:avLst>
              <a:gd name="adj" fmla="val 9815"/>
            </a:avLst>
          </a:prstGeom>
          <a:solidFill>
            <a:srgbClr val="F6FAFE"/>
          </a:solidFill>
          <a:ln w="10160">
            <a:solidFill>
              <a:srgbClr val="B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卡片标题条"/>
          <p:cNvSpPr/>
          <p:nvPr/>
        </p:nvSpPr>
        <p:spPr>
          <a:xfrm>
            <a:off x="667512" y="1728723"/>
            <a:ext cx="3941063" cy="585216"/>
          </a:xfrm>
          <a:prstGeom prst="roundRect">
            <a:avLst>
              <a:gd name="adj" fmla="val 20312"/>
            </a:avLst>
          </a:prstGeom>
          <a:gradFill>
            <a:gsLst>
              <a:gs pos="0">
                <a:srgbClr val="EDF5FD"/>
              </a:gs>
              <a:gs pos="100000">
                <a:srgbClr val="F7FBF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文字"/>
          <p:cNvSpPr txBox="1"/>
          <p:nvPr/>
        </p:nvSpPr>
        <p:spPr>
          <a:xfrm>
            <a:off x="850392" y="1847595"/>
            <a:ext cx="3602735" cy="33832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200">
                <a:latin typeface="微软雅黑" panose="020B0503020204020204" charset="-122"/>
              </a:defRPr>
            </a:pPr>
            <a:r>
              <a:rPr sz="22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01  简介与应用</a:t>
            </a:r>
            <a:endParaRPr sz="22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字"/>
          <p:cNvSpPr txBox="1"/>
          <p:nvPr/>
        </p:nvSpPr>
        <p:spPr>
          <a:xfrm>
            <a:off x="868680" y="2533395"/>
            <a:ext cx="3538727" cy="66751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62B42"/>
                </a:solidFill>
                <a:latin typeface="微软雅黑" panose="020B0503020204020204" charset="-122"/>
              </a:rPr>
              <a:t>低成本、单信号线、一个主节点。</a:t>
            </a:r>
            <a:endParaRPr sz="1650" b="0">
              <a:solidFill>
                <a:srgbClr val="162B42"/>
              </a:solidFill>
              <a:latin typeface="微软雅黑" panose="020B0503020204020204" charset="-122"/>
            </a:endParaRP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62B42"/>
                </a:solidFill>
                <a:latin typeface="微软雅黑" panose="020B0503020204020204" charset="-122"/>
              </a:rPr>
              <a:t>用于门锁、天窗、后视镜、空调等。</a:t>
            </a:r>
            <a:endParaRPr sz="1650" b="0">
              <a:solidFill>
                <a:srgbClr val="162B42"/>
              </a:solidFill>
              <a:latin typeface="微软雅黑" panose="020B0503020204020204" charset="-122"/>
            </a:endParaRPr>
          </a:p>
        </p:txBody>
      </p:sp>
      <p:cxnSp>
        <p:nvCxnSpPr>
          <p:cNvPr id="43" name="连线"/>
          <p:cNvCxnSpPr>
            <a:stCxn id="36" idx="7"/>
          </p:cNvCxnSpPr>
          <p:nvPr/>
        </p:nvCxnSpPr>
        <p:spPr>
          <a:xfrm flipV="1">
            <a:off x="6744716" y="2473833"/>
            <a:ext cx="862965" cy="506730"/>
          </a:xfrm>
          <a:prstGeom prst="line">
            <a:avLst/>
          </a:prstGeom>
          <a:ln w="19050" cap="rnd">
            <a:solidFill>
              <a:srgbClr val="B7D4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02  系统组成卡片"/>
          <p:cNvSpPr/>
          <p:nvPr/>
        </p:nvSpPr>
        <p:spPr>
          <a:xfrm>
            <a:off x="7607808" y="1728723"/>
            <a:ext cx="3941063" cy="1490472"/>
          </a:xfrm>
          <a:prstGeom prst="roundRect">
            <a:avLst>
              <a:gd name="adj" fmla="val 9815"/>
            </a:avLst>
          </a:prstGeom>
          <a:solidFill>
            <a:srgbClr val="F6FAFE"/>
          </a:solidFill>
          <a:ln w="10160">
            <a:solidFill>
              <a:srgbClr val="B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卡片标题条"/>
          <p:cNvSpPr/>
          <p:nvPr/>
        </p:nvSpPr>
        <p:spPr>
          <a:xfrm>
            <a:off x="7607808" y="1728723"/>
            <a:ext cx="3941063" cy="585216"/>
          </a:xfrm>
          <a:prstGeom prst="roundRect">
            <a:avLst>
              <a:gd name="adj" fmla="val 20312"/>
            </a:avLst>
          </a:prstGeom>
          <a:gradFill>
            <a:gsLst>
              <a:gs pos="0">
                <a:srgbClr val="EDF5FD"/>
              </a:gs>
              <a:gs pos="100000">
                <a:srgbClr val="F7FBF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文字"/>
          <p:cNvSpPr txBox="1"/>
          <p:nvPr/>
        </p:nvSpPr>
        <p:spPr>
          <a:xfrm>
            <a:off x="7790688" y="1847595"/>
            <a:ext cx="3602736" cy="33832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200">
                <a:latin typeface="微软雅黑" panose="020B0503020204020204" charset="-122"/>
              </a:defRPr>
            </a:pPr>
            <a:r>
              <a:rPr sz="22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02  系统组成</a:t>
            </a:r>
            <a:endParaRPr sz="22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字"/>
          <p:cNvSpPr txBox="1"/>
          <p:nvPr/>
        </p:nvSpPr>
        <p:spPr>
          <a:xfrm>
            <a:off x="7808976" y="2533395"/>
            <a:ext cx="3538727" cy="66751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62B42"/>
                </a:solidFill>
                <a:latin typeface="微软雅黑" panose="020B0503020204020204" charset="-122"/>
              </a:rPr>
              <a:t>主节点、从节点与信号线组成系统。</a:t>
            </a:r>
            <a:endParaRPr sz="1650" b="0">
              <a:solidFill>
                <a:srgbClr val="162B42"/>
              </a:solidFill>
              <a:latin typeface="微软雅黑" panose="020B0503020204020204" charset="-122"/>
            </a:endParaRP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62B42"/>
                </a:solidFill>
                <a:latin typeface="微软雅黑" panose="020B0503020204020204" charset="-122"/>
              </a:rPr>
              <a:t>主节点组织；从节点按约定响应。</a:t>
            </a:r>
            <a:endParaRPr sz="1650" b="0">
              <a:solidFill>
                <a:srgbClr val="162B42"/>
              </a:solidFill>
              <a:latin typeface="微软雅黑" panose="020B0503020204020204" charset="-122"/>
            </a:endParaRPr>
          </a:p>
        </p:txBody>
      </p:sp>
      <p:cxnSp>
        <p:nvCxnSpPr>
          <p:cNvPr id="48" name="连线"/>
          <p:cNvCxnSpPr/>
          <p:nvPr/>
        </p:nvCxnSpPr>
        <p:spPr>
          <a:xfrm flipH="1">
            <a:off x="4608576" y="3840988"/>
            <a:ext cx="943610" cy="745490"/>
          </a:xfrm>
          <a:prstGeom prst="line">
            <a:avLst/>
          </a:prstGeom>
          <a:ln w="19050" cap="rnd">
            <a:solidFill>
              <a:srgbClr val="B7D4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03  数据传输卡片"/>
          <p:cNvSpPr/>
          <p:nvPr/>
        </p:nvSpPr>
        <p:spPr>
          <a:xfrm>
            <a:off x="667512" y="3840988"/>
            <a:ext cx="3941063" cy="1490472"/>
          </a:xfrm>
          <a:prstGeom prst="roundRect">
            <a:avLst>
              <a:gd name="adj" fmla="val 9815"/>
            </a:avLst>
          </a:prstGeom>
          <a:solidFill>
            <a:srgbClr val="F6FAFE"/>
          </a:solidFill>
          <a:ln w="10160">
            <a:solidFill>
              <a:srgbClr val="B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卡片标题条"/>
          <p:cNvSpPr/>
          <p:nvPr/>
        </p:nvSpPr>
        <p:spPr>
          <a:xfrm>
            <a:off x="667512" y="3840988"/>
            <a:ext cx="3941063" cy="585216"/>
          </a:xfrm>
          <a:prstGeom prst="roundRect">
            <a:avLst>
              <a:gd name="adj" fmla="val 20312"/>
            </a:avLst>
          </a:prstGeom>
          <a:gradFill>
            <a:gsLst>
              <a:gs pos="0">
                <a:srgbClr val="EDF5FD"/>
              </a:gs>
              <a:gs pos="100000">
                <a:srgbClr val="F7FBF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文字"/>
          <p:cNvSpPr txBox="1"/>
          <p:nvPr/>
        </p:nvSpPr>
        <p:spPr>
          <a:xfrm>
            <a:off x="850392" y="3959860"/>
            <a:ext cx="3602735" cy="33832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200">
                <a:latin typeface="微软雅黑" panose="020B0503020204020204" charset="-122"/>
              </a:defRPr>
            </a:pPr>
            <a:r>
              <a:rPr sz="22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03  数据传输</a:t>
            </a:r>
            <a:endParaRPr sz="22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字"/>
          <p:cNvSpPr txBox="1"/>
          <p:nvPr/>
        </p:nvSpPr>
        <p:spPr>
          <a:xfrm>
            <a:off x="868680" y="4645660"/>
            <a:ext cx="3538727" cy="667512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62B42"/>
                </a:solidFill>
                <a:latin typeface="微软雅黑" panose="020B0503020204020204" charset="-122"/>
              </a:rPr>
              <a:t>主节点发报文头，约定节点提供响应。</a:t>
            </a:r>
            <a:endParaRPr sz="1650" b="0">
              <a:solidFill>
                <a:srgbClr val="162B42"/>
              </a:solidFill>
              <a:latin typeface="微软雅黑" panose="020B0503020204020204" charset="-122"/>
            </a:endParaRP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62B42"/>
                </a:solidFill>
                <a:latin typeface="微软雅黑" panose="020B0503020204020204" charset="-122"/>
              </a:rPr>
              <a:t>隐性接近电源，显性接近0 V。</a:t>
            </a:r>
            <a:endParaRPr sz="1650" b="0">
              <a:solidFill>
                <a:srgbClr val="162B42"/>
              </a:solidFill>
              <a:latin typeface="微软雅黑" panose="020B0503020204020204" charset="-122"/>
            </a:endParaRPr>
          </a:p>
        </p:txBody>
      </p:sp>
      <p:cxnSp>
        <p:nvCxnSpPr>
          <p:cNvPr id="53" name="连线"/>
          <p:cNvCxnSpPr>
            <a:stCxn id="36" idx="5"/>
          </p:cNvCxnSpPr>
          <p:nvPr/>
        </p:nvCxnSpPr>
        <p:spPr>
          <a:xfrm>
            <a:off x="6744716" y="3814953"/>
            <a:ext cx="862965" cy="771525"/>
          </a:xfrm>
          <a:prstGeom prst="line">
            <a:avLst/>
          </a:prstGeom>
          <a:ln w="19050" cap="rnd">
            <a:solidFill>
              <a:srgbClr val="B7D4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04  诊断与故障卡片"/>
          <p:cNvSpPr/>
          <p:nvPr/>
        </p:nvSpPr>
        <p:spPr>
          <a:xfrm>
            <a:off x="7607808" y="3840988"/>
            <a:ext cx="3941063" cy="1490472"/>
          </a:xfrm>
          <a:prstGeom prst="roundRect">
            <a:avLst>
              <a:gd name="adj" fmla="val 9815"/>
            </a:avLst>
          </a:prstGeom>
          <a:solidFill>
            <a:srgbClr val="F6FAFE"/>
          </a:solidFill>
          <a:ln w="10160">
            <a:solidFill>
              <a:srgbClr val="B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卡片标题条"/>
          <p:cNvSpPr/>
          <p:nvPr/>
        </p:nvSpPr>
        <p:spPr>
          <a:xfrm>
            <a:off x="7607808" y="3840988"/>
            <a:ext cx="3941063" cy="585216"/>
          </a:xfrm>
          <a:prstGeom prst="roundRect">
            <a:avLst>
              <a:gd name="adj" fmla="val 20312"/>
            </a:avLst>
          </a:prstGeom>
          <a:gradFill>
            <a:gsLst>
              <a:gs pos="0">
                <a:srgbClr val="EDF5FD"/>
              </a:gs>
              <a:gs pos="100000">
                <a:srgbClr val="F7FBF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文字"/>
          <p:cNvSpPr txBox="1"/>
          <p:nvPr/>
        </p:nvSpPr>
        <p:spPr>
          <a:xfrm>
            <a:off x="7790688" y="3959860"/>
            <a:ext cx="3602736" cy="338328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200">
                <a:latin typeface="微软雅黑" panose="020B0503020204020204" charset="-122"/>
              </a:defRPr>
            </a:pPr>
            <a:r>
              <a:rPr sz="22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04  诊断与故障</a:t>
            </a:r>
            <a:endParaRPr sz="22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文字"/>
          <p:cNvSpPr txBox="1"/>
          <p:nvPr/>
        </p:nvSpPr>
        <p:spPr>
          <a:xfrm>
            <a:off x="7808976" y="4645660"/>
            <a:ext cx="3538727" cy="557783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600">
                <a:latin typeface="微软雅黑" panose="020B0503020204020204" charset="-122"/>
              </a:defRPr>
            </a:pPr>
            <a:r>
              <a:rPr sz="17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检查通信状态与节点响应。</a:t>
            </a:r>
            <a:endParaRPr sz="17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600">
                <a:latin typeface="微软雅黑" panose="020B0503020204020204" charset="-122"/>
              </a:defRPr>
            </a:pPr>
            <a:r>
              <a:rPr sz="17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典型故障：线路断路、短路。</a:t>
            </a:r>
            <a:endParaRPr sz="1700" b="0">
              <a:solidFill>
                <a:srgbClr val="162B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本页总结背景"/>
          <p:cNvSpPr/>
          <p:nvPr/>
        </p:nvSpPr>
        <p:spPr>
          <a:xfrm>
            <a:off x="585216" y="5943600"/>
            <a:ext cx="11064240" cy="512064"/>
          </a:xfrm>
          <a:prstGeom prst="roundRect">
            <a:avLst>
              <a:gd name="adj" fmla="val 26785"/>
            </a:avLst>
          </a:prstGeom>
          <a:gradFill>
            <a:gsLst>
              <a:gs pos="0">
                <a:srgbClr val="F0F7FE"/>
              </a:gs>
              <a:gs pos="100000">
                <a:srgbClr val="E9F3F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可编辑曲线"/>
          <p:cNvSpPr/>
          <p:nvPr/>
        </p:nvSpPr>
        <p:spPr>
          <a:xfrm>
            <a:off x="907999" y="6082223"/>
            <a:ext cx="310621" cy="133685"/>
          </a:xfrm>
          <a:custGeom>
            <a:avLst/>
            <a:gdLst/>
            <a:ahLst/>
            <a:cxnLst/>
            <a:rect l="l" t="t" r="r" b="b"/>
            <a:pathLst>
              <a:path w="310621" h="133685">
                <a:moveTo>
                  <a:pt x="0" y="133685"/>
                </a:moveTo>
                <a:lnTo>
                  <a:pt x="51115" y="0"/>
                </a:lnTo>
                <a:lnTo>
                  <a:pt x="251643" y="0"/>
                </a:lnTo>
                <a:lnTo>
                  <a:pt x="310621" y="133685"/>
                </a:lnTo>
              </a:path>
            </a:pathLst>
          </a:custGeom>
          <a:noFill/>
          <a:ln w="254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矩形"/>
          <p:cNvSpPr/>
          <p:nvPr/>
        </p:nvSpPr>
        <p:spPr>
          <a:xfrm>
            <a:off x="896203" y="6204112"/>
            <a:ext cx="338145" cy="165140"/>
          </a:xfrm>
          <a:prstGeom prst="roundRect">
            <a:avLst>
              <a:gd name="adj" fmla="val 19047"/>
            </a:avLst>
          </a:prstGeom>
          <a:noFill/>
          <a:ln w="25400">
            <a:solidFill>
              <a:srgbClr val="14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连线"/>
          <p:cNvCxnSpPr/>
          <p:nvPr/>
        </p:nvCxnSpPr>
        <p:spPr>
          <a:xfrm>
            <a:off x="915863" y="6211976"/>
            <a:ext cx="302757" cy="0"/>
          </a:xfrm>
          <a:prstGeom prst="line">
            <a:avLst/>
          </a:prstGeom>
          <a:ln w="254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圆形"/>
          <p:cNvSpPr/>
          <p:nvPr/>
        </p:nvSpPr>
        <p:spPr>
          <a:xfrm>
            <a:off x="935522" y="6263091"/>
            <a:ext cx="51114" cy="5111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圆形"/>
          <p:cNvSpPr/>
          <p:nvPr/>
        </p:nvSpPr>
        <p:spPr>
          <a:xfrm>
            <a:off x="1136050" y="6263091"/>
            <a:ext cx="51114" cy="51114"/>
          </a:xfrm>
          <a:prstGeom prst="ellipse">
            <a:avLst/>
          </a:prstGeom>
          <a:solidFill>
            <a:srgbClr val="14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连线"/>
          <p:cNvCxnSpPr/>
          <p:nvPr/>
        </p:nvCxnSpPr>
        <p:spPr>
          <a:xfrm>
            <a:off x="943386" y="6365321"/>
            <a:ext cx="0" cy="51115"/>
          </a:xfrm>
          <a:prstGeom prst="line">
            <a:avLst/>
          </a:prstGeom>
          <a:ln w="381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连线"/>
          <p:cNvCxnSpPr/>
          <p:nvPr/>
        </p:nvCxnSpPr>
        <p:spPr>
          <a:xfrm>
            <a:off x="1183233" y="6365321"/>
            <a:ext cx="0" cy="51115"/>
          </a:xfrm>
          <a:prstGeom prst="line">
            <a:avLst/>
          </a:prstGeom>
          <a:ln w="38100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连线"/>
          <p:cNvCxnSpPr/>
          <p:nvPr/>
        </p:nvCxnSpPr>
        <p:spPr>
          <a:xfrm>
            <a:off x="1435608" y="6035040"/>
            <a:ext cx="0" cy="329184"/>
          </a:xfrm>
          <a:prstGeom prst="line">
            <a:avLst/>
          </a:prstGeom>
          <a:ln w="15875" cap="rnd">
            <a:solidFill>
              <a:srgbClr val="146FB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本页总结"/>
          <p:cNvSpPr txBox="1"/>
          <p:nvPr/>
        </p:nvSpPr>
        <p:spPr>
          <a:xfrm>
            <a:off x="1655064" y="6035040"/>
            <a:ext cx="9692640" cy="365760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000">
                <a:latin typeface="微软雅黑" panose="020B0503020204020204" charset="-122"/>
              </a:defRPr>
            </a:pPr>
            <a:r>
              <a:rPr sz="2000" b="0">
                <a:solidFill>
                  <a:srgbClr val="162B42"/>
                </a:solidFill>
                <a:latin typeface="微软雅黑" panose="020B0503020204020204" charset="-122"/>
                <a:ea typeface="微软雅黑" panose="020B0503020204020204" charset="-122"/>
              </a:rPr>
              <a:t>看到LIN系统，应能说清：</a:t>
            </a:r>
            <a:r>
              <a:rPr sz="2000" b="1">
                <a:solidFill>
                  <a:srgbClr val="146FB5"/>
                </a:solidFill>
                <a:latin typeface="微软雅黑" panose="020B0503020204020204" charset="-122"/>
                <a:ea typeface="微软雅黑" panose="020B0503020204020204" charset="-122"/>
              </a:rPr>
              <a:t>谁组织、谁响应、传什么、出了问题怎样查。</a:t>
            </a:r>
            <a:endParaRPr sz="2000" b="1">
              <a:solidFill>
                <a:srgbClr val="146F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白色背景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右下角淡蓝装饰"/>
          <p:cNvSpPr/>
          <p:nvPr/>
        </p:nvSpPr>
        <p:spPr>
          <a:xfrm>
            <a:off x="10774679" y="5440680"/>
            <a:ext cx="1417320" cy="1417320"/>
          </a:xfrm>
          <a:custGeom>
            <a:avLst/>
            <a:gdLst/>
            <a:ahLst/>
            <a:cxnLst/>
            <a:rect l="l" t="t" r="r" b="b"/>
            <a:pathLst>
              <a:path w="1417320" h="1417320">
                <a:moveTo>
                  <a:pt x="1417320" y="1417320"/>
                </a:moveTo>
                <a:lnTo>
                  <a:pt x="0" y="1417320"/>
                </a:lnTo>
                <a:lnTo>
                  <a:pt x="700" y="1372800"/>
                </a:lnTo>
                <a:lnTo>
                  <a:pt x="2797" y="1328325"/>
                </a:lnTo>
                <a:lnTo>
                  <a:pt x="6290" y="1283938"/>
                </a:lnTo>
                <a:lnTo>
                  <a:pt x="11176" y="1239682"/>
                </a:lnTo>
                <a:lnTo>
                  <a:pt x="17450" y="1195602"/>
                </a:lnTo>
                <a:lnTo>
                  <a:pt x="25105" y="1151740"/>
                </a:lnTo>
                <a:lnTo>
                  <a:pt x="34134" y="1108141"/>
                </a:lnTo>
                <a:lnTo>
                  <a:pt x="44528" y="1064846"/>
                </a:lnTo>
                <a:lnTo>
                  <a:pt x="56277" y="1021900"/>
                </a:lnTo>
                <a:lnTo>
                  <a:pt x="69369" y="979344"/>
                </a:lnTo>
                <a:lnTo>
                  <a:pt x="83791" y="937219"/>
                </a:lnTo>
                <a:lnTo>
                  <a:pt x="99529" y="895569"/>
                </a:lnTo>
                <a:lnTo>
                  <a:pt x="116568" y="854434"/>
                </a:lnTo>
                <a:lnTo>
                  <a:pt x="134891" y="813854"/>
                </a:lnTo>
                <a:lnTo>
                  <a:pt x="154479" y="773870"/>
                </a:lnTo>
                <a:lnTo>
                  <a:pt x="175313" y="734520"/>
                </a:lnTo>
                <a:lnTo>
                  <a:pt x="197373" y="695845"/>
                </a:lnTo>
                <a:lnTo>
                  <a:pt x="220637" y="657881"/>
                </a:lnTo>
                <a:lnTo>
                  <a:pt x="245082" y="620667"/>
                </a:lnTo>
                <a:lnTo>
                  <a:pt x="270684" y="584240"/>
                </a:lnTo>
                <a:lnTo>
                  <a:pt x="297418" y="548634"/>
                </a:lnTo>
                <a:lnTo>
                  <a:pt x="325256" y="513886"/>
                </a:lnTo>
                <a:lnTo>
                  <a:pt x="354173" y="480029"/>
                </a:lnTo>
                <a:lnTo>
                  <a:pt x="384138" y="447097"/>
                </a:lnTo>
                <a:lnTo>
                  <a:pt x="415124" y="415123"/>
                </a:lnTo>
                <a:lnTo>
                  <a:pt x="447098" y="384138"/>
                </a:lnTo>
                <a:lnTo>
                  <a:pt x="480030" y="354172"/>
                </a:lnTo>
                <a:lnTo>
                  <a:pt x="513886" y="325256"/>
                </a:lnTo>
                <a:lnTo>
                  <a:pt x="548635" y="297417"/>
                </a:lnTo>
                <a:lnTo>
                  <a:pt x="584240" y="270684"/>
                </a:lnTo>
                <a:lnTo>
                  <a:pt x="620668" y="245082"/>
                </a:lnTo>
                <a:lnTo>
                  <a:pt x="657882" y="220637"/>
                </a:lnTo>
                <a:lnTo>
                  <a:pt x="695846" y="197373"/>
                </a:lnTo>
                <a:lnTo>
                  <a:pt x="734521" y="175313"/>
                </a:lnTo>
                <a:lnTo>
                  <a:pt x="773870" y="154478"/>
                </a:lnTo>
                <a:lnTo>
                  <a:pt x="813855" y="134890"/>
                </a:lnTo>
                <a:lnTo>
                  <a:pt x="854435" y="116568"/>
                </a:lnTo>
                <a:lnTo>
                  <a:pt x="895570" y="99529"/>
                </a:lnTo>
                <a:lnTo>
                  <a:pt x="937220" y="83790"/>
                </a:lnTo>
                <a:lnTo>
                  <a:pt x="979344" y="69368"/>
                </a:lnTo>
                <a:lnTo>
                  <a:pt x="1021901" y="56276"/>
                </a:lnTo>
                <a:lnTo>
                  <a:pt x="1064847" y="44527"/>
                </a:lnTo>
                <a:lnTo>
                  <a:pt x="1108141" y="34133"/>
                </a:lnTo>
                <a:lnTo>
                  <a:pt x="1151741" y="25104"/>
                </a:lnTo>
                <a:lnTo>
                  <a:pt x="1195602" y="17449"/>
                </a:lnTo>
                <a:lnTo>
                  <a:pt x="1239683" y="11175"/>
                </a:lnTo>
                <a:lnTo>
                  <a:pt x="1283939" y="6290"/>
                </a:lnTo>
                <a:lnTo>
                  <a:pt x="1328326" y="2796"/>
                </a:lnTo>
                <a:lnTo>
                  <a:pt x="1372801" y="699"/>
                </a:lnTo>
                <a:lnTo>
                  <a:pt x="1417320" y="0"/>
                </a:lnTo>
                <a:lnTo>
                  <a:pt x="1417320" y="1417320"/>
                </a:lnTo>
                <a:close/>
              </a:path>
            </a:pathLst>
          </a:custGeom>
          <a:solidFill>
            <a:srgbClr val="F4F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圆形"/>
          <p:cNvSpPr/>
          <p:nvPr/>
        </p:nvSpPr>
        <p:spPr>
          <a:xfrm>
            <a:off x="1038758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圆形"/>
          <p:cNvSpPr/>
          <p:nvPr/>
        </p:nvSpPr>
        <p:spPr>
          <a:xfrm>
            <a:off x="1038758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圆形"/>
          <p:cNvSpPr/>
          <p:nvPr/>
        </p:nvSpPr>
        <p:spPr>
          <a:xfrm>
            <a:off x="1038758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圆形"/>
          <p:cNvSpPr/>
          <p:nvPr/>
        </p:nvSpPr>
        <p:spPr>
          <a:xfrm>
            <a:off x="1055217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圆形"/>
          <p:cNvSpPr/>
          <p:nvPr/>
        </p:nvSpPr>
        <p:spPr>
          <a:xfrm>
            <a:off x="1055217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圆形"/>
          <p:cNvSpPr/>
          <p:nvPr/>
        </p:nvSpPr>
        <p:spPr>
          <a:xfrm>
            <a:off x="1055217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圆形"/>
          <p:cNvSpPr/>
          <p:nvPr/>
        </p:nvSpPr>
        <p:spPr>
          <a:xfrm>
            <a:off x="10716767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圆形"/>
          <p:cNvSpPr/>
          <p:nvPr/>
        </p:nvSpPr>
        <p:spPr>
          <a:xfrm>
            <a:off x="10716767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圆形"/>
          <p:cNvSpPr/>
          <p:nvPr/>
        </p:nvSpPr>
        <p:spPr>
          <a:xfrm>
            <a:off x="10716767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圆形"/>
          <p:cNvSpPr/>
          <p:nvPr/>
        </p:nvSpPr>
        <p:spPr>
          <a:xfrm>
            <a:off x="10881359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圆形"/>
          <p:cNvSpPr/>
          <p:nvPr/>
        </p:nvSpPr>
        <p:spPr>
          <a:xfrm>
            <a:off x="10881359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圆形"/>
          <p:cNvSpPr/>
          <p:nvPr/>
        </p:nvSpPr>
        <p:spPr>
          <a:xfrm>
            <a:off x="10881359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圆形"/>
          <p:cNvSpPr/>
          <p:nvPr/>
        </p:nvSpPr>
        <p:spPr>
          <a:xfrm>
            <a:off x="11045952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圆形"/>
          <p:cNvSpPr/>
          <p:nvPr/>
        </p:nvSpPr>
        <p:spPr>
          <a:xfrm>
            <a:off x="11045952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圆形"/>
          <p:cNvSpPr/>
          <p:nvPr/>
        </p:nvSpPr>
        <p:spPr>
          <a:xfrm>
            <a:off x="11045952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圆形"/>
          <p:cNvSpPr/>
          <p:nvPr/>
        </p:nvSpPr>
        <p:spPr>
          <a:xfrm>
            <a:off x="1121054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圆形"/>
          <p:cNvSpPr/>
          <p:nvPr/>
        </p:nvSpPr>
        <p:spPr>
          <a:xfrm>
            <a:off x="1121054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圆形"/>
          <p:cNvSpPr/>
          <p:nvPr/>
        </p:nvSpPr>
        <p:spPr>
          <a:xfrm>
            <a:off x="1121054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圆形"/>
          <p:cNvSpPr/>
          <p:nvPr/>
        </p:nvSpPr>
        <p:spPr>
          <a:xfrm>
            <a:off x="1137513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圆形"/>
          <p:cNvSpPr/>
          <p:nvPr/>
        </p:nvSpPr>
        <p:spPr>
          <a:xfrm>
            <a:off x="1137513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圆形"/>
          <p:cNvSpPr/>
          <p:nvPr/>
        </p:nvSpPr>
        <p:spPr>
          <a:xfrm>
            <a:off x="1137513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圆形"/>
          <p:cNvSpPr/>
          <p:nvPr/>
        </p:nvSpPr>
        <p:spPr>
          <a:xfrm>
            <a:off x="11539728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圆形"/>
          <p:cNvSpPr/>
          <p:nvPr/>
        </p:nvSpPr>
        <p:spPr>
          <a:xfrm>
            <a:off x="11539728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圆形"/>
          <p:cNvSpPr/>
          <p:nvPr/>
        </p:nvSpPr>
        <p:spPr>
          <a:xfrm>
            <a:off x="11539728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标题蓝色竖线"/>
          <p:cNvSpPr/>
          <p:nvPr/>
        </p:nvSpPr>
        <p:spPr>
          <a:xfrm>
            <a:off x="274320" y="356616"/>
            <a:ext cx="109728" cy="585216"/>
          </a:xfrm>
          <a:prstGeom prst="roundRect">
            <a:avLst>
              <a:gd name="adj" fmla="val 41666"/>
            </a:avLst>
          </a:prstGeom>
          <a:gradFill>
            <a:gsLst>
              <a:gs pos="0">
                <a:srgbClr val="3A92D5"/>
              </a:gs>
              <a:gs pos="100000">
                <a:srgbClr val="146FB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标题"/>
          <p:cNvSpPr txBox="1"/>
          <p:nvPr/>
        </p:nvSpPr>
        <p:spPr>
          <a:xfrm>
            <a:off x="621792" y="301752"/>
            <a:ext cx="9390888" cy="64922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3600">
                <a:latin typeface="微软雅黑" panose="020B0503020204020204" charset="-122"/>
              </a:defRPr>
            </a:pPr>
            <a:r>
              <a:rPr lang="zh-CN" altLang="en-US" sz="35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实战</a:t>
            </a:r>
            <a:endParaRPr lang="zh-CN" altLang="en-US" sz="35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3600">
                <a:latin typeface="微软雅黑" panose="020B0503020204020204" charset="-122"/>
              </a:defRPr>
            </a:pPr>
            <a:endParaRPr lang="zh-CN" altLang="en-US" sz="35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标题分隔线"/>
          <p:cNvSpPr/>
          <p:nvPr/>
        </p:nvSpPr>
        <p:spPr>
          <a:xfrm>
            <a:off x="621792" y="1051560"/>
            <a:ext cx="11109960" cy="18288"/>
          </a:xfrm>
          <a:prstGeom prst="rect">
            <a:avLst/>
          </a:prstGeom>
          <a:gradFill>
            <a:gsLst>
              <a:gs pos="0">
                <a:srgbClr val="3A92D5"/>
              </a:gs>
              <a:gs pos="100000">
                <a:srgbClr val="E3EFF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tongji_wordm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4" y="256032"/>
            <a:ext cx="1554480" cy="385298"/>
          </a:xfrm>
          <a:prstGeom prst="rect">
            <a:avLst/>
          </a:prstGeom>
          <a:effectLst/>
        </p:spPr>
      </p:pic>
      <p:sp>
        <p:nvSpPr>
          <p:cNvPr id="33" name="矩形: 圆角 3"/>
          <p:cNvSpPr/>
          <p:nvPr/>
        </p:nvSpPr>
        <p:spPr bwMode="auto">
          <a:xfrm>
            <a:off x="557501" y="1825073"/>
            <a:ext cx="3905047" cy="4234594"/>
          </a:xfrm>
          <a:prstGeom prst="roundRect">
            <a:avLst>
              <a:gd name="adj" fmla="val 8224"/>
            </a:avLst>
          </a:prstGeom>
          <a:solidFill>
            <a:schemeClr val="bg1">
              <a:alpha val="0"/>
            </a:schemeClr>
          </a:solidFill>
          <a:ln w="38100">
            <a:solidFill>
              <a:srgbClr val="3D57F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优设标题黑" panose="00000500000000000000" charset="-122"/>
              <a:ea typeface="优设标题黑" panose="00000500000000000000" charset="-122"/>
              <a:cs typeface="+mn-cs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26501" y="1934923"/>
            <a:ext cx="3676986" cy="3900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5000"/>
              </a:lnSpc>
            </a:pPr>
            <a:r>
              <a:rPr lang="zh-CN" altLang="en-US" b="1" dirty="0"/>
              <a:t>实战目标</a:t>
            </a:r>
            <a:r>
              <a:rPr lang="zh-CN" altLang="en-US" dirty="0"/>
              <a:t>：</a:t>
            </a:r>
            <a:endParaRPr lang="en-US" altLang="zh-CN" dirty="0"/>
          </a:p>
          <a:p>
            <a:pPr indent="0" fontAlgn="auto">
              <a:lnSpc>
                <a:spcPct val="125000"/>
              </a:lnSpc>
            </a:pPr>
            <a:r>
              <a:rPr lang="zh-CN" altLang="en-US" dirty="0"/>
              <a:t>设计并实现一个基于 </a:t>
            </a:r>
            <a:r>
              <a:rPr lang="en-US" altLang="zh-CN" dirty="0"/>
              <a:t>CAN </a:t>
            </a:r>
            <a:r>
              <a:rPr lang="zh-CN" altLang="en-US" dirty="0"/>
              <a:t>总线的分布式汽车灯光控制系统，目标是实现高可靠性与实时性，并便于监控与维护。该系统应通过 </a:t>
            </a:r>
            <a:r>
              <a:rPr lang="en-US" altLang="zh-CN" dirty="0"/>
              <a:t>CAN </a:t>
            </a:r>
            <a:r>
              <a:rPr lang="zh-CN" altLang="en-US" dirty="0"/>
              <a:t>总线完成所有车灯的开关控制，同时满足以下关键要求：</a:t>
            </a:r>
            <a:endParaRPr lang="en-US" altLang="zh-CN" dirty="0"/>
          </a:p>
          <a:p>
            <a:pPr marL="285750" indent="-285750" fontAlgn="auto">
              <a:lnSpc>
                <a:spcPct val="125000"/>
              </a:lnSpc>
              <a:buFont typeface="Wingdings" panose="05000000000000000000" pitchFamily="2" charset="2"/>
              <a:buChar char="n"/>
            </a:pPr>
            <a:r>
              <a:rPr lang="zh-CN" altLang="en-US" dirty="0"/>
              <a:t>实现可靠的灯光控制命令传输 </a:t>
            </a:r>
            <a:endParaRPr lang="en-US" altLang="zh-CN" dirty="0"/>
          </a:p>
          <a:p>
            <a:pPr marL="285750" indent="-285750" fontAlgn="auto">
              <a:lnSpc>
                <a:spcPct val="125000"/>
              </a:lnSpc>
              <a:buFont typeface="Wingdings" panose="05000000000000000000" pitchFamily="2" charset="2"/>
              <a:buChar char="n"/>
            </a:pPr>
            <a:r>
              <a:rPr lang="zh-CN" altLang="en-US" dirty="0"/>
              <a:t>保证系统实时响应性能 </a:t>
            </a:r>
            <a:endParaRPr lang="en-US" altLang="zh-CN" dirty="0"/>
          </a:p>
          <a:p>
            <a:pPr marL="285750" indent="-285750" fontAlgn="auto">
              <a:lnSpc>
                <a:spcPct val="125000"/>
              </a:lnSpc>
              <a:buFont typeface="Wingdings" panose="05000000000000000000" pitchFamily="2" charset="2"/>
              <a:buChar char="n"/>
            </a:pPr>
            <a:r>
              <a:rPr lang="zh-CN" altLang="en-US" dirty="0"/>
              <a:t>提供完整的状态监控机制 </a:t>
            </a:r>
            <a:endParaRPr lang="en-US" altLang="zh-CN" dirty="0"/>
          </a:p>
          <a:p>
            <a:pPr marL="285750" indent="-285750" fontAlgn="auto">
              <a:lnSpc>
                <a:spcPct val="125000"/>
              </a:lnSpc>
              <a:buFont typeface="Wingdings" panose="05000000000000000000" pitchFamily="2" charset="2"/>
              <a:buChar char="n"/>
            </a:pPr>
            <a:r>
              <a:rPr lang="zh-CN" altLang="en-US" dirty="0"/>
              <a:t>确保系统安全性和稳定性</a:t>
            </a:r>
            <a:endParaRPr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557501" y="6183062"/>
            <a:ext cx="11278283" cy="437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5000"/>
              </a:lnSpc>
            </a:pPr>
            <a:r>
              <a:rPr lang="zh-CN" altLang="en-US" dirty="0"/>
              <a:t>上图仅作为整车灯光示例，本实战考虑灯光为：</a:t>
            </a:r>
            <a:r>
              <a:rPr lang="zh-CN" altLang="en-US" b="1" dirty="0"/>
              <a:t>左转向、右转向、双闪、刹车、前大灯、尾灯（后有说明）</a:t>
            </a:r>
            <a:endParaRPr lang="zh-CN" altLang="en-US" b="1" dirty="0"/>
          </a:p>
        </p:txBody>
      </p:sp>
      <p:pic>
        <p:nvPicPr>
          <p:cNvPr id="68" name="图片 67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4679828" y="1869822"/>
            <a:ext cx="7294255" cy="409612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白色背景"/>
          <p:cNvSpPr/>
          <p:nvPr/>
        </p:nvSpPr>
        <p:spPr>
          <a:xfrm>
            <a:off x="0" y="1397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右下角淡蓝装饰"/>
          <p:cNvSpPr/>
          <p:nvPr/>
        </p:nvSpPr>
        <p:spPr>
          <a:xfrm>
            <a:off x="10774679" y="5440680"/>
            <a:ext cx="1417320" cy="1417320"/>
          </a:xfrm>
          <a:custGeom>
            <a:avLst/>
            <a:gdLst/>
            <a:ahLst/>
            <a:cxnLst/>
            <a:rect l="l" t="t" r="r" b="b"/>
            <a:pathLst>
              <a:path w="1417320" h="1417320">
                <a:moveTo>
                  <a:pt x="1417320" y="1417320"/>
                </a:moveTo>
                <a:lnTo>
                  <a:pt x="0" y="1417320"/>
                </a:lnTo>
                <a:lnTo>
                  <a:pt x="700" y="1372800"/>
                </a:lnTo>
                <a:lnTo>
                  <a:pt x="2797" y="1328325"/>
                </a:lnTo>
                <a:lnTo>
                  <a:pt x="6290" y="1283938"/>
                </a:lnTo>
                <a:lnTo>
                  <a:pt x="11176" y="1239682"/>
                </a:lnTo>
                <a:lnTo>
                  <a:pt x="17450" y="1195602"/>
                </a:lnTo>
                <a:lnTo>
                  <a:pt x="25105" y="1151740"/>
                </a:lnTo>
                <a:lnTo>
                  <a:pt x="34134" y="1108141"/>
                </a:lnTo>
                <a:lnTo>
                  <a:pt x="44528" y="1064846"/>
                </a:lnTo>
                <a:lnTo>
                  <a:pt x="56277" y="1021900"/>
                </a:lnTo>
                <a:lnTo>
                  <a:pt x="69369" y="979344"/>
                </a:lnTo>
                <a:lnTo>
                  <a:pt x="83791" y="937219"/>
                </a:lnTo>
                <a:lnTo>
                  <a:pt x="99529" y="895569"/>
                </a:lnTo>
                <a:lnTo>
                  <a:pt x="116568" y="854434"/>
                </a:lnTo>
                <a:lnTo>
                  <a:pt x="134891" y="813854"/>
                </a:lnTo>
                <a:lnTo>
                  <a:pt x="154479" y="773870"/>
                </a:lnTo>
                <a:lnTo>
                  <a:pt x="175313" y="734520"/>
                </a:lnTo>
                <a:lnTo>
                  <a:pt x="197373" y="695845"/>
                </a:lnTo>
                <a:lnTo>
                  <a:pt x="220637" y="657881"/>
                </a:lnTo>
                <a:lnTo>
                  <a:pt x="245082" y="620667"/>
                </a:lnTo>
                <a:lnTo>
                  <a:pt x="270684" y="584240"/>
                </a:lnTo>
                <a:lnTo>
                  <a:pt x="297418" y="548634"/>
                </a:lnTo>
                <a:lnTo>
                  <a:pt x="325256" y="513886"/>
                </a:lnTo>
                <a:lnTo>
                  <a:pt x="354173" y="480029"/>
                </a:lnTo>
                <a:lnTo>
                  <a:pt x="384138" y="447097"/>
                </a:lnTo>
                <a:lnTo>
                  <a:pt x="415124" y="415123"/>
                </a:lnTo>
                <a:lnTo>
                  <a:pt x="447098" y="384138"/>
                </a:lnTo>
                <a:lnTo>
                  <a:pt x="480030" y="354172"/>
                </a:lnTo>
                <a:lnTo>
                  <a:pt x="513886" y="325256"/>
                </a:lnTo>
                <a:lnTo>
                  <a:pt x="548635" y="297417"/>
                </a:lnTo>
                <a:lnTo>
                  <a:pt x="584240" y="270684"/>
                </a:lnTo>
                <a:lnTo>
                  <a:pt x="620668" y="245082"/>
                </a:lnTo>
                <a:lnTo>
                  <a:pt x="657882" y="220637"/>
                </a:lnTo>
                <a:lnTo>
                  <a:pt x="695846" y="197373"/>
                </a:lnTo>
                <a:lnTo>
                  <a:pt x="734521" y="175313"/>
                </a:lnTo>
                <a:lnTo>
                  <a:pt x="773870" y="154478"/>
                </a:lnTo>
                <a:lnTo>
                  <a:pt x="813855" y="134890"/>
                </a:lnTo>
                <a:lnTo>
                  <a:pt x="854435" y="116568"/>
                </a:lnTo>
                <a:lnTo>
                  <a:pt x="895570" y="99529"/>
                </a:lnTo>
                <a:lnTo>
                  <a:pt x="937220" y="83790"/>
                </a:lnTo>
                <a:lnTo>
                  <a:pt x="979344" y="69368"/>
                </a:lnTo>
                <a:lnTo>
                  <a:pt x="1021901" y="56276"/>
                </a:lnTo>
                <a:lnTo>
                  <a:pt x="1064847" y="44527"/>
                </a:lnTo>
                <a:lnTo>
                  <a:pt x="1108141" y="34133"/>
                </a:lnTo>
                <a:lnTo>
                  <a:pt x="1151741" y="25104"/>
                </a:lnTo>
                <a:lnTo>
                  <a:pt x="1195602" y="17449"/>
                </a:lnTo>
                <a:lnTo>
                  <a:pt x="1239683" y="11175"/>
                </a:lnTo>
                <a:lnTo>
                  <a:pt x="1283939" y="6290"/>
                </a:lnTo>
                <a:lnTo>
                  <a:pt x="1328326" y="2796"/>
                </a:lnTo>
                <a:lnTo>
                  <a:pt x="1372801" y="699"/>
                </a:lnTo>
                <a:lnTo>
                  <a:pt x="1417320" y="0"/>
                </a:lnTo>
                <a:lnTo>
                  <a:pt x="1417320" y="1417320"/>
                </a:lnTo>
                <a:close/>
              </a:path>
            </a:pathLst>
          </a:custGeom>
          <a:solidFill>
            <a:srgbClr val="F4F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圆形"/>
          <p:cNvSpPr/>
          <p:nvPr/>
        </p:nvSpPr>
        <p:spPr>
          <a:xfrm>
            <a:off x="1038758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圆形"/>
          <p:cNvSpPr/>
          <p:nvPr/>
        </p:nvSpPr>
        <p:spPr>
          <a:xfrm>
            <a:off x="1038758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圆形"/>
          <p:cNvSpPr/>
          <p:nvPr/>
        </p:nvSpPr>
        <p:spPr>
          <a:xfrm>
            <a:off x="1038758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圆形"/>
          <p:cNvSpPr/>
          <p:nvPr/>
        </p:nvSpPr>
        <p:spPr>
          <a:xfrm>
            <a:off x="1055217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圆形"/>
          <p:cNvSpPr/>
          <p:nvPr/>
        </p:nvSpPr>
        <p:spPr>
          <a:xfrm>
            <a:off x="1055217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圆形"/>
          <p:cNvSpPr/>
          <p:nvPr/>
        </p:nvSpPr>
        <p:spPr>
          <a:xfrm>
            <a:off x="1055217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圆形"/>
          <p:cNvSpPr/>
          <p:nvPr/>
        </p:nvSpPr>
        <p:spPr>
          <a:xfrm>
            <a:off x="10716767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圆形"/>
          <p:cNvSpPr/>
          <p:nvPr/>
        </p:nvSpPr>
        <p:spPr>
          <a:xfrm>
            <a:off x="10716767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圆形"/>
          <p:cNvSpPr/>
          <p:nvPr/>
        </p:nvSpPr>
        <p:spPr>
          <a:xfrm>
            <a:off x="10716767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圆形"/>
          <p:cNvSpPr/>
          <p:nvPr/>
        </p:nvSpPr>
        <p:spPr>
          <a:xfrm>
            <a:off x="10881359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圆形"/>
          <p:cNvSpPr/>
          <p:nvPr/>
        </p:nvSpPr>
        <p:spPr>
          <a:xfrm>
            <a:off x="10881359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圆形"/>
          <p:cNvSpPr/>
          <p:nvPr/>
        </p:nvSpPr>
        <p:spPr>
          <a:xfrm>
            <a:off x="10881359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圆形"/>
          <p:cNvSpPr/>
          <p:nvPr/>
        </p:nvSpPr>
        <p:spPr>
          <a:xfrm>
            <a:off x="11045952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圆形"/>
          <p:cNvSpPr/>
          <p:nvPr/>
        </p:nvSpPr>
        <p:spPr>
          <a:xfrm>
            <a:off x="11045952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圆形"/>
          <p:cNvSpPr/>
          <p:nvPr/>
        </p:nvSpPr>
        <p:spPr>
          <a:xfrm>
            <a:off x="11045952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圆形"/>
          <p:cNvSpPr/>
          <p:nvPr/>
        </p:nvSpPr>
        <p:spPr>
          <a:xfrm>
            <a:off x="1121054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圆形"/>
          <p:cNvSpPr/>
          <p:nvPr/>
        </p:nvSpPr>
        <p:spPr>
          <a:xfrm>
            <a:off x="1121054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圆形"/>
          <p:cNvSpPr/>
          <p:nvPr/>
        </p:nvSpPr>
        <p:spPr>
          <a:xfrm>
            <a:off x="1121054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圆形"/>
          <p:cNvSpPr/>
          <p:nvPr/>
        </p:nvSpPr>
        <p:spPr>
          <a:xfrm>
            <a:off x="1137513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圆形"/>
          <p:cNvSpPr/>
          <p:nvPr/>
        </p:nvSpPr>
        <p:spPr>
          <a:xfrm>
            <a:off x="1137513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圆形"/>
          <p:cNvSpPr/>
          <p:nvPr/>
        </p:nvSpPr>
        <p:spPr>
          <a:xfrm>
            <a:off x="1137513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圆形"/>
          <p:cNvSpPr/>
          <p:nvPr/>
        </p:nvSpPr>
        <p:spPr>
          <a:xfrm>
            <a:off x="11539728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圆形"/>
          <p:cNvSpPr/>
          <p:nvPr/>
        </p:nvSpPr>
        <p:spPr>
          <a:xfrm>
            <a:off x="11539728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圆形"/>
          <p:cNvSpPr/>
          <p:nvPr/>
        </p:nvSpPr>
        <p:spPr>
          <a:xfrm>
            <a:off x="11539728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标题蓝色竖线"/>
          <p:cNvSpPr/>
          <p:nvPr/>
        </p:nvSpPr>
        <p:spPr>
          <a:xfrm>
            <a:off x="274320" y="356616"/>
            <a:ext cx="109728" cy="585216"/>
          </a:xfrm>
          <a:prstGeom prst="roundRect">
            <a:avLst>
              <a:gd name="adj" fmla="val 41666"/>
            </a:avLst>
          </a:prstGeom>
          <a:gradFill>
            <a:gsLst>
              <a:gs pos="0">
                <a:srgbClr val="3A92D5"/>
              </a:gs>
              <a:gs pos="100000">
                <a:srgbClr val="146FB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标题"/>
          <p:cNvSpPr txBox="1"/>
          <p:nvPr/>
        </p:nvSpPr>
        <p:spPr>
          <a:xfrm>
            <a:off x="621792" y="301752"/>
            <a:ext cx="9390888" cy="64922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3600">
                <a:latin typeface="微软雅黑" panose="020B0503020204020204" charset="-122"/>
              </a:defRPr>
            </a:pPr>
            <a:r>
              <a:rPr lang="zh-CN" altLang="en-US" sz="35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实战</a:t>
            </a:r>
            <a:endParaRPr lang="zh-CN" altLang="en-US" sz="35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3600">
                <a:latin typeface="微软雅黑" panose="020B0503020204020204" charset="-122"/>
              </a:defRPr>
            </a:pPr>
            <a:endParaRPr lang="zh-CN" altLang="en-US" sz="35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标题分隔线"/>
          <p:cNvSpPr/>
          <p:nvPr/>
        </p:nvSpPr>
        <p:spPr>
          <a:xfrm>
            <a:off x="621792" y="1051560"/>
            <a:ext cx="11109960" cy="18288"/>
          </a:xfrm>
          <a:prstGeom prst="rect">
            <a:avLst/>
          </a:prstGeom>
          <a:gradFill>
            <a:gsLst>
              <a:gs pos="0">
                <a:srgbClr val="3A92D5"/>
              </a:gs>
              <a:gs pos="100000">
                <a:srgbClr val="E3EFF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tongji_wordm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4" y="256032"/>
            <a:ext cx="1554480" cy="385298"/>
          </a:xfrm>
          <a:prstGeom prst="rect">
            <a:avLst/>
          </a:prstGeom>
          <a:effectLst/>
        </p:spPr>
      </p:pic>
      <p:pic>
        <p:nvPicPr>
          <p:cNvPr id="4" name="图片 3" descr="21大标题"/>
          <p:cNvPicPr>
            <a:picLocks noChangeAspect="1"/>
          </p:cNvPicPr>
          <p:nvPr/>
        </p:nvPicPr>
        <p:blipFill>
          <a:blip r:embed="rId2"/>
          <a:srcRect l="2953" t="13333" r="73995" b="70259"/>
          <a:stretch>
            <a:fillRect/>
          </a:stretch>
        </p:blipFill>
        <p:spPr>
          <a:xfrm>
            <a:off x="360026" y="798332"/>
            <a:ext cx="2810364" cy="1125161"/>
          </a:xfrm>
          <a:prstGeom prst="rect">
            <a:avLst/>
          </a:prstGeom>
        </p:spPr>
      </p:pic>
      <p:sp>
        <p:nvSpPr>
          <p:cNvPr id="33" name="文本框 32"/>
          <p:cNvSpPr txBox="1"/>
          <p:nvPr/>
        </p:nvSpPr>
        <p:spPr>
          <a:xfrm>
            <a:off x="890224" y="1030095"/>
            <a:ext cx="1237423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腾讯体 W7" panose="020C08030202040F0204" charset="-122"/>
                <a:ea typeface="腾讯体 W7" panose="020C08030202040F0204" charset="-122"/>
                <a:cs typeface="优设标题黑" panose="00000500000000000000" charset="-122"/>
                <a:sym typeface="+mn-ea"/>
              </a:rPr>
              <a:t>实战操练：使用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腾讯体 W7" panose="020C08030202040F0204" charset="-122"/>
                <a:ea typeface="腾讯体 W7" panose="020C08030202040F0204" charset="-122"/>
                <a:cs typeface="优设标题黑" panose="00000500000000000000" charset="-122"/>
                <a:sym typeface="+mn-ea"/>
              </a:rPr>
              <a:t>CAN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腾讯体 W7" panose="020C08030202040F0204" charset="-122"/>
                <a:ea typeface="腾讯体 W7" panose="020C08030202040F0204" charset="-122"/>
                <a:cs typeface="优设标题黑" panose="00000500000000000000" charset="-122"/>
                <a:sym typeface="+mn-ea"/>
              </a:rPr>
              <a:t>总线通信的车辆灯光控制系统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腾讯体 W7" panose="020C08030202040F0204" charset="-122"/>
              <a:ea typeface="腾讯体 W7" panose="020C08030202040F0204" charset="-122"/>
              <a:cs typeface="优设标题黑" panose="00000500000000000000" charset="-122"/>
              <a:sym typeface="+mn-ea"/>
            </a:endParaRPr>
          </a:p>
        </p:txBody>
      </p:sp>
      <p:sp>
        <p:nvSpPr>
          <p:cNvPr id="34" name="矩形: 圆角 3"/>
          <p:cNvSpPr/>
          <p:nvPr/>
        </p:nvSpPr>
        <p:spPr bwMode="auto">
          <a:xfrm>
            <a:off x="557530" y="1824990"/>
            <a:ext cx="4625340" cy="4234815"/>
          </a:xfrm>
          <a:prstGeom prst="roundRect">
            <a:avLst>
              <a:gd name="adj" fmla="val 8224"/>
            </a:avLst>
          </a:prstGeom>
          <a:solidFill>
            <a:schemeClr val="bg1">
              <a:alpha val="0"/>
            </a:schemeClr>
          </a:solidFill>
          <a:ln w="38100">
            <a:solidFill>
              <a:srgbClr val="3D57F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优设标题黑" panose="00000500000000000000" charset="-122"/>
              <a:ea typeface="优设标题黑" panose="00000500000000000000" charset="-122"/>
              <a:cs typeface="+mn-cs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71830" y="2101215"/>
            <a:ext cx="4324350" cy="112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实战环境：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在虚拟机（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Ubuntu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）中，使用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VS Code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与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Python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进行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CAN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总线开发。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+mn-cs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6476" y="1779908"/>
            <a:ext cx="5400960" cy="4279759"/>
          </a:xfrm>
          <a:prstGeom prst="rect">
            <a:avLst/>
          </a:prstGeom>
        </p:spPr>
      </p:pic>
      <p:sp>
        <p:nvSpPr>
          <p:cNvPr id="37" name="文本框 36"/>
          <p:cNvSpPr txBox="1"/>
          <p:nvPr/>
        </p:nvSpPr>
        <p:spPr>
          <a:xfrm>
            <a:off x="671531" y="4982505"/>
            <a:ext cx="3363932" cy="1076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-DINExp"/>
                <a:ea typeface="微软雅黑" panose="020B0503020204020204" charset="-122"/>
                <a:cs typeface="+mn-cs"/>
              </a:rPr>
              <a:t>安装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-DINExp"/>
                <a:ea typeface="微软雅黑" panose="020B0503020204020204" charset="-122"/>
                <a:cs typeface="+mn-cs"/>
              </a:rPr>
              <a:t>Python CAN 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-DINExp"/>
                <a:ea typeface="微软雅黑" panose="020B0503020204020204" charset="-122"/>
                <a:cs typeface="+mn-cs"/>
              </a:rPr>
              <a:t>库（建议使用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-DINExp"/>
                <a:ea typeface="微软雅黑" panose="020B0503020204020204" charset="-122"/>
                <a:cs typeface="+mn-cs"/>
              </a:rPr>
              <a:t>anaconda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-DINExp"/>
                <a:ea typeface="微软雅黑" panose="020B0503020204020204" charset="-122"/>
                <a:cs typeface="+mn-cs"/>
              </a:rPr>
              <a:t>隔离环境）：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-DINExp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i-monospace"/>
                <a:ea typeface="微软雅黑" panose="020B0503020204020204" charset="-122"/>
                <a:cs typeface="+mn-cs"/>
              </a:rPr>
              <a:t>pip install python-can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-DINExp"/>
              <a:ea typeface="微软雅黑" panose="020B0503020204020204" charset="-122"/>
              <a:cs typeface="+mn-cs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671531" y="3270375"/>
            <a:ext cx="3676986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搭建虚拟 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CAN 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总线环境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+mn-cs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71531" y="3727493"/>
            <a:ext cx="3676986" cy="154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验证接口已创建</a:t>
            </a:r>
            <a:endParaRPr lang="en-US" altLang="zh-CN" b="1" dirty="0"/>
          </a:p>
          <a:p>
            <a:br>
              <a:rPr lang="zh-CN" altLang="en-US" dirty="0"/>
            </a:br>
            <a:r>
              <a:rPr lang="zh-CN" altLang="en-US" b="1" dirty="0"/>
              <a:t>使用 </a:t>
            </a:r>
            <a:r>
              <a:rPr lang="en-US" altLang="zh-CN" b="1" dirty="0" err="1"/>
              <a:t>ip</a:t>
            </a:r>
            <a:r>
              <a:rPr lang="en-US" altLang="zh-CN" b="1" dirty="0"/>
              <a:t> link show </a:t>
            </a:r>
            <a:r>
              <a:rPr lang="zh-CN" altLang="en-US" b="1" dirty="0"/>
              <a:t>命令检查：</a:t>
            </a:r>
            <a:endParaRPr lang="zh-CN" altLang="en-US" b="1" dirty="0"/>
          </a:p>
          <a:p>
            <a:pPr latinLnBrk="1"/>
            <a:r>
              <a:rPr lang="en-US" altLang="zh-CN" b="1" dirty="0" err="1"/>
              <a:t>ip</a:t>
            </a:r>
            <a:r>
              <a:rPr lang="en-US" altLang="zh-CN" b="1" dirty="0"/>
              <a:t> link show vcan0</a:t>
            </a:r>
            <a:endParaRPr lang="en-US" altLang="zh-CN" b="1" dirty="0"/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白色背景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右下角淡蓝装饰"/>
          <p:cNvSpPr/>
          <p:nvPr/>
        </p:nvSpPr>
        <p:spPr>
          <a:xfrm>
            <a:off x="10774679" y="5440680"/>
            <a:ext cx="1417320" cy="1417320"/>
          </a:xfrm>
          <a:custGeom>
            <a:avLst/>
            <a:gdLst/>
            <a:ahLst/>
            <a:cxnLst/>
            <a:rect l="l" t="t" r="r" b="b"/>
            <a:pathLst>
              <a:path w="1417320" h="1417320">
                <a:moveTo>
                  <a:pt x="1417320" y="1417320"/>
                </a:moveTo>
                <a:lnTo>
                  <a:pt x="0" y="1417320"/>
                </a:lnTo>
                <a:lnTo>
                  <a:pt x="700" y="1372800"/>
                </a:lnTo>
                <a:lnTo>
                  <a:pt x="2797" y="1328325"/>
                </a:lnTo>
                <a:lnTo>
                  <a:pt x="6290" y="1283938"/>
                </a:lnTo>
                <a:lnTo>
                  <a:pt x="11176" y="1239682"/>
                </a:lnTo>
                <a:lnTo>
                  <a:pt x="17450" y="1195602"/>
                </a:lnTo>
                <a:lnTo>
                  <a:pt x="25105" y="1151740"/>
                </a:lnTo>
                <a:lnTo>
                  <a:pt x="34134" y="1108141"/>
                </a:lnTo>
                <a:lnTo>
                  <a:pt x="44528" y="1064846"/>
                </a:lnTo>
                <a:lnTo>
                  <a:pt x="56277" y="1021900"/>
                </a:lnTo>
                <a:lnTo>
                  <a:pt x="69369" y="979344"/>
                </a:lnTo>
                <a:lnTo>
                  <a:pt x="83791" y="937219"/>
                </a:lnTo>
                <a:lnTo>
                  <a:pt x="99529" y="895569"/>
                </a:lnTo>
                <a:lnTo>
                  <a:pt x="116568" y="854434"/>
                </a:lnTo>
                <a:lnTo>
                  <a:pt x="134891" y="813854"/>
                </a:lnTo>
                <a:lnTo>
                  <a:pt x="154479" y="773870"/>
                </a:lnTo>
                <a:lnTo>
                  <a:pt x="175313" y="734520"/>
                </a:lnTo>
                <a:lnTo>
                  <a:pt x="197373" y="695845"/>
                </a:lnTo>
                <a:lnTo>
                  <a:pt x="220637" y="657881"/>
                </a:lnTo>
                <a:lnTo>
                  <a:pt x="245082" y="620667"/>
                </a:lnTo>
                <a:lnTo>
                  <a:pt x="270684" y="584240"/>
                </a:lnTo>
                <a:lnTo>
                  <a:pt x="297418" y="548634"/>
                </a:lnTo>
                <a:lnTo>
                  <a:pt x="325256" y="513886"/>
                </a:lnTo>
                <a:lnTo>
                  <a:pt x="354173" y="480029"/>
                </a:lnTo>
                <a:lnTo>
                  <a:pt x="384138" y="447097"/>
                </a:lnTo>
                <a:lnTo>
                  <a:pt x="415124" y="415123"/>
                </a:lnTo>
                <a:lnTo>
                  <a:pt x="447098" y="384138"/>
                </a:lnTo>
                <a:lnTo>
                  <a:pt x="480030" y="354172"/>
                </a:lnTo>
                <a:lnTo>
                  <a:pt x="513886" y="325256"/>
                </a:lnTo>
                <a:lnTo>
                  <a:pt x="548635" y="297417"/>
                </a:lnTo>
                <a:lnTo>
                  <a:pt x="584240" y="270684"/>
                </a:lnTo>
                <a:lnTo>
                  <a:pt x="620668" y="245082"/>
                </a:lnTo>
                <a:lnTo>
                  <a:pt x="657882" y="220637"/>
                </a:lnTo>
                <a:lnTo>
                  <a:pt x="695846" y="197373"/>
                </a:lnTo>
                <a:lnTo>
                  <a:pt x="734521" y="175313"/>
                </a:lnTo>
                <a:lnTo>
                  <a:pt x="773870" y="154478"/>
                </a:lnTo>
                <a:lnTo>
                  <a:pt x="813855" y="134890"/>
                </a:lnTo>
                <a:lnTo>
                  <a:pt x="854435" y="116568"/>
                </a:lnTo>
                <a:lnTo>
                  <a:pt x="895570" y="99529"/>
                </a:lnTo>
                <a:lnTo>
                  <a:pt x="937220" y="83790"/>
                </a:lnTo>
                <a:lnTo>
                  <a:pt x="979344" y="69368"/>
                </a:lnTo>
                <a:lnTo>
                  <a:pt x="1021901" y="56276"/>
                </a:lnTo>
                <a:lnTo>
                  <a:pt x="1064847" y="44527"/>
                </a:lnTo>
                <a:lnTo>
                  <a:pt x="1108141" y="34133"/>
                </a:lnTo>
                <a:lnTo>
                  <a:pt x="1151741" y="25104"/>
                </a:lnTo>
                <a:lnTo>
                  <a:pt x="1195602" y="17449"/>
                </a:lnTo>
                <a:lnTo>
                  <a:pt x="1239683" y="11175"/>
                </a:lnTo>
                <a:lnTo>
                  <a:pt x="1283939" y="6290"/>
                </a:lnTo>
                <a:lnTo>
                  <a:pt x="1328326" y="2796"/>
                </a:lnTo>
                <a:lnTo>
                  <a:pt x="1372801" y="699"/>
                </a:lnTo>
                <a:lnTo>
                  <a:pt x="1417320" y="0"/>
                </a:lnTo>
                <a:lnTo>
                  <a:pt x="1417320" y="1417320"/>
                </a:lnTo>
                <a:close/>
              </a:path>
            </a:pathLst>
          </a:custGeom>
          <a:solidFill>
            <a:srgbClr val="F4F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圆形"/>
          <p:cNvSpPr/>
          <p:nvPr/>
        </p:nvSpPr>
        <p:spPr>
          <a:xfrm>
            <a:off x="1038758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圆形"/>
          <p:cNvSpPr/>
          <p:nvPr/>
        </p:nvSpPr>
        <p:spPr>
          <a:xfrm>
            <a:off x="1038758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圆形"/>
          <p:cNvSpPr/>
          <p:nvPr/>
        </p:nvSpPr>
        <p:spPr>
          <a:xfrm>
            <a:off x="1038758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圆形"/>
          <p:cNvSpPr/>
          <p:nvPr/>
        </p:nvSpPr>
        <p:spPr>
          <a:xfrm>
            <a:off x="1055217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圆形"/>
          <p:cNvSpPr/>
          <p:nvPr/>
        </p:nvSpPr>
        <p:spPr>
          <a:xfrm>
            <a:off x="1055217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圆形"/>
          <p:cNvSpPr/>
          <p:nvPr/>
        </p:nvSpPr>
        <p:spPr>
          <a:xfrm>
            <a:off x="1055217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圆形"/>
          <p:cNvSpPr/>
          <p:nvPr/>
        </p:nvSpPr>
        <p:spPr>
          <a:xfrm>
            <a:off x="10716767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圆形"/>
          <p:cNvSpPr/>
          <p:nvPr/>
        </p:nvSpPr>
        <p:spPr>
          <a:xfrm>
            <a:off x="10716767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圆形"/>
          <p:cNvSpPr/>
          <p:nvPr/>
        </p:nvSpPr>
        <p:spPr>
          <a:xfrm>
            <a:off x="10716767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圆形"/>
          <p:cNvSpPr/>
          <p:nvPr/>
        </p:nvSpPr>
        <p:spPr>
          <a:xfrm>
            <a:off x="10881359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圆形"/>
          <p:cNvSpPr/>
          <p:nvPr/>
        </p:nvSpPr>
        <p:spPr>
          <a:xfrm>
            <a:off x="10881359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圆形"/>
          <p:cNvSpPr/>
          <p:nvPr/>
        </p:nvSpPr>
        <p:spPr>
          <a:xfrm>
            <a:off x="10881359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圆形"/>
          <p:cNvSpPr/>
          <p:nvPr/>
        </p:nvSpPr>
        <p:spPr>
          <a:xfrm>
            <a:off x="11045952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圆形"/>
          <p:cNvSpPr/>
          <p:nvPr/>
        </p:nvSpPr>
        <p:spPr>
          <a:xfrm>
            <a:off x="11045952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圆形"/>
          <p:cNvSpPr/>
          <p:nvPr/>
        </p:nvSpPr>
        <p:spPr>
          <a:xfrm>
            <a:off x="11045952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圆形"/>
          <p:cNvSpPr/>
          <p:nvPr/>
        </p:nvSpPr>
        <p:spPr>
          <a:xfrm>
            <a:off x="1121054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圆形"/>
          <p:cNvSpPr/>
          <p:nvPr/>
        </p:nvSpPr>
        <p:spPr>
          <a:xfrm>
            <a:off x="1121054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圆形"/>
          <p:cNvSpPr/>
          <p:nvPr/>
        </p:nvSpPr>
        <p:spPr>
          <a:xfrm>
            <a:off x="1121054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圆形"/>
          <p:cNvSpPr/>
          <p:nvPr/>
        </p:nvSpPr>
        <p:spPr>
          <a:xfrm>
            <a:off x="1137513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圆形"/>
          <p:cNvSpPr/>
          <p:nvPr/>
        </p:nvSpPr>
        <p:spPr>
          <a:xfrm>
            <a:off x="1137513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圆形"/>
          <p:cNvSpPr/>
          <p:nvPr/>
        </p:nvSpPr>
        <p:spPr>
          <a:xfrm>
            <a:off x="1137513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圆形"/>
          <p:cNvSpPr/>
          <p:nvPr/>
        </p:nvSpPr>
        <p:spPr>
          <a:xfrm>
            <a:off x="11539728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圆形"/>
          <p:cNvSpPr/>
          <p:nvPr/>
        </p:nvSpPr>
        <p:spPr>
          <a:xfrm>
            <a:off x="11539728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圆形"/>
          <p:cNvSpPr/>
          <p:nvPr/>
        </p:nvSpPr>
        <p:spPr>
          <a:xfrm>
            <a:off x="11539728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标题蓝色竖线"/>
          <p:cNvSpPr/>
          <p:nvPr/>
        </p:nvSpPr>
        <p:spPr>
          <a:xfrm>
            <a:off x="274320" y="356616"/>
            <a:ext cx="109728" cy="585216"/>
          </a:xfrm>
          <a:prstGeom prst="roundRect">
            <a:avLst>
              <a:gd name="adj" fmla="val 41666"/>
            </a:avLst>
          </a:prstGeom>
          <a:gradFill>
            <a:gsLst>
              <a:gs pos="0">
                <a:srgbClr val="3A92D5"/>
              </a:gs>
              <a:gs pos="100000">
                <a:srgbClr val="146FB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标题"/>
          <p:cNvSpPr txBox="1"/>
          <p:nvPr/>
        </p:nvSpPr>
        <p:spPr>
          <a:xfrm>
            <a:off x="621792" y="301752"/>
            <a:ext cx="9390888" cy="64922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3600">
                <a:latin typeface="微软雅黑" panose="020B0503020204020204" charset="-122"/>
              </a:defRPr>
            </a:pPr>
            <a:r>
              <a:rPr lang="zh-CN" altLang="en-US" sz="35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实战</a:t>
            </a:r>
            <a:endParaRPr lang="zh-CN" altLang="en-US" sz="35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3600">
                <a:latin typeface="微软雅黑" panose="020B0503020204020204" charset="-122"/>
              </a:defRPr>
            </a:pPr>
            <a:endParaRPr lang="zh-CN" altLang="en-US" sz="35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标题分隔线"/>
          <p:cNvSpPr/>
          <p:nvPr/>
        </p:nvSpPr>
        <p:spPr>
          <a:xfrm>
            <a:off x="621792" y="1051560"/>
            <a:ext cx="11109960" cy="18288"/>
          </a:xfrm>
          <a:prstGeom prst="rect">
            <a:avLst/>
          </a:prstGeom>
          <a:gradFill>
            <a:gsLst>
              <a:gs pos="0">
                <a:srgbClr val="3A92D5"/>
              </a:gs>
              <a:gs pos="100000">
                <a:srgbClr val="E3EFF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tongji_wordm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4" y="256032"/>
            <a:ext cx="1554480" cy="385298"/>
          </a:xfrm>
          <a:prstGeom prst="rect">
            <a:avLst/>
          </a:prstGeom>
          <a:effectLst/>
        </p:spPr>
      </p:pic>
      <p:sp>
        <p:nvSpPr>
          <p:cNvPr id="4" name="椭圆 3"/>
          <p:cNvSpPr/>
          <p:nvPr/>
        </p:nvSpPr>
        <p:spPr>
          <a:xfrm>
            <a:off x="569565" y="1742195"/>
            <a:ext cx="11082713" cy="357741"/>
          </a:xfrm>
          <a:prstGeom prst="ellipse">
            <a:avLst/>
          </a:prstGeom>
          <a:gradFill>
            <a:gsLst>
              <a:gs pos="0">
                <a:srgbClr val="7D96FF">
                  <a:alpha val="90000"/>
                </a:srgbClr>
              </a:gs>
              <a:gs pos="98000">
                <a:schemeClr val="bg1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文本框 32"/>
          <p:cNvSpPr txBox="1"/>
          <p:nvPr/>
        </p:nvSpPr>
        <p:spPr>
          <a:xfrm>
            <a:off x="802598" y="1224197"/>
            <a:ext cx="10584899" cy="755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algn="ctr" fontAlgn="auto">
              <a:lnSpc>
                <a:spcPct val="120000"/>
              </a:lnSpc>
              <a:defRPr sz="2000" b="1">
                <a:gradFill>
                  <a:gsLst>
                    <a:gs pos="0">
                      <a:srgbClr val="0070C0"/>
                    </a:gs>
                    <a:gs pos="100000">
                      <a:srgbClr val="00B0F0"/>
                    </a:gs>
                  </a:gsLst>
                  <a:lin ang="5400000" scaled="0"/>
                </a:gradFill>
                <a:effectLst/>
                <a:latin typeface="汉仪雅酷黑 75W" panose="020B0804020202020204" charset="-122"/>
                <a:ea typeface="汉仪雅酷黑 75W" panose="020B0804020202020204" charset="-122"/>
              </a:defRPr>
            </a:lvl1pPr>
          </a:lstStyle>
          <a:p>
            <a:pPr algn="ctr"/>
            <a:r>
              <a:rPr lang="zh-CN" altLang="en-US" sz="3600" b="0" dirty="0">
                <a:solidFill>
                  <a:srgbClr val="3D57F6"/>
                </a:solidFill>
                <a:effectLst>
                  <a:outerShdw blurRad="38100" dist="38100" dir="2700000" algn="tl">
                    <a:srgbClr val="0161AD">
                      <a:alpha val="34000"/>
                    </a:srgbClr>
                  </a:outerShdw>
                  <a:reflection blurRad="76200" stA="50000" endA="300" endPos="28000" dist="63500" dir="5400000" sy="-100000" algn="bl" rotWithShape="0"/>
                </a:effectLst>
                <a:latin typeface="优设标题黑" panose="00000500000000000000" charset="-122"/>
                <a:ea typeface="优设标题黑" panose="00000500000000000000" charset="-122"/>
              </a:rPr>
              <a:t>项目分步任务</a:t>
            </a:r>
            <a:endParaRPr lang="zh-CN" altLang="en-US" sz="3600" b="0" dirty="0">
              <a:solidFill>
                <a:srgbClr val="3D57F6"/>
              </a:solidFill>
              <a:effectLst>
                <a:outerShdw blurRad="38100" dist="38100" dir="2700000" algn="tl">
                  <a:srgbClr val="0161AD">
                    <a:alpha val="34000"/>
                  </a:srgbClr>
                </a:outerShdw>
                <a:reflection blurRad="76200" stA="50000" endA="300" endPos="28000" dist="63500" dir="5400000" sy="-100000" algn="bl" rotWithShape="0"/>
              </a:effectLst>
              <a:latin typeface="优设标题黑" panose="00000500000000000000" charset="-122"/>
              <a:ea typeface="优设标题黑" panose="00000500000000000000" charset="-122"/>
            </a:endParaRPr>
          </a:p>
        </p:txBody>
      </p:sp>
      <p:sp>
        <p:nvSpPr>
          <p:cNvPr id="34" name="矩形: 圆角 15"/>
          <p:cNvSpPr/>
          <p:nvPr>
            <p:custDataLst>
              <p:tags r:id="rId2"/>
            </p:custDataLst>
          </p:nvPr>
        </p:nvSpPr>
        <p:spPr>
          <a:xfrm>
            <a:off x="321928" y="3847443"/>
            <a:ext cx="2071897" cy="80386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rgbClr val="7D96FF"/>
              </a:gs>
              <a:gs pos="1000">
                <a:srgbClr val="3359FF"/>
              </a:gs>
            </a:gsLst>
            <a:lin ang="2700000" scaled="1"/>
            <a:tileRect/>
          </a:gradFill>
          <a:ln>
            <a:noFill/>
          </a:ln>
          <a:effectLst>
            <a:outerShdw blurRad="279400" dist="101600" dir="2700000" sx="98000" sy="98000" algn="tl" rotWithShape="0">
              <a:srgbClr val="3359FF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en-US" altLang="zh-CN" sz="2400" b="1" strike="noStrike" noProof="1">
                <a:latin typeface="优设标题黑" panose="00000500000000000000" charset="-122"/>
                <a:ea typeface="优设标题黑" panose="00000500000000000000" charset="-122"/>
              </a:rPr>
              <a:t>CAN </a:t>
            </a:r>
            <a:r>
              <a:rPr lang="zh-CN" altLang="en-US" sz="2400" b="1" strike="noStrike" noProof="1">
                <a:latin typeface="优设标题黑" panose="00000500000000000000" charset="-122"/>
                <a:ea typeface="优设标题黑" panose="00000500000000000000" charset="-122"/>
              </a:rPr>
              <a:t>命今接收任务</a:t>
            </a:r>
            <a:endParaRPr lang="zh-CN" altLang="en-US" sz="2400" b="1" strike="noStrike" noProof="1">
              <a:latin typeface="优设标题黑" panose="00000500000000000000" charset="-122"/>
              <a:ea typeface="优设标题黑" panose="00000500000000000000" charset="-122"/>
            </a:endParaRPr>
          </a:p>
        </p:txBody>
      </p:sp>
      <p:cxnSp>
        <p:nvCxnSpPr>
          <p:cNvPr id="35" name="直接连接符 34"/>
          <p:cNvCxnSpPr/>
          <p:nvPr>
            <p:custDataLst>
              <p:tags r:id="rId3"/>
            </p:custDataLst>
          </p:nvPr>
        </p:nvCxnSpPr>
        <p:spPr>
          <a:xfrm>
            <a:off x="1054363" y="2250594"/>
            <a:ext cx="0" cy="2190636"/>
          </a:xfrm>
          <a:prstGeom prst="line">
            <a:avLst/>
          </a:prstGeom>
          <a:ln w="12700" cap="rnd">
            <a:gradFill>
              <a:gsLst>
                <a:gs pos="0">
                  <a:srgbClr val="5374FF"/>
                </a:gs>
                <a:gs pos="100000">
                  <a:srgbClr val="00B0F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>
            <p:custDataLst>
              <p:tags r:id="rId4"/>
            </p:custDataLst>
          </p:nvPr>
        </p:nvCxnSpPr>
        <p:spPr>
          <a:xfrm>
            <a:off x="5215913" y="2223291"/>
            <a:ext cx="0" cy="2190636"/>
          </a:xfrm>
          <a:prstGeom prst="line">
            <a:avLst/>
          </a:prstGeom>
          <a:ln w="12700" cap="rnd">
            <a:gradFill>
              <a:gsLst>
                <a:gs pos="0">
                  <a:srgbClr val="5374FF"/>
                </a:gs>
                <a:gs pos="100000">
                  <a:srgbClr val="00B0F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>
            <p:custDataLst>
              <p:tags r:id="rId5"/>
            </p:custDataLst>
          </p:nvPr>
        </p:nvCxnSpPr>
        <p:spPr>
          <a:xfrm>
            <a:off x="9255147" y="2223291"/>
            <a:ext cx="0" cy="2190636"/>
          </a:xfrm>
          <a:prstGeom prst="line">
            <a:avLst/>
          </a:prstGeom>
          <a:ln w="12700" cap="rnd">
            <a:gradFill>
              <a:gsLst>
                <a:gs pos="0">
                  <a:srgbClr val="5374FF"/>
                </a:gs>
                <a:gs pos="100000">
                  <a:srgbClr val="00B0F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>
            <p:custDataLst>
              <p:tags r:id="rId6"/>
            </p:custDataLst>
          </p:nvPr>
        </p:nvCxnSpPr>
        <p:spPr>
          <a:xfrm flipV="1">
            <a:off x="7253717" y="4270107"/>
            <a:ext cx="0" cy="2190636"/>
          </a:xfrm>
          <a:prstGeom prst="line">
            <a:avLst/>
          </a:prstGeom>
          <a:ln w="12700" cap="rnd">
            <a:gradFill>
              <a:gsLst>
                <a:gs pos="0">
                  <a:srgbClr val="5374FF"/>
                </a:gs>
                <a:gs pos="100000">
                  <a:srgbClr val="00B0F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>
            <p:custDataLst>
              <p:tags r:id="rId7"/>
            </p:custDataLst>
          </p:nvPr>
        </p:nvCxnSpPr>
        <p:spPr>
          <a:xfrm flipV="1">
            <a:off x="3804867" y="4209785"/>
            <a:ext cx="0" cy="2190636"/>
          </a:xfrm>
          <a:prstGeom prst="line">
            <a:avLst/>
          </a:prstGeom>
          <a:ln w="12700" cap="rnd">
            <a:gradFill>
              <a:gsLst>
                <a:gs pos="0">
                  <a:srgbClr val="5374FF"/>
                </a:gs>
                <a:gs pos="100000">
                  <a:srgbClr val="00B0F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29"/>
          <p:cNvSpPr txBox="1"/>
          <p:nvPr>
            <p:custDataLst>
              <p:tags r:id="rId8"/>
            </p:custDataLst>
          </p:nvPr>
        </p:nvSpPr>
        <p:spPr>
          <a:xfrm>
            <a:off x="9376616" y="2210090"/>
            <a:ext cx="2282706" cy="12731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r>
              <a:rPr lang="zh-CN" altLang="en-US" sz="2300" b="0" dirty="0">
                <a:solidFill>
                  <a:srgbClr val="3D57F6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要求执行周期</a:t>
            </a:r>
            <a:r>
              <a:rPr lang="en-US" altLang="zh-CN" sz="2300" b="0" dirty="0">
                <a:solidFill>
                  <a:srgbClr val="3D57F6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:100ms;</a:t>
            </a:r>
            <a:r>
              <a:rPr lang="zh-CN" altLang="en-US" sz="2300" b="0" dirty="0">
                <a:solidFill>
                  <a:srgbClr val="3D57F6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触发方式</a:t>
            </a:r>
            <a:r>
              <a:rPr lang="en-US" altLang="zh-CN" sz="2300" b="0" dirty="0">
                <a:solidFill>
                  <a:srgbClr val="3D57F6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:</a:t>
            </a:r>
            <a:r>
              <a:rPr lang="zh-CN" altLang="en-US" sz="2300" b="0" dirty="0">
                <a:solidFill>
                  <a:srgbClr val="3D57F6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定时触发</a:t>
            </a:r>
            <a:endParaRPr lang="en-US" altLang="zh-CN" sz="2300" b="0" dirty="0">
              <a:solidFill>
                <a:srgbClr val="3D57F6"/>
              </a:soli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+mn-ea"/>
            </a:endParaRPr>
          </a:p>
        </p:txBody>
      </p:sp>
      <p:sp>
        <p:nvSpPr>
          <p:cNvPr id="41" name="文本框 26"/>
          <p:cNvSpPr txBox="1"/>
          <p:nvPr>
            <p:custDataLst>
              <p:tags r:id="rId9"/>
            </p:custDataLst>
          </p:nvPr>
        </p:nvSpPr>
        <p:spPr>
          <a:xfrm>
            <a:off x="5337381" y="2210090"/>
            <a:ext cx="2592356" cy="12731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r>
              <a:rPr lang="zh-CN" sz="2300" b="0" dirty="0">
                <a:solidFill>
                  <a:srgbClr val="3D57F6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要求：</a:t>
            </a:r>
            <a:r>
              <a:rPr lang="zh-CN" altLang="en-US" sz="2300" b="0" dirty="0">
                <a:solidFill>
                  <a:srgbClr val="3D57F6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执行周期</a:t>
            </a:r>
            <a:r>
              <a:rPr lang="en-US" altLang="zh-CN" sz="2300" b="0" dirty="0">
                <a:solidFill>
                  <a:srgbClr val="3D57F6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:5ms;</a:t>
            </a:r>
            <a:r>
              <a:rPr lang="zh-CN" altLang="en-US" sz="2300" b="0" dirty="0">
                <a:solidFill>
                  <a:srgbClr val="3D57F6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触发方式</a:t>
            </a:r>
            <a:r>
              <a:rPr lang="en-US" altLang="zh-CN" sz="2300" b="0" dirty="0">
                <a:solidFill>
                  <a:srgbClr val="3D57F6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:</a:t>
            </a:r>
            <a:r>
              <a:rPr lang="zh-CN" altLang="en-US" sz="2300" b="0" dirty="0">
                <a:solidFill>
                  <a:srgbClr val="3D57F6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事件驱动</a:t>
            </a:r>
            <a:endParaRPr lang="en-US" altLang="zh-CN" sz="2300" b="0" dirty="0">
              <a:solidFill>
                <a:srgbClr val="3D57F6"/>
              </a:soli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+mn-ea"/>
            </a:endParaRPr>
          </a:p>
        </p:txBody>
      </p:sp>
      <p:sp>
        <p:nvSpPr>
          <p:cNvPr id="42" name="文本框 12"/>
          <p:cNvSpPr txBox="1"/>
          <p:nvPr>
            <p:custDataLst>
              <p:tags r:id="rId10"/>
            </p:custDataLst>
          </p:nvPr>
        </p:nvSpPr>
        <p:spPr>
          <a:xfrm>
            <a:off x="1253297" y="2210090"/>
            <a:ext cx="2223209" cy="12731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r>
              <a:rPr lang="zh-CN" altLang="en-US" sz="2300" b="0" dirty="0">
                <a:solidFill>
                  <a:srgbClr val="3D57F6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</a:rPr>
              <a:t>要求</a:t>
            </a:r>
            <a:r>
              <a:rPr lang="en-US" altLang="zh-CN" sz="2300" b="0" dirty="0">
                <a:solidFill>
                  <a:srgbClr val="3D57F6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</a:rPr>
              <a:t>:</a:t>
            </a:r>
            <a:r>
              <a:rPr lang="zh-CN" altLang="en-US" sz="2300" b="0" dirty="0">
                <a:solidFill>
                  <a:srgbClr val="3D57F6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</a:rPr>
              <a:t>执行周期</a:t>
            </a:r>
            <a:r>
              <a:rPr lang="en-US" altLang="zh-CN" sz="2300" b="0" dirty="0">
                <a:solidFill>
                  <a:srgbClr val="3D57F6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</a:rPr>
              <a:t>:10ms;</a:t>
            </a:r>
            <a:r>
              <a:rPr lang="zh-CN" altLang="en-US" sz="2300" b="0" dirty="0">
                <a:solidFill>
                  <a:srgbClr val="3D57F6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</a:rPr>
              <a:t>触发方式</a:t>
            </a:r>
            <a:r>
              <a:rPr lang="en-US" altLang="zh-CN" sz="2300" b="0" dirty="0">
                <a:solidFill>
                  <a:srgbClr val="3D57F6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</a:rPr>
              <a:t>:</a:t>
            </a:r>
            <a:r>
              <a:rPr lang="zh-CN" altLang="en-US" sz="2300" b="0" dirty="0">
                <a:solidFill>
                  <a:srgbClr val="3D57F6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</a:rPr>
              <a:t>事件驱动</a:t>
            </a:r>
            <a:endParaRPr lang="zh-CN" altLang="en-US" sz="2300" b="0" dirty="0">
              <a:solidFill>
                <a:srgbClr val="3D57F6"/>
              </a:soli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</a:endParaRPr>
          </a:p>
        </p:txBody>
      </p:sp>
      <p:sp>
        <p:nvSpPr>
          <p:cNvPr id="43" name="文本框 33"/>
          <p:cNvSpPr txBox="1"/>
          <p:nvPr>
            <p:custDataLst>
              <p:tags r:id="rId11"/>
            </p:custDataLst>
          </p:nvPr>
        </p:nvSpPr>
        <p:spPr>
          <a:xfrm>
            <a:off x="7425348" y="5101116"/>
            <a:ext cx="2129038" cy="12731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r>
              <a:rPr lang="zh-CN" altLang="en-US" sz="2300" b="0" dirty="0">
                <a:solidFill>
                  <a:srgbClr val="3D57F6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要求：执行周期</a:t>
            </a:r>
            <a:r>
              <a:rPr lang="en-US" altLang="zh-CN" sz="2300" b="0" dirty="0">
                <a:solidFill>
                  <a:srgbClr val="3D57F6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:20ms;</a:t>
            </a:r>
            <a:r>
              <a:rPr lang="zh-CN" altLang="en-US" sz="2300" b="0" dirty="0">
                <a:solidFill>
                  <a:srgbClr val="3D57F6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触发方式</a:t>
            </a:r>
            <a:r>
              <a:rPr lang="en-US" altLang="zh-CN" sz="2300" b="0" dirty="0">
                <a:solidFill>
                  <a:srgbClr val="3D57F6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:</a:t>
            </a:r>
            <a:r>
              <a:rPr lang="zh-CN" altLang="en-US" sz="2300" b="0" dirty="0">
                <a:solidFill>
                  <a:srgbClr val="3D57F6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定时触发</a:t>
            </a:r>
            <a:endParaRPr lang="zh-CN" altLang="en-US" sz="2300" b="0" dirty="0">
              <a:solidFill>
                <a:srgbClr val="3D57F6"/>
              </a:soli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+mn-ea"/>
            </a:endParaRPr>
          </a:p>
        </p:txBody>
      </p:sp>
      <p:sp>
        <p:nvSpPr>
          <p:cNvPr id="44" name="文本框 22"/>
          <p:cNvSpPr txBox="1"/>
          <p:nvPr>
            <p:custDataLst>
              <p:tags r:id="rId12"/>
            </p:custDataLst>
          </p:nvPr>
        </p:nvSpPr>
        <p:spPr>
          <a:xfrm>
            <a:off x="3955844" y="4946251"/>
            <a:ext cx="2519549" cy="12731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r>
              <a:rPr lang="zh-CN" altLang="en-US" sz="2300" b="0" dirty="0">
                <a:solidFill>
                  <a:srgbClr val="3D57F6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要求：执行周期</a:t>
            </a:r>
            <a:r>
              <a:rPr lang="en-US" altLang="zh-CN" sz="2300" b="0" dirty="0">
                <a:solidFill>
                  <a:srgbClr val="3D57F6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:</a:t>
            </a:r>
            <a:r>
              <a:rPr lang="zh-CN" altLang="en-US" sz="2300" b="0" dirty="0">
                <a:solidFill>
                  <a:srgbClr val="3D57F6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事件驱动</a:t>
            </a:r>
            <a:r>
              <a:rPr lang="en-US" altLang="zh-CN" sz="2300" b="0" dirty="0">
                <a:solidFill>
                  <a:srgbClr val="3D57F6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;</a:t>
            </a:r>
            <a:r>
              <a:rPr lang="zh-CN" altLang="en-US" sz="2300" b="0" dirty="0">
                <a:solidFill>
                  <a:srgbClr val="3D57F6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触发方式</a:t>
            </a:r>
            <a:r>
              <a:rPr lang="en-US" altLang="zh-CN" sz="2300" b="0" dirty="0">
                <a:solidFill>
                  <a:srgbClr val="3D57F6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:</a:t>
            </a:r>
            <a:r>
              <a:rPr lang="zh-CN" altLang="en-US" sz="2300" b="0" dirty="0">
                <a:solidFill>
                  <a:srgbClr val="3D57F6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消息队列</a:t>
            </a:r>
            <a:endParaRPr lang="zh-CN" altLang="en-US" sz="2300" b="0" dirty="0">
              <a:solidFill>
                <a:srgbClr val="3D57F6"/>
              </a:soli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+mn-ea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890224" y="1006601"/>
            <a:ext cx="88336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腾讯体 W7" panose="020C08030202040F0204" charset="-122"/>
                <a:ea typeface="腾讯体 W7" panose="020C08030202040F0204" charset="-122"/>
                <a:cs typeface="优设标题黑" panose="00000500000000000000" charset="-122"/>
                <a:sym typeface="+mn-ea"/>
              </a:rPr>
              <a:t>实战操练</a:t>
            </a:r>
            <a:endParaRPr lang="zh-CN" altLang="en-US" sz="2400" dirty="0">
              <a:solidFill>
                <a:schemeClr val="tx1"/>
              </a:solidFill>
              <a:latin typeface="腾讯体 W7" panose="020C08030202040F0204" charset="-122"/>
              <a:ea typeface="腾讯体 W7" panose="020C08030202040F0204" charset="-122"/>
              <a:cs typeface="优设标题黑" panose="00000500000000000000" charset="-122"/>
              <a:sym typeface="+mn-ea"/>
            </a:endParaRPr>
          </a:p>
        </p:txBody>
      </p:sp>
      <p:sp>
        <p:nvSpPr>
          <p:cNvPr id="46" name="矩形: 圆角 11"/>
          <p:cNvSpPr/>
          <p:nvPr>
            <p:custDataLst>
              <p:tags r:id="rId13"/>
            </p:custDataLst>
          </p:nvPr>
        </p:nvSpPr>
        <p:spPr>
          <a:xfrm>
            <a:off x="2591935" y="3889986"/>
            <a:ext cx="2071897" cy="80386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rgbClr val="7D96FF"/>
              </a:gs>
              <a:gs pos="1000">
                <a:srgbClr val="3359FF"/>
              </a:gs>
            </a:gsLst>
            <a:lin ang="2700000" scaled="1"/>
            <a:tileRect/>
          </a:gradFill>
          <a:ln>
            <a:noFill/>
          </a:ln>
          <a:effectLst>
            <a:outerShdw blurRad="279400" dist="101600" dir="2700000" sx="98000" sy="98000" algn="tl" rotWithShape="0">
              <a:srgbClr val="3359FF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>
                <a:latin typeface="优设标题黑" panose="00000500000000000000" charset="-122"/>
                <a:ea typeface="优设标题黑" panose="00000500000000000000" charset="-122"/>
              </a:rPr>
              <a:t>命令解析任务</a:t>
            </a:r>
            <a:endParaRPr lang="zh-CN" altLang="en-US" sz="2400" b="1" strike="noStrike" noProof="1">
              <a:latin typeface="优设标题黑" panose="00000500000000000000" charset="-122"/>
              <a:ea typeface="优设标题黑" panose="00000500000000000000" charset="-122"/>
            </a:endParaRPr>
          </a:p>
        </p:txBody>
      </p:sp>
      <p:sp>
        <p:nvSpPr>
          <p:cNvPr id="47" name="矩形: 圆角 11"/>
          <p:cNvSpPr/>
          <p:nvPr>
            <p:custDataLst>
              <p:tags r:id="rId14"/>
            </p:custDataLst>
          </p:nvPr>
        </p:nvSpPr>
        <p:spPr>
          <a:xfrm>
            <a:off x="4965441" y="3889986"/>
            <a:ext cx="2071897" cy="80386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rgbClr val="7D96FF"/>
              </a:gs>
              <a:gs pos="1000">
                <a:srgbClr val="3359FF"/>
              </a:gs>
            </a:gsLst>
            <a:lin ang="2700000" scaled="1"/>
            <a:tileRect/>
          </a:gradFill>
          <a:ln>
            <a:noFill/>
          </a:ln>
          <a:effectLst>
            <a:outerShdw blurRad="279400" dist="101600" dir="2700000" sx="98000" sy="98000" algn="tl" rotWithShape="0">
              <a:srgbClr val="3359FF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>
                <a:latin typeface="优设标题黑" panose="00000500000000000000" charset="-122"/>
                <a:ea typeface="优设标题黑" panose="00000500000000000000" charset="-122"/>
              </a:rPr>
              <a:t>灯光控制任务</a:t>
            </a:r>
            <a:endParaRPr lang="en-US" altLang="zh-CN" sz="2400" b="1" strike="noStrike" noProof="1">
              <a:latin typeface="优设标题黑" panose="00000500000000000000" charset="-122"/>
              <a:ea typeface="优设标题黑" panose="00000500000000000000" charset="-122"/>
            </a:endParaRPr>
          </a:p>
        </p:txBody>
      </p:sp>
      <p:sp>
        <p:nvSpPr>
          <p:cNvPr id="48" name="矩形: 圆角 11"/>
          <p:cNvSpPr/>
          <p:nvPr>
            <p:custDataLst>
              <p:tags r:id="rId15"/>
            </p:custDataLst>
          </p:nvPr>
        </p:nvSpPr>
        <p:spPr>
          <a:xfrm>
            <a:off x="7253862" y="3889986"/>
            <a:ext cx="2071897" cy="80386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rgbClr val="7D96FF"/>
              </a:gs>
              <a:gs pos="1000">
                <a:srgbClr val="3359FF"/>
              </a:gs>
            </a:gsLst>
            <a:lin ang="2700000" scaled="1"/>
            <a:tileRect/>
          </a:gradFill>
          <a:ln>
            <a:noFill/>
          </a:ln>
          <a:effectLst>
            <a:outerShdw blurRad="279400" dist="101600" dir="2700000" sx="98000" sy="98000" algn="tl" rotWithShape="0">
              <a:srgbClr val="3359FF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>
                <a:latin typeface="优设标题黑" panose="00000500000000000000" charset="-122"/>
                <a:ea typeface="优设标题黑" panose="00000500000000000000" charset="-122"/>
              </a:rPr>
              <a:t>状态反馈任务</a:t>
            </a:r>
            <a:endParaRPr lang="en-US" altLang="en-US" sz="2400" b="1" strike="noStrike" noProof="1">
              <a:latin typeface="优设标题黑" panose="00000500000000000000" charset="-122"/>
              <a:ea typeface="优设标题黑" panose="00000500000000000000" charset="-122"/>
            </a:endParaRPr>
          </a:p>
        </p:txBody>
      </p:sp>
      <p:sp>
        <p:nvSpPr>
          <p:cNvPr id="49" name="矩形: 圆角 11"/>
          <p:cNvSpPr/>
          <p:nvPr>
            <p:custDataLst>
              <p:tags r:id="rId16"/>
            </p:custDataLst>
          </p:nvPr>
        </p:nvSpPr>
        <p:spPr>
          <a:xfrm>
            <a:off x="9542283" y="3889986"/>
            <a:ext cx="2071897" cy="80386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rgbClr val="7D96FF"/>
              </a:gs>
              <a:gs pos="1000">
                <a:srgbClr val="3359FF"/>
              </a:gs>
            </a:gsLst>
            <a:lin ang="2700000" scaled="1"/>
            <a:tileRect/>
          </a:gradFill>
          <a:ln>
            <a:noFill/>
          </a:ln>
          <a:effectLst>
            <a:outerShdw blurRad="279400" dist="101600" dir="2700000" sx="98000" sy="98000" algn="tl" rotWithShape="0">
              <a:srgbClr val="3359FF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2400" b="1" strike="noStrike" noProof="1">
                <a:latin typeface="优设标题黑" panose="00000500000000000000" charset="-122"/>
                <a:ea typeface="优设标题黑" panose="00000500000000000000" charset="-122"/>
              </a:rPr>
              <a:t>系统监挖任务</a:t>
            </a:r>
            <a:endParaRPr lang="zh-CN" altLang="en-US" sz="2400" b="1" strike="noStrike" noProof="1">
              <a:latin typeface="优设标题黑" panose="00000500000000000000" charset="-122"/>
              <a:ea typeface="优设标题黑" panose="00000500000000000000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白色背景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右下角淡蓝装饰"/>
          <p:cNvSpPr/>
          <p:nvPr/>
        </p:nvSpPr>
        <p:spPr>
          <a:xfrm>
            <a:off x="10774679" y="5440680"/>
            <a:ext cx="1417320" cy="1417320"/>
          </a:xfrm>
          <a:custGeom>
            <a:avLst/>
            <a:gdLst/>
            <a:ahLst/>
            <a:cxnLst/>
            <a:rect l="l" t="t" r="r" b="b"/>
            <a:pathLst>
              <a:path w="1417320" h="1417320">
                <a:moveTo>
                  <a:pt x="1417320" y="1417320"/>
                </a:moveTo>
                <a:lnTo>
                  <a:pt x="0" y="1417320"/>
                </a:lnTo>
                <a:lnTo>
                  <a:pt x="700" y="1372800"/>
                </a:lnTo>
                <a:lnTo>
                  <a:pt x="2797" y="1328325"/>
                </a:lnTo>
                <a:lnTo>
                  <a:pt x="6290" y="1283938"/>
                </a:lnTo>
                <a:lnTo>
                  <a:pt x="11176" y="1239682"/>
                </a:lnTo>
                <a:lnTo>
                  <a:pt x="17450" y="1195602"/>
                </a:lnTo>
                <a:lnTo>
                  <a:pt x="25105" y="1151740"/>
                </a:lnTo>
                <a:lnTo>
                  <a:pt x="34134" y="1108141"/>
                </a:lnTo>
                <a:lnTo>
                  <a:pt x="44528" y="1064846"/>
                </a:lnTo>
                <a:lnTo>
                  <a:pt x="56277" y="1021900"/>
                </a:lnTo>
                <a:lnTo>
                  <a:pt x="69369" y="979344"/>
                </a:lnTo>
                <a:lnTo>
                  <a:pt x="83791" y="937219"/>
                </a:lnTo>
                <a:lnTo>
                  <a:pt x="99529" y="895569"/>
                </a:lnTo>
                <a:lnTo>
                  <a:pt x="116568" y="854434"/>
                </a:lnTo>
                <a:lnTo>
                  <a:pt x="134891" y="813854"/>
                </a:lnTo>
                <a:lnTo>
                  <a:pt x="154479" y="773870"/>
                </a:lnTo>
                <a:lnTo>
                  <a:pt x="175313" y="734520"/>
                </a:lnTo>
                <a:lnTo>
                  <a:pt x="197373" y="695845"/>
                </a:lnTo>
                <a:lnTo>
                  <a:pt x="220637" y="657881"/>
                </a:lnTo>
                <a:lnTo>
                  <a:pt x="245082" y="620667"/>
                </a:lnTo>
                <a:lnTo>
                  <a:pt x="270684" y="584240"/>
                </a:lnTo>
                <a:lnTo>
                  <a:pt x="297418" y="548634"/>
                </a:lnTo>
                <a:lnTo>
                  <a:pt x="325256" y="513886"/>
                </a:lnTo>
                <a:lnTo>
                  <a:pt x="354173" y="480029"/>
                </a:lnTo>
                <a:lnTo>
                  <a:pt x="384138" y="447097"/>
                </a:lnTo>
                <a:lnTo>
                  <a:pt x="415124" y="415123"/>
                </a:lnTo>
                <a:lnTo>
                  <a:pt x="447098" y="384138"/>
                </a:lnTo>
                <a:lnTo>
                  <a:pt x="480030" y="354172"/>
                </a:lnTo>
                <a:lnTo>
                  <a:pt x="513886" y="325256"/>
                </a:lnTo>
                <a:lnTo>
                  <a:pt x="548635" y="297417"/>
                </a:lnTo>
                <a:lnTo>
                  <a:pt x="584240" y="270684"/>
                </a:lnTo>
                <a:lnTo>
                  <a:pt x="620668" y="245082"/>
                </a:lnTo>
                <a:lnTo>
                  <a:pt x="657882" y="220637"/>
                </a:lnTo>
                <a:lnTo>
                  <a:pt x="695846" y="197373"/>
                </a:lnTo>
                <a:lnTo>
                  <a:pt x="734521" y="175313"/>
                </a:lnTo>
                <a:lnTo>
                  <a:pt x="773870" y="154478"/>
                </a:lnTo>
                <a:lnTo>
                  <a:pt x="813855" y="134890"/>
                </a:lnTo>
                <a:lnTo>
                  <a:pt x="854435" y="116568"/>
                </a:lnTo>
                <a:lnTo>
                  <a:pt x="895570" y="99529"/>
                </a:lnTo>
                <a:lnTo>
                  <a:pt x="937220" y="83790"/>
                </a:lnTo>
                <a:lnTo>
                  <a:pt x="979344" y="69368"/>
                </a:lnTo>
                <a:lnTo>
                  <a:pt x="1021901" y="56276"/>
                </a:lnTo>
                <a:lnTo>
                  <a:pt x="1064847" y="44527"/>
                </a:lnTo>
                <a:lnTo>
                  <a:pt x="1108141" y="34133"/>
                </a:lnTo>
                <a:lnTo>
                  <a:pt x="1151741" y="25104"/>
                </a:lnTo>
                <a:lnTo>
                  <a:pt x="1195602" y="17449"/>
                </a:lnTo>
                <a:lnTo>
                  <a:pt x="1239683" y="11175"/>
                </a:lnTo>
                <a:lnTo>
                  <a:pt x="1283939" y="6290"/>
                </a:lnTo>
                <a:lnTo>
                  <a:pt x="1328326" y="2796"/>
                </a:lnTo>
                <a:lnTo>
                  <a:pt x="1372801" y="699"/>
                </a:lnTo>
                <a:lnTo>
                  <a:pt x="1417320" y="0"/>
                </a:lnTo>
                <a:lnTo>
                  <a:pt x="1417320" y="1417320"/>
                </a:lnTo>
                <a:close/>
              </a:path>
            </a:pathLst>
          </a:custGeom>
          <a:solidFill>
            <a:srgbClr val="F4F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圆形"/>
          <p:cNvSpPr/>
          <p:nvPr/>
        </p:nvSpPr>
        <p:spPr>
          <a:xfrm>
            <a:off x="1038758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圆形"/>
          <p:cNvSpPr/>
          <p:nvPr/>
        </p:nvSpPr>
        <p:spPr>
          <a:xfrm>
            <a:off x="1038758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圆形"/>
          <p:cNvSpPr/>
          <p:nvPr/>
        </p:nvSpPr>
        <p:spPr>
          <a:xfrm>
            <a:off x="1038758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圆形"/>
          <p:cNvSpPr/>
          <p:nvPr/>
        </p:nvSpPr>
        <p:spPr>
          <a:xfrm>
            <a:off x="1055217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圆形"/>
          <p:cNvSpPr/>
          <p:nvPr/>
        </p:nvSpPr>
        <p:spPr>
          <a:xfrm>
            <a:off x="1055217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圆形"/>
          <p:cNvSpPr/>
          <p:nvPr/>
        </p:nvSpPr>
        <p:spPr>
          <a:xfrm>
            <a:off x="1055217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圆形"/>
          <p:cNvSpPr/>
          <p:nvPr/>
        </p:nvSpPr>
        <p:spPr>
          <a:xfrm>
            <a:off x="10716767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圆形"/>
          <p:cNvSpPr/>
          <p:nvPr/>
        </p:nvSpPr>
        <p:spPr>
          <a:xfrm>
            <a:off x="10716767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圆形"/>
          <p:cNvSpPr/>
          <p:nvPr/>
        </p:nvSpPr>
        <p:spPr>
          <a:xfrm>
            <a:off x="10716767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圆形"/>
          <p:cNvSpPr/>
          <p:nvPr/>
        </p:nvSpPr>
        <p:spPr>
          <a:xfrm>
            <a:off x="10881359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圆形"/>
          <p:cNvSpPr/>
          <p:nvPr/>
        </p:nvSpPr>
        <p:spPr>
          <a:xfrm>
            <a:off x="10881359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圆形"/>
          <p:cNvSpPr/>
          <p:nvPr/>
        </p:nvSpPr>
        <p:spPr>
          <a:xfrm>
            <a:off x="10881359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圆形"/>
          <p:cNvSpPr/>
          <p:nvPr/>
        </p:nvSpPr>
        <p:spPr>
          <a:xfrm>
            <a:off x="11045952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圆形"/>
          <p:cNvSpPr/>
          <p:nvPr/>
        </p:nvSpPr>
        <p:spPr>
          <a:xfrm>
            <a:off x="11045952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圆形"/>
          <p:cNvSpPr/>
          <p:nvPr/>
        </p:nvSpPr>
        <p:spPr>
          <a:xfrm>
            <a:off x="11045952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圆形"/>
          <p:cNvSpPr/>
          <p:nvPr/>
        </p:nvSpPr>
        <p:spPr>
          <a:xfrm>
            <a:off x="1121054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圆形"/>
          <p:cNvSpPr/>
          <p:nvPr/>
        </p:nvSpPr>
        <p:spPr>
          <a:xfrm>
            <a:off x="1121054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圆形"/>
          <p:cNvSpPr/>
          <p:nvPr/>
        </p:nvSpPr>
        <p:spPr>
          <a:xfrm>
            <a:off x="1121054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圆形"/>
          <p:cNvSpPr/>
          <p:nvPr/>
        </p:nvSpPr>
        <p:spPr>
          <a:xfrm>
            <a:off x="1137513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圆形"/>
          <p:cNvSpPr/>
          <p:nvPr/>
        </p:nvSpPr>
        <p:spPr>
          <a:xfrm>
            <a:off x="1137513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圆形"/>
          <p:cNvSpPr/>
          <p:nvPr/>
        </p:nvSpPr>
        <p:spPr>
          <a:xfrm>
            <a:off x="1137513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圆形"/>
          <p:cNvSpPr/>
          <p:nvPr/>
        </p:nvSpPr>
        <p:spPr>
          <a:xfrm>
            <a:off x="11539728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圆形"/>
          <p:cNvSpPr/>
          <p:nvPr/>
        </p:nvSpPr>
        <p:spPr>
          <a:xfrm>
            <a:off x="11539728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圆形"/>
          <p:cNvSpPr/>
          <p:nvPr/>
        </p:nvSpPr>
        <p:spPr>
          <a:xfrm>
            <a:off x="11539728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标题蓝色竖线"/>
          <p:cNvSpPr/>
          <p:nvPr/>
        </p:nvSpPr>
        <p:spPr>
          <a:xfrm>
            <a:off x="274320" y="356616"/>
            <a:ext cx="109728" cy="585216"/>
          </a:xfrm>
          <a:prstGeom prst="roundRect">
            <a:avLst>
              <a:gd name="adj" fmla="val 41666"/>
            </a:avLst>
          </a:prstGeom>
          <a:gradFill>
            <a:gsLst>
              <a:gs pos="0">
                <a:srgbClr val="3A92D5"/>
              </a:gs>
              <a:gs pos="100000">
                <a:srgbClr val="146FB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标题"/>
          <p:cNvSpPr txBox="1"/>
          <p:nvPr/>
        </p:nvSpPr>
        <p:spPr>
          <a:xfrm>
            <a:off x="621792" y="301752"/>
            <a:ext cx="9390888" cy="64922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3600">
                <a:latin typeface="微软雅黑" panose="020B0503020204020204" charset="-122"/>
              </a:defRPr>
            </a:pPr>
            <a:r>
              <a:rPr lang="zh-CN" altLang="en-US" sz="35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实战</a:t>
            </a:r>
            <a:endParaRPr lang="zh-CN" altLang="en-US" sz="35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3600">
                <a:latin typeface="微软雅黑" panose="020B0503020204020204" charset="-122"/>
              </a:defRPr>
            </a:pPr>
            <a:endParaRPr lang="zh-CN" altLang="en-US" sz="35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标题分隔线"/>
          <p:cNvSpPr/>
          <p:nvPr/>
        </p:nvSpPr>
        <p:spPr>
          <a:xfrm>
            <a:off x="621792" y="1051560"/>
            <a:ext cx="11109960" cy="18288"/>
          </a:xfrm>
          <a:prstGeom prst="rect">
            <a:avLst/>
          </a:prstGeom>
          <a:gradFill>
            <a:gsLst>
              <a:gs pos="0">
                <a:srgbClr val="3A92D5"/>
              </a:gs>
              <a:gs pos="100000">
                <a:srgbClr val="E3EFF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tongji_wordm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4" y="256032"/>
            <a:ext cx="1554480" cy="385298"/>
          </a:xfrm>
          <a:prstGeom prst="rect">
            <a:avLst/>
          </a:prstGeom>
          <a:effectLst/>
        </p:spPr>
      </p:pic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1670506" y="1655537"/>
            <a:ext cx="3595183" cy="4402861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16200000" scaled="0"/>
          </a:gradFill>
          <a:ln>
            <a:gradFill>
              <a:gsLst>
                <a:gs pos="0">
                  <a:schemeClr val="accent1">
                    <a:lumMod val="5000"/>
                    <a:lumOff val="95000"/>
                    <a:alpha val="7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rgbClr val="00B0F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圆角矩形 18"/>
          <p:cNvSpPr/>
          <p:nvPr>
            <p:custDataLst>
              <p:tags r:id="rId3"/>
            </p:custDataLst>
          </p:nvPr>
        </p:nvSpPr>
        <p:spPr>
          <a:xfrm>
            <a:off x="1665344" y="1654902"/>
            <a:ext cx="3600779" cy="530198"/>
          </a:xfrm>
          <a:prstGeom prst="roundRect">
            <a:avLst>
              <a:gd name="adj" fmla="val 3048"/>
            </a:avLst>
          </a:prstGeom>
          <a:gradFill>
            <a:gsLst>
              <a:gs pos="100000">
                <a:srgbClr val="3359FF"/>
              </a:gs>
              <a:gs pos="0">
                <a:srgbClr val="6C87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4"/>
            </p:custDataLst>
          </p:nvPr>
        </p:nvSpPr>
        <p:spPr>
          <a:xfrm>
            <a:off x="1624967" y="1736013"/>
            <a:ext cx="3722274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b="1">
                <a:solidFill>
                  <a:schemeClr val="bg1"/>
                </a:solidFill>
                <a:latin typeface="腾讯体 W7" panose="020C08030202040F0204" charset="-122"/>
                <a:ea typeface="腾讯体 W7" panose="020C08030202040F0204" charset="-122"/>
                <a:cs typeface="腾讯体 W7" panose="020C08030202040F0204" charset="-122"/>
              </a:rPr>
              <a:t>接受任务功能要求</a:t>
            </a:r>
            <a:endParaRPr lang="zh-CN" altLang="en-US" sz="2000" b="1">
              <a:solidFill>
                <a:schemeClr val="bg1"/>
              </a:solidFill>
              <a:latin typeface="腾讯体 W7" panose="020C08030202040F0204" charset="-122"/>
              <a:ea typeface="腾讯体 W7" panose="020C08030202040F0204" charset="-122"/>
              <a:cs typeface="腾讯体 W7" panose="020C08030202040F0204" charset="-122"/>
            </a:endParaRPr>
          </a:p>
        </p:txBody>
      </p:sp>
      <p:pic>
        <p:nvPicPr>
          <p:cNvPr id="35" name="图片 34" descr="21大标题"/>
          <p:cNvPicPr>
            <a:picLocks noChangeAspect="1"/>
          </p:cNvPicPr>
          <p:nvPr/>
        </p:nvPicPr>
        <p:blipFill>
          <a:blip r:embed="rId5"/>
          <a:srcRect l="2953" t="13333" r="73995" b="70259"/>
          <a:stretch>
            <a:fillRect/>
          </a:stretch>
        </p:blipFill>
        <p:spPr>
          <a:xfrm>
            <a:off x="360026" y="798332"/>
            <a:ext cx="2810364" cy="1125161"/>
          </a:xfrm>
          <a:prstGeom prst="rect">
            <a:avLst/>
          </a:prstGeom>
        </p:spPr>
      </p:pic>
      <p:sp>
        <p:nvSpPr>
          <p:cNvPr id="36" name="文本框 35"/>
          <p:cNvSpPr txBox="1"/>
          <p:nvPr/>
        </p:nvSpPr>
        <p:spPr>
          <a:xfrm>
            <a:off x="890224" y="1030095"/>
            <a:ext cx="5025128" cy="613378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腾讯体 W7" panose="020C08030202040F0204" charset="-122"/>
                <a:ea typeface="腾讯体 W7" panose="020C08030202040F0204" charset="-122"/>
                <a:cs typeface="优设标题黑" panose="00000500000000000000" charset="-122"/>
                <a:sym typeface="+mn-ea"/>
              </a:rPr>
              <a:t>CAN</a:t>
            </a:r>
            <a:r>
              <a:rPr lang="zh-CN" altLang="en-US" sz="2400" dirty="0">
                <a:solidFill>
                  <a:schemeClr val="tx1"/>
                </a:solidFill>
                <a:latin typeface="腾讯体 W7" panose="020C08030202040F0204" charset="-122"/>
                <a:ea typeface="腾讯体 W7" panose="020C08030202040F0204" charset="-122"/>
                <a:cs typeface="优设标题黑" panose="00000500000000000000" charset="-122"/>
                <a:sym typeface="+mn-ea"/>
              </a:rPr>
              <a:t>命今接收任务和</a:t>
            </a:r>
            <a:r>
              <a:rPr lang="zh-CN" altLang="en-US" sz="2400" dirty="0">
                <a:latin typeface="腾讯体 W7" panose="020C08030202040F0204" charset="-122"/>
                <a:ea typeface="腾讯体 W7" panose="020C08030202040F0204" charset="-122"/>
                <a:cs typeface="优设标题黑" panose="00000500000000000000" charset="-122"/>
                <a:sym typeface="+mn-ea"/>
              </a:rPr>
              <a:t>命令解析任务</a:t>
            </a:r>
            <a:endParaRPr lang="zh-CN" altLang="en-US" sz="2400" dirty="0">
              <a:solidFill>
                <a:schemeClr val="tx1"/>
              </a:solidFill>
              <a:latin typeface="腾讯体 W7" panose="020C08030202040F0204" charset="-122"/>
              <a:ea typeface="腾讯体 W7" panose="020C08030202040F0204" charset="-122"/>
              <a:cs typeface="优设标题黑" panose="00000500000000000000" charset="-122"/>
              <a:sym typeface="+mn-ea"/>
            </a:endParaRPr>
          </a:p>
          <a:p>
            <a:endParaRPr lang="zh-CN" altLang="en-US" sz="2400" dirty="0">
              <a:solidFill>
                <a:schemeClr val="tx1"/>
              </a:solidFill>
              <a:latin typeface="腾讯体 W7" panose="020C08030202040F0204" charset="-122"/>
              <a:ea typeface="腾讯体 W7" panose="020C08030202040F0204" charset="-122"/>
              <a:cs typeface="优设标题黑" panose="00000500000000000000" charset="-122"/>
              <a:sym typeface="+mn-ea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846250" y="2503694"/>
            <a:ext cx="3238966" cy="22712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 dirty="0"/>
              <a:t>实时监听</a:t>
            </a:r>
            <a:r>
              <a:rPr lang="en-US" altLang="zh-CN" sz="2000" dirty="0"/>
              <a:t> CAN </a:t>
            </a:r>
            <a:r>
              <a:rPr lang="zh-CN" altLang="en-US" sz="2000" dirty="0"/>
              <a:t>总线消息。</a:t>
            </a:r>
            <a:endParaRPr lang="zh-CN" altLang="en-US" sz="2000" dirty="0"/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 dirty="0"/>
              <a:t>过滤识别控制命令</a:t>
            </a:r>
            <a:r>
              <a:rPr lang="en-US" altLang="zh-CN" sz="2000" dirty="0"/>
              <a:t>(ID:0x256)</a:t>
            </a:r>
            <a:endParaRPr lang="zh-CN" altLang="en-US" sz="2000" dirty="0"/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 dirty="0"/>
              <a:t>将接收到的消息存入命令缓冲区</a:t>
            </a:r>
            <a:endParaRPr lang="zh-CN" altLang="en-US" sz="2000" dirty="0"/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 dirty="0"/>
              <a:t>统计</a:t>
            </a:r>
            <a:r>
              <a:rPr lang="en-US" altLang="zh-CN" sz="2000" dirty="0"/>
              <a:t>CAN </a:t>
            </a:r>
            <a:r>
              <a:rPr lang="zh-CN" altLang="en-US" sz="2000" dirty="0"/>
              <a:t>通信质量指标</a:t>
            </a:r>
            <a:endParaRPr lang="zh-CN" altLang="en-US" sz="2000" dirty="0"/>
          </a:p>
        </p:txBody>
      </p:sp>
      <p:sp>
        <p:nvSpPr>
          <p:cNvPr id="38" name="矩形 37"/>
          <p:cNvSpPr/>
          <p:nvPr>
            <p:custDataLst>
              <p:tags r:id="rId6"/>
            </p:custDataLst>
          </p:nvPr>
        </p:nvSpPr>
        <p:spPr>
          <a:xfrm>
            <a:off x="6789609" y="1662522"/>
            <a:ext cx="3861869" cy="4402861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16200000" scaled="0"/>
          </a:gradFill>
          <a:ln>
            <a:gradFill>
              <a:gsLst>
                <a:gs pos="0">
                  <a:schemeClr val="accent1">
                    <a:lumMod val="5000"/>
                    <a:lumOff val="95000"/>
                    <a:alpha val="7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rgbClr val="00B0F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圆角矩形 12"/>
          <p:cNvSpPr/>
          <p:nvPr>
            <p:custDataLst>
              <p:tags r:id="rId7"/>
            </p:custDataLst>
          </p:nvPr>
        </p:nvSpPr>
        <p:spPr>
          <a:xfrm>
            <a:off x="6784530" y="1661887"/>
            <a:ext cx="3866314" cy="530197"/>
          </a:xfrm>
          <a:prstGeom prst="roundRect">
            <a:avLst>
              <a:gd name="adj" fmla="val 3048"/>
            </a:avLst>
          </a:prstGeom>
          <a:gradFill>
            <a:gsLst>
              <a:gs pos="100000">
                <a:srgbClr val="3359FF"/>
              </a:gs>
              <a:gs pos="0">
                <a:srgbClr val="6C87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6803579" y="1710779"/>
            <a:ext cx="38479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>
                <a:solidFill>
                  <a:schemeClr val="bg1"/>
                </a:solidFill>
                <a:latin typeface="腾讯体 W7" panose="020C08030202040F0204" charset="-122"/>
                <a:ea typeface="腾讯体 W7" panose="020C08030202040F0204" charset="-122"/>
                <a:cs typeface="腾讯体 W7" panose="020C08030202040F0204" charset="-122"/>
              </a:rPr>
              <a:t>命令解析任务功能要求</a:t>
            </a:r>
            <a:endParaRPr lang="zh-CN" altLang="en-US" sz="2000" b="1">
              <a:solidFill>
                <a:schemeClr val="bg1"/>
              </a:solidFill>
              <a:latin typeface="腾讯体 W7" panose="020C08030202040F0204" charset="-122"/>
              <a:ea typeface="腾讯体 W7" panose="020C08030202040F0204" charset="-122"/>
              <a:cs typeface="腾讯体 W7" panose="020C08030202040F020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898189" y="2694828"/>
            <a:ext cx="3848535" cy="305038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 dirty="0"/>
              <a:t>从命令缓冲区读取</a:t>
            </a:r>
            <a:r>
              <a:rPr lang="en-US" altLang="zh-CN" sz="2000" dirty="0"/>
              <a:t>CAN</a:t>
            </a:r>
            <a:r>
              <a:rPr lang="zh-CN" altLang="en-US" sz="2000" dirty="0"/>
              <a:t>消息</a:t>
            </a:r>
            <a:endParaRPr lang="zh-CN" altLang="en-US" sz="2000" dirty="0"/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 dirty="0"/>
              <a:t>解析命令类型和参数</a:t>
            </a:r>
            <a:endParaRPr lang="en-US" altLang="en-US" sz="2000" dirty="0"/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 dirty="0"/>
              <a:t>验证命令合法性</a:t>
            </a:r>
            <a:endParaRPr lang="zh-CN" altLang="en-US" sz="2000" dirty="0"/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 dirty="0"/>
              <a:t>转换为内部控制指令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白色背景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右下角淡蓝装饰"/>
          <p:cNvSpPr/>
          <p:nvPr/>
        </p:nvSpPr>
        <p:spPr>
          <a:xfrm>
            <a:off x="10774679" y="5440680"/>
            <a:ext cx="1417320" cy="1417320"/>
          </a:xfrm>
          <a:custGeom>
            <a:avLst/>
            <a:gdLst/>
            <a:ahLst/>
            <a:cxnLst/>
            <a:rect l="l" t="t" r="r" b="b"/>
            <a:pathLst>
              <a:path w="1417320" h="1417320">
                <a:moveTo>
                  <a:pt x="1417320" y="1417320"/>
                </a:moveTo>
                <a:lnTo>
                  <a:pt x="0" y="1417320"/>
                </a:lnTo>
                <a:lnTo>
                  <a:pt x="700" y="1372800"/>
                </a:lnTo>
                <a:lnTo>
                  <a:pt x="2797" y="1328325"/>
                </a:lnTo>
                <a:lnTo>
                  <a:pt x="6290" y="1283938"/>
                </a:lnTo>
                <a:lnTo>
                  <a:pt x="11176" y="1239682"/>
                </a:lnTo>
                <a:lnTo>
                  <a:pt x="17450" y="1195602"/>
                </a:lnTo>
                <a:lnTo>
                  <a:pt x="25105" y="1151740"/>
                </a:lnTo>
                <a:lnTo>
                  <a:pt x="34134" y="1108141"/>
                </a:lnTo>
                <a:lnTo>
                  <a:pt x="44528" y="1064846"/>
                </a:lnTo>
                <a:lnTo>
                  <a:pt x="56277" y="1021900"/>
                </a:lnTo>
                <a:lnTo>
                  <a:pt x="69369" y="979344"/>
                </a:lnTo>
                <a:lnTo>
                  <a:pt x="83791" y="937219"/>
                </a:lnTo>
                <a:lnTo>
                  <a:pt x="99529" y="895569"/>
                </a:lnTo>
                <a:lnTo>
                  <a:pt x="116568" y="854434"/>
                </a:lnTo>
                <a:lnTo>
                  <a:pt x="134891" y="813854"/>
                </a:lnTo>
                <a:lnTo>
                  <a:pt x="154479" y="773870"/>
                </a:lnTo>
                <a:lnTo>
                  <a:pt x="175313" y="734520"/>
                </a:lnTo>
                <a:lnTo>
                  <a:pt x="197373" y="695845"/>
                </a:lnTo>
                <a:lnTo>
                  <a:pt x="220637" y="657881"/>
                </a:lnTo>
                <a:lnTo>
                  <a:pt x="245082" y="620667"/>
                </a:lnTo>
                <a:lnTo>
                  <a:pt x="270684" y="584240"/>
                </a:lnTo>
                <a:lnTo>
                  <a:pt x="297418" y="548634"/>
                </a:lnTo>
                <a:lnTo>
                  <a:pt x="325256" y="513886"/>
                </a:lnTo>
                <a:lnTo>
                  <a:pt x="354173" y="480029"/>
                </a:lnTo>
                <a:lnTo>
                  <a:pt x="384138" y="447097"/>
                </a:lnTo>
                <a:lnTo>
                  <a:pt x="415124" y="415123"/>
                </a:lnTo>
                <a:lnTo>
                  <a:pt x="447098" y="384138"/>
                </a:lnTo>
                <a:lnTo>
                  <a:pt x="480030" y="354172"/>
                </a:lnTo>
                <a:lnTo>
                  <a:pt x="513886" y="325256"/>
                </a:lnTo>
                <a:lnTo>
                  <a:pt x="548635" y="297417"/>
                </a:lnTo>
                <a:lnTo>
                  <a:pt x="584240" y="270684"/>
                </a:lnTo>
                <a:lnTo>
                  <a:pt x="620668" y="245082"/>
                </a:lnTo>
                <a:lnTo>
                  <a:pt x="657882" y="220637"/>
                </a:lnTo>
                <a:lnTo>
                  <a:pt x="695846" y="197373"/>
                </a:lnTo>
                <a:lnTo>
                  <a:pt x="734521" y="175313"/>
                </a:lnTo>
                <a:lnTo>
                  <a:pt x="773870" y="154478"/>
                </a:lnTo>
                <a:lnTo>
                  <a:pt x="813855" y="134890"/>
                </a:lnTo>
                <a:lnTo>
                  <a:pt x="854435" y="116568"/>
                </a:lnTo>
                <a:lnTo>
                  <a:pt x="895570" y="99529"/>
                </a:lnTo>
                <a:lnTo>
                  <a:pt x="937220" y="83790"/>
                </a:lnTo>
                <a:lnTo>
                  <a:pt x="979344" y="69368"/>
                </a:lnTo>
                <a:lnTo>
                  <a:pt x="1021901" y="56276"/>
                </a:lnTo>
                <a:lnTo>
                  <a:pt x="1064847" y="44527"/>
                </a:lnTo>
                <a:lnTo>
                  <a:pt x="1108141" y="34133"/>
                </a:lnTo>
                <a:lnTo>
                  <a:pt x="1151741" y="25104"/>
                </a:lnTo>
                <a:lnTo>
                  <a:pt x="1195602" y="17449"/>
                </a:lnTo>
                <a:lnTo>
                  <a:pt x="1239683" y="11175"/>
                </a:lnTo>
                <a:lnTo>
                  <a:pt x="1283939" y="6290"/>
                </a:lnTo>
                <a:lnTo>
                  <a:pt x="1328326" y="2796"/>
                </a:lnTo>
                <a:lnTo>
                  <a:pt x="1372801" y="699"/>
                </a:lnTo>
                <a:lnTo>
                  <a:pt x="1417320" y="0"/>
                </a:lnTo>
                <a:lnTo>
                  <a:pt x="1417320" y="1417320"/>
                </a:lnTo>
                <a:close/>
              </a:path>
            </a:pathLst>
          </a:custGeom>
          <a:solidFill>
            <a:srgbClr val="F4F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圆形"/>
          <p:cNvSpPr/>
          <p:nvPr/>
        </p:nvSpPr>
        <p:spPr>
          <a:xfrm>
            <a:off x="1038758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圆形"/>
          <p:cNvSpPr/>
          <p:nvPr/>
        </p:nvSpPr>
        <p:spPr>
          <a:xfrm>
            <a:off x="1038758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圆形"/>
          <p:cNvSpPr/>
          <p:nvPr/>
        </p:nvSpPr>
        <p:spPr>
          <a:xfrm>
            <a:off x="1038758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圆形"/>
          <p:cNvSpPr/>
          <p:nvPr/>
        </p:nvSpPr>
        <p:spPr>
          <a:xfrm>
            <a:off x="1055217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圆形"/>
          <p:cNvSpPr/>
          <p:nvPr/>
        </p:nvSpPr>
        <p:spPr>
          <a:xfrm>
            <a:off x="1055217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圆形"/>
          <p:cNvSpPr/>
          <p:nvPr/>
        </p:nvSpPr>
        <p:spPr>
          <a:xfrm>
            <a:off x="1055217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圆形"/>
          <p:cNvSpPr/>
          <p:nvPr/>
        </p:nvSpPr>
        <p:spPr>
          <a:xfrm>
            <a:off x="10716767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圆形"/>
          <p:cNvSpPr/>
          <p:nvPr/>
        </p:nvSpPr>
        <p:spPr>
          <a:xfrm>
            <a:off x="10716767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圆形"/>
          <p:cNvSpPr/>
          <p:nvPr/>
        </p:nvSpPr>
        <p:spPr>
          <a:xfrm>
            <a:off x="10716767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圆形"/>
          <p:cNvSpPr/>
          <p:nvPr/>
        </p:nvSpPr>
        <p:spPr>
          <a:xfrm>
            <a:off x="10881359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圆形"/>
          <p:cNvSpPr/>
          <p:nvPr/>
        </p:nvSpPr>
        <p:spPr>
          <a:xfrm>
            <a:off x="10881359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圆形"/>
          <p:cNvSpPr/>
          <p:nvPr/>
        </p:nvSpPr>
        <p:spPr>
          <a:xfrm>
            <a:off x="10881359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圆形"/>
          <p:cNvSpPr/>
          <p:nvPr/>
        </p:nvSpPr>
        <p:spPr>
          <a:xfrm>
            <a:off x="11045952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圆形"/>
          <p:cNvSpPr/>
          <p:nvPr/>
        </p:nvSpPr>
        <p:spPr>
          <a:xfrm>
            <a:off x="11045952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圆形"/>
          <p:cNvSpPr/>
          <p:nvPr/>
        </p:nvSpPr>
        <p:spPr>
          <a:xfrm>
            <a:off x="11045952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圆形"/>
          <p:cNvSpPr/>
          <p:nvPr/>
        </p:nvSpPr>
        <p:spPr>
          <a:xfrm>
            <a:off x="1121054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圆形"/>
          <p:cNvSpPr/>
          <p:nvPr/>
        </p:nvSpPr>
        <p:spPr>
          <a:xfrm>
            <a:off x="1121054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圆形"/>
          <p:cNvSpPr/>
          <p:nvPr/>
        </p:nvSpPr>
        <p:spPr>
          <a:xfrm>
            <a:off x="1121054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圆形"/>
          <p:cNvSpPr/>
          <p:nvPr/>
        </p:nvSpPr>
        <p:spPr>
          <a:xfrm>
            <a:off x="1137513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圆形"/>
          <p:cNvSpPr/>
          <p:nvPr/>
        </p:nvSpPr>
        <p:spPr>
          <a:xfrm>
            <a:off x="1137513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圆形"/>
          <p:cNvSpPr/>
          <p:nvPr/>
        </p:nvSpPr>
        <p:spPr>
          <a:xfrm>
            <a:off x="1137513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圆形"/>
          <p:cNvSpPr/>
          <p:nvPr/>
        </p:nvSpPr>
        <p:spPr>
          <a:xfrm>
            <a:off x="11539728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圆形"/>
          <p:cNvSpPr/>
          <p:nvPr/>
        </p:nvSpPr>
        <p:spPr>
          <a:xfrm>
            <a:off x="11539728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圆形"/>
          <p:cNvSpPr/>
          <p:nvPr/>
        </p:nvSpPr>
        <p:spPr>
          <a:xfrm>
            <a:off x="11539728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标题蓝色竖线"/>
          <p:cNvSpPr/>
          <p:nvPr/>
        </p:nvSpPr>
        <p:spPr>
          <a:xfrm>
            <a:off x="274320" y="356616"/>
            <a:ext cx="109728" cy="585216"/>
          </a:xfrm>
          <a:prstGeom prst="roundRect">
            <a:avLst>
              <a:gd name="adj" fmla="val 41666"/>
            </a:avLst>
          </a:prstGeom>
          <a:gradFill>
            <a:gsLst>
              <a:gs pos="0">
                <a:srgbClr val="3A92D5"/>
              </a:gs>
              <a:gs pos="100000">
                <a:srgbClr val="146FB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标题"/>
          <p:cNvSpPr txBox="1"/>
          <p:nvPr/>
        </p:nvSpPr>
        <p:spPr>
          <a:xfrm>
            <a:off x="621792" y="301752"/>
            <a:ext cx="9390888" cy="64922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3600">
                <a:latin typeface="微软雅黑" panose="020B0503020204020204" charset="-122"/>
              </a:defRPr>
            </a:pPr>
            <a:r>
              <a:rPr lang="zh-CN" altLang="en-US" sz="35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实战</a:t>
            </a:r>
            <a:endParaRPr lang="zh-CN" altLang="en-US" sz="35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3600">
                <a:latin typeface="微软雅黑" panose="020B0503020204020204" charset="-122"/>
              </a:defRPr>
            </a:pPr>
            <a:endParaRPr lang="zh-CN" altLang="en-US" sz="35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标题分隔线"/>
          <p:cNvSpPr/>
          <p:nvPr/>
        </p:nvSpPr>
        <p:spPr>
          <a:xfrm>
            <a:off x="621792" y="1051560"/>
            <a:ext cx="11109960" cy="18288"/>
          </a:xfrm>
          <a:prstGeom prst="rect">
            <a:avLst/>
          </a:prstGeom>
          <a:gradFill>
            <a:gsLst>
              <a:gs pos="0">
                <a:srgbClr val="3A92D5"/>
              </a:gs>
              <a:gs pos="100000">
                <a:srgbClr val="E3EFF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tongji_wordm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4" y="256032"/>
            <a:ext cx="1554480" cy="385298"/>
          </a:xfrm>
          <a:prstGeom prst="rect">
            <a:avLst/>
          </a:prstGeom>
          <a:effectLst/>
        </p:spPr>
      </p:pic>
      <p:pic>
        <p:nvPicPr>
          <p:cNvPr id="4" name="图片 3" descr="21大标题"/>
          <p:cNvPicPr>
            <a:picLocks noChangeAspect="1"/>
          </p:cNvPicPr>
          <p:nvPr/>
        </p:nvPicPr>
        <p:blipFill>
          <a:blip r:embed="rId2"/>
          <a:srcRect l="2953" t="13333" r="73995" b="70259"/>
          <a:stretch>
            <a:fillRect/>
          </a:stretch>
        </p:blipFill>
        <p:spPr>
          <a:xfrm>
            <a:off x="360026" y="798332"/>
            <a:ext cx="2810364" cy="1125161"/>
          </a:xfrm>
          <a:prstGeom prst="rect">
            <a:avLst/>
          </a:prstGeom>
        </p:spPr>
      </p:pic>
      <p:sp>
        <p:nvSpPr>
          <p:cNvPr id="33" name="文本框 32"/>
          <p:cNvSpPr txBox="1"/>
          <p:nvPr/>
        </p:nvSpPr>
        <p:spPr>
          <a:xfrm>
            <a:off x="890224" y="2309712"/>
            <a:ext cx="4796540" cy="3681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algn="just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2000" spc="300" dirty="0">
                <a:solidFill>
                  <a:prstClr val="black"/>
                </a:solidFill>
                <a:latin typeface="优设标题黑" panose="00000500000000000000" charset="-122"/>
                <a:ea typeface="优设标题黑" panose="00000500000000000000" charset="-122"/>
              </a:rPr>
              <a:t>执行具体的灯光控制逻辑</a:t>
            </a:r>
            <a:endParaRPr lang="en-US" altLang="zh-CN" sz="2000" spc="300" dirty="0">
              <a:solidFill>
                <a:prstClr val="black"/>
              </a:solidFill>
              <a:latin typeface="优设标题黑" panose="00000500000000000000" charset="-122"/>
              <a:ea typeface="优设标题黑" panose="00000500000000000000" charset="-122"/>
            </a:endParaRPr>
          </a:p>
          <a:p>
            <a:pPr marR="0" lvl="0" indent="0" algn="just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2000" spc="300" dirty="0">
                <a:solidFill>
                  <a:prstClr val="black"/>
                </a:solidFill>
                <a:latin typeface="优设标题黑" panose="00000500000000000000" charset="-122"/>
                <a:ea typeface="优设标题黑" panose="00000500000000000000" charset="-122"/>
              </a:rPr>
              <a:t>管理</a:t>
            </a:r>
            <a:r>
              <a:rPr lang="en-US" altLang="zh-CN" sz="2000" spc="300" dirty="0">
                <a:solidFill>
                  <a:prstClr val="black"/>
                </a:solidFill>
                <a:latin typeface="优设标题黑" panose="00000500000000000000" charset="-122"/>
                <a:ea typeface="优设标题黑" panose="00000500000000000000" charset="-122"/>
              </a:rPr>
              <a:t>8</a:t>
            </a:r>
            <a:r>
              <a:rPr lang="zh-CN" altLang="en-US" sz="2000" spc="300" dirty="0">
                <a:solidFill>
                  <a:prstClr val="black"/>
                </a:solidFill>
                <a:latin typeface="优设标题黑" panose="00000500000000000000" charset="-122"/>
                <a:ea typeface="优设标题黑" panose="00000500000000000000" charset="-122"/>
              </a:rPr>
              <a:t>个灯光状态</a:t>
            </a:r>
            <a:endParaRPr lang="zh-CN" altLang="en-US" sz="2000" spc="300" dirty="0">
              <a:solidFill>
                <a:prstClr val="black"/>
              </a:solidFill>
              <a:latin typeface="优设标题黑" panose="00000500000000000000" charset="-122"/>
              <a:ea typeface="优设标题黑" panose="00000500000000000000" charset="-122"/>
            </a:endParaRPr>
          </a:p>
          <a:p>
            <a:pPr marR="0" lvl="0" indent="0" algn="just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2000" spc="300" dirty="0">
                <a:solidFill>
                  <a:prstClr val="black"/>
                </a:solidFill>
                <a:latin typeface="优设标题黑" panose="00000500000000000000" charset="-122"/>
                <a:ea typeface="优设标题黑" panose="00000500000000000000" charset="-122"/>
              </a:rPr>
              <a:t>实现转向灯互斥逻辑</a:t>
            </a:r>
            <a:endParaRPr lang="en-US" altLang="en-US" sz="2000" spc="300" dirty="0">
              <a:solidFill>
                <a:prstClr val="black"/>
              </a:solidFill>
              <a:latin typeface="优设标题黑" panose="00000500000000000000" charset="-122"/>
              <a:ea typeface="优设标题黑" panose="00000500000000000000" charset="-122"/>
            </a:endParaRPr>
          </a:p>
          <a:p>
            <a:pPr marR="0" lvl="0" indent="0" algn="just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2000" spc="300" dirty="0">
                <a:solidFill>
                  <a:prstClr val="black"/>
                </a:solidFill>
                <a:latin typeface="优设标题黑" panose="00000500000000000000" charset="-122"/>
                <a:ea typeface="优设标题黑" panose="00000500000000000000" charset="-122"/>
              </a:rPr>
              <a:t>处理灯光状态转换</a:t>
            </a:r>
            <a:endParaRPr lang="zh-CN" altLang="en-US" sz="2000" spc="300" dirty="0">
              <a:solidFill>
                <a:prstClr val="black"/>
              </a:solidFill>
              <a:latin typeface="优设标题黑" panose="00000500000000000000" charset="-122"/>
              <a:ea typeface="优设标题黑" panose="00000500000000000000" charset="-122"/>
            </a:endParaRPr>
          </a:p>
          <a:p>
            <a:pPr marR="0" lvl="0" indent="0" algn="just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2000" spc="300" dirty="0">
                <a:solidFill>
                  <a:prstClr val="black"/>
                </a:solidFill>
                <a:latin typeface="优设标题黑" panose="00000500000000000000" charset="-122"/>
                <a:ea typeface="优设标题黑" panose="00000500000000000000" charset="-122"/>
              </a:rPr>
              <a:t>左转向灯开启时自动关闭右转向灯</a:t>
            </a:r>
            <a:endParaRPr lang="en-US" altLang="en-US" sz="2000" spc="300" dirty="0">
              <a:solidFill>
                <a:prstClr val="black"/>
              </a:solidFill>
              <a:latin typeface="优设标题黑" panose="00000500000000000000" charset="-122"/>
              <a:ea typeface="优设标题黑" panose="00000500000000000000" charset="-122"/>
            </a:endParaRPr>
          </a:p>
          <a:p>
            <a:pPr marR="0" lvl="0" indent="0" algn="just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2000" spc="300" dirty="0">
                <a:solidFill>
                  <a:prstClr val="black"/>
                </a:solidFill>
                <a:latin typeface="优设标题黑" panose="00000500000000000000" charset="-122"/>
                <a:ea typeface="优设标题黑" panose="00000500000000000000" charset="-122"/>
              </a:rPr>
              <a:t>右转向灯开启时自动关闭左转向灯</a:t>
            </a:r>
            <a:endParaRPr lang="en-US" altLang="en-US" sz="2000" spc="300" dirty="0">
              <a:solidFill>
                <a:prstClr val="black"/>
              </a:solidFill>
              <a:latin typeface="优设标题黑" panose="00000500000000000000" charset="-122"/>
              <a:ea typeface="优设标题黑" panose="00000500000000000000" charset="-122"/>
            </a:endParaRPr>
          </a:p>
          <a:p>
            <a:pPr marR="0" lvl="0" indent="0" algn="just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2000" spc="300" dirty="0">
                <a:solidFill>
                  <a:prstClr val="black"/>
                </a:solidFill>
                <a:latin typeface="优设标题黑" panose="00000500000000000000" charset="-122"/>
                <a:ea typeface="优设标题黑" panose="00000500000000000000" charset="-122"/>
              </a:rPr>
              <a:t>双闪模式优先于单侧转向灯</a:t>
            </a:r>
            <a:endParaRPr lang="en-US" altLang="en-US" sz="2000" spc="300" dirty="0">
              <a:solidFill>
                <a:prstClr val="black"/>
              </a:solidFill>
              <a:latin typeface="优设标题黑" panose="00000500000000000000" charset="-122"/>
              <a:ea typeface="优设标题黑" panose="00000500000000000000" charset="-122"/>
            </a:endParaRPr>
          </a:p>
        </p:txBody>
      </p:sp>
      <p:pic>
        <p:nvPicPr>
          <p:cNvPr id="34" name="图片 33" descr="22总结性文字"/>
          <p:cNvPicPr>
            <a:picLocks noChangeAspect="1"/>
          </p:cNvPicPr>
          <p:nvPr/>
        </p:nvPicPr>
        <p:blipFill>
          <a:blip r:embed="rId3"/>
          <a:srcRect l="22667" t="13333" r="2359" b="67333"/>
          <a:stretch>
            <a:fillRect/>
          </a:stretch>
        </p:blipFill>
        <p:spPr>
          <a:xfrm>
            <a:off x="2763376" y="798332"/>
            <a:ext cx="9140349" cy="1325811"/>
          </a:xfrm>
          <a:prstGeom prst="rect">
            <a:avLst/>
          </a:prstGeom>
        </p:spPr>
      </p:pic>
      <p:pic>
        <p:nvPicPr>
          <p:cNvPr id="35" name="图片 34" descr="21大标题"/>
          <p:cNvPicPr>
            <a:picLocks noChangeAspect="1"/>
          </p:cNvPicPr>
          <p:nvPr/>
        </p:nvPicPr>
        <p:blipFill>
          <a:blip r:embed="rId2"/>
          <a:srcRect l="2953" t="13333" r="73995" b="70259"/>
          <a:stretch>
            <a:fillRect/>
          </a:stretch>
        </p:blipFill>
        <p:spPr>
          <a:xfrm>
            <a:off x="360026" y="798332"/>
            <a:ext cx="2810364" cy="1125161"/>
          </a:xfrm>
          <a:prstGeom prst="rect">
            <a:avLst/>
          </a:prstGeom>
        </p:spPr>
      </p:pic>
      <p:sp>
        <p:nvSpPr>
          <p:cNvPr id="36" name="文本框 35"/>
          <p:cNvSpPr txBox="1"/>
          <p:nvPr/>
        </p:nvSpPr>
        <p:spPr>
          <a:xfrm>
            <a:off x="890224" y="1030095"/>
            <a:ext cx="393933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腾讯体 W7" panose="020C08030202040F0204" charset="-122"/>
                <a:ea typeface="腾讯体 W7" panose="020C08030202040F0204" charset="-122"/>
                <a:cs typeface="优设标题黑" panose="00000500000000000000" charset="-122"/>
                <a:sym typeface="+mn-ea"/>
              </a:rPr>
              <a:t>灯光控制任务</a:t>
            </a:r>
            <a:endParaRPr lang="zh-CN" altLang="en-US" sz="2400" dirty="0">
              <a:solidFill>
                <a:schemeClr val="tx1"/>
              </a:solidFill>
              <a:latin typeface="腾讯体 W7" panose="020C08030202040F0204" charset="-122"/>
              <a:ea typeface="腾讯体 W7" panose="020C08030202040F0204" charset="-122"/>
              <a:cs typeface="优设标题黑" panose="00000500000000000000" charset="-122"/>
              <a:sym typeface="+mn-ea"/>
            </a:endParaRPr>
          </a:p>
        </p:txBody>
      </p:sp>
      <p:sp>
        <p:nvSpPr>
          <p:cNvPr id="37" name="矩形: 圆角 3"/>
          <p:cNvSpPr/>
          <p:nvPr/>
        </p:nvSpPr>
        <p:spPr bwMode="auto">
          <a:xfrm>
            <a:off x="828632" y="2179279"/>
            <a:ext cx="4559698" cy="3803452"/>
          </a:xfrm>
          <a:prstGeom prst="roundRect">
            <a:avLst>
              <a:gd name="adj" fmla="val 8224"/>
            </a:avLst>
          </a:prstGeom>
          <a:solidFill>
            <a:schemeClr val="bg1">
              <a:alpha val="0"/>
            </a:schemeClr>
          </a:solidFill>
          <a:ln w="38100">
            <a:solidFill>
              <a:srgbClr val="3D57F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优设标题黑" panose="00000500000000000000" charset="-122"/>
              <a:ea typeface="优设标题黑" panose="00000500000000000000" charset="-122"/>
              <a:cs typeface="+mn-cs"/>
            </a:endParaRPr>
          </a:p>
        </p:txBody>
      </p:sp>
      <p:sp>
        <p:nvSpPr>
          <p:cNvPr id="38" name="矩形: 圆角 40"/>
          <p:cNvSpPr/>
          <p:nvPr/>
        </p:nvSpPr>
        <p:spPr>
          <a:xfrm>
            <a:off x="496632" y="3110735"/>
            <a:ext cx="445773" cy="2152256"/>
          </a:xfrm>
          <a:prstGeom prst="roundRect">
            <a:avLst/>
          </a:prstGeom>
          <a:solidFill>
            <a:srgbClr val="1061B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优设标题黑" panose="00000500000000000000" charset="-122"/>
                <a:ea typeface="优设标题黑" panose="00000500000000000000" charset="-122"/>
              </a:rPr>
              <a:t>功能要求</a:t>
            </a:r>
            <a:endParaRPr lang="zh-CN" altLang="en-US" sz="2400" dirty="0">
              <a:latin typeface="优设标题黑" panose="00000500000000000000" charset="-122"/>
              <a:ea typeface="优设标题黑" panose="00000500000000000000" charset="-122"/>
            </a:endParaRPr>
          </a:p>
        </p:txBody>
      </p:sp>
      <p:graphicFrame>
        <p:nvGraphicFramePr>
          <p:cNvPr id="39" name="表格 2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5848680" y="2123508"/>
          <a:ext cx="5381625" cy="4400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3875"/>
                <a:gridCol w="1793875"/>
                <a:gridCol w="1793875"/>
              </a:tblGrid>
              <a:tr h="53403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命令值</a:t>
                      </a:r>
                      <a:endParaRPr lang="en-US" altLang="zh-CN" sz="1400" dirty="0"/>
                    </a:p>
                  </a:txBody>
                  <a:tcPr marL="91435" marR="91435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功能描述</a:t>
                      </a:r>
                      <a:endParaRPr lang="en-US" altLang="en-US" sz="1400" dirty="0"/>
                    </a:p>
                  </a:txBody>
                  <a:tcPr marL="91435" marR="91435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参数说明</a:t>
                      </a:r>
                      <a:endParaRPr lang="en-US" altLang="zh-CN" sz="1400" dirty="0"/>
                    </a:p>
                  </a:txBody>
                  <a:tcPr marL="91435" marR="91435" marT="45717" marB="45717" anchor="ctr"/>
                </a:tc>
              </a:tr>
              <a:tr h="49149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 dirty="0"/>
                        <a:t>0</a:t>
                      </a:r>
                      <a:endParaRPr lang="en-US" sz="1400" kern="1200" dirty="0"/>
                    </a:p>
                  </a:txBody>
                  <a:tcPr marL="91435" marR="91435" marT="45717" marB="45717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400" kern="1200" dirty="0"/>
                        <a:t>所有灯光关闭</a:t>
                      </a:r>
                      <a:endParaRPr lang="en-US" altLang="zh-CN" sz="1400" kern="1200" dirty="0"/>
                    </a:p>
                  </a:txBody>
                  <a:tcPr marL="91435" marR="91435" marT="45717" marB="45717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400" kern="1200" dirty="0"/>
                        <a:t>亮度</a:t>
                      </a:r>
                      <a:r>
                        <a:rPr lang="en-US" altLang="zh-CN" sz="1400" kern="1200" dirty="0"/>
                        <a:t>=100</a:t>
                      </a:r>
                      <a:endParaRPr lang="en-US" altLang="zh-CN" sz="1400" kern="1200" dirty="0"/>
                    </a:p>
                  </a:txBody>
                  <a:tcPr marL="91435" marR="91435" marT="45717" marB="45717" anchor="ctr"/>
                </a:tc>
              </a:tr>
              <a:tr h="4819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en-US" altLang="zh-CN" sz="1400" dirty="0"/>
                    </a:p>
                  </a:txBody>
                  <a:tcPr marL="91435" marR="91435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所有灯光开启</a:t>
                      </a:r>
                      <a:endParaRPr lang="zh-CN" altLang="en-US" sz="1400" dirty="0"/>
                    </a:p>
                  </a:txBody>
                  <a:tcPr marL="91435" marR="91435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亮度</a:t>
                      </a:r>
                      <a:r>
                        <a:rPr lang="en-US" altLang="zh-CN" sz="1400" dirty="0"/>
                        <a:t>=100</a:t>
                      </a:r>
                      <a:endParaRPr lang="en-US" altLang="zh-CN" sz="1400" dirty="0"/>
                    </a:p>
                  </a:txBody>
                  <a:tcPr marL="91435" marR="91435" marT="45717" marB="45717" anchor="ctr"/>
                </a:tc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</a:t>
                      </a:r>
                      <a:endParaRPr lang="en-US" altLang="zh-CN" sz="1400" dirty="0"/>
                    </a:p>
                  </a:txBody>
                  <a:tcPr marL="91435" marR="91435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左转向灯</a:t>
                      </a:r>
                      <a:endParaRPr lang="zh-CN" altLang="en-US" sz="1400" dirty="0"/>
                    </a:p>
                  </a:txBody>
                  <a:tcPr marL="91435" marR="91435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自动关闭右转向</a:t>
                      </a:r>
                      <a:endParaRPr lang="zh-CN" altLang="en-US" sz="1400" dirty="0"/>
                    </a:p>
                  </a:txBody>
                  <a:tcPr marL="91435" marR="91435" marT="45717" marB="45717" anchor="ctr"/>
                </a:tc>
              </a:tr>
              <a:tr h="4813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</a:t>
                      </a:r>
                      <a:endParaRPr lang="en-US" altLang="zh-CN" sz="1400" dirty="0"/>
                    </a:p>
                  </a:txBody>
                  <a:tcPr marL="91435" marR="91435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右转向灯</a:t>
                      </a:r>
                      <a:endParaRPr lang="zh-CN" altLang="en-US" sz="1400" dirty="0"/>
                    </a:p>
                  </a:txBody>
                  <a:tcPr marL="91435" marR="91435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自动关闭左转向</a:t>
                      </a:r>
                      <a:endParaRPr lang="zh-CN" altLang="en-US" sz="1400" dirty="0"/>
                    </a:p>
                  </a:txBody>
                  <a:tcPr marL="91435" marR="91435" marT="45717" marB="45717" anchor="ctr"/>
                </a:tc>
              </a:tr>
              <a:tr h="4819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</a:t>
                      </a:r>
                      <a:endParaRPr lang="en-US" altLang="zh-CN" sz="1400" dirty="0"/>
                    </a:p>
                  </a:txBody>
                  <a:tcPr marL="91435" marR="91435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双闪警告灯</a:t>
                      </a:r>
                      <a:endParaRPr lang="zh-CN" altLang="en-US" sz="1400" dirty="0"/>
                    </a:p>
                  </a:txBody>
                  <a:tcPr marL="91435" marR="91435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切换状态</a:t>
                      </a:r>
                      <a:endParaRPr lang="zh-CN" altLang="en-US" sz="1400" dirty="0"/>
                    </a:p>
                  </a:txBody>
                  <a:tcPr marL="91435" marR="91435" marT="45717" marB="45717" anchor="ctr"/>
                </a:tc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</a:t>
                      </a:r>
                      <a:endParaRPr lang="en-US" altLang="zh-CN" sz="1400" dirty="0"/>
                    </a:p>
                  </a:txBody>
                  <a:tcPr marL="91435" marR="91435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刹车灯</a:t>
                      </a:r>
                      <a:endParaRPr lang="zh-CN" altLang="en-US" sz="1400" dirty="0"/>
                    </a:p>
                  </a:txBody>
                  <a:tcPr marL="91435" marR="91435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ym typeface="+mn-ea"/>
                        </a:rPr>
                        <a:t>切换状态</a:t>
                      </a:r>
                      <a:endParaRPr lang="en-US" altLang="zh-CN" sz="1400" dirty="0"/>
                    </a:p>
                  </a:txBody>
                  <a:tcPr marL="91435" marR="91435" marT="45717" marB="45717" anchor="ctr"/>
                </a:tc>
              </a:tr>
              <a:tr h="4826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/>
                        <a:t>6</a:t>
                      </a:r>
                      <a:endParaRPr lang="en-US" altLang="zh-CN" sz="1400" dirty="0"/>
                    </a:p>
                  </a:txBody>
                  <a:tcPr marL="91435" marR="91435" marT="45717" marB="457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/>
                        <a:t>前大灯</a:t>
                      </a:r>
                      <a:endParaRPr lang="zh-CN" altLang="en-US" sz="1400" dirty="0"/>
                    </a:p>
                  </a:txBody>
                  <a:tcPr marL="91435" marR="91435" marT="45717" marB="457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>
                          <a:sym typeface="+mn-ea"/>
                        </a:rPr>
                        <a:t>切换状态</a:t>
                      </a:r>
                      <a:endParaRPr lang="en-US" altLang="zh-CN" sz="1400" dirty="0"/>
                    </a:p>
                  </a:txBody>
                  <a:tcPr marL="91435" marR="91435" marT="45717" marB="45717" anchor="ctr"/>
                </a:tc>
              </a:tr>
              <a:tr h="4819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/>
                        <a:t>7</a:t>
                      </a:r>
                      <a:endParaRPr lang="en-US" altLang="zh-CN" sz="1400" dirty="0"/>
                    </a:p>
                  </a:txBody>
                  <a:tcPr marL="91435" marR="91435" marT="45717" marB="457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/>
                        <a:t>尾灯</a:t>
                      </a:r>
                      <a:endParaRPr lang="zh-CN" altLang="en-US" sz="1400" dirty="0"/>
                    </a:p>
                  </a:txBody>
                  <a:tcPr marL="91435" marR="91435" marT="45717" marB="457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>
                          <a:sym typeface="+mn-ea"/>
                        </a:rPr>
                        <a:t>切换状态</a:t>
                      </a:r>
                      <a:endParaRPr lang="en-US" altLang="zh-CN" sz="1400" dirty="0"/>
                    </a:p>
                  </a:txBody>
                  <a:tcPr marL="91435" marR="91435" marT="45717" marB="45717" anchor="ctr"/>
                </a:tc>
              </a:tr>
            </a:tbl>
          </a:graphicData>
        </a:graphic>
      </p:graphicFrame>
      <p:sp>
        <p:nvSpPr>
          <p:cNvPr id="40" name="文本框 39"/>
          <p:cNvSpPr txBox="1"/>
          <p:nvPr/>
        </p:nvSpPr>
        <p:spPr>
          <a:xfrm>
            <a:off x="6831609" y="1691096"/>
            <a:ext cx="3339926" cy="5238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400" dirty="0">
                <a:solidFill>
                  <a:srgbClr val="3D57F6"/>
                </a:solidFill>
                <a:latin typeface="+mn-ea"/>
              </a:rPr>
              <a:t>命令映射表格</a:t>
            </a:r>
            <a:endParaRPr lang="zh-CN" altLang="en-US" sz="2400" dirty="0">
              <a:solidFill>
                <a:srgbClr val="3D57F6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白色背景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右下角淡蓝装饰"/>
          <p:cNvSpPr/>
          <p:nvPr/>
        </p:nvSpPr>
        <p:spPr>
          <a:xfrm>
            <a:off x="10774679" y="5440680"/>
            <a:ext cx="1417320" cy="1417320"/>
          </a:xfrm>
          <a:custGeom>
            <a:avLst/>
            <a:gdLst/>
            <a:ahLst/>
            <a:cxnLst/>
            <a:rect l="l" t="t" r="r" b="b"/>
            <a:pathLst>
              <a:path w="1417320" h="1417320">
                <a:moveTo>
                  <a:pt x="1417320" y="1417320"/>
                </a:moveTo>
                <a:lnTo>
                  <a:pt x="0" y="1417320"/>
                </a:lnTo>
                <a:lnTo>
                  <a:pt x="700" y="1372800"/>
                </a:lnTo>
                <a:lnTo>
                  <a:pt x="2797" y="1328325"/>
                </a:lnTo>
                <a:lnTo>
                  <a:pt x="6290" y="1283938"/>
                </a:lnTo>
                <a:lnTo>
                  <a:pt x="11176" y="1239682"/>
                </a:lnTo>
                <a:lnTo>
                  <a:pt x="17450" y="1195602"/>
                </a:lnTo>
                <a:lnTo>
                  <a:pt x="25105" y="1151740"/>
                </a:lnTo>
                <a:lnTo>
                  <a:pt x="34134" y="1108141"/>
                </a:lnTo>
                <a:lnTo>
                  <a:pt x="44528" y="1064846"/>
                </a:lnTo>
                <a:lnTo>
                  <a:pt x="56277" y="1021900"/>
                </a:lnTo>
                <a:lnTo>
                  <a:pt x="69369" y="979344"/>
                </a:lnTo>
                <a:lnTo>
                  <a:pt x="83791" y="937219"/>
                </a:lnTo>
                <a:lnTo>
                  <a:pt x="99529" y="895569"/>
                </a:lnTo>
                <a:lnTo>
                  <a:pt x="116568" y="854434"/>
                </a:lnTo>
                <a:lnTo>
                  <a:pt x="134891" y="813854"/>
                </a:lnTo>
                <a:lnTo>
                  <a:pt x="154479" y="773870"/>
                </a:lnTo>
                <a:lnTo>
                  <a:pt x="175313" y="734520"/>
                </a:lnTo>
                <a:lnTo>
                  <a:pt x="197373" y="695845"/>
                </a:lnTo>
                <a:lnTo>
                  <a:pt x="220637" y="657881"/>
                </a:lnTo>
                <a:lnTo>
                  <a:pt x="245082" y="620667"/>
                </a:lnTo>
                <a:lnTo>
                  <a:pt x="270684" y="584240"/>
                </a:lnTo>
                <a:lnTo>
                  <a:pt x="297418" y="548634"/>
                </a:lnTo>
                <a:lnTo>
                  <a:pt x="325256" y="513886"/>
                </a:lnTo>
                <a:lnTo>
                  <a:pt x="354173" y="480029"/>
                </a:lnTo>
                <a:lnTo>
                  <a:pt x="384138" y="447097"/>
                </a:lnTo>
                <a:lnTo>
                  <a:pt x="415124" y="415123"/>
                </a:lnTo>
                <a:lnTo>
                  <a:pt x="447098" y="384138"/>
                </a:lnTo>
                <a:lnTo>
                  <a:pt x="480030" y="354172"/>
                </a:lnTo>
                <a:lnTo>
                  <a:pt x="513886" y="325256"/>
                </a:lnTo>
                <a:lnTo>
                  <a:pt x="548635" y="297417"/>
                </a:lnTo>
                <a:lnTo>
                  <a:pt x="584240" y="270684"/>
                </a:lnTo>
                <a:lnTo>
                  <a:pt x="620668" y="245082"/>
                </a:lnTo>
                <a:lnTo>
                  <a:pt x="657882" y="220637"/>
                </a:lnTo>
                <a:lnTo>
                  <a:pt x="695846" y="197373"/>
                </a:lnTo>
                <a:lnTo>
                  <a:pt x="734521" y="175313"/>
                </a:lnTo>
                <a:lnTo>
                  <a:pt x="773870" y="154478"/>
                </a:lnTo>
                <a:lnTo>
                  <a:pt x="813855" y="134890"/>
                </a:lnTo>
                <a:lnTo>
                  <a:pt x="854435" y="116568"/>
                </a:lnTo>
                <a:lnTo>
                  <a:pt x="895570" y="99529"/>
                </a:lnTo>
                <a:lnTo>
                  <a:pt x="937220" y="83790"/>
                </a:lnTo>
                <a:lnTo>
                  <a:pt x="979344" y="69368"/>
                </a:lnTo>
                <a:lnTo>
                  <a:pt x="1021901" y="56276"/>
                </a:lnTo>
                <a:lnTo>
                  <a:pt x="1064847" y="44527"/>
                </a:lnTo>
                <a:lnTo>
                  <a:pt x="1108141" y="34133"/>
                </a:lnTo>
                <a:lnTo>
                  <a:pt x="1151741" y="25104"/>
                </a:lnTo>
                <a:lnTo>
                  <a:pt x="1195602" y="17449"/>
                </a:lnTo>
                <a:lnTo>
                  <a:pt x="1239683" y="11175"/>
                </a:lnTo>
                <a:lnTo>
                  <a:pt x="1283939" y="6290"/>
                </a:lnTo>
                <a:lnTo>
                  <a:pt x="1328326" y="2796"/>
                </a:lnTo>
                <a:lnTo>
                  <a:pt x="1372801" y="699"/>
                </a:lnTo>
                <a:lnTo>
                  <a:pt x="1417320" y="0"/>
                </a:lnTo>
                <a:lnTo>
                  <a:pt x="1417320" y="1417320"/>
                </a:lnTo>
                <a:close/>
              </a:path>
            </a:pathLst>
          </a:custGeom>
          <a:solidFill>
            <a:srgbClr val="F4F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圆形"/>
          <p:cNvSpPr/>
          <p:nvPr/>
        </p:nvSpPr>
        <p:spPr>
          <a:xfrm>
            <a:off x="1038758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圆形"/>
          <p:cNvSpPr/>
          <p:nvPr/>
        </p:nvSpPr>
        <p:spPr>
          <a:xfrm>
            <a:off x="1038758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圆形"/>
          <p:cNvSpPr/>
          <p:nvPr/>
        </p:nvSpPr>
        <p:spPr>
          <a:xfrm>
            <a:off x="1038758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圆形"/>
          <p:cNvSpPr/>
          <p:nvPr/>
        </p:nvSpPr>
        <p:spPr>
          <a:xfrm>
            <a:off x="1055217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圆形"/>
          <p:cNvSpPr/>
          <p:nvPr/>
        </p:nvSpPr>
        <p:spPr>
          <a:xfrm>
            <a:off x="1055217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圆形"/>
          <p:cNvSpPr/>
          <p:nvPr/>
        </p:nvSpPr>
        <p:spPr>
          <a:xfrm>
            <a:off x="1055217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圆形"/>
          <p:cNvSpPr/>
          <p:nvPr/>
        </p:nvSpPr>
        <p:spPr>
          <a:xfrm>
            <a:off x="10716767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圆形"/>
          <p:cNvSpPr/>
          <p:nvPr/>
        </p:nvSpPr>
        <p:spPr>
          <a:xfrm>
            <a:off x="10716767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圆形"/>
          <p:cNvSpPr/>
          <p:nvPr/>
        </p:nvSpPr>
        <p:spPr>
          <a:xfrm>
            <a:off x="10716767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圆形"/>
          <p:cNvSpPr/>
          <p:nvPr/>
        </p:nvSpPr>
        <p:spPr>
          <a:xfrm>
            <a:off x="10881359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圆形"/>
          <p:cNvSpPr/>
          <p:nvPr/>
        </p:nvSpPr>
        <p:spPr>
          <a:xfrm>
            <a:off x="10881359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圆形"/>
          <p:cNvSpPr/>
          <p:nvPr/>
        </p:nvSpPr>
        <p:spPr>
          <a:xfrm>
            <a:off x="10881359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圆形"/>
          <p:cNvSpPr/>
          <p:nvPr/>
        </p:nvSpPr>
        <p:spPr>
          <a:xfrm>
            <a:off x="11045952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圆形"/>
          <p:cNvSpPr/>
          <p:nvPr/>
        </p:nvSpPr>
        <p:spPr>
          <a:xfrm>
            <a:off x="11045952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圆形"/>
          <p:cNvSpPr/>
          <p:nvPr/>
        </p:nvSpPr>
        <p:spPr>
          <a:xfrm>
            <a:off x="11045952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圆形"/>
          <p:cNvSpPr/>
          <p:nvPr/>
        </p:nvSpPr>
        <p:spPr>
          <a:xfrm>
            <a:off x="11210544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圆形"/>
          <p:cNvSpPr/>
          <p:nvPr/>
        </p:nvSpPr>
        <p:spPr>
          <a:xfrm>
            <a:off x="11210544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圆形"/>
          <p:cNvSpPr/>
          <p:nvPr/>
        </p:nvSpPr>
        <p:spPr>
          <a:xfrm>
            <a:off x="11210544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圆形"/>
          <p:cNvSpPr/>
          <p:nvPr/>
        </p:nvSpPr>
        <p:spPr>
          <a:xfrm>
            <a:off x="11375136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圆形"/>
          <p:cNvSpPr/>
          <p:nvPr/>
        </p:nvSpPr>
        <p:spPr>
          <a:xfrm>
            <a:off x="11375136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圆形"/>
          <p:cNvSpPr/>
          <p:nvPr/>
        </p:nvSpPr>
        <p:spPr>
          <a:xfrm>
            <a:off x="11375136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圆形"/>
          <p:cNvSpPr/>
          <p:nvPr/>
        </p:nvSpPr>
        <p:spPr>
          <a:xfrm>
            <a:off x="11539728" y="704088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圆形"/>
          <p:cNvSpPr/>
          <p:nvPr/>
        </p:nvSpPr>
        <p:spPr>
          <a:xfrm>
            <a:off x="11539728" y="790956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圆形"/>
          <p:cNvSpPr/>
          <p:nvPr/>
        </p:nvSpPr>
        <p:spPr>
          <a:xfrm>
            <a:off x="11539728" y="877824"/>
            <a:ext cx="32004" cy="32004"/>
          </a:xfrm>
          <a:prstGeom prst="ellipse">
            <a:avLst/>
          </a:prstGeom>
          <a:solidFill>
            <a:srgbClr val="E4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标题蓝色竖线"/>
          <p:cNvSpPr/>
          <p:nvPr/>
        </p:nvSpPr>
        <p:spPr>
          <a:xfrm>
            <a:off x="274320" y="356616"/>
            <a:ext cx="109728" cy="585216"/>
          </a:xfrm>
          <a:prstGeom prst="roundRect">
            <a:avLst>
              <a:gd name="adj" fmla="val 41666"/>
            </a:avLst>
          </a:prstGeom>
          <a:gradFill>
            <a:gsLst>
              <a:gs pos="0">
                <a:srgbClr val="3A92D5"/>
              </a:gs>
              <a:gs pos="100000">
                <a:srgbClr val="146FB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标题"/>
          <p:cNvSpPr txBox="1"/>
          <p:nvPr/>
        </p:nvSpPr>
        <p:spPr>
          <a:xfrm>
            <a:off x="621792" y="301752"/>
            <a:ext cx="9390888" cy="649224"/>
          </a:xfrm>
          <a:prstGeom prst="rect">
            <a:avLst/>
          </a:prstGeom>
          <a:noFill/>
          <a:effectLst/>
        </p:spPr>
        <p:txBody>
          <a:bodyPr wrap="square" lIns="9144" tIns="4572" rIns="9144" bIns="457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3600">
                <a:latin typeface="微软雅黑" panose="020B0503020204020204" charset="-122"/>
              </a:defRPr>
            </a:pPr>
            <a:r>
              <a:rPr lang="zh-CN" altLang="en-US" sz="3500" b="1">
                <a:solidFill>
                  <a:srgbClr val="103F73"/>
                </a:solidFill>
                <a:latin typeface="微软雅黑" panose="020B0503020204020204" charset="-122"/>
                <a:ea typeface="微软雅黑" panose="020B0503020204020204" charset="-122"/>
              </a:rPr>
              <a:t>实战</a:t>
            </a:r>
            <a:endParaRPr lang="zh-CN" altLang="en-US" sz="35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3600">
                <a:latin typeface="微软雅黑" panose="020B0503020204020204" charset="-122"/>
              </a:defRPr>
            </a:pPr>
            <a:endParaRPr lang="zh-CN" altLang="en-US" sz="3500" b="1">
              <a:solidFill>
                <a:srgbClr val="103F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标题分隔线"/>
          <p:cNvSpPr/>
          <p:nvPr/>
        </p:nvSpPr>
        <p:spPr>
          <a:xfrm>
            <a:off x="621792" y="1051560"/>
            <a:ext cx="11109960" cy="18288"/>
          </a:xfrm>
          <a:prstGeom prst="rect">
            <a:avLst/>
          </a:prstGeom>
          <a:gradFill>
            <a:gsLst>
              <a:gs pos="0">
                <a:srgbClr val="3A92D5"/>
              </a:gs>
              <a:gs pos="100000">
                <a:srgbClr val="E3EFF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tongji_wordm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4" y="256032"/>
            <a:ext cx="1554480" cy="385298"/>
          </a:xfrm>
          <a:prstGeom prst="rect">
            <a:avLst/>
          </a:prstGeom>
          <a:effectLst/>
        </p:spPr>
      </p:pic>
      <p:sp>
        <p:nvSpPr>
          <p:cNvPr id="33" name="矩形 32"/>
          <p:cNvSpPr/>
          <p:nvPr>
            <p:custDataLst>
              <p:tags r:id="rId2"/>
            </p:custDataLst>
          </p:nvPr>
        </p:nvSpPr>
        <p:spPr>
          <a:xfrm>
            <a:off x="1576669" y="2588352"/>
            <a:ext cx="3595818" cy="3397708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16200000" scaled="0"/>
          </a:gradFill>
          <a:ln>
            <a:gradFill>
              <a:gsLst>
                <a:gs pos="0">
                  <a:schemeClr val="accent1">
                    <a:lumMod val="5000"/>
                    <a:lumOff val="95000"/>
                    <a:alpha val="7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rgbClr val="00B0F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圆角矩形 18"/>
          <p:cNvSpPr/>
          <p:nvPr>
            <p:custDataLst>
              <p:tags r:id="rId3"/>
            </p:custDataLst>
          </p:nvPr>
        </p:nvSpPr>
        <p:spPr>
          <a:xfrm>
            <a:off x="1576587" y="2056884"/>
            <a:ext cx="3600779" cy="530198"/>
          </a:xfrm>
          <a:prstGeom prst="roundRect">
            <a:avLst>
              <a:gd name="adj" fmla="val 3048"/>
            </a:avLst>
          </a:prstGeom>
          <a:gradFill>
            <a:gsLst>
              <a:gs pos="100000">
                <a:srgbClr val="3359FF"/>
              </a:gs>
              <a:gs pos="0">
                <a:srgbClr val="6C87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4"/>
            </p:custDataLst>
          </p:nvPr>
        </p:nvSpPr>
        <p:spPr>
          <a:xfrm>
            <a:off x="1450489" y="2153869"/>
            <a:ext cx="3722274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b="1">
                <a:solidFill>
                  <a:schemeClr val="bg1"/>
                </a:solidFill>
                <a:latin typeface="腾讯体 W7" panose="020C08030202040F0204" charset="-122"/>
                <a:ea typeface="腾讯体 W7" panose="020C08030202040F0204" charset="-122"/>
                <a:cs typeface="腾讯体 W7" panose="020C08030202040F0204" charset="-122"/>
              </a:rPr>
              <a:t>状态反馈任务要求</a:t>
            </a:r>
            <a:endParaRPr lang="zh-CN" altLang="en-US" sz="2000" b="1">
              <a:solidFill>
                <a:schemeClr val="bg1"/>
              </a:solidFill>
              <a:latin typeface="腾讯体 W7" panose="020C08030202040F0204" charset="-122"/>
              <a:ea typeface="腾讯体 W7" panose="020C08030202040F0204" charset="-122"/>
              <a:cs typeface="腾讯体 W7" panose="020C08030202040F020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890224" y="1030095"/>
            <a:ext cx="5874714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腾讯体 W7" panose="020C08030202040F0204" charset="-122"/>
                <a:ea typeface="腾讯体 W7" panose="020C08030202040F0204" charset="-122"/>
                <a:cs typeface="优设标题黑" panose="00000500000000000000" charset="-122"/>
                <a:sym typeface="+mn-ea"/>
              </a:rPr>
              <a:t>状态反馈任务和系统监控任务</a:t>
            </a:r>
            <a:endParaRPr lang="zh-CN" altLang="en-US" sz="2400" dirty="0">
              <a:solidFill>
                <a:schemeClr val="tx1"/>
              </a:solidFill>
              <a:latin typeface="腾讯体 W7" panose="020C08030202040F0204" charset="-122"/>
              <a:ea typeface="腾讯体 W7" panose="020C08030202040F0204" charset="-122"/>
              <a:cs typeface="优设标题黑" panose="00000500000000000000" charset="-122"/>
              <a:sym typeface="+mn-ea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576669" y="2658198"/>
            <a:ext cx="3765354" cy="292529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2200"/>
              <a:t>定时采集当前灯光状态</a:t>
            </a:r>
            <a:endParaRPr lang="zh-CN" altLang="en-US" sz="2200"/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2200"/>
              <a:t>编码状态数据到</a:t>
            </a:r>
            <a:r>
              <a:rPr lang="en-US" altLang="zh-CN" sz="2200"/>
              <a:t> CAN </a:t>
            </a:r>
            <a:r>
              <a:rPr lang="zh-CN" altLang="en-US" sz="2200"/>
              <a:t>格式</a:t>
            </a:r>
            <a:endParaRPr lang="zh-CN" altLang="en-US" sz="2200"/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2200"/>
              <a:t>发送状态反馈消息</a:t>
            </a:r>
            <a:r>
              <a:rPr lang="en-US" altLang="zh-CN" sz="2200"/>
              <a:t>(ID:0x257)</a:t>
            </a:r>
            <a:endParaRPr lang="en-US" altLang="en-US" sz="2200"/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2200"/>
              <a:t>处理发送失败重试机制</a:t>
            </a:r>
            <a:endParaRPr lang="en-US" altLang="en-US" sz="2200"/>
          </a:p>
        </p:txBody>
      </p:sp>
      <p:sp>
        <p:nvSpPr>
          <p:cNvPr id="38" name="矩形 37"/>
          <p:cNvSpPr/>
          <p:nvPr>
            <p:custDataLst>
              <p:tags r:id="rId5"/>
            </p:custDataLst>
          </p:nvPr>
        </p:nvSpPr>
        <p:spPr>
          <a:xfrm>
            <a:off x="7083737" y="2625180"/>
            <a:ext cx="3595818" cy="3397708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16200000" scaled="0"/>
          </a:gradFill>
          <a:ln>
            <a:gradFill>
              <a:gsLst>
                <a:gs pos="0">
                  <a:schemeClr val="accent1">
                    <a:lumMod val="5000"/>
                    <a:lumOff val="95000"/>
                    <a:alpha val="7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rgbClr val="00B0F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圆角矩形 11"/>
          <p:cNvSpPr/>
          <p:nvPr>
            <p:custDataLst>
              <p:tags r:id="rId6"/>
            </p:custDataLst>
          </p:nvPr>
        </p:nvSpPr>
        <p:spPr>
          <a:xfrm>
            <a:off x="7080597" y="2058772"/>
            <a:ext cx="3598926" cy="529581"/>
          </a:xfrm>
          <a:prstGeom prst="roundRect">
            <a:avLst>
              <a:gd name="adj" fmla="val 3048"/>
            </a:avLst>
          </a:prstGeom>
          <a:gradFill>
            <a:gsLst>
              <a:gs pos="100000">
                <a:srgbClr val="3359FF"/>
              </a:gs>
              <a:gs pos="0">
                <a:srgbClr val="6C87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>
            <p:custDataLst>
              <p:tags r:id="rId7"/>
            </p:custDataLst>
          </p:nvPr>
        </p:nvSpPr>
        <p:spPr>
          <a:xfrm>
            <a:off x="7080562" y="2154034"/>
            <a:ext cx="3596453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algn="ctr" defTabSz="457200" rtl="0" eaLnBrk="0" fontAlgn="base" hangingPunct="0">
              <a:lnSpc>
                <a:spcPct val="90000"/>
              </a:lnSpc>
              <a:buClrTx/>
              <a:buSzTx/>
              <a:buFontTx/>
              <a:buNone/>
              <a:defRPr/>
            </a:pPr>
            <a:r>
              <a:rPr lang="zh-CN" altLang="en-US" sz="2000" b="1">
                <a:solidFill>
                  <a:schemeClr val="bg1"/>
                </a:solidFill>
                <a:latin typeface="腾讯体 W7" panose="020C08030202040F0204" charset="-122"/>
                <a:ea typeface="腾讯体 W7" panose="020C08030202040F0204" charset="-122"/>
                <a:cs typeface="腾讯体 W7" panose="020C08030202040F0204" charset="-122"/>
                <a:sym typeface="+mn-ea"/>
              </a:rPr>
              <a:t>系统监控任务要求</a:t>
            </a:r>
            <a:endParaRPr lang="zh-CN" altLang="en-US" sz="2000" b="1">
              <a:solidFill>
                <a:schemeClr val="bg1"/>
              </a:solidFill>
              <a:latin typeface="腾讯体 W7" panose="020C08030202040F0204" charset="-122"/>
              <a:ea typeface="腾讯体 W7" panose="020C08030202040F0204" charset="-122"/>
              <a:cs typeface="腾讯体 W7" panose="020C08030202040F020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7253273" y="2867578"/>
            <a:ext cx="3398978" cy="29976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2200" dirty="0">
                <a:sym typeface="+mn-ea"/>
              </a:rPr>
              <a:t>监控系统运行状态</a:t>
            </a:r>
            <a:endParaRPr lang="zh-CN" altLang="en-US" sz="2200" dirty="0"/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2200" dirty="0">
                <a:sym typeface="+mn-ea"/>
              </a:rPr>
              <a:t>检测灯光硬件故障</a:t>
            </a:r>
            <a:endParaRPr lang="zh-CN" altLang="en-US" sz="2200" dirty="0"/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2200" dirty="0">
                <a:sym typeface="+mn-ea"/>
              </a:rPr>
              <a:t>统计系统性能指标</a:t>
            </a:r>
            <a:endParaRPr lang="zh-CN" altLang="en-US" sz="2200" dirty="0"/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2200" dirty="0">
                <a:sym typeface="+mn-ea"/>
              </a:rPr>
              <a:t>生成运行日志</a:t>
            </a:r>
            <a:endParaRPr lang="zh-CN" altLang="en-US" sz="2200" dirty="0"/>
          </a:p>
          <a:p>
            <a:endParaRPr lang="zh-CN" altLang="en-US" sz="22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34.7144881889764,&quot;left&quot;:-70.75,&quot;top&quot;:174.01787401574802,&quot;width&quot;:1110.7499212598425}"/>
</p:tagLst>
</file>

<file path=ppt/tags/tag2.xml><?xml version="1.0" encoding="utf-8"?>
<p:tagLst xmlns:p="http://schemas.openxmlformats.org/presentationml/2006/main">
  <p:tag name="KSO_WM_DIAGRAM_VIRTUALLY_FRAME" val="{&quot;height&quot;:334.7144881889764,&quot;left&quot;:-70.75,&quot;top&quot;:174.01787401574802,&quot;width&quot;:1110.7499212598425}"/>
</p:tagLst>
</file>

<file path=ppt/tags/tag3.xml><?xml version="1.0" encoding="utf-8"?>
<p:tagLst xmlns:p="http://schemas.openxmlformats.org/presentationml/2006/main">
  <p:tag name="KSO_WM_DIAGRAM_VIRTUALLY_FRAME" val="{&quot;height&quot;:334.7144881889764,&quot;left&quot;:-70.75,&quot;top&quot;:174.01787401574802,&quot;width&quot;:1110.7499212598425}"/>
</p:tagLst>
</file>

<file path=ppt/tags/tag4.xml><?xml version="1.0" encoding="utf-8"?>
<p:tagLst xmlns:p="http://schemas.openxmlformats.org/presentationml/2006/main">
  <p:tag name="KSO_WM_DIAGRAM_VIRTUALLY_FRAME" val="{&quot;height&quot;:334.7144881889764,&quot;left&quot;:-70.75,&quot;top&quot;:174.01787401574802,&quot;width&quot;:1110.7499212598425}"/>
</p:tagLst>
</file>

<file path=ppt/tags/tag5.xml><?xml version="1.0" encoding="utf-8"?>
<p:tagLst xmlns:p="http://schemas.openxmlformats.org/presentationml/2006/main">
  <p:tag name="KSO_WM_DIAGRAM_VIRTUALLY_FRAME" val="{&quot;height&quot;:334.7144881889764,&quot;left&quot;:-70.75,&quot;top&quot;:174.01787401574802,&quot;width&quot;:1110.7499212598425}"/>
</p:tagLst>
</file>

<file path=ppt/tags/tag6.xml><?xml version="1.0" encoding="utf-8"?>
<p:tagLst xmlns:p="http://schemas.openxmlformats.org/presentationml/2006/main">
  <p:tag name="KSO_WM_DIAGRAM_VIRTUALLY_FRAME" val="{&quot;height&quot;:334.7144881889764,&quot;left&quot;:-70.75,&quot;top&quot;:174.01787401574802,&quot;width&quot;:1110.7499212598425}"/>
</p:tagLst>
</file>

<file path=ppt/tags/tag7.xml><?xml version="1.0" encoding="utf-8"?>
<p:tagLst xmlns:p="http://schemas.openxmlformats.org/presentationml/2006/main">
  <p:tag name="KSO_WM_DIAGRAM_VIRTUALLY_FRAME" val="{&quot;height&quot;:334.7144881889764,&quot;left&quot;:-70.75,&quot;top&quot;:174.01787401574802,&quot;width&quot;:1110.7499212598425}"/>
</p:tagLst>
</file>

<file path=ppt/tags/tag8.xml><?xml version="1.0" encoding="utf-8"?>
<p:tagLst xmlns:p="http://schemas.openxmlformats.org/presentationml/2006/main">
  <p:tag name="KSO_WM_DIAGRAM_VIRTUALLY_FRAME" val="{&quot;height&quot;:334.7144881889764,&quot;left&quot;:-70.75,&quot;top&quot;:174.01787401574802,&quot;width&quot;:1110.7499212598425}"/>
</p:tagLst>
</file>

<file path=ppt/tags/tag9.xml><?xml version="1.0" encoding="utf-8"?>
<p:tagLst xmlns:p="http://schemas.openxmlformats.org/presentationml/2006/main">
  <p:tag name="KSO_WM_DIAGRAM_VIRTUALLY_FRAME" val="{&quot;height&quot;:334.7144881889764,&quot;left&quot;:-70.75,&quot;top&quot;:174.01787401574802,&quot;width&quot;:1110.7499212598425}"/>
</p:tagLst>
</file>

<file path=ppt/tags/tag10.xml><?xml version="1.0" encoding="utf-8"?>
<p:tagLst xmlns:p="http://schemas.openxmlformats.org/presentationml/2006/main">
  <p:tag name="KSO_WM_DIAGRAM_VIRTUALLY_FRAME" val="{&quot;height&quot;:334.7144881889764,&quot;left&quot;:-70.75,&quot;top&quot;:174.01787401574802,&quot;width&quot;:1110.7499212598425}"/>
</p:tagLst>
</file>

<file path=ppt/tags/tag11.xml><?xml version="1.0" encoding="utf-8"?>
<p:tagLst xmlns:p="http://schemas.openxmlformats.org/presentationml/2006/main">
  <p:tag name="KSO_WM_DIAGRAM_VIRTUALLY_FRAME" val="{&quot;height&quot;:334.7144881889764,&quot;left&quot;:-70.75,&quot;top&quot;:174.01787401574802,&quot;width&quot;:1110.7499212598425}"/>
</p:tagLst>
</file>

<file path=ppt/tags/tag12.xml><?xml version="1.0" encoding="utf-8"?>
<p:tagLst xmlns:p="http://schemas.openxmlformats.org/presentationml/2006/main">
  <p:tag name="KSO_WM_DIAGRAM_VIRTUALLY_FRAME" val="{&quot;height&quot;:334.7144881889764,&quot;left&quot;:-70.75,&quot;top&quot;:174.01787401574802,&quot;width&quot;:1110.7499212598425}"/>
</p:tagLst>
</file>

<file path=ppt/tags/tag13.xml><?xml version="1.0" encoding="utf-8"?>
<p:tagLst xmlns:p="http://schemas.openxmlformats.org/presentationml/2006/main">
  <p:tag name="KSO_WM_DIAGRAM_VIRTUALLY_FRAME" val="{&quot;height&quot;:334.7144881889764,&quot;left&quot;:-70.75,&quot;top&quot;:174.01787401574802,&quot;width&quot;:1110.7499212598425}"/>
</p:tagLst>
</file>

<file path=ppt/tags/tag14.xml><?xml version="1.0" encoding="utf-8"?>
<p:tagLst xmlns:p="http://schemas.openxmlformats.org/presentationml/2006/main">
  <p:tag name="KSO_WM_DIAGRAM_VIRTUALLY_FRAME" val="{&quot;height&quot;:334.7144881889764,&quot;left&quot;:-70.75,&quot;top&quot;:174.01787401574802,&quot;width&quot;:1110.7499212598425}"/>
</p:tagLst>
</file>

<file path=ppt/tags/tag15.xml><?xml version="1.0" encoding="utf-8"?>
<p:tagLst xmlns:p="http://schemas.openxmlformats.org/presentationml/2006/main">
  <p:tag name="KSO_WM_DIAGRAM_VIRTUALLY_FRAME" val="{&quot;height&quot;:334.7144881889764,&quot;left&quot;:-70.75,&quot;top&quot;:174.01787401574802,&quot;width&quot;:1110.7499212598425}"/>
</p:tagLst>
</file>

<file path=ppt/tags/tag16.xml><?xml version="1.0" encoding="utf-8"?>
<p:tagLst xmlns:p="http://schemas.openxmlformats.org/presentationml/2006/main">
  <p:tag name="KSO_WM_DIAGRAM_VIRTUALLY_FRAME" val="{&quot;height&quot;:406.8692125984253,&quot;left&quot;:26.96409448818897,&quot;top&quot;:128.75,&quot;width&quot;:901.2804724409447}"/>
</p:tagLst>
</file>

<file path=ppt/tags/tag17.xml><?xml version="1.0" encoding="utf-8"?>
<p:tagLst xmlns:p="http://schemas.openxmlformats.org/presentationml/2006/main">
  <p:tag name="KSO_WM_DIAGRAM_VIRTUALLY_FRAME" val="{&quot;height&quot;:406.8692125984253,&quot;left&quot;:26.96409448818897,&quot;top&quot;:128.75,&quot;width&quot;:901.2804724409447}"/>
</p:tagLst>
</file>

<file path=ppt/tags/tag18.xml><?xml version="1.0" encoding="utf-8"?>
<p:tagLst xmlns:p="http://schemas.openxmlformats.org/presentationml/2006/main">
  <p:tag name="KSO_WM_DIAGRAM_VIRTUALLY_FRAME" val="{&quot;height&quot;:406.8692125984253,&quot;left&quot;:26.96409448818897,&quot;top&quot;:128.75,&quot;width&quot;:901.2804724409447}"/>
</p:tagLst>
</file>

<file path=ppt/tags/tag19.xml><?xml version="1.0" encoding="utf-8"?>
<p:tagLst xmlns:p="http://schemas.openxmlformats.org/presentationml/2006/main">
  <p:tag name="KSO_WM_DIAGRAM_VIRTUALLY_FRAME" val="{&quot;height&quot;:406.8692125984253,&quot;left&quot;:26.96409448818897,&quot;top&quot;:128.75,&quot;width&quot;:901.2804724409447}"/>
</p:tagLst>
</file>

<file path=ppt/tags/tag20.xml><?xml version="1.0" encoding="utf-8"?>
<p:tagLst xmlns:p="http://schemas.openxmlformats.org/presentationml/2006/main">
  <p:tag name="KSO_WM_DIAGRAM_VIRTUALLY_FRAME" val="{&quot;height&quot;:406.8692125984253,&quot;left&quot;:26.96409448818897,&quot;top&quot;:128.75,&quot;width&quot;:901.2804724409447}"/>
</p:tagLst>
</file>

<file path=ppt/tags/tag21.xml><?xml version="1.0" encoding="utf-8"?>
<p:tagLst xmlns:p="http://schemas.openxmlformats.org/presentationml/2006/main">
  <p:tag name="KSO_WM_UNIT_TABLE_BEAUTIFY" val="smartTable{9fb8adc5-8b40-4aae-9a26-79e7fb238259}"/>
  <p:tag name="TABLE_ENDDRAG_ORIGIN_RECT" val="423*346"/>
  <p:tag name="TABLE_ENDDRAG_RECT" val="460*167*423*346"/>
</p:tagLst>
</file>

<file path=ppt/tags/tag22.xml><?xml version="1.0" encoding="utf-8"?>
<p:tagLst xmlns:p="http://schemas.openxmlformats.org/presentationml/2006/main">
  <p:tag name="KSO_WM_DIAGRAM_VIRTUALLY_FRAME" val="{&quot;height&quot;:406.8692125984253,&quot;left&quot;:26.96409448818897,&quot;top&quot;:128.75,&quot;width&quot;:901.2804724409447}"/>
</p:tagLst>
</file>

<file path=ppt/tags/tag23.xml><?xml version="1.0" encoding="utf-8"?>
<p:tagLst xmlns:p="http://schemas.openxmlformats.org/presentationml/2006/main">
  <p:tag name="KSO_WM_DIAGRAM_VIRTUALLY_FRAME" val="{&quot;height&quot;:406.8692125984253,&quot;left&quot;:26.96409448818897,&quot;top&quot;:128.75,&quot;width&quot;:901.2804724409447}"/>
</p:tagLst>
</file>

<file path=ppt/tags/tag24.xml><?xml version="1.0" encoding="utf-8"?>
<p:tagLst xmlns:p="http://schemas.openxmlformats.org/presentationml/2006/main">
  <p:tag name="KSO_WM_DIAGRAM_VIRTUALLY_FRAME" val="{&quot;height&quot;:406.8692125984253,&quot;left&quot;:26.96409448818897,&quot;top&quot;:128.75,&quot;width&quot;:901.2804724409447}"/>
</p:tagLst>
</file>

<file path=ppt/tags/tag25.xml><?xml version="1.0" encoding="utf-8"?>
<p:tagLst xmlns:p="http://schemas.openxmlformats.org/presentationml/2006/main">
  <p:tag name="KSO_WM_DIAGRAM_VIRTUALLY_FRAME" val="{&quot;height&quot;:406.8692125984253,&quot;left&quot;:26.96409448818897,&quot;top&quot;:128.75,&quot;width&quot;:901.2804724409447}"/>
</p:tagLst>
</file>

<file path=ppt/tags/tag26.xml><?xml version="1.0" encoding="utf-8"?>
<p:tagLst xmlns:p="http://schemas.openxmlformats.org/presentationml/2006/main">
  <p:tag name="KSO_WM_DIAGRAM_VIRTUALLY_FRAME" val="{&quot;height&quot;:406.8692125984253,&quot;left&quot;:26.96409448818897,&quot;top&quot;:128.75,&quot;width&quot;:901.2804724409447}"/>
</p:tagLst>
</file>

<file path=ppt/tags/tag27.xml><?xml version="1.0" encoding="utf-8"?>
<p:tagLst xmlns:p="http://schemas.openxmlformats.org/presentationml/2006/main">
  <p:tag name="KSO_WM_DIAGRAM_VIRTUALLY_FRAME" val="{&quot;height&quot;:406.8692125984253,&quot;left&quot;:26.96409448818897,&quot;top&quot;:128.75,&quot;width&quot;:901.2804724409447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8698</Words>
  <Application>WPS 演示</Application>
  <PresentationFormat>On-screen Show (4:3)</PresentationFormat>
  <Paragraphs>1826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54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优设标题黑</vt:lpstr>
      <vt:lpstr>腾讯体 W7</vt:lpstr>
      <vt:lpstr>Calibri</vt:lpstr>
      <vt:lpstr>D-DINExp</vt:lpstr>
      <vt:lpstr>ui-monospace</vt:lpstr>
      <vt:lpstr>汉仪雅酷黑 75W</vt:lpstr>
      <vt:lpstr>黑体</vt:lpstr>
      <vt:lpstr>Wingdings</vt:lpstr>
      <vt:lpstr>FFont-Family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车载网络与协议｜49页精修版（含逐页课堂演讲词）</dc:title>
  <dc:creator>同济大学｜课程备课材料</dc:creator>
  <cp:keywords>同济大学;本科教学;E/E架构;CAN;LIN;Ethernet;TSN;AUTOSAR;可编辑</cp:keywords>
  <dc:description>本版以已有课件为基础进行排版精修和讲稿改写；案例来源保留在各页备注末尾。</dc:description>
  <dc:subject>本科实践课；保留原有49页顺序；清理页脚并完善字体、图形及演讲备注</dc:subject>
  <cp:lastModifiedBy>包朕豪</cp:lastModifiedBy>
  <cp:revision>11</cp:revision>
  <dcterms:created xsi:type="dcterms:W3CDTF">2026-10-08T05:28:00Z</dcterms:created>
  <dcterms:modified xsi:type="dcterms:W3CDTF">2026-10-08T05:34:17Z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5CF482C528DA4A98AA07BAB37BDB3963_13</vt:lpwstr>
  </property>
  <property fmtid="{D5CDD505-2E9C-101B-9397-08002B2CF9AE}" pid="3" name="KSOProductBuildVer">
    <vt:lpwstr>2052-12.1.0.28043</vt:lpwstr>
  </property>
</Properties>
</file>